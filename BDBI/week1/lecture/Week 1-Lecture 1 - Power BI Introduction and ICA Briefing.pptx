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6.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7.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8.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5" r:id="rId5"/>
    <p:sldMasterId id="2147483681" r:id="rId6"/>
    <p:sldMasterId id="2147483678" r:id="rId7"/>
    <p:sldMasterId id="2147483691" r:id="rId8"/>
    <p:sldMasterId id="2147483703" r:id="rId9"/>
    <p:sldMasterId id="2147483717" r:id="rId10"/>
    <p:sldMasterId id="2147483734" r:id="rId11"/>
    <p:sldMasterId id="2147483746" r:id="rId12"/>
  </p:sldMasterIdLst>
  <p:notesMasterIdLst>
    <p:notesMasterId r:id="rId63"/>
  </p:notesMasterIdLst>
  <p:sldIdLst>
    <p:sldId id="256" r:id="rId13"/>
    <p:sldId id="1916" r:id="rId14"/>
    <p:sldId id="257" r:id="rId15"/>
    <p:sldId id="258" r:id="rId16"/>
    <p:sldId id="1915" r:id="rId17"/>
    <p:sldId id="278" r:id="rId18"/>
    <p:sldId id="433" r:id="rId19"/>
    <p:sldId id="549" r:id="rId20"/>
    <p:sldId id="501" r:id="rId21"/>
    <p:sldId id="502" r:id="rId22"/>
    <p:sldId id="509" r:id="rId23"/>
    <p:sldId id="503" r:id="rId24"/>
    <p:sldId id="504" r:id="rId25"/>
    <p:sldId id="505" r:id="rId26"/>
    <p:sldId id="506" r:id="rId27"/>
    <p:sldId id="507" r:id="rId28"/>
    <p:sldId id="508" r:id="rId29"/>
    <p:sldId id="277" r:id="rId30"/>
    <p:sldId id="280" r:id="rId31"/>
    <p:sldId id="274" r:id="rId32"/>
    <p:sldId id="364" r:id="rId33"/>
    <p:sldId id="511" r:id="rId34"/>
    <p:sldId id="512" r:id="rId35"/>
    <p:sldId id="513" r:id="rId36"/>
    <p:sldId id="514" r:id="rId37"/>
    <p:sldId id="515" r:id="rId38"/>
    <p:sldId id="516" r:id="rId39"/>
    <p:sldId id="517" r:id="rId40"/>
    <p:sldId id="518" r:id="rId41"/>
    <p:sldId id="519" r:id="rId42"/>
    <p:sldId id="520" r:id="rId43"/>
    <p:sldId id="521" r:id="rId44"/>
    <p:sldId id="522" r:id="rId45"/>
    <p:sldId id="523" r:id="rId46"/>
    <p:sldId id="524" r:id="rId47"/>
    <p:sldId id="525" r:id="rId48"/>
    <p:sldId id="526" r:id="rId49"/>
    <p:sldId id="527" r:id="rId50"/>
    <p:sldId id="529" r:id="rId51"/>
    <p:sldId id="547" r:id="rId52"/>
    <p:sldId id="530" r:id="rId53"/>
    <p:sldId id="531" r:id="rId54"/>
    <p:sldId id="532" r:id="rId55"/>
    <p:sldId id="535" r:id="rId56"/>
    <p:sldId id="555" r:id="rId57"/>
    <p:sldId id="534" r:id="rId58"/>
    <p:sldId id="1914" r:id="rId59"/>
    <p:sldId id="554" r:id="rId60"/>
    <p:sldId id="544" r:id="rId61"/>
    <p:sldId id="546" r:id="rId6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cchipinti, Annalisa" initials="OA" lastIdx="1" clrIdx="0">
    <p:extLst>
      <p:ext uri="{19B8F6BF-5375-455C-9EA6-DF929625EA0E}">
        <p15:presenceInfo xmlns:p15="http://schemas.microsoft.com/office/powerpoint/2012/main" userId="Occhipinti, Annalis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2583"/>
    <a:srgbClr val="6C2686"/>
    <a:srgbClr val="F67F21"/>
    <a:srgbClr val="7B704F"/>
    <a:srgbClr val="0821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4F5A9-C92D-4AF8-A1F2-D96EAB4EB687}" v="23" dt="2024-09-27T14:39:32.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2" autoAdjust="0"/>
    <p:restoredTop sz="93792" autoAdjust="0"/>
  </p:normalViewPr>
  <p:slideViewPr>
    <p:cSldViewPr snapToGrid="0" snapToObjects="1">
      <p:cViewPr varScale="1">
        <p:scale>
          <a:sx n="90" d="100"/>
          <a:sy n="90" d="100"/>
        </p:scale>
        <p:origin x="700" y="56"/>
      </p:cViewPr>
      <p:guideLst/>
    </p:cSldViewPr>
  </p:slideViewPr>
  <p:outlineViewPr>
    <p:cViewPr>
      <p:scale>
        <a:sx n="33" d="100"/>
        <a:sy n="33" d="100"/>
      </p:scale>
      <p:origin x="0" y="-202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commentAuthors" Target="commentAuthors.xml"/><Relationship Id="rId69"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51E54A33-1090-EC4D-8812-6652BA304414}" type="datetimeFigureOut">
              <a:rPr lang="en-US" smtClean="0"/>
              <a:t>9/22/2025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A9C9DF67-0900-1547-96D2-E921F3F76B03}" type="slidenum">
              <a:rPr lang="en-US" smtClean="0"/>
              <a:t>‹#›</a:t>
            </a:fld>
            <a:endParaRPr lang="en-US"/>
          </a:p>
        </p:txBody>
      </p:sp>
    </p:spTree>
    <p:extLst>
      <p:ext uri="{BB962C8B-B14F-4D97-AF65-F5344CB8AC3E}">
        <p14:creationId xmlns:p14="http://schemas.microsoft.com/office/powerpoint/2010/main" val="506433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algoworks.com/business-intelligenc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microsoft.com/en-us/download/details.aspx?id=38395"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owerbi.microsoft.com/en-us/what-is-power-bi/"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Big Data </a:t>
            </a:r>
            <a:r>
              <a:rPr lang="en-US" dirty="0"/>
              <a:t>– the size,</a:t>
            </a:r>
            <a:r>
              <a:rPr lang="en-US" baseline="0" dirty="0"/>
              <a:t> type, shape of data that business are analyze is changing. </a:t>
            </a:r>
          </a:p>
          <a:p>
            <a:endParaRPr lang="en-US" baseline="0" dirty="0"/>
          </a:p>
          <a:p>
            <a:r>
              <a:rPr lang="en-US" b="1" baseline="0" dirty="0"/>
              <a:t>Data from sensors</a:t>
            </a:r>
            <a:r>
              <a:rPr lang="en-US" baseline="0" dirty="0"/>
              <a:t>: RFID tags in manufacturing, or location data for company’s with large fleets. </a:t>
            </a:r>
          </a:p>
          <a:p>
            <a:r>
              <a:rPr lang="en-US" b="1" baseline="0" dirty="0"/>
              <a:t>Data from social media </a:t>
            </a:r>
            <a:r>
              <a:rPr lang="en-US" baseline="0" dirty="0"/>
              <a:t>like </a:t>
            </a:r>
            <a:r>
              <a:rPr lang="en-US" baseline="0" dirty="0" err="1"/>
              <a:t>facebook</a:t>
            </a:r>
            <a:r>
              <a:rPr lang="en-US" baseline="0" dirty="0"/>
              <a:t>, twitter, Linked-In – for analyzing the success of a marketing campaign or to assess customer sentiment or to gather feedback to help shape products or services. </a:t>
            </a:r>
          </a:p>
          <a:p>
            <a:r>
              <a:rPr lang="en-US" b="1" baseline="0" dirty="0"/>
              <a:t>Public data </a:t>
            </a:r>
            <a:r>
              <a:rPr lang="en-US" baseline="0" dirty="0"/>
              <a:t>– traffic or weather feeds, or data published from data.gov initiatives </a:t>
            </a:r>
            <a:r>
              <a:rPr lang="en-US" baseline="0" dirty="0" err="1"/>
              <a:t>etc</a:t>
            </a:r>
            <a:endParaRPr lang="en-US" baseline="0" dirty="0"/>
          </a:p>
          <a:p>
            <a:endParaRPr lang="en-US" baseline="0" dirty="0"/>
          </a:p>
          <a:p>
            <a:r>
              <a:rPr lang="en-US" baseline="0" dirty="0"/>
              <a:t>Being able to easily tap into these data sources from smarter analytics to drive business insight is a prevalent theme. </a:t>
            </a:r>
          </a:p>
          <a:p>
            <a:endParaRPr lang="en-US" baseline="0" dirty="0"/>
          </a:p>
          <a:p>
            <a:r>
              <a:rPr lang="en-US" b="1" baseline="0" dirty="0" err="1"/>
              <a:t>Consumerization</a:t>
            </a:r>
            <a:r>
              <a:rPr lang="en-US" b="1" baseline="0" dirty="0"/>
              <a:t> of IT </a:t>
            </a:r>
            <a:r>
              <a:rPr lang="en-US" baseline="0" dirty="0"/>
              <a:t>– this is about choice. I as an individual want to work on the device of my choice. From wherever I want to work. This extends beyond devices to include apps and user experiences. I search for information all the time at home on the web, I want to have that same experience at the office. I’ll talk today about how we’re bringing these experiences to the world of data as well.  </a:t>
            </a:r>
          </a:p>
          <a:p>
            <a:endParaRPr lang="en-US" baseline="0" dirty="0"/>
          </a:p>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3311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3311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67499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Collaborate and stay connected with Office 365:</a:t>
            </a:r>
            <a:r>
              <a:rPr lang="en-US" dirty="0"/>
              <a:t> </a:t>
            </a:r>
            <a:r>
              <a:rPr lang="en-US" sz="1100" dirty="0"/>
              <a:t>Extends Self-Service BI with ease of collaboration and sharing of reports and data sets which reducing friction from deployment and adoption.  </a:t>
            </a:r>
            <a:br>
              <a:rPr lang="en-US" sz="1100" dirty="0"/>
            </a:br>
            <a:endParaRPr lang="en-US" sz="1100" dirty="0"/>
          </a:p>
          <a:p>
            <a:pPr defTabSz="951798">
              <a:spcAft>
                <a:spcPts val="347"/>
              </a:spcAft>
              <a:defRPr/>
            </a:pPr>
            <a:r>
              <a:rPr lang="en-US" sz="1000" b="1" dirty="0"/>
              <a:t>Power BI Sites</a:t>
            </a:r>
            <a:r>
              <a:rPr lang="en-US" sz="1000" dirty="0"/>
              <a:t> – quickly create collaborative BI sites for your team to share reports. Larger workbook viewing is now supported (up to 250MB) so that users can view and interact with larger workbooks through the browser. Power BI sites provide a highly visual experience for sharing reports including live report tiles to ease in locate the right report quickly. </a:t>
            </a: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45391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100" dirty="0">
                <a:hlinkClick r:id="rId3"/>
              </a:rPr>
              <a:t>https://www.algoworks.com/business-intelligence/</a:t>
            </a: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08684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98181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108" indent="-173108" defTabSz="941424">
              <a:spcAft>
                <a:spcPts val="343"/>
              </a:spcAft>
              <a:buFont typeface="Arial" panose="020B0604020202020204" pitchFamily="34" charset="0"/>
              <a:buChar char="•"/>
              <a:defRPr/>
            </a:pP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67350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66538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latin typeface="Segoe" pitchFamily="34" charset="0"/>
            </a:endParaRP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46924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School of Computing &amp; Digital Technologies</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C25AB6-2E2B-4A7C-9FF1-3334C3053A4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0913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4197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4197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95984E4-65F9-4A2A-9DFE-962DAF44035F}"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45473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0" name="Slide Image Placeholder 9"/>
          <p:cNvSpPr>
            <a:spLocks noGrp="1" noRot="1" noChangeAspect="1"/>
          </p:cNvSpPr>
          <p:nvPr>
            <p:ph type="sldImg"/>
          </p:nvPr>
        </p:nvSpPr>
        <p:spPr/>
      </p:sp>
      <p:sp>
        <p:nvSpPr>
          <p:cNvPr id="11" name="Notes Placeholder 10"/>
          <p:cNvSpPr>
            <a:spLocks noGrp="1"/>
          </p:cNvSpPr>
          <p:nvPr>
            <p:ph type="body" idx="1"/>
          </p:nvPr>
        </p:nvSpPr>
        <p:spPr/>
        <p:txBody>
          <a:bodyPr/>
          <a:lstStyle/>
          <a:p>
            <a:r>
              <a:rPr lang="en-US" b="0" dirty="0"/>
              <a:t>Talking Points:</a:t>
            </a:r>
          </a:p>
          <a:p>
            <a:endParaRPr lang="en-US" b="0" dirty="0"/>
          </a:p>
          <a:p>
            <a:r>
              <a:rPr lang="en-US" b="0" dirty="0"/>
              <a:t>[Click]</a:t>
            </a:r>
          </a:p>
          <a:p>
            <a:r>
              <a:rPr lang="en-US" b="0" dirty="0"/>
              <a:t>Microsoft and SAP have recognized</a:t>
            </a:r>
            <a:r>
              <a:rPr lang="en-US" b="0" baseline="0" dirty="0"/>
              <a:t> an opportunity for helping our customers reimagine their businesses that stretches across the data chasm.</a:t>
            </a:r>
          </a:p>
          <a:p>
            <a:endParaRPr lang="en-US" b="0" baseline="0" dirty="0"/>
          </a:p>
          <a:p>
            <a:r>
              <a:rPr lang="en-US" b="0" dirty="0"/>
              <a:t>[Click]</a:t>
            </a:r>
          </a:p>
          <a:p>
            <a:r>
              <a:rPr lang="en-US" b="0" dirty="0"/>
              <a:t>It</a:t>
            </a:r>
            <a:r>
              <a:rPr lang="en-US" b="0" baseline="0" dirty="0"/>
              <a:t> begins in Microsoft Excel and Power BI for Office 365…</a:t>
            </a:r>
          </a:p>
          <a:p>
            <a:endParaRPr lang="en-US" b="0" baseline="0" dirty="0"/>
          </a:p>
          <a:p>
            <a:r>
              <a:rPr lang="en-US" b="0" baseline="0" dirty="0"/>
              <a:t>[Click]</a:t>
            </a:r>
          </a:p>
          <a:p>
            <a:r>
              <a:rPr lang="en-US" b="0" baseline="0" dirty="0"/>
              <a:t>and stretches across to SAP BusinessObjects.</a:t>
            </a:r>
          </a:p>
          <a:p>
            <a:endParaRPr lang="en-US" b="0" baseline="0" dirty="0"/>
          </a:p>
          <a:p>
            <a:r>
              <a:rPr lang="en-US" b="0" baseline="0" dirty="0"/>
              <a:t>[Click]</a:t>
            </a:r>
          </a:p>
          <a:p>
            <a:r>
              <a:rPr lang="en-US" b="0" baseline="0" dirty="0"/>
              <a:t>Today, we are excited to announce the public preview of Power BI connectivity to SAP BusinessObjects BI, </a:t>
            </a:r>
            <a:r>
              <a:rPr lang="en-US" dirty="0"/>
              <a:t>a joint business intelligence interoperability solution. With this new solution, users can now seamlessly connect to SAP BusinessObjects BI Universes as another supported data source in Power Query for Excel, enabling them to access and analyze data across the enterprise and share their data and insights in the cloud and any device through Power BI.</a:t>
            </a:r>
          </a:p>
          <a:p>
            <a:endParaRPr lang="en-US" dirty="0"/>
          </a:p>
          <a:p>
            <a:r>
              <a:rPr lang="en-US" dirty="0"/>
              <a:t>Users can rely on the latest, most accurate, and trusted enterprise data directly in Excel through an SAP BusinessObjects BI Universe without having to wrestle with copying and pasting or manually importing data. Companies that have made investments in both BI stacks can now effectively leverage their technology investments to maximize ROI. IT can use the connectivity to continue to manage critical company data sources while giving business users access to trusted enterprise data in familiar tools they use every day without requiring them to learn new skills.</a:t>
            </a:r>
          </a:p>
          <a:p>
            <a:endParaRPr lang="en-US" dirty="0"/>
          </a:p>
          <a:p>
            <a:r>
              <a:rPr lang="en-US" dirty="0"/>
              <a:t>Multiple large joint customers are already using the preview today and experiencing the benefits created through the interoperability. They require this connectivity to ensure business users can bring trusted enterprise data from SAP BusinessObjects BI Universes into the familiar and powerful user experience of Microsoft Excel.</a:t>
            </a:r>
            <a:endParaRPr lang="en-US" dirty="0">
              <a:solidFill>
                <a:schemeClr val="bg1"/>
              </a:solidFill>
              <a:latin typeface="Segoe UI Light"/>
            </a:endParaRPr>
          </a:p>
          <a:p>
            <a:pPr defTabSz="933420">
              <a:lnSpc>
                <a:spcPct val="100000"/>
              </a:lnSpc>
              <a:spcAft>
                <a:spcPts val="0"/>
              </a:spcAft>
              <a:defRPr/>
            </a:pPr>
            <a:endParaRPr lang="en-US" dirty="0">
              <a:solidFill>
                <a:schemeClr val="bg1"/>
              </a:solidFill>
              <a:latin typeface="Segoe UI Light"/>
            </a:endParaRPr>
          </a:p>
          <a:p>
            <a:pPr defTabSz="933420">
              <a:lnSpc>
                <a:spcPct val="100000"/>
              </a:lnSpc>
              <a:spcAft>
                <a:spcPts val="0"/>
              </a:spcAft>
              <a:defRPr/>
            </a:pPr>
            <a:r>
              <a:rPr lang="en-US" dirty="0">
                <a:solidFill>
                  <a:schemeClr val="bg1"/>
                </a:solidFill>
                <a:latin typeface="Segoe UI Light"/>
              </a:rPr>
              <a:t>[Click]</a:t>
            </a:r>
          </a:p>
          <a:p>
            <a:pPr defTabSz="933420">
              <a:lnSpc>
                <a:spcPct val="100000"/>
              </a:lnSpc>
              <a:spcAft>
                <a:spcPts val="0"/>
              </a:spcAft>
              <a:defRPr/>
            </a:pPr>
            <a:r>
              <a:rPr lang="en-US" dirty="0">
                <a:solidFill>
                  <a:schemeClr val="bg1"/>
                </a:solidFill>
                <a:latin typeface="Segoe UI Light"/>
              </a:rPr>
              <a:t>The connectivity promotes a single version of truth with the ability to access and analyze source data reliably. </a:t>
            </a:r>
            <a:r>
              <a:rPr lang="en-US" kern="0" cap="all" dirty="0">
                <a:ln>
                  <a:solidFill>
                    <a:schemeClr val="bg1">
                      <a:alpha val="0"/>
                    </a:schemeClr>
                  </a:solidFill>
                </a:ln>
                <a:solidFill>
                  <a:schemeClr val="bg1"/>
                </a:solidFill>
              </a:rPr>
              <a:t>Consistent data in both stacks. Access TO latest, accurate, trusted data.</a:t>
            </a:r>
            <a:r>
              <a:rPr lang="en-US" kern="0" cap="all" baseline="0" dirty="0">
                <a:ln>
                  <a:solidFill>
                    <a:schemeClr val="bg1">
                      <a:alpha val="0"/>
                    </a:schemeClr>
                  </a:solidFill>
                </a:ln>
                <a:solidFill>
                  <a:schemeClr val="bg1"/>
                </a:solidFill>
              </a:rPr>
              <a:t> </a:t>
            </a:r>
            <a:r>
              <a:rPr lang="en-US" kern="0" cap="all" dirty="0">
                <a:ln>
                  <a:solidFill>
                    <a:schemeClr val="bg1">
                      <a:alpha val="0"/>
                    </a:schemeClr>
                  </a:solidFill>
                </a:ln>
                <a:solidFill>
                  <a:schemeClr val="bg1"/>
                </a:solidFill>
              </a:rPr>
              <a:t>Familiar business friendly Data Semantics.</a:t>
            </a:r>
          </a:p>
          <a:p>
            <a:pPr defTabSz="933420">
              <a:lnSpc>
                <a:spcPct val="100000"/>
              </a:lnSpc>
              <a:spcAft>
                <a:spcPts val="0"/>
              </a:spcAft>
              <a:defRPr/>
            </a:pPr>
            <a:endParaRPr lang="en-US" kern="0" cap="all" dirty="0">
              <a:ln>
                <a:solidFill>
                  <a:schemeClr val="bg1">
                    <a:alpha val="0"/>
                  </a:schemeClr>
                </a:solidFill>
              </a:ln>
              <a:solidFill>
                <a:schemeClr val="bg1"/>
              </a:solidFill>
            </a:endParaRPr>
          </a:p>
          <a:p>
            <a:pPr defTabSz="933420">
              <a:lnSpc>
                <a:spcPct val="100000"/>
              </a:lnSpc>
              <a:spcAft>
                <a:spcPts val="0"/>
              </a:spcAft>
              <a:defRPr/>
            </a:pPr>
            <a:r>
              <a:rPr lang="en-US" dirty="0">
                <a:solidFill>
                  <a:schemeClr val="bg1"/>
                </a:solidFill>
                <a:latin typeface="Segoe UI Light"/>
              </a:rPr>
              <a:t>[Click]</a:t>
            </a:r>
            <a:endParaRPr lang="en-US" kern="0" cap="none" dirty="0">
              <a:ln>
                <a:solidFill>
                  <a:schemeClr val="bg1">
                    <a:alpha val="0"/>
                  </a:schemeClr>
                </a:solidFill>
              </a:ln>
              <a:solidFill>
                <a:schemeClr val="bg1"/>
              </a:solidFill>
            </a:endParaRPr>
          </a:p>
          <a:p>
            <a:pPr defTabSz="933420">
              <a:lnSpc>
                <a:spcPct val="100000"/>
              </a:lnSpc>
              <a:spcAft>
                <a:spcPts val="0"/>
              </a:spcAft>
              <a:defRPr/>
            </a:pPr>
            <a:r>
              <a:rPr lang="en-US" dirty="0">
                <a:solidFill>
                  <a:schemeClr val="bg1"/>
                </a:solidFill>
                <a:latin typeface="Segoe UI Light"/>
              </a:rPr>
              <a:t>Users become instantly more productive using familiar tools with trusted enterprise data at their fingertips. </a:t>
            </a:r>
            <a:r>
              <a:rPr lang="en-US" kern="0" cap="all" dirty="0">
                <a:ln>
                  <a:solidFill>
                    <a:schemeClr val="bg1">
                      <a:alpha val="0"/>
                    </a:schemeClr>
                  </a:solidFill>
                </a:ln>
                <a:solidFill>
                  <a:schemeClr val="bg1"/>
                </a:solidFill>
              </a:rPr>
              <a:t>FAMILIAR TOOLS, TRUSTED ENTERPRISE DATA.</a:t>
            </a:r>
            <a:r>
              <a:rPr lang="en-US" kern="0" cap="all" baseline="0" dirty="0">
                <a:ln>
                  <a:solidFill>
                    <a:schemeClr val="bg1">
                      <a:alpha val="0"/>
                    </a:schemeClr>
                  </a:solidFill>
                </a:ln>
                <a:solidFill>
                  <a:schemeClr val="bg1"/>
                </a:solidFill>
              </a:rPr>
              <a:t> </a:t>
            </a:r>
            <a:r>
              <a:rPr lang="en-US" kern="0" cap="all" dirty="0">
                <a:ln>
                  <a:solidFill>
                    <a:schemeClr val="bg1">
                      <a:alpha val="0"/>
                    </a:schemeClr>
                  </a:solidFill>
                </a:ln>
                <a:solidFill>
                  <a:schemeClr val="bg1"/>
                </a:solidFill>
              </a:rPr>
              <a:t>NO HASSLE DATA REFRESH.</a:t>
            </a:r>
            <a:r>
              <a:rPr lang="en-US" kern="0" cap="all" baseline="0" dirty="0">
                <a:ln>
                  <a:solidFill>
                    <a:schemeClr val="bg1">
                      <a:alpha val="0"/>
                    </a:schemeClr>
                  </a:solidFill>
                </a:ln>
                <a:solidFill>
                  <a:schemeClr val="bg1"/>
                </a:solidFill>
              </a:rPr>
              <a:t> </a:t>
            </a:r>
            <a:r>
              <a:rPr lang="en-US" kern="0" cap="all" dirty="0">
                <a:ln>
                  <a:solidFill>
                    <a:schemeClr val="bg1">
                      <a:alpha val="0"/>
                    </a:schemeClr>
                  </a:solidFill>
                </a:ln>
                <a:solidFill>
                  <a:schemeClr val="bg1"/>
                </a:solidFill>
              </a:rPr>
              <a:t>EASY, SIMPLE, AND WELL INTEGRATED TO EXISTING WORKFLOWS.</a:t>
            </a:r>
          </a:p>
          <a:p>
            <a:pPr defTabSz="933420">
              <a:lnSpc>
                <a:spcPct val="100000"/>
              </a:lnSpc>
              <a:spcAft>
                <a:spcPts val="0"/>
              </a:spcAft>
              <a:defRPr/>
            </a:pPr>
            <a:endParaRPr lang="en-US" kern="0" cap="all" dirty="0">
              <a:ln>
                <a:solidFill>
                  <a:schemeClr val="bg1">
                    <a:alpha val="0"/>
                  </a:schemeClr>
                </a:solidFill>
              </a:ln>
              <a:solidFill>
                <a:schemeClr val="bg1"/>
              </a:solidFill>
              <a:latin typeface="Segoe UI Light"/>
            </a:endParaRPr>
          </a:p>
          <a:p>
            <a:pPr defTabSz="933420">
              <a:lnSpc>
                <a:spcPct val="100000"/>
              </a:lnSpc>
              <a:spcAft>
                <a:spcPts val="0"/>
              </a:spcAft>
              <a:defRPr/>
            </a:pPr>
            <a:r>
              <a:rPr lang="en-US" dirty="0">
                <a:solidFill>
                  <a:schemeClr val="bg1"/>
                </a:solidFill>
                <a:latin typeface="Segoe UI Light"/>
              </a:rPr>
              <a:t>[Click]</a:t>
            </a:r>
            <a:endParaRPr lang="en-US" kern="0" cap="none" dirty="0">
              <a:ln>
                <a:solidFill>
                  <a:schemeClr val="bg1">
                    <a:alpha val="0"/>
                  </a:schemeClr>
                </a:solidFill>
              </a:ln>
              <a:solidFill>
                <a:schemeClr val="bg1"/>
              </a:solidFill>
            </a:endParaRPr>
          </a:p>
          <a:p>
            <a:pPr defTabSz="933420">
              <a:lnSpc>
                <a:spcPct val="100000"/>
              </a:lnSpc>
              <a:spcAft>
                <a:spcPts val="0"/>
              </a:spcAft>
              <a:defRPr/>
            </a:pPr>
            <a:r>
              <a:rPr lang="en-US" kern="0" cap="all" dirty="0">
                <a:ln>
                  <a:solidFill>
                    <a:schemeClr val="bg1">
                      <a:alpha val="0"/>
                    </a:schemeClr>
                  </a:solidFill>
                </a:ln>
                <a:solidFill>
                  <a:schemeClr val="bg1"/>
                </a:solidFill>
              </a:rPr>
              <a:t>LEVERAGE EXISTING INVESTMENTS.</a:t>
            </a:r>
            <a:r>
              <a:rPr lang="en-US" kern="0" cap="all" baseline="0" dirty="0">
                <a:ln>
                  <a:solidFill>
                    <a:schemeClr val="bg1">
                      <a:alpha val="0"/>
                    </a:schemeClr>
                  </a:solidFill>
                </a:ln>
                <a:solidFill>
                  <a:schemeClr val="bg1"/>
                </a:solidFill>
              </a:rPr>
              <a:t> </a:t>
            </a:r>
            <a:r>
              <a:rPr lang="en-US" kern="0" cap="all" dirty="0">
                <a:ln>
                  <a:solidFill>
                    <a:schemeClr val="bg1">
                      <a:alpha val="0"/>
                    </a:schemeClr>
                  </a:solidFill>
                </a:ln>
                <a:solidFill>
                  <a:schemeClr val="bg1"/>
                </a:solidFill>
              </a:rPr>
              <a:t>IMPROVED PROFITABILITY FROM FASTER, BETTER, MORE TIMELY DECISIONS.</a:t>
            </a:r>
            <a:r>
              <a:rPr lang="en-US" kern="0" cap="all" baseline="0" dirty="0">
                <a:ln>
                  <a:solidFill>
                    <a:schemeClr val="bg1">
                      <a:alpha val="0"/>
                    </a:schemeClr>
                  </a:solidFill>
                </a:ln>
                <a:solidFill>
                  <a:schemeClr val="bg1"/>
                </a:solidFill>
              </a:rPr>
              <a:t> </a:t>
            </a:r>
            <a:r>
              <a:rPr lang="en-US" kern="0" cap="all" dirty="0">
                <a:ln>
                  <a:solidFill>
                    <a:schemeClr val="bg1">
                      <a:alpha val="0"/>
                    </a:schemeClr>
                  </a:solidFill>
                </a:ln>
                <a:solidFill>
                  <a:schemeClr val="bg1"/>
                </a:solidFill>
              </a:rPr>
              <a:t>CREATE INFORMATION DRIVEN CULTURE THROUGH BROADER BI REACH</a:t>
            </a:r>
            <a:r>
              <a:rPr lang="en-US" dirty="0">
                <a:solidFill>
                  <a:schemeClr val="bg1"/>
                </a:solidFill>
                <a:latin typeface="Segoe UI Light"/>
              </a:rPr>
              <a:t> </a:t>
            </a:r>
          </a:p>
          <a:p>
            <a:endParaRPr lang="en-US" dirty="0"/>
          </a:p>
        </p:txBody>
      </p:sp>
      <p:sp>
        <p:nvSpPr>
          <p:cNvPr id="16" name="Date Placeholder 15"/>
          <p:cNvSpPr>
            <a:spLocks noGrp="1"/>
          </p:cNvSpPr>
          <p:nvPr>
            <p:ph type="dt"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453B4A1-23F0-4EA8-922A-C21006FB5AB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4" name="Footer Placeholder 3"/>
          <p:cNvSpPr>
            <a:spLocks noGrp="1"/>
          </p:cNvSpPr>
          <p:nvPr>
            <p:ph type="ftr" sz="quarter" idx="14"/>
          </p:nvPr>
        </p:nvSpPr>
        <p:spPr/>
        <p:txBody>
          <a:bodyPr/>
          <a:lstStyle/>
          <a:p>
            <a:pPr marL="588929" marR="0" lvl="0" indent="0" algn="l" defTabSz="93311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9216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Approach: (as well as other universities … only focus on Excel - </a:t>
            </a:r>
            <a:r>
              <a:rPr lang="en-US" dirty="0" err="1"/>
              <a:t>PowerBI</a:t>
            </a:r>
            <a:endParaRPr lang="en-US" dirty="0"/>
          </a:p>
          <a:p>
            <a:endParaRPr lang="en-US" dirty="0"/>
          </a:p>
          <a:p>
            <a:pPr lvl="1"/>
            <a:r>
              <a:rPr lang="en-US" sz="1000" b="1" dirty="0"/>
              <a:t>Excel is the most commonly used analytical tool for business users</a:t>
            </a:r>
            <a:r>
              <a:rPr lang="en-US" sz="1000" dirty="0"/>
              <a:t> – it truly is accessible to anyone. No other vendor has the ability to reach a billion users through tools they already know and use. Today Excel delivers end-to-end self-service BI functionality through capabilities such as Power Query, Power Pivot, Power View and Power Map. With the accessibility of Excel and proliferation of Office 365, we can lower the barrier of entry for businesses who want to take advantage of the benefits of business intelligence by putting the right analytics tools in everyone’s hands with no friction.</a:t>
            </a:r>
          </a:p>
          <a:p>
            <a:pPr marL="111539" lvl="1" indent="0">
              <a:buNone/>
            </a:pPr>
            <a:endParaRPr lang="en-US" dirty="0">
              <a:effectLst/>
            </a:endParaRPr>
          </a:p>
          <a:p>
            <a:pPr marL="175016" indent="-175016">
              <a:buFont typeface="Arial" panose="020B0604020202020204" pitchFamily="34" charset="0"/>
              <a:buChar char="•"/>
            </a:pPr>
            <a:r>
              <a:rPr lang="en-US" sz="1000" b="1" dirty="0"/>
              <a:t>Ease of deployment through Office 365.</a:t>
            </a:r>
            <a:r>
              <a:rPr lang="en-US" sz="1000" dirty="0"/>
              <a:t>. Power BI dramatically simplifies and reduces the time it takes for IT to setup and manage the complex infrastructure needed for an enterprise wide BI platform</a:t>
            </a:r>
            <a:r>
              <a:rPr lang="en-US" sz="1100" dirty="0"/>
              <a:t>. Power BI enables businesses to balance between the needs of business users working in Excel and an IT department’s requirements for agility, monitoring and governance. IT can also provide business users the ability to search and access IT sanctioned corporate data sources both on premises and in the cloud while monitoring query usage against their data. </a:t>
            </a:r>
          </a:p>
          <a:p>
            <a:pPr marL="175016" indent="-175016">
              <a:buFont typeface="Arial" panose="020B0604020202020204" pitchFamily="34" charset="0"/>
              <a:buChar char="•"/>
            </a:pPr>
            <a:endParaRPr lang="en-US" sz="1100" b="1" dirty="0"/>
          </a:p>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Server &amp; Tools Business</a:t>
            </a: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41953"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41953"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0B208224-8D9E-4093-AAD0-274EDEF23CD2}"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2955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b="1" i="0" kern="1200" dirty="0">
                <a:solidFill>
                  <a:schemeClr val="tx1"/>
                </a:solidFill>
                <a:effectLst/>
                <a:latin typeface="Segoe UI Light" pitchFamily="34" charset="0"/>
                <a:ea typeface="+mn-ea"/>
                <a:cs typeface="+mn-cs"/>
              </a:rPr>
              <a:t>Business intelligence</a:t>
            </a:r>
            <a:r>
              <a:rPr lang="en-GB" sz="900" b="0" i="0" kern="1200" dirty="0">
                <a:solidFill>
                  <a:schemeClr val="tx1"/>
                </a:solidFill>
                <a:effectLst/>
                <a:latin typeface="Segoe UI Light" pitchFamily="34" charset="0"/>
                <a:ea typeface="+mn-ea"/>
                <a:cs typeface="+mn-cs"/>
              </a:rPr>
              <a:t> as it is understood today is said to have evolved from the decision support systems (DSS) and developed throughout the mid-1980s.</a:t>
            </a:r>
          </a:p>
          <a:p>
            <a:endParaRPr lang="en-GB" sz="900" b="0" i="0" kern="1200" dirty="0">
              <a:solidFill>
                <a:schemeClr val="tx1"/>
              </a:solidFill>
              <a:effectLst/>
              <a:latin typeface="Segoe UI Light" pitchFamily="34" charset="0"/>
              <a:ea typeface="+mn-ea"/>
              <a:cs typeface="+mn-cs"/>
            </a:endParaRPr>
          </a:p>
          <a:p>
            <a:r>
              <a:rPr lang="en-GB" sz="900" b="0" i="0" kern="1200" dirty="0">
                <a:solidFill>
                  <a:schemeClr val="tx1"/>
                </a:solidFill>
                <a:effectLst/>
                <a:latin typeface="Segoe UI Light" pitchFamily="34" charset="0"/>
                <a:ea typeface="+mn-ea"/>
                <a:cs typeface="+mn-cs"/>
              </a:rPr>
              <a:t>The first general viable tool and techniques to support industry was </a:t>
            </a:r>
            <a:r>
              <a:rPr lang="en-GB" sz="900" b="1" i="0" kern="1200" dirty="0">
                <a:solidFill>
                  <a:schemeClr val="tx1"/>
                </a:solidFill>
                <a:effectLst/>
                <a:latin typeface="Segoe UI Light" pitchFamily="34" charset="0"/>
                <a:ea typeface="+mn-ea"/>
                <a:cs typeface="+mn-cs"/>
              </a:rPr>
              <a:t>Microsoft Excel </a:t>
            </a:r>
            <a:r>
              <a:rPr lang="en-GB" sz="900" b="0" i="0" kern="1200" dirty="0">
                <a:solidFill>
                  <a:schemeClr val="tx1"/>
                </a:solidFill>
                <a:effectLst/>
                <a:latin typeface="Segoe UI Light" pitchFamily="34" charset="0"/>
                <a:ea typeface="+mn-ea"/>
                <a:cs typeface="+mn-cs"/>
              </a:rPr>
              <a:t>and by 2010 decade saw the introduction of  …</a:t>
            </a:r>
          </a:p>
          <a:p>
            <a:endParaRPr lang="en-US" sz="1100" b="1" dirty="0"/>
          </a:p>
          <a:p>
            <a:r>
              <a:rPr lang="en-US" sz="1100" b="1" dirty="0"/>
              <a:t>Powerful Self-Service BI in Excel 2013:</a:t>
            </a:r>
            <a:r>
              <a:rPr lang="en-US" sz="1100" dirty="0"/>
              <a:t> We are taking our most powerful business intelligence solutions and building them directly into Excel.   </a:t>
            </a:r>
          </a:p>
          <a:p>
            <a:endParaRPr lang="en-US" sz="1100" dirty="0"/>
          </a:p>
          <a:p>
            <a:r>
              <a:rPr lang="en-US" sz="1000" dirty="0"/>
              <a:t>There has never been such an abundance of available and useful information as there is today both across the web and across your organization. However, users are challenged with effectively discovering and connecting to this information so that they can gain the insights they need. </a:t>
            </a:r>
          </a:p>
          <a:p>
            <a:r>
              <a:rPr lang="en-US" sz="1000" dirty="0"/>
              <a:t>  </a:t>
            </a:r>
          </a:p>
          <a:p>
            <a:r>
              <a:rPr lang="en-US" sz="1000" dirty="0"/>
              <a:t>Power Query enables information workers with a familiar and intuitive experience for finding and connect to data from within Excel. Providing them with ease of combining and transforming this data so that it can be analyzed and visualized for deeper insight. Power Query supports a wide variety of data sources including relational, structured and semi-structured data, OData, data from the Web, Hadoop, as well as Data Search capabilities that provide users with a search experience for data, returning relevant data sets from across the enterprise and from external sources. </a:t>
            </a:r>
          </a:p>
          <a:p>
            <a:endParaRPr lang="en-US" sz="1100" b="1"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78766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Power Pivot allows Excel users continue to create sophisticated models with data in Excel by creating relationships, custom measures and calculations, hierarchies, and KPI’s. Power Pivot models process data in-memory so that users can analyze 100’s of millions of rows of data with lightning fast performance. Power Pivot also compresses the data to reduce file sizes. </a:t>
            </a:r>
            <a:endParaRPr lang="en-US" sz="1100" b="1" dirty="0"/>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3814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5016" indent="-175016" defTabSz="951798">
              <a:spcAft>
                <a:spcPts val="347"/>
              </a:spcAft>
              <a:buFont typeface="Arial" panose="020B0604020202020204" pitchFamily="34" charset="0"/>
              <a:buChar char="•"/>
              <a:defRPr/>
            </a:pPr>
            <a:r>
              <a:rPr lang="en-US" sz="1000" dirty="0"/>
              <a:t>In Excel 2013 we also introduced a host of new visual </a:t>
            </a:r>
            <a:r>
              <a:rPr lang="en-US" sz="1000" dirty="0" err="1"/>
              <a:t>capabilitie</a:t>
            </a:r>
            <a:r>
              <a:rPr lang="en-US" sz="1000" dirty="0"/>
              <a:t>. Quick Analysis provided immediate views of various visualization options and reduced the time to add them on your data, Chart Recommendations used intelligent heuristics to suggest charts. The charting functionality provided live preview, richer data labels, and easier ways to add chart elements, apply styles, and filter directly from the charts. </a:t>
            </a:r>
          </a:p>
          <a:p>
            <a:pPr marL="175016" indent="-175016" defTabSz="951798">
              <a:spcAft>
                <a:spcPts val="347"/>
              </a:spcAft>
              <a:buFont typeface="Arial" panose="020B0604020202020204" pitchFamily="34" charset="0"/>
              <a:buChar char="•"/>
              <a:defRPr/>
            </a:pPr>
            <a:endParaRPr lang="en-US" sz="1000" dirty="0"/>
          </a:p>
          <a:p>
            <a:pPr marL="175016" indent="-175016" defTabSz="951798">
              <a:spcAft>
                <a:spcPts val="347"/>
              </a:spcAft>
              <a:buFont typeface="Arial" panose="020B0604020202020204" pitchFamily="34" charset="0"/>
              <a:buChar char="•"/>
              <a:defRPr/>
            </a:pPr>
            <a:r>
              <a:rPr lang="en-US" sz="1000" dirty="0"/>
              <a:t>Excel 2013 also introduced Power View, and with it brought beautiful interactivity to visualizations and more fluid exploration capabilities. </a:t>
            </a:r>
          </a:p>
          <a:p>
            <a:endParaRPr lang="en-US" sz="1100" dirty="0"/>
          </a:p>
          <a:p>
            <a:pPr marL="175016" indent="-175016">
              <a:buFont typeface="Arial" panose="020B0604020202020204" pitchFamily="34" charset="0"/>
              <a:buChar char="•"/>
            </a:pPr>
            <a:r>
              <a:rPr lang="en-US" sz="1100" dirty="0"/>
              <a:t>Power View easily creates visual reports and analytical views through interactive charts and graphs that help you explore and present your data in bold new ways in Excel. </a:t>
            </a:r>
            <a:r>
              <a:rPr lang="en-US" sz="1000" dirty="0"/>
              <a:t>Customers can create dashboards of interactive visualizations that provide instant answers to variety of questions. This capability has resonated well with our customers, one of whom mentioned the rigidity of static snapshots during meetings has been replaced by the “Power View lifestyle”, their term for the transformational way of presenting and using information.</a:t>
            </a:r>
          </a:p>
          <a:p>
            <a:pPr marL="175016" indent="-175016">
              <a:buFont typeface="Arial" panose="020B0604020202020204" pitchFamily="34" charset="0"/>
              <a:buChar char="•"/>
            </a:pP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5185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1798">
              <a:spcAft>
                <a:spcPts val="347"/>
              </a:spcAft>
              <a:defRPr/>
            </a:pPr>
            <a:r>
              <a:rPr lang="en-US" sz="1000" dirty="0"/>
              <a:t>2019: Increasingly, we have access to geospatial data, and recently introduced </a:t>
            </a:r>
            <a:r>
              <a:rPr lang="en-US" sz="1000" u="sng" dirty="0">
                <a:hlinkClick r:id="rId3"/>
              </a:rPr>
              <a:t>Power Map</a:t>
            </a:r>
            <a:r>
              <a:rPr lang="en-US" sz="1000" dirty="0"/>
              <a:t> brings new 3D visualization tool for mapping, exploring, and interacting with geographical and temporal data to Excel, enabling people to discover and share new insights such as trends, patterns, and outliers in their data over time. In addition, with Power Map, users can easily capture and distribute their insights in the form of an interactive movie, telling compelling stories about their data.</a:t>
            </a:r>
          </a:p>
          <a:p>
            <a:pPr defTabSz="951798">
              <a:spcAft>
                <a:spcPts val="347"/>
              </a:spcAft>
              <a:defRPr/>
            </a:pPr>
            <a:endParaRPr lang="en-US" sz="1000" dirty="0"/>
          </a:p>
          <a:p>
            <a:pPr defTabSz="951798">
              <a:spcAft>
                <a:spcPts val="347"/>
              </a:spcAft>
              <a:defRPr/>
            </a:pPr>
            <a:r>
              <a:rPr lang="en-US" sz="1000" dirty="0"/>
              <a:t>Inspiration for Power Map came from Microsoft Research’s </a:t>
            </a:r>
            <a:r>
              <a:rPr lang="en-US" sz="1000" dirty="0" err="1"/>
              <a:t>WorldWide</a:t>
            </a:r>
            <a:r>
              <a:rPr lang="en-US" sz="1000" dirty="0"/>
              <a:t> Telescope project. Launched in 2008, </a:t>
            </a:r>
            <a:r>
              <a:rPr lang="en-US" sz="1000" dirty="0" err="1"/>
              <a:t>WorldWide</a:t>
            </a:r>
            <a:r>
              <a:rPr lang="en-US" sz="1000" dirty="0"/>
              <a:t> Telescope is used by the astronomy community to visualize imagery and data, essentially giving astronomers an observatory in a PC. </a:t>
            </a:r>
          </a:p>
          <a:p>
            <a:pPr defTabSz="951798">
              <a:spcAft>
                <a:spcPts val="347"/>
              </a:spcAft>
              <a:defRPr/>
            </a:pPr>
            <a:endParaRPr lang="en-US" sz="1000" dirty="0"/>
          </a:p>
          <a:p>
            <a:r>
              <a:rPr lang="en-US" sz="1000" b="1" dirty="0"/>
              <a:t>What’s Next?</a:t>
            </a:r>
          </a:p>
          <a:p>
            <a:r>
              <a:rPr lang="en-US" sz="1000" dirty="0"/>
              <a:t>The importance for data visualization is on the rise. Deeper interactivity that blend analysis and visualizations even more fluidly, newer types of visualizations that enable you to see deeper insights more easily, richer experiences on the devices customers use most, and great storytelling experiences are just a few of the areas we’re investing in to make sure Excel remains the data productivity app of choice as our customer needs evolve.</a:t>
            </a:r>
          </a:p>
          <a:p>
            <a:pPr defTabSz="951798">
              <a:spcAft>
                <a:spcPts val="347"/>
              </a:spcAft>
              <a:defRPr/>
            </a:pPr>
            <a:endParaRPr lang="en-US" sz="1000" dirty="0"/>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622986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2143">
              <a:spcAft>
                <a:spcPts val="347"/>
              </a:spcAft>
              <a:defRPr/>
            </a:pPr>
            <a:r>
              <a:rPr lang="en-US" sz="1100" dirty="0"/>
              <a:t>2014: Power BI for Office 365 is a complete self-service BI solution delivered through Excel and Office 365 that provides data discovery, analysis, and visualization capabilities to identify deeper business insights from data in Excel. The Power BI for Office 365 service is a cloud-based solution that enable collaboration and reduces the barriers to deploying a BI environment for sharing reports and accessing information. </a:t>
            </a:r>
          </a:p>
          <a:p>
            <a:endParaRPr lang="en-US" sz="1100" b="1" dirty="0"/>
          </a:p>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Server &amp; Tools Business</a:t>
            </a: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41953"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41953"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0B208224-8D9E-4093-AAD0-274EDEF23CD2}"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32519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Collaborate and stay connected with Office 365:</a:t>
            </a:r>
            <a:r>
              <a:rPr lang="en-US" dirty="0"/>
              <a:t> </a:t>
            </a:r>
            <a:r>
              <a:rPr lang="en-US" sz="1100" dirty="0"/>
              <a:t>Extends Self-Service BI with ease of collaboration and sharing of reports and data sets which reducing friction from deployment and adoption.  </a:t>
            </a:r>
            <a:br>
              <a:rPr lang="en-US" sz="1100" dirty="0"/>
            </a:br>
            <a:endParaRPr lang="en-US" sz="1100" dirty="0"/>
          </a:p>
          <a:p>
            <a:pPr defTabSz="951798">
              <a:spcAft>
                <a:spcPts val="347"/>
              </a:spcAft>
              <a:defRPr/>
            </a:pPr>
            <a:r>
              <a:rPr lang="en-US" sz="1000" b="1" dirty="0"/>
              <a:t>Power BI Sites</a:t>
            </a:r>
            <a:r>
              <a:rPr lang="en-US" sz="1000" dirty="0"/>
              <a:t> – quickly create collaborative BI sites for your team to share reports. Larger workbook viewing is now supported (up to 250MB) so that users can view and interact with larger workbooks through the browser. Power BI sites provide a highly visual experience for sharing reports including live report tiles to ease in locate the right report quickly. </a:t>
            </a: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30602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1" dirty="0"/>
              <a:t>Manage data queries for the team</a:t>
            </a:r>
          </a:p>
          <a:p>
            <a:r>
              <a:rPr lang="en-US" sz="1000" dirty="0"/>
              <a:t>With Power BI people can share not only workbooks but also the queries they create using Power Query in Excel. This allows members of the team to build and manage data queries for others to use when creating their own reports.</a:t>
            </a:r>
          </a:p>
          <a:p>
            <a:endParaRPr lang="en-US" sz="1000" dirty="0"/>
          </a:p>
          <a:p>
            <a:r>
              <a:rPr lang="en-US" sz="1100" dirty="0"/>
              <a:t>Once published to Power BI users can define who they want to share their data queries with and track who’s accessing which queries. Data queries are registered with the Data Catalog so that they can be easily discovered through data search in Excel. If a user tries to access a query but they do not have access to the underlying data source, a workflow will allow them to request access from the DBA responsible for the data.</a:t>
            </a:r>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36143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1424">
              <a:spcAft>
                <a:spcPts val="343"/>
              </a:spcAft>
              <a:defRPr/>
            </a:pPr>
            <a:r>
              <a:rPr lang="en-US" sz="1100" b="1" dirty="0"/>
              <a:t>Keep reports up to date with data refresh</a:t>
            </a:r>
            <a:endParaRPr lang="en-US" sz="1100" dirty="0"/>
          </a:p>
          <a:p>
            <a:pPr defTabSz="941424">
              <a:spcAft>
                <a:spcPts val="343"/>
              </a:spcAft>
              <a:defRPr/>
            </a:pPr>
            <a:endParaRPr lang="en-US" sz="1100" dirty="0"/>
          </a:p>
          <a:p>
            <a:pPr defTabSz="941424">
              <a:spcAft>
                <a:spcPts val="343"/>
              </a:spcAft>
              <a:defRPr/>
            </a:pPr>
            <a:r>
              <a:rPr lang="en-US" sz="1100" dirty="0"/>
              <a:t>A cloud based Business Intelligence solution must enable you to keep your reports connected to your on-premises data to keep their data fresh. </a:t>
            </a:r>
            <a:endParaRPr lang="en-US" sz="1000" b="1" dirty="0"/>
          </a:p>
          <a:p>
            <a:endParaRPr lang="en-US" sz="1000" dirty="0"/>
          </a:p>
          <a:p>
            <a:r>
              <a:rPr lang="en-US" sz="1000" dirty="0"/>
              <a:t>Keep your reports up to date by scheduling when the data should refresh. The Data Management Gateway allows reports that have been saved to the cloud to connect back to on-premises data sources to refresh data. </a:t>
            </a:r>
          </a:p>
          <a:p>
            <a:pPr marL="175016" indent="-175016">
              <a:buFont typeface="Arial" panose="020B0604020202020204" pitchFamily="34" charset="0"/>
              <a:buChar char="•"/>
            </a:pPr>
            <a:r>
              <a:rPr lang="en-US" sz="1000" dirty="0"/>
              <a:t>Scheduled data refresh for your reports</a:t>
            </a:r>
          </a:p>
          <a:p>
            <a:pPr marL="175016" indent="-175016">
              <a:buFont typeface="Arial" panose="020B0604020202020204" pitchFamily="34" charset="0"/>
              <a:buChar char="•"/>
            </a:pPr>
            <a:r>
              <a:rPr lang="en-US" sz="1000" dirty="0"/>
              <a:t>Connect cloud based report to on-premises data</a:t>
            </a:r>
          </a:p>
          <a:p>
            <a:pPr marL="175016" indent="-175016">
              <a:buFont typeface="Arial" panose="020B0604020202020204" pitchFamily="34" charset="0"/>
              <a:buChar char="•"/>
            </a:pPr>
            <a:endParaRPr lang="en-US" sz="1000" dirty="0"/>
          </a:p>
          <a:p>
            <a:pPr defTabSz="951798">
              <a:spcAft>
                <a:spcPts val="347"/>
              </a:spcAft>
              <a:defRPr/>
            </a:pPr>
            <a:r>
              <a:rPr lang="en-US" sz="1000" dirty="0"/>
              <a:t>The data management gateway is installed and configured by IT on-premises, and enables reports to connect through the firewall back to their underlying data sources.  </a:t>
            </a:r>
          </a:p>
          <a:p>
            <a:endParaRPr lang="en-US" sz="1000" dirty="0"/>
          </a:p>
          <a:p>
            <a:pPr marL="173108" indent="-173108" defTabSz="941424">
              <a:spcAft>
                <a:spcPts val="343"/>
              </a:spcAft>
              <a:buFont typeface="Arial" panose="020B0604020202020204" pitchFamily="34" charset="0"/>
              <a:buChar char="•"/>
              <a:defRPr/>
            </a:pP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45094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1" dirty="0"/>
              <a:t>Maintain a Data Catalog of searchable data </a:t>
            </a:r>
            <a:endParaRPr lang="en-US" sz="1000" dirty="0"/>
          </a:p>
          <a:p>
            <a:r>
              <a:rPr lang="en-US" sz="1000" dirty="0"/>
              <a:t>IT departments can now use the Data Catalog feature of Power BI to make it easier for everyone to find and connect to corporate data. </a:t>
            </a:r>
          </a:p>
          <a:p>
            <a:pPr defTabSz="951798">
              <a:spcAft>
                <a:spcPts val="347"/>
              </a:spcAft>
              <a:defRPr/>
            </a:pPr>
            <a:endParaRPr lang="en-US" sz="1000" dirty="0"/>
          </a:p>
          <a:p>
            <a:pPr defTabSz="951798">
              <a:spcAft>
                <a:spcPts val="347"/>
              </a:spcAft>
              <a:defRPr/>
            </a:pPr>
            <a:r>
              <a:rPr lang="en-US" sz="1000" dirty="0"/>
              <a:t>The Data Catalog is a feature of Power BI  which serves as a search engine for data, the IT department can register data from across the organization with the Data Catalog. This data is then searchable from within Power Query in Excel so that users can easily find and connect to corporate data they need without having to call IT with one off data requests. </a:t>
            </a:r>
          </a:p>
          <a:p>
            <a:pPr defTabSz="951798">
              <a:spcAft>
                <a:spcPts val="347"/>
              </a:spcAft>
              <a:defRPr/>
            </a:pPr>
            <a:endParaRPr lang="en-US" sz="1000" dirty="0"/>
          </a:p>
          <a:p>
            <a:pPr defTabSz="951798">
              <a:spcAft>
                <a:spcPts val="347"/>
              </a:spcAft>
              <a:defRPr/>
            </a:pPr>
            <a:r>
              <a:rPr lang="en-US" sz="1000" dirty="0"/>
              <a:t>When searching for data from Excel, users will now receive results from public data sources, corporate data sources managed by IT, as well as data queries that colleagues are publishing into Power BI. Making it easier to discover what connect exists and reducing duplicative efforts across the organization.  </a:t>
            </a:r>
            <a:endParaRPr lang="en-US" sz="1100" dirty="0"/>
          </a:p>
          <a:p>
            <a:pPr marL="173108" indent="-173108">
              <a:buFont typeface="Arial" panose="020B0604020202020204" pitchFamily="34" charset="0"/>
              <a:buChar char="•"/>
            </a:pPr>
            <a:endParaRPr lang="en-US" sz="1100" dirty="0"/>
          </a:p>
          <a:p>
            <a:r>
              <a:rPr lang="en-US" sz="1100" dirty="0"/>
              <a:t>The Data Catalog also tracks data access and usage across the organization, providing IT with better telemetry for data governance and resource allocation. </a:t>
            </a: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45600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1798">
              <a:spcAft>
                <a:spcPts val="347"/>
              </a:spcAft>
              <a:defRPr/>
            </a:pPr>
            <a:r>
              <a:rPr lang="en-US" sz="1000" b="1" dirty="0"/>
              <a:t>Stay connected with mobile access to your reports </a:t>
            </a:r>
            <a:endParaRPr lang="en-US" sz="1100" dirty="0"/>
          </a:p>
          <a:p>
            <a:pPr defTabSz="941424">
              <a:spcAft>
                <a:spcPts val="343"/>
              </a:spcAft>
              <a:defRPr/>
            </a:pPr>
            <a:endParaRPr lang="en-US" sz="1100" dirty="0"/>
          </a:p>
          <a:p>
            <a:pPr defTabSz="941424">
              <a:spcAft>
                <a:spcPts val="343"/>
              </a:spcAft>
              <a:defRPr/>
            </a:pPr>
            <a:r>
              <a:rPr lang="en-US" sz="1100" dirty="0"/>
              <a:t>Mobile BI access to reports in Office 365 is provided through two mechanisms. First, Excel and Power View reports now render in HTML5 so that you can access these reports from any HTML5 compatible browser, on any device. The second, is through native mobile BI apps connect to the Power BI service to keep users connected to their favorite reports, which they can view and explore from their tablet devices. Windows 8.1 tablet devices will be supported are currently supported and </a:t>
            </a:r>
            <a:r>
              <a:rPr lang="en-US" sz="1100" dirty="0" err="1"/>
              <a:t>iOS</a:t>
            </a:r>
            <a:r>
              <a:rPr lang="en-US" sz="1100" dirty="0"/>
              <a:t> will be supported in H2 of CY2014.</a:t>
            </a:r>
          </a:p>
          <a:p>
            <a:endParaRPr lang="en-US" sz="1100" dirty="0">
              <a:latin typeface="Segoe" pitchFamily="34" charset="0"/>
            </a:endParaRP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05992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1798">
              <a:spcAft>
                <a:spcPts val="347"/>
              </a:spcAft>
              <a:defRPr/>
            </a:pPr>
            <a:r>
              <a:rPr lang="en-US" sz="1000" b="1" dirty="0"/>
              <a:t>Power BI enables business users to interact with their data in natural language</a:t>
            </a:r>
            <a:r>
              <a:rPr lang="en-US" sz="1000" dirty="0"/>
              <a:t>. The natural language query capability allows users to ask questions of their corporate data and get instant and visual results. </a:t>
            </a:r>
            <a:r>
              <a:rPr lang="en-US" dirty="0"/>
              <a:t>The experience is instantaneous and uses natural language query. Q&amp;A interprets the semantics of the question the user is asking and serves up the correct interactive chart or graph. </a:t>
            </a:r>
            <a:endParaRPr lang="en-US" sz="1000" dirty="0"/>
          </a:p>
          <a:p>
            <a:pPr defTabSz="951798">
              <a:spcAft>
                <a:spcPts val="347"/>
              </a:spcAft>
              <a:defRPr/>
            </a:pPr>
            <a:endParaRPr lang="en-US" sz="1000" dirty="0"/>
          </a:p>
          <a:p>
            <a:pPr defTabSz="951798">
              <a:spcAft>
                <a:spcPts val="347"/>
              </a:spcAft>
              <a:defRPr/>
            </a:pPr>
            <a:r>
              <a:rPr lang="en-US" sz="1000" dirty="0"/>
              <a:t>It’s as easy as going to a colleague to ask a question. This dramatically increases how many business users can get more value from their existing BI solutions. </a:t>
            </a:r>
            <a:endParaRPr lang="en-US" sz="1000" b="1" dirty="0"/>
          </a:p>
          <a:p>
            <a:endParaRPr lang="en-US" sz="1000" b="1" dirty="0"/>
          </a:p>
          <a:p>
            <a:endParaRPr lang="en-US" sz="1000" b="1" dirty="0"/>
          </a:p>
          <a:p>
            <a:endParaRPr lang="en-US" sz="1100" dirty="0"/>
          </a:p>
          <a:p>
            <a:endParaRPr lang="en-US" sz="1100" dirty="0">
              <a:latin typeface="Segoe" pitchFamily="34" charset="0"/>
            </a:endParaRP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25864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wrap="square" numCol="1" anchor="t" anchorCtr="0" compatLnSpc="1">
            <a:prstTxWarp prst="textNoShape">
              <a:avLst/>
            </a:prstTxWarp>
          </a:bodyPr>
          <a:lstStyle/>
          <a:p>
            <a:pPr eaLnBrk="1" hangingPunct="1">
              <a:spcBef>
                <a:spcPct val="0"/>
              </a:spcBef>
            </a:pPr>
            <a:r>
              <a:rPr lang="en-US" b="1" dirty="0"/>
              <a:t>SUGGESTED DEMO:  </a:t>
            </a:r>
            <a:r>
              <a:rPr lang="en-GB" dirty="0">
                <a:hlinkClick r:id="rId3"/>
              </a:rPr>
              <a:t>https://powerbi.microsoft.com/en-us/what-is-power-bi/</a:t>
            </a:r>
            <a:endParaRPr lang="en-US" dirty="0"/>
          </a:p>
          <a:p>
            <a:pPr eaLnBrk="1" hangingPunct="1">
              <a:spcBef>
                <a:spcPct val="0"/>
              </a:spcBef>
            </a:pPr>
            <a:endParaRPr lang="en-US" dirty="0"/>
          </a:p>
          <a:p>
            <a:pPr eaLnBrk="1" hangingPunct="1">
              <a:spcBef>
                <a:spcPct val="0"/>
              </a:spcBef>
            </a:pPr>
            <a:r>
              <a:rPr lang="en-US" b="1" dirty="0">
                <a:solidFill>
                  <a:srgbClr val="FF0000"/>
                </a:solidFill>
              </a:rPr>
              <a:t>DEMO ASSETS:</a:t>
            </a:r>
          </a:p>
          <a:p>
            <a:pPr eaLnBrk="1" hangingPunct="1">
              <a:spcBef>
                <a:spcPct val="0"/>
              </a:spcBef>
            </a:pPr>
            <a:r>
              <a:rPr lang="en-US" dirty="0">
                <a:solidFill>
                  <a:srgbClr val="FF0000"/>
                </a:solidFill>
              </a:rPr>
              <a:t>BI Demo Catalog</a:t>
            </a:r>
          </a:p>
          <a:p>
            <a:pPr eaLnBrk="1" hangingPunct="1">
              <a:spcBef>
                <a:spcPct val="0"/>
              </a:spcBef>
            </a:pPr>
            <a:r>
              <a:rPr lang="en-US" dirty="0">
                <a:solidFill>
                  <a:srgbClr val="FF0000"/>
                </a:solidFill>
              </a:rPr>
              <a:t>https://microsoft.sharepoint.com/teams/BIDemoCatalog/SitePages/BI%20Demo%20List.aspx</a:t>
            </a:r>
          </a:p>
          <a:p>
            <a:pPr eaLnBrk="1" hangingPunct="1">
              <a:spcBef>
                <a:spcPct val="0"/>
              </a:spcBef>
            </a:pPr>
            <a:endParaRPr lang="en-US" dirty="0">
              <a:solidFill>
                <a:srgbClr val="FF0000"/>
              </a:solidFill>
            </a:endParaRPr>
          </a:p>
          <a:p>
            <a:pPr eaLnBrk="1" hangingPunct="1">
              <a:spcBef>
                <a:spcPct val="0"/>
              </a:spcBef>
            </a:pPr>
            <a:r>
              <a:rPr lang="en-US" dirty="0">
                <a:solidFill>
                  <a:srgbClr val="FF0000"/>
                </a:solidFill>
              </a:rPr>
              <a:t>Launch in a Box</a:t>
            </a:r>
          </a:p>
          <a:p>
            <a:pPr eaLnBrk="1" hangingPunct="1">
              <a:spcBef>
                <a:spcPct val="0"/>
              </a:spcBef>
            </a:pPr>
            <a:r>
              <a:rPr lang="en-US" dirty="0">
                <a:solidFill>
                  <a:srgbClr val="FF0000"/>
                </a:solidFill>
              </a:rPr>
              <a:t>http://infopedia/Pages/EventMaterials.aspx &gt; select </a:t>
            </a:r>
            <a:r>
              <a:rPr lang="en-US" altLang="en-US" dirty="0">
                <a:solidFill>
                  <a:srgbClr val="FF0000"/>
                </a:solidFill>
              </a:rPr>
              <a:t>‘</a:t>
            </a:r>
            <a:r>
              <a:rPr lang="en-US" dirty="0">
                <a:solidFill>
                  <a:srgbClr val="FF0000"/>
                </a:solidFill>
              </a:rPr>
              <a:t>Demos</a:t>
            </a:r>
            <a:r>
              <a:rPr lang="en-US" altLang="en-US" dirty="0">
                <a:solidFill>
                  <a:srgbClr val="FF0000"/>
                </a:solidFill>
              </a:rPr>
              <a:t>’</a:t>
            </a:r>
            <a:r>
              <a:rPr lang="en-US" dirty="0">
                <a:solidFill>
                  <a:srgbClr val="FF0000"/>
                </a:solidFill>
              </a:rPr>
              <a:t> on the left-hand sidebar</a:t>
            </a:r>
          </a:p>
          <a:p>
            <a:pPr eaLnBrk="1" hangingPunct="1">
              <a:spcBef>
                <a:spcPct val="0"/>
              </a:spcBef>
            </a:pPr>
            <a:r>
              <a:rPr lang="en-US" b="1" dirty="0"/>
              <a:t>SUGGESTED DEMO:  </a:t>
            </a:r>
            <a:endParaRPr lang="en-US" dirty="0"/>
          </a:p>
          <a:p>
            <a:pPr lvl="1"/>
            <a:r>
              <a:rPr lang="en-US" dirty="0"/>
              <a:t>Ensure you have logged in and navigated to your Power BI site and that the setup workbook (AW Sales Analysis Demo1) has been uploaded to the Power BI site.</a:t>
            </a:r>
          </a:p>
          <a:p>
            <a:pPr lvl="1"/>
            <a:r>
              <a:rPr lang="en-US" dirty="0"/>
              <a:t>Show that the same features are available but the </a:t>
            </a:r>
            <a:r>
              <a:rPr lang="en-US" dirty="0" err="1"/>
              <a:t>PowerView</a:t>
            </a:r>
            <a:r>
              <a:rPr lang="en-US" dirty="0"/>
              <a:t> sheets (Salesperson Sales, Sales by Country) can be viewed in HTML5 (Link bottom right hand side) which is good for Mobile and Tablets</a:t>
            </a:r>
          </a:p>
          <a:p>
            <a:pPr eaLnBrk="1" hangingPunct="1">
              <a:spcBef>
                <a:spcPct val="0"/>
              </a:spcBef>
            </a:pPr>
            <a:endParaRPr lang="en-US" dirty="0"/>
          </a:p>
        </p:txBody>
      </p:sp>
      <p:sp>
        <p:nvSpPr>
          <p:cNvPr id="82947"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sz="2400">
                <a:solidFill>
                  <a:schemeClr val="tx1"/>
                </a:solidFill>
                <a:latin typeface="Segoe UI" panose="020B0502040204020203" pitchFamily="34" charset="0"/>
                <a:ea typeface="MS PGothic" panose="020B0600070205080204" pitchFamily="34" charset="-128"/>
              </a:defRPr>
            </a:lvl1pPr>
            <a:lvl2pPr marL="751274" indent="-288952" eaLnBrk="0" hangingPunct="0">
              <a:defRPr sz="2400">
                <a:solidFill>
                  <a:schemeClr val="tx1"/>
                </a:solidFill>
                <a:latin typeface="Segoe UI" panose="020B0502040204020203" pitchFamily="34" charset="0"/>
                <a:ea typeface="MS PGothic" panose="020B0600070205080204" pitchFamily="34" charset="-128"/>
              </a:defRPr>
            </a:lvl2pPr>
            <a:lvl3pPr marL="1155807" indent="-231161" eaLnBrk="0" hangingPunct="0">
              <a:defRPr sz="2400">
                <a:solidFill>
                  <a:schemeClr val="tx1"/>
                </a:solidFill>
                <a:latin typeface="Segoe UI" panose="020B0502040204020203" pitchFamily="34" charset="0"/>
                <a:ea typeface="MS PGothic" panose="020B0600070205080204" pitchFamily="34" charset="-128"/>
              </a:defRPr>
            </a:lvl3pPr>
            <a:lvl4pPr marL="1618129" indent="-231161" eaLnBrk="0" hangingPunct="0">
              <a:defRPr sz="2400">
                <a:solidFill>
                  <a:schemeClr val="tx1"/>
                </a:solidFill>
                <a:latin typeface="Segoe UI" panose="020B0502040204020203" pitchFamily="34" charset="0"/>
                <a:ea typeface="MS PGothic" panose="020B0600070205080204" pitchFamily="34" charset="-128"/>
              </a:defRPr>
            </a:lvl4pPr>
            <a:lvl5pPr marL="2080452" indent="-231161" eaLnBrk="0" hangingPunct="0">
              <a:defRPr sz="2400">
                <a:solidFill>
                  <a:schemeClr val="tx1"/>
                </a:solidFill>
                <a:latin typeface="Segoe UI" panose="020B0502040204020203" pitchFamily="34" charset="0"/>
                <a:ea typeface="MS PGothic" panose="020B0600070205080204" pitchFamily="34" charset="-128"/>
              </a:defRPr>
            </a:lvl5pPr>
            <a:lvl6pPr marL="2542775"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6pPr>
            <a:lvl7pPr marL="3005097"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7pPr>
            <a:lvl8pPr marL="3467420"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8pPr>
            <a:lvl9pPr marL="3929743"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9pPr>
          </a:lstStyle>
          <a:p>
            <a:pPr marL="0" marR="0" lvl="0" indent="0" algn="l" defTabSz="942304"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S PGothic" panose="020B0600070205080204" pitchFamily="34" charset="-128"/>
                <a:cs typeface="+mn-cs"/>
              </a:rPr>
              <a:t>System Center Marketing</a:t>
            </a:r>
          </a:p>
        </p:txBody>
      </p:sp>
      <p:sp>
        <p:nvSpPr>
          <p:cNvPr id="5" name="Footer Placeholder 4"/>
          <p:cNvSpPr>
            <a:spLocks noGrp="1"/>
          </p:cNvSpPr>
          <p:nvPr>
            <p:ph type="ftr" sz="quarter" idx="4"/>
          </p:nvPr>
        </p:nvSpPr>
        <p:spPr>
          <a:xfrm>
            <a:off x="0" y="8917423"/>
            <a:ext cx="3077739" cy="471053"/>
          </a:xfrm>
        </p:spPr>
        <p:txBody>
          <a:bodyPr/>
          <a:lstStyle/>
          <a:p>
            <a:pPr marL="588929" marR="0" lvl="0" indent="0" algn="l" defTabSz="95968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a:t>
            </a:r>
          </a:p>
          <a:p>
            <a:pPr marL="588929" marR="0" lvl="0" indent="0" algn="l" defTabSz="95968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82949" name="Date Placeholder 5"/>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egoe UI" panose="020B0502040204020203" pitchFamily="34" charset="0"/>
                <a:ea typeface="MS PGothic" panose="020B0600070205080204" pitchFamily="34" charset="-128"/>
              </a:defRPr>
            </a:lvl1pPr>
            <a:lvl2pPr marL="751274" indent="-288952" eaLnBrk="0" hangingPunct="0">
              <a:defRPr sz="2400">
                <a:solidFill>
                  <a:schemeClr val="tx1"/>
                </a:solidFill>
                <a:latin typeface="Segoe UI" panose="020B0502040204020203" pitchFamily="34" charset="0"/>
                <a:ea typeface="MS PGothic" panose="020B0600070205080204" pitchFamily="34" charset="-128"/>
              </a:defRPr>
            </a:lvl2pPr>
            <a:lvl3pPr marL="1155807" indent="-231161" eaLnBrk="0" hangingPunct="0">
              <a:defRPr sz="2400">
                <a:solidFill>
                  <a:schemeClr val="tx1"/>
                </a:solidFill>
                <a:latin typeface="Segoe UI" panose="020B0502040204020203" pitchFamily="34" charset="0"/>
                <a:ea typeface="MS PGothic" panose="020B0600070205080204" pitchFamily="34" charset="-128"/>
              </a:defRPr>
            </a:lvl3pPr>
            <a:lvl4pPr marL="1618129" indent="-231161" eaLnBrk="0" hangingPunct="0">
              <a:defRPr sz="2400">
                <a:solidFill>
                  <a:schemeClr val="tx1"/>
                </a:solidFill>
                <a:latin typeface="Segoe UI" panose="020B0502040204020203" pitchFamily="34" charset="0"/>
                <a:ea typeface="MS PGothic" panose="020B0600070205080204" pitchFamily="34" charset="-128"/>
              </a:defRPr>
            </a:lvl4pPr>
            <a:lvl5pPr marL="2080452" indent="-231161" eaLnBrk="0" hangingPunct="0">
              <a:defRPr sz="2400">
                <a:solidFill>
                  <a:schemeClr val="tx1"/>
                </a:solidFill>
                <a:latin typeface="Segoe UI" panose="020B0502040204020203" pitchFamily="34" charset="0"/>
                <a:ea typeface="MS PGothic" panose="020B0600070205080204" pitchFamily="34" charset="-128"/>
              </a:defRPr>
            </a:lvl5pPr>
            <a:lvl6pPr marL="2542775"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6pPr>
            <a:lvl7pPr marL="3005097"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7pPr>
            <a:lvl8pPr marL="3467420"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8pPr>
            <a:lvl9pPr marL="3929743"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9pPr>
          </a:lstStyle>
          <a:p>
            <a:pPr marL="0" marR="0" lvl="0" indent="0" algn="r" defTabSz="932742" rtl="0" eaLnBrk="1" fontAlgn="auto" latinLnBrk="0" hangingPunct="1">
              <a:lnSpc>
                <a:spcPct val="100000"/>
              </a:lnSpc>
              <a:spcBef>
                <a:spcPts val="0"/>
              </a:spcBef>
              <a:spcAft>
                <a:spcPts val="0"/>
              </a:spcAft>
              <a:buClrTx/>
              <a:buSzTx/>
              <a:buFontTx/>
              <a:buNone/>
              <a:tabLst/>
              <a:defRPr/>
            </a:pPr>
            <a:fld id="{1E88E028-FFDF-4B67-AC84-56C2ADC55E55}" type="datetime1">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S PGothic" panose="020B0600070205080204" pitchFamily="34" charset="-128"/>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S PGothic" panose="020B0600070205080204" pitchFamily="34" charset="-128"/>
              <a:cs typeface="+mn-cs"/>
            </a:endParaRPr>
          </a:p>
        </p:txBody>
      </p:sp>
      <p:sp>
        <p:nvSpPr>
          <p:cNvPr id="82950"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egoe UI" panose="020B0502040204020203" pitchFamily="34" charset="0"/>
                <a:ea typeface="MS PGothic" panose="020B0600070205080204" pitchFamily="34" charset="-128"/>
              </a:defRPr>
            </a:lvl1pPr>
            <a:lvl2pPr marL="751274" indent="-288952" eaLnBrk="0" hangingPunct="0">
              <a:defRPr sz="2400">
                <a:solidFill>
                  <a:schemeClr val="tx1"/>
                </a:solidFill>
                <a:latin typeface="Segoe UI" panose="020B0502040204020203" pitchFamily="34" charset="0"/>
                <a:ea typeface="MS PGothic" panose="020B0600070205080204" pitchFamily="34" charset="-128"/>
              </a:defRPr>
            </a:lvl2pPr>
            <a:lvl3pPr marL="1155807" indent="-231161" eaLnBrk="0" hangingPunct="0">
              <a:defRPr sz="2400">
                <a:solidFill>
                  <a:schemeClr val="tx1"/>
                </a:solidFill>
                <a:latin typeface="Segoe UI" panose="020B0502040204020203" pitchFamily="34" charset="0"/>
                <a:ea typeface="MS PGothic" panose="020B0600070205080204" pitchFamily="34" charset="-128"/>
              </a:defRPr>
            </a:lvl3pPr>
            <a:lvl4pPr marL="1618129" indent="-231161" eaLnBrk="0" hangingPunct="0">
              <a:defRPr sz="2400">
                <a:solidFill>
                  <a:schemeClr val="tx1"/>
                </a:solidFill>
                <a:latin typeface="Segoe UI" panose="020B0502040204020203" pitchFamily="34" charset="0"/>
                <a:ea typeface="MS PGothic" panose="020B0600070205080204" pitchFamily="34" charset="-128"/>
              </a:defRPr>
            </a:lvl4pPr>
            <a:lvl5pPr marL="2080452" indent="-231161" eaLnBrk="0" hangingPunct="0">
              <a:defRPr sz="2400">
                <a:solidFill>
                  <a:schemeClr val="tx1"/>
                </a:solidFill>
                <a:latin typeface="Segoe UI" panose="020B0502040204020203" pitchFamily="34" charset="0"/>
                <a:ea typeface="MS PGothic" panose="020B0600070205080204" pitchFamily="34" charset="-128"/>
              </a:defRPr>
            </a:lvl5pPr>
            <a:lvl6pPr marL="2542775"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6pPr>
            <a:lvl7pPr marL="3005097"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7pPr>
            <a:lvl8pPr marL="3467420"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8pPr>
            <a:lvl9pPr marL="3929743" indent="-231161" defTabSz="942304" eaLnBrk="0" fontAlgn="base" hangingPunct="0">
              <a:spcBef>
                <a:spcPct val="0"/>
              </a:spcBef>
              <a:spcAft>
                <a:spcPct val="0"/>
              </a:spcAft>
              <a:defRPr sz="2400">
                <a:solidFill>
                  <a:schemeClr val="tx1"/>
                </a:solidFill>
                <a:latin typeface="Segoe UI" panose="020B0502040204020203" pitchFamily="34" charset="0"/>
                <a:ea typeface="MS PGothic" panose="020B0600070205080204" pitchFamily="34" charset="-128"/>
              </a:defRPr>
            </a:lvl9pPr>
          </a:lstStyle>
          <a:p>
            <a:pPr marL="0" marR="0" lvl="0" indent="0" algn="r" defTabSz="932742" rtl="0" eaLnBrk="1" fontAlgn="auto" latinLnBrk="0" hangingPunct="1">
              <a:lnSpc>
                <a:spcPct val="100000"/>
              </a:lnSpc>
              <a:spcBef>
                <a:spcPts val="0"/>
              </a:spcBef>
              <a:spcAft>
                <a:spcPts val="0"/>
              </a:spcAft>
              <a:buClrTx/>
              <a:buSzTx/>
              <a:buFontTx/>
              <a:buNone/>
              <a:tabLst/>
              <a:defRPr/>
            </a:pPr>
            <a:fld id="{62131578-C4D9-4A3C-857A-B2C659DECF86}" type="slidenum">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S PGothic" panose="020B0600070205080204" pitchFamily="34" charset="-128"/>
                <a:cs typeface="+mn-cs"/>
              </a:rPr>
              <a:pPr marL="0" marR="0" lvl="0" indent="0" algn="r" defTabSz="932742"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2070258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To summarize – Microsoft is making data and analytics truly accessible by bringing these capabilities directly to the tools that people use every day. </a:t>
            </a:r>
          </a:p>
          <a:p>
            <a:endParaRPr lang="en-US" sz="1100" dirty="0"/>
          </a:p>
          <a:p>
            <a:r>
              <a:rPr lang="en-US" sz="1000" dirty="0"/>
              <a:t>With both Excel and Power BI for Office 365, you can give everyone in your organization a powerful new way to work with data. In Excel, you can now discover, analyze, and visualize data like never before to find valuable business insights. With Power BI for Office 365 you can easily deploy a cloud-based BI environment for users to share insights, collaborate and access reports, from anywhere.</a:t>
            </a: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3311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3311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725924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76091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388629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108" indent="-173108" defTabSz="941424">
              <a:spcAft>
                <a:spcPts val="343"/>
              </a:spcAft>
              <a:buFont typeface="Arial" panose="020B0604020202020204" pitchFamily="34" charset="0"/>
              <a:buChar char="•"/>
              <a:defRPr/>
            </a:pPr>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4526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976628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latin typeface="Segoe" pitchFamily="34" charset="0"/>
            </a:endParaRPr>
          </a:p>
          <a:p>
            <a:endParaRPr lang="en-US" sz="1100"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rPr>
              <a:t>MGXFY13</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gradFill>
                <a:gsLst>
                  <a:gs pos="0">
                    <a:prstClr val="black">
                      <a:lumMod val="50000"/>
                    </a:prstClr>
                  </a:gs>
                  <a:gs pos="100000">
                    <a:prstClr val="black">
                      <a:lumMod val="50000"/>
                    </a:prstClr>
                  </a:gs>
                </a:gsLst>
                <a:lin ang="5400000" scaled="0"/>
              </a:gra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588929" marR="0" lvl="0" indent="0" algn="l" defTabSz="92294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2C95E057-5B58-4C1B-9A58-04A7F989C703}"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9/22/2025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57783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https://quizizz.com/join/quiz/632c2c3409790e001d7c4aa7/start?studentShare=true </a:t>
            </a:r>
          </a:p>
        </p:txBody>
      </p:sp>
      <p:sp>
        <p:nvSpPr>
          <p:cNvPr id="4" name="Slide Number Placeholder 3"/>
          <p:cNvSpPr>
            <a:spLocks noGrp="1"/>
          </p:cNvSpPr>
          <p:nvPr>
            <p:ph type="sldNum" sz="quarter" idx="5"/>
          </p:nvPr>
        </p:nvSpPr>
        <p:spPr/>
        <p:txBody>
          <a:bodyPr/>
          <a:lstStyle/>
          <a:p>
            <a:fld id="{A9C9DF67-0900-1547-96D2-E921F3F76B03}" type="slidenum">
              <a:rPr lang="en-US" smtClean="0"/>
              <a:t>47</a:t>
            </a:fld>
            <a:endParaRPr lang="en-US"/>
          </a:p>
        </p:txBody>
      </p:sp>
    </p:spTree>
    <p:extLst>
      <p:ext uri="{BB962C8B-B14F-4D97-AF65-F5344CB8AC3E}">
        <p14:creationId xmlns:p14="http://schemas.microsoft.com/office/powerpoint/2010/main" val="434601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2211571"/>
            <a:ext cx="9144000" cy="1298391"/>
          </a:xfrm>
          <a:prstGeom prst="rect">
            <a:avLst/>
          </a:prstGeom>
        </p:spPr>
        <p:txBody>
          <a:bodyPr anchor="b"/>
          <a:lstStyle>
            <a:lvl1pPr algn="ctr">
              <a:defRPr sz="6000" b="1" i="0" baseline="0">
                <a:latin typeface="arial" charset="0"/>
              </a:defRPr>
            </a:lvl1pPr>
          </a:lstStyle>
          <a:p>
            <a:r>
              <a:rPr lang="en-US" dirty="0"/>
              <a:t>Title of slide</a:t>
            </a:r>
          </a:p>
        </p:txBody>
      </p:sp>
      <p:sp>
        <p:nvSpPr>
          <p:cNvPr id="3" name="Subtitle 2"/>
          <p:cNvSpPr>
            <a:spLocks noGrp="1"/>
          </p:cNvSpPr>
          <p:nvPr>
            <p:ph type="subTitle" idx="1" hasCustomPrompt="1"/>
          </p:nvPr>
        </p:nvSpPr>
        <p:spPr>
          <a:xfrm>
            <a:off x="1524000" y="3602038"/>
            <a:ext cx="9144000" cy="693515"/>
          </a:xfrm>
          <a:prstGeom prst="rect">
            <a:avLst/>
          </a:prstGeom>
        </p:spPr>
        <p:txBody>
          <a:bodyPr/>
          <a:lstStyle>
            <a:lvl1pPr marL="0" indent="0" algn="ctr">
              <a:buNone/>
              <a:defRPr sz="2400" baseline="0">
                <a:solidFill>
                  <a:srgbClr val="F67F21"/>
                </a:solidFill>
                <a:latin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person/subtitle</a:t>
            </a:r>
          </a:p>
        </p:txBody>
      </p:sp>
    </p:spTree>
    <p:extLst>
      <p:ext uri="{BB962C8B-B14F-4D97-AF65-F5344CB8AC3E}">
        <p14:creationId xmlns:p14="http://schemas.microsoft.com/office/powerpoint/2010/main" val="1688144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imag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2030818"/>
            <a:ext cx="12192000" cy="3732029"/>
          </a:xfrm>
          <a:prstGeom prst="rect">
            <a:avLst/>
          </a:prstGeom>
        </p:spPr>
        <p:txBody>
          <a:bodyPr/>
          <a:lstStyle/>
          <a:p>
            <a:endParaRPr lang="en-US"/>
          </a:p>
        </p:txBody>
      </p:sp>
    </p:spTree>
    <p:extLst>
      <p:ext uri="{BB962C8B-B14F-4D97-AF65-F5344CB8AC3E}">
        <p14:creationId xmlns:p14="http://schemas.microsoft.com/office/powerpoint/2010/main" val="42431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63" b="0" i="0">
                <a:solidFill>
                  <a:srgbClr val="888888"/>
                </a:solidFill>
                <a:latin typeface="Calibri"/>
                <a:cs typeface="Calibri"/>
              </a:defRPr>
            </a:lvl1pPr>
          </a:lstStyle>
          <a:p>
            <a:pPr marL="11459">
              <a:lnSpc>
                <a:spcPts val="1290"/>
              </a:lnSpc>
            </a:pPr>
            <a:r>
              <a:rPr lang="en-GB" spc="-14"/>
              <a:t>Pete</a:t>
            </a:r>
            <a:r>
              <a:rPr lang="en-GB" spc="-63"/>
              <a:t> </a:t>
            </a:r>
            <a:r>
              <a:rPr lang="en-GB" spc="-9"/>
              <a:t>Dwyer</a:t>
            </a:r>
            <a:endParaRPr lang="en-GB" spc="-9" dirty="0"/>
          </a:p>
        </p:txBody>
      </p:sp>
      <p:sp>
        <p:nvSpPr>
          <p:cNvPr id="3" name="Holder 3"/>
          <p:cNvSpPr>
            <a:spLocks noGrp="1"/>
          </p:cNvSpPr>
          <p:nvPr>
            <p:ph type="dt" sz="half" idx="6"/>
          </p:nvPr>
        </p:nvSpPr>
        <p:spPr/>
        <p:txBody>
          <a:bodyPr lIns="0" tIns="0" rIns="0" bIns="0"/>
          <a:lstStyle>
            <a:lvl1pPr>
              <a:defRPr sz="1263" b="0" i="0">
                <a:solidFill>
                  <a:srgbClr val="888888"/>
                </a:solidFill>
                <a:latin typeface="Calibri"/>
                <a:cs typeface="Calibri"/>
              </a:defRPr>
            </a:lvl1pPr>
          </a:lstStyle>
          <a:p>
            <a:pPr marL="11459">
              <a:lnSpc>
                <a:spcPts val="1290"/>
              </a:lnSpc>
            </a:pPr>
            <a:r>
              <a:rPr lang="en-GB" spc="-9"/>
              <a:t>09</a:t>
            </a:r>
            <a:r>
              <a:rPr lang="en-GB" spc="-5"/>
              <a:t>/</a:t>
            </a:r>
            <a:r>
              <a:rPr lang="en-GB" spc="-14"/>
              <a:t>1</a:t>
            </a:r>
            <a:r>
              <a:rPr lang="en-GB" spc="-9"/>
              <a:t>0</a:t>
            </a:r>
            <a:r>
              <a:rPr lang="en-GB" spc="-5"/>
              <a:t>/</a:t>
            </a:r>
            <a:r>
              <a:rPr lang="en-GB" spc="-14"/>
              <a:t>2</a:t>
            </a:r>
            <a:r>
              <a:rPr lang="en-GB" spc="-9"/>
              <a:t>01</a:t>
            </a:r>
            <a:r>
              <a:rPr lang="en-GB"/>
              <a:t>7</a:t>
            </a:r>
            <a:endParaRPr lang="en-GB" dirty="0"/>
          </a:p>
        </p:txBody>
      </p:sp>
      <p:sp>
        <p:nvSpPr>
          <p:cNvPr id="4" name="Holder 4"/>
          <p:cNvSpPr>
            <a:spLocks noGrp="1"/>
          </p:cNvSpPr>
          <p:nvPr>
            <p:ph type="sldNum" sz="quarter" idx="7"/>
          </p:nvPr>
        </p:nvSpPr>
        <p:spPr/>
        <p:txBody>
          <a:bodyPr lIns="0" tIns="0" rIns="0" bIns="0"/>
          <a:lstStyle>
            <a:lvl1pPr>
              <a:defRPr sz="1263" b="0" i="0">
                <a:solidFill>
                  <a:srgbClr val="888888"/>
                </a:solidFill>
                <a:latin typeface="Calibri"/>
                <a:cs typeface="Calibri"/>
              </a:defRPr>
            </a:lvl1pPr>
          </a:lstStyle>
          <a:p>
            <a:pPr marL="22918">
              <a:lnSpc>
                <a:spcPts val="1290"/>
              </a:lnSpc>
            </a:pPr>
            <a:fld id="{81D60167-4931-47E6-BA6A-407CBD079E47}" type="slidenum">
              <a:rPr lang="en-GB" smtClean="0"/>
              <a:pPr marL="22918">
                <a:lnSpc>
                  <a:spcPts val="1290"/>
                </a:lnSpc>
              </a:pPr>
              <a:t>‹#›</a:t>
            </a:fld>
            <a:endParaRPr lang="en-GB" dirty="0"/>
          </a:p>
        </p:txBody>
      </p:sp>
    </p:spTree>
    <p:extLst>
      <p:ext uri="{BB962C8B-B14F-4D97-AF65-F5344CB8AC3E}">
        <p14:creationId xmlns:p14="http://schemas.microsoft.com/office/powerpoint/2010/main" val="3187898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95" b="0"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63" b="0" i="0">
                <a:solidFill>
                  <a:srgbClr val="888888"/>
                </a:solidFill>
                <a:latin typeface="Calibri"/>
                <a:cs typeface="Calibri"/>
              </a:defRPr>
            </a:lvl1pPr>
          </a:lstStyle>
          <a:p>
            <a:pPr marL="11459">
              <a:lnSpc>
                <a:spcPts val="1290"/>
              </a:lnSpc>
            </a:pPr>
            <a:r>
              <a:rPr lang="en-GB" spc="-14"/>
              <a:t>Pete</a:t>
            </a:r>
            <a:r>
              <a:rPr lang="en-GB" spc="-63"/>
              <a:t> </a:t>
            </a:r>
            <a:r>
              <a:rPr lang="en-GB" spc="-9"/>
              <a:t>Dwyer</a:t>
            </a:r>
            <a:endParaRPr lang="en-GB" spc="-9" dirty="0"/>
          </a:p>
        </p:txBody>
      </p:sp>
      <p:sp>
        <p:nvSpPr>
          <p:cNvPr id="4" name="Holder 4"/>
          <p:cNvSpPr>
            <a:spLocks noGrp="1"/>
          </p:cNvSpPr>
          <p:nvPr>
            <p:ph type="dt" sz="half" idx="6"/>
          </p:nvPr>
        </p:nvSpPr>
        <p:spPr/>
        <p:txBody>
          <a:bodyPr lIns="0" tIns="0" rIns="0" bIns="0"/>
          <a:lstStyle>
            <a:lvl1pPr>
              <a:defRPr sz="1263" b="0" i="0">
                <a:solidFill>
                  <a:srgbClr val="888888"/>
                </a:solidFill>
                <a:latin typeface="Calibri"/>
                <a:cs typeface="Calibri"/>
              </a:defRPr>
            </a:lvl1pPr>
          </a:lstStyle>
          <a:p>
            <a:pPr marL="11459">
              <a:lnSpc>
                <a:spcPts val="1290"/>
              </a:lnSpc>
            </a:pPr>
            <a:r>
              <a:rPr lang="en-GB" spc="-9"/>
              <a:t>09</a:t>
            </a:r>
            <a:r>
              <a:rPr lang="en-GB" spc="-5"/>
              <a:t>/</a:t>
            </a:r>
            <a:r>
              <a:rPr lang="en-GB" spc="-14"/>
              <a:t>1</a:t>
            </a:r>
            <a:r>
              <a:rPr lang="en-GB" spc="-9"/>
              <a:t>0</a:t>
            </a:r>
            <a:r>
              <a:rPr lang="en-GB" spc="-5"/>
              <a:t>/</a:t>
            </a:r>
            <a:r>
              <a:rPr lang="en-GB" spc="-14"/>
              <a:t>2</a:t>
            </a:r>
            <a:r>
              <a:rPr lang="en-GB" spc="-9"/>
              <a:t>01</a:t>
            </a:r>
            <a:r>
              <a:rPr lang="en-GB"/>
              <a:t>7</a:t>
            </a:r>
            <a:endParaRPr lang="en-GB" dirty="0"/>
          </a:p>
        </p:txBody>
      </p:sp>
      <p:sp>
        <p:nvSpPr>
          <p:cNvPr id="5" name="Holder 5"/>
          <p:cNvSpPr>
            <a:spLocks noGrp="1"/>
          </p:cNvSpPr>
          <p:nvPr>
            <p:ph type="sldNum" sz="quarter" idx="7"/>
          </p:nvPr>
        </p:nvSpPr>
        <p:spPr/>
        <p:txBody>
          <a:bodyPr lIns="0" tIns="0" rIns="0" bIns="0"/>
          <a:lstStyle>
            <a:lvl1pPr>
              <a:defRPr sz="1263" b="0" i="0">
                <a:solidFill>
                  <a:srgbClr val="888888"/>
                </a:solidFill>
                <a:latin typeface="Calibri"/>
                <a:cs typeface="Calibri"/>
              </a:defRPr>
            </a:lvl1pPr>
          </a:lstStyle>
          <a:p>
            <a:pPr marL="22918">
              <a:lnSpc>
                <a:spcPts val="1290"/>
              </a:lnSpc>
            </a:pPr>
            <a:fld id="{81D60167-4931-47E6-BA6A-407CBD079E47}" type="slidenum">
              <a:rPr lang="en-GB" smtClean="0"/>
              <a:pPr marL="22918">
                <a:lnSpc>
                  <a:spcPts val="1290"/>
                </a:lnSpc>
              </a:pPr>
              <a:t>‹#›</a:t>
            </a:fld>
            <a:endParaRPr lang="en-GB" dirty="0"/>
          </a:p>
        </p:txBody>
      </p:sp>
    </p:spTree>
    <p:extLst>
      <p:ext uri="{BB962C8B-B14F-4D97-AF65-F5344CB8AC3E}">
        <p14:creationId xmlns:p14="http://schemas.microsoft.com/office/powerpoint/2010/main" val="24081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6" name="TextBox 5"/>
          <p:cNvSpPr txBox="1"/>
          <p:nvPr userDrawn="1"/>
        </p:nvSpPr>
        <p:spPr>
          <a:xfrm>
            <a:off x="6188149" y="3349256"/>
            <a:ext cx="914400" cy="914400"/>
          </a:xfrm>
          <a:prstGeom prst="rect">
            <a:avLst/>
          </a:prstGeom>
        </p:spPr>
        <p:txBody>
          <a:bodyPr wrap="none" rtlCol="0" anchor="ctr" anchorCtr="0">
            <a:normAutofit/>
          </a:bodyPr>
          <a:lstStyle/>
          <a:p>
            <a:endParaRPr lang="en-US" sz="4000" b="1" dirty="0">
              <a:latin typeface="Arial" charset="0"/>
              <a:ea typeface="Arial" charset="0"/>
              <a:cs typeface="Arial" charset="0"/>
            </a:endParaRPr>
          </a:p>
        </p:txBody>
      </p:sp>
      <p:sp>
        <p:nvSpPr>
          <p:cNvPr id="7" name="Title 1"/>
          <p:cNvSpPr>
            <a:spLocks noGrp="1"/>
          </p:cNvSpPr>
          <p:nvPr>
            <p:ph type="ctrTitle" hasCustomPrompt="1"/>
          </p:nvPr>
        </p:nvSpPr>
        <p:spPr>
          <a:xfrm>
            <a:off x="321365" y="1565341"/>
            <a:ext cx="11536018" cy="734864"/>
          </a:xfrm>
          <a:prstGeom prst="rect">
            <a:avLst/>
          </a:prstGeom>
        </p:spPr>
        <p:txBody>
          <a:bodyPr anchor="b"/>
          <a:lstStyle>
            <a:lvl1pPr algn="l">
              <a:defRPr sz="4000" b="1" i="0" baseline="0">
                <a:latin typeface="arial" charset="0"/>
              </a:defRPr>
            </a:lvl1pPr>
          </a:lstStyle>
          <a:p>
            <a:r>
              <a:rPr lang="en-US" dirty="0"/>
              <a:t>Title of slide</a:t>
            </a:r>
          </a:p>
        </p:txBody>
      </p:sp>
      <p:sp>
        <p:nvSpPr>
          <p:cNvPr id="8" name="Subtitle 2"/>
          <p:cNvSpPr>
            <a:spLocks noGrp="1"/>
          </p:cNvSpPr>
          <p:nvPr>
            <p:ph type="subTitle" idx="1" hasCustomPrompt="1"/>
          </p:nvPr>
        </p:nvSpPr>
        <p:spPr>
          <a:xfrm>
            <a:off x="321365" y="2521374"/>
            <a:ext cx="11536018" cy="3198941"/>
          </a:xfrm>
          <a:prstGeom prst="rect">
            <a:avLst/>
          </a:prstGeom>
        </p:spPr>
        <p:txBody>
          <a:bodyPr/>
          <a:lstStyle>
            <a:lvl1pPr marL="0" indent="0" algn="l">
              <a:buNone/>
              <a:defRPr sz="2800" baseline="0">
                <a:solidFill>
                  <a:schemeClr val="tx1"/>
                </a:solidFill>
                <a:latin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person/subtitle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imag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82773" y="2030818"/>
            <a:ext cx="11461898" cy="3732029"/>
          </a:xfrm>
          <a:prstGeom prst="rect">
            <a:avLst/>
          </a:prstGeom>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8343" y="1534707"/>
            <a:ext cx="11557591" cy="825721"/>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08343" y="2541181"/>
            <a:ext cx="11557591" cy="363578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7711" y="1709738"/>
            <a:ext cx="11568223"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297711" y="4589463"/>
            <a:ext cx="11568223"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7204" y="1513442"/>
            <a:ext cx="11538097" cy="82572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317204" y="2583713"/>
            <a:ext cx="5702596" cy="359324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2583713"/>
            <a:ext cx="5683101" cy="3593250"/>
          </a:xfrm>
          <a:prstGeom prst="rect">
            <a:avLst/>
          </a:prstGeom>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8160" y="1524074"/>
            <a:ext cx="11536510" cy="84399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308160" y="2521135"/>
            <a:ext cx="5689415"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08160" y="3345047"/>
            <a:ext cx="5689415" cy="284461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2521135"/>
            <a:ext cx="567247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345047"/>
            <a:ext cx="5672470" cy="284461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6" name="Text Placeholder 5"/>
          <p:cNvSpPr>
            <a:spLocks noGrp="1"/>
          </p:cNvSpPr>
          <p:nvPr>
            <p:ph type="body" sz="quarter" idx="11" hasCustomPrompt="1"/>
          </p:nvPr>
        </p:nvSpPr>
        <p:spPr>
          <a:xfrm>
            <a:off x="0" y="946150"/>
            <a:ext cx="5719763" cy="3849688"/>
          </a:xfrm>
          <a:prstGeom prst="rect">
            <a:avLst/>
          </a:prstGeom>
          <a:solidFill>
            <a:srgbClr val="6C2686">
              <a:alpha val="60000"/>
            </a:srgbClr>
          </a:solidFill>
        </p:spPr>
        <p:txBody>
          <a:bodyPr/>
          <a:lstStyle>
            <a:lvl1pPr>
              <a:defRPr sz="3600" b="1" i="0" baseline="0">
                <a:solidFill>
                  <a:schemeClr val="bg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a:buNone/>
              <a:tabLst/>
              <a:defRPr/>
            </a:pPr>
            <a:r>
              <a:rPr lang="en-US" dirty="0"/>
              <a:t>Text would go here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1"/>
          <p:cNvSpPr txBox="1">
            <a:spLocks/>
          </p:cNvSpPr>
          <p:nvPr userDrawn="1"/>
        </p:nvSpPr>
        <p:spPr>
          <a:xfrm>
            <a:off x="365551" y="3064532"/>
            <a:ext cx="11536018" cy="734864"/>
          </a:xfrm>
          <a:prstGeom prst="rect">
            <a:avLst/>
          </a:prstGeom>
        </p:spPr>
        <p:txBody>
          <a:bodyPr anchor="b"/>
          <a:lstStyle>
            <a:lvl1pPr algn="l" defTabSz="914400" rtl="0" eaLnBrk="1" latinLnBrk="0" hangingPunct="1">
              <a:lnSpc>
                <a:spcPct val="90000"/>
              </a:lnSpc>
              <a:spcBef>
                <a:spcPct val="0"/>
              </a:spcBef>
              <a:buNone/>
              <a:defRPr sz="4000" b="1" i="0" kern="1200" baseline="0">
                <a:solidFill>
                  <a:schemeClr val="tx1"/>
                </a:solidFill>
                <a:latin typeface="arial" charset="0"/>
                <a:ea typeface="+mj-ea"/>
                <a:cs typeface="+mj-cs"/>
              </a:defRPr>
            </a:lvl1pPr>
          </a:lstStyle>
          <a:p>
            <a:pPr algn="ctr"/>
            <a:r>
              <a:rPr lang="en-US" sz="4400" baseline="0">
                <a:solidFill>
                  <a:schemeClr val="bg1"/>
                </a:solidFill>
              </a:rPr>
              <a:t>Thank you</a:t>
            </a:r>
            <a:endParaRPr lang="en-US" sz="4400" baseline="0" dirty="0">
              <a:solidFill>
                <a:schemeClr val="bg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89098" y="2030818"/>
            <a:ext cx="11206716" cy="3732029"/>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3720" y="3113371"/>
            <a:ext cx="11408230" cy="1101726"/>
          </a:xfrm>
        </p:spPr>
        <p:txBody>
          <a:bodyPr anchor="b">
            <a:normAutofit/>
          </a:bodyPr>
          <a:lstStyle>
            <a:lvl1pPr algn="ctr">
              <a:defRPr sz="3600" baseline="0"/>
            </a:lvl1pPr>
          </a:lstStyle>
          <a:p>
            <a:r>
              <a:rPr lang="en-US" dirty="0"/>
              <a:t>Click to edit lecture title</a:t>
            </a:r>
            <a:endParaRPr lang="en-GB" dirty="0"/>
          </a:p>
        </p:txBody>
      </p:sp>
      <p:sp>
        <p:nvSpPr>
          <p:cNvPr id="3" name="Subtitle 2"/>
          <p:cNvSpPr>
            <a:spLocks noGrp="1"/>
          </p:cNvSpPr>
          <p:nvPr>
            <p:ph type="subTitle" idx="1" hasCustomPrompt="1"/>
          </p:nvPr>
        </p:nvSpPr>
        <p:spPr>
          <a:xfrm>
            <a:off x="383720" y="4268030"/>
            <a:ext cx="11408230" cy="1063691"/>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lecture description</a:t>
            </a:r>
            <a:endParaRPr lang="en-GB" dirty="0"/>
          </a:p>
        </p:txBody>
      </p:sp>
      <p:sp>
        <p:nvSpPr>
          <p:cNvPr id="17" name="Text Placeholder 16"/>
          <p:cNvSpPr>
            <a:spLocks noGrp="1"/>
          </p:cNvSpPr>
          <p:nvPr>
            <p:ph type="body" sz="quarter" idx="13" hasCustomPrompt="1"/>
          </p:nvPr>
        </p:nvSpPr>
        <p:spPr>
          <a:xfrm>
            <a:off x="383720" y="2045571"/>
            <a:ext cx="11408230" cy="985094"/>
          </a:xfrm>
        </p:spPr>
        <p:txBody>
          <a:bodyPr>
            <a:noAutofit/>
          </a:bodyPr>
          <a:lstStyle>
            <a:lvl1pPr marL="0" indent="0" algn="ctr">
              <a:buFontTx/>
              <a:buNone/>
              <a:defRPr sz="3600" b="1" baseline="0">
                <a:latin typeface="+mn-lt"/>
              </a:defRPr>
            </a:lvl1pPr>
            <a:lvl2pPr marL="457200" indent="0">
              <a:buNone/>
              <a:defRPr/>
            </a:lvl2pPr>
            <a:lvl3pPr marL="914400" indent="0">
              <a:buNone/>
              <a:defRPr/>
            </a:lvl3pPr>
            <a:lvl5pPr marL="1828800" indent="0">
              <a:buNone/>
              <a:defRPr/>
            </a:lvl5pPr>
          </a:lstStyle>
          <a:p>
            <a:pPr lvl="0"/>
            <a:r>
              <a:rPr lang="en-US" dirty="0"/>
              <a:t>Click to edit module title</a:t>
            </a:r>
          </a:p>
        </p:txBody>
      </p:sp>
    </p:spTree>
    <p:extLst>
      <p:ext uri="{BB962C8B-B14F-4D97-AF65-F5344CB8AC3E}">
        <p14:creationId xmlns:p14="http://schemas.microsoft.com/office/powerpoint/2010/main" val="2978417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
        <p:nvSpPr>
          <p:cNvPr id="7" name="Title 6"/>
          <p:cNvSpPr>
            <a:spLocks noGrp="1"/>
          </p:cNvSpPr>
          <p:nvPr>
            <p:ph type="title"/>
          </p:nvPr>
        </p:nvSpPr>
        <p:spPr/>
        <p:txBody>
          <a:bodyPr/>
          <a:lstStyle/>
          <a:p>
            <a:r>
              <a:rPr lang="en-US"/>
              <a:t>Click to edit Master title style</a:t>
            </a:r>
            <a:endParaRPr lang="en-GB"/>
          </a:p>
        </p:txBody>
      </p:sp>
      <p:sp>
        <p:nvSpPr>
          <p:cNvPr id="8" name="Footer Placeholder 7"/>
          <p:cNvSpPr>
            <a:spLocks noGrp="1"/>
          </p:cNvSpPr>
          <p:nvPr>
            <p:ph type="ftr" sz="quarter" idx="13"/>
          </p:nvPr>
        </p:nvSpPr>
        <p:spPr/>
        <p:txBody>
          <a:bodyPr/>
          <a:lstStyle/>
          <a:p>
            <a:r>
              <a:rPr lang="en-GB" dirty="0"/>
              <a:t>School of Computing , Engineering and Digital Technologies</a:t>
            </a:r>
          </a:p>
        </p:txBody>
      </p:sp>
    </p:spTree>
    <p:extLst>
      <p:ext uri="{BB962C8B-B14F-4D97-AF65-F5344CB8AC3E}">
        <p14:creationId xmlns:p14="http://schemas.microsoft.com/office/powerpoint/2010/main" val="3632571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GB" dirty="0"/>
              <a:t>School of Computing , Engineering and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5612592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496881" cy="795461"/>
          </a:xfrm>
        </p:spPr>
        <p:txBody>
          <a:bodyPr/>
          <a:lstStyle/>
          <a:p>
            <a:r>
              <a:rPr lang="en-US"/>
              <a:t>Click to edit Master title style</a:t>
            </a:r>
            <a:endParaRPr lang="en-GB"/>
          </a:p>
        </p:txBody>
      </p:sp>
      <p:sp>
        <p:nvSpPr>
          <p:cNvPr id="3" name="Content Placeholder 2"/>
          <p:cNvSpPr>
            <a:spLocks noGrp="1"/>
          </p:cNvSpPr>
          <p:nvPr>
            <p:ph sz="half" idx="1"/>
          </p:nvPr>
        </p:nvSpPr>
        <p:spPr>
          <a:xfrm>
            <a:off x="383720" y="1380067"/>
            <a:ext cx="5636080"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199" y="1380067"/>
            <a:ext cx="5690508"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dirty="0"/>
              <a:t>School of Computing , Engineering and Digital Technologies</a:t>
            </a:r>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15479174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5"/>
            <a:ext cx="9505347" cy="803275"/>
          </a:xfrm>
        </p:spPr>
        <p:txBody>
          <a:bodyPr/>
          <a:lstStyle/>
          <a:p>
            <a:r>
              <a:rPr lang="en-US"/>
              <a:t>Click to edit Master title style</a:t>
            </a:r>
            <a:endParaRPr lang="en-GB" dirty="0"/>
          </a:p>
        </p:txBody>
      </p:sp>
      <p:sp>
        <p:nvSpPr>
          <p:cNvPr id="3" name="Text Placeholder 2"/>
          <p:cNvSpPr>
            <a:spLocks noGrp="1"/>
          </p:cNvSpPr>
          <p:nvPr>
            <p:ph type="body" idx="1"/>
          </p:nvPr>
        </p:nvSpPr>
        <p:spPr>
          <a:xfrm>
            <a:off x="383719" y="1262063"/>
            <a:ext cx="5613856"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3720" y="1854202"/>
            <a:ext cx="5613856"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72198" y="1262063"/>
            <a:ext cx="5690507"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199" y="1854202"/>
            <a:ext cx="5690507"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p:cNvSpPr>
            <a:spLocks noGrp="1"/>
          </p:cNvSpPr>
          <p:nvPr>
            <p:ph type="ftr" sz="quarter" idx="11"/>
          </p:nvPr>
        </p:nvSpPr>
        <p:spPr/>
        <p:txBody>
          <a:bodyPr/>
          <a:lstStyle/>
          <a:p>
            <a:r>
              <a:rPr lang="en-GB" dirty="0"/>
              <a:t>School of Computing , Engineering and Digital Technologies</a:t>
            </a:r>
          </a:p>
        </p:txBody>
      </p:sp>
      <p:sp>
        <p:nvSpPr>
          <p:cNvPr id="9" name="Slide Number Placeholder 8"/>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1376205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513813" cy="795461"/>
          </a:xfrm>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r>
              <a:rPr lang="en-GB" dirty="0"/>
              <a:t>School of Computing , Engineering and Digital Technologies</a:t>
            </a:r>
          </a:p>
        </p:txBody>
      </p:sp>
      <p:sp>
        <p:nvSpPr>
          <p:cNvPr id="5" name="Slide Number Placeholder 4"/>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297740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School of Computing , Engineering and Digital Technologies</a:t>
            </a:r>
          </a:p>
        </p:txBody>
      </p:sp>
      <p:sp>
        <p:nvSpPr>
          <p:cNvPr id="4" name="Slide Number Placeholder 3"/>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898338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7" y="1337733"/>
            <a:ext cx="6679519" cy="452331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dirty="0"/>
              <a:t>School of Computing , Engineering and Digital Technologies</a:t>
            </a:r>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8901328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7" y="1329267"/>
            <a:ext cx="6679519" cy="45317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dirty="0"/>
              <a:t>School of Computing , Engineering and Digital Technologies</a:t>
            </a:r>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2850833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83720" y="365126"/>
            <a:ext cx="9496880" cy="795461"/>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383721" y="1337734"/>
            <a:ext cx="11478986" cy="483923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School of Computing , Engineering and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5584723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19733" y="1346199"/>
            <a:ext cx="2142973" cy="48307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3721" y="365125"/>
            <a:ext cx="9209012"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11"/>
          </p:nvPr>
        </p:nvSpPr>
        <p:spPr/>
        <p:txBody>
          <a:bodyPr/>
          <a:lstStyle/>
          <a:p>
            <a:r>
              <a:rPr lang="en-GB" dirty="0"/>
              <a:t>School of Computing , Engineering and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133816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9666787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5968587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6766057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22152083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41518673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11314308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10367459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332961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99079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7409039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C60101-2C17-4A56-907F-B487BB39A80C}" type="datetimeFigureOut">
              <a:rPr lang="en-GB" smtClean="0"/>
              <a:t>22/09/2025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7DCDBA3-2635-432A-8824-5592A51525B4}" type="slidenum">
              <a:rPr lang="en-GB" smtClean="0"/>
              <a:t>‹#›</a:t>
            </a:fld>
            <a:endParaRPr lang="en-GB" dirty="0"/>
          </a:p>
        </p:txBody>
      </p:sp>
    </p:spTree>
    <p:extLst>
      <p:ext uri="{BB962C8B-B14F-4D97-AF65-F5344CB8AC3E}">
        <p14:creationId xmlns:p14="http://schemas.microsoft.com/office/powerpoint/2010/main" val="14555025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Title Only">
    <p:bg>
      <p:bgPr>
        <a:solidFill>
          <a:schemeClr val="accent4"/>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a:gradFill>
                  <a:gsLst>
                    <a:gs pos="2917">
                      <a:schemeClr val="bg1"/>
                    </a:gs>
                    <a:gs pos="100000">
                      <a:schemeClr val="bg1"/>
                    </a:gs>
                  </a:gsLst>
                  <a:lin ang="5400000" scaled="0"/>
                </a:gradFill>
              </a:defRPr>
            </a:lvl1pPr>
          </a:lstStyle>
          <a:p>
            <a:r>
              <a:rPr lang="en-US" dirty="0"/>
              <a:t>Click to edit Master title style</a:t>
            </a:r>
          </a:p>
        </p:txBody>
      </p:sp>
      <p:sp>
        <p:nvSpPr>
          <p:cNvPr id="10" name="Title"/>
          <p:cNvSpPr>
            <a:spLocks noGrp="1"/>
          </p:cNvSpPr>
          <p:nvPr>
            <p:ph type="body" sz="quarter" idx="10" hasCustomPrompt="1"/>
          </p:nvPr>
        </p:nvSpPr>
        <p:spPr>
          <a:xfrm>
            <a:off x="269239" y="2084173"/>
            <a:ext cx="9860673" cy="1793104"/>
          </a:xfrm>
          <a:prstGeom prst="rect">
            <a:avLst/>
          </a:prstGeom>
        </p:spPr>
        <p:txBody>
          <a:bodyPr/>
          <a:lstStyle>
            <a:lvl1pPr marL="0" indent="0">
              <a:buNone/>
              <a:defRPr sz="16273">
                <a:gradFill>
                  <a:gsLst>
                    <a:gs pos="2917">
                      <a:schemeClr val="bg1"/>
                    </a:gs>
                    <a:gs pos="100000">
                      <a:schemeClr val="bg1"/>
                    </a:gs>
                  </a:gsLst>
                  <a:lin ang="5400000" scaled="0"/>
                </a:gra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Demo</a:t>
            </a:r>
          </a:p>
        </p:txBody>
      </p:sp>
    </p:spTree>
    <p:extLst>
      <p:ext uri="{BB962C8B-B14F-4D97-AF65-F5344CB8AC3E}">
        <p14:creationId xmlns:p14="http://schemas.microsoft.com/office/powerpoint/2010/main" val="184586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sz="5098">
                <a:solidFill>
                  <a:schemeClr val="tx2"/>
                </a:solidFill>
                <a:latin typeface="+mj-lt"/>
              </a:defRPr>
            </a:lvl1pPr>
          </a:lstStyle>
          <a:p>
            <a:r>
              <a:rPr lang="en-US" dirty="0"/>
              <a:t>Click to edit Master title style</a:t>
            </a:r>
          </a:p>
        </p:txBody>
      </p:sp>
      <p:grpSp>
        <p:nvGrpSpPr>
          <p:cNvPr id="4" name="Group 3"/>
          <p:cNvGrpSpPr/>
          <p:nvPr userDrawn="1"/>
        </p:nvGrpSpPr>
        <p:grpSpPr>
          <a:xfrm>
            <a:off x="9877921" y="6368202"/>
            <a:ext cx="2044529" cy="371246"/>
            <a:chOff x="10075994" y="6523798"/>
            <a:chExt cx="2085526" cy="378637"/>
          </a:xfrm>
        </p:grpSpPr>
        <p:sp>
          <p:nvSpPr>
            <p:cNvPr id="5" name="icon BULB"/>
            <p:cNvSpPr>
              <a:spLocks noEditPoints="1"/>
            </p:cNvSpPr>
            <p:nvPr/>
          </p:nvSpPr>
          <p:spPr bwMode="auto">
            <a:xfrm>
              <a:off x="10981759" y="6523798"/>
              <a:ext cx="217746" cy="348394"/>
            </a:xfrm>
            <a:custGeom>
              <a:avLst/>
              <a:gdLst>
                <a:gd name="T0" fmla="*/ 74 w 149"/>
                <a:gd name="T1" fmla="*/ 0 h 241"/>
                <a:gd name="T2" fmla="*/ 74 w 149"/>
                <a:gd name="T3" fmla="*/ 0 h 241"/>
                <a:gd name="T4" fmla="*/ 0 w 149"/>
                <a:gd name="T5" fmla="*/ 70 h 241"/>
                <a:gd name="T6" fmla="*/ 27 w 149"/>
                <a:gd name="T7" fmla="*/ 127 h 241"/>
                <a:gd name="T8" fmla="*/ 33 w 149"/>
                <a:gd name="T9" fmla="*/ 140 h 241"/>
                <a:gd name="T10" fmla="*/ 35 w 149"/>
                <a:gd name="T11" fmla="*/ 154 h 241"/>
                <a:gd name="T12" fmla="*/ 44 w 149"/>
                <a:gd name="T13" fmla="*/ 176 h 241"/>
                <a:gd name="T14" fmla="*/ 107 w 149"/>
                <a:gd name="T15" fmla="*/ 176 h 241"/>
                <a:gd name="T16" fmla="*/ 115 w 149"/>
                <a:gd name="T17" fmla="*/ 154 h 241"/>
                <a:gd name="T18" fmla="*/ 124 w 149"/>
                <a:gd name="T19" fmla="*/ 127 h 241"/>
                <a:gd name="T20" fmla="*/ 137 w 149"/>
                <a:gd name="T21" fmla="*/ 105 h 241"/>
                <a:gd name="T22" fmla="*/ 149 w 149"/>
                <a:gd name="T23" fmla="*/ 70 h 241"/>
                <a:gd name="T24" fmla="*/ 74 w 149"/>
                <a:gd name="T25" fmla="*/ 0 h 241"/>
                <a:gd name="T26" fmla="*/ 58 w 149"/>
                <a:gd name="T27" fmla="*/ 234 h 241"/>
                <a:gd name="T28" fmla="*/ 67 w 149"/>
                <a:gd name="T29" fmla="*/ 241 h 241"/>
                <a:gd name="T30" fmla="*/ 86 w 149"/>
                <a:gd name="T31" fmla="*/ 241 h 241"/>
                <a:gd name="T32" fmla="*/ 94 w 149"/>
                <a:gd name="T33" fmla="*/ 234 h 241"/>
                <a:gd name="T34" fmla="*/ 58 w 149"/>
                <a:gd name="T35" fmla="*/ 234 h 241"/>
                <a:gd name="T36" fmla="*/ 97 w 149"/>
                <a:gd name="T37" fmla="*/ 209 h 241"/>
                <a:gd name="T38" fmla="*/ 55 w 149"/>
                <a:gd name="T39" fmla="*/ 209 h 241"/>
                <a:gd name="T40" fmla="*/ 45 w 149"/>
                <a:gd name="T41" fmla="*/ 217 h 241"/>
                <a:gd name="T42" fmla="*/ 56 w 149"/>
                <a:gd name="T43" fmla="*/ 226 h 241"/>
                <a:gd name="T44" fmla="*/ 97 w 149"/>
                <a:gd name="T45" fmla="*/ 226 h 241"/>
                <a:gd name="T46" fmla="*/ 107 w 149"/>
                <a:gd name="T47" fmla="*/ 217 h 241"/>
                <a:gd name="T48" fmla="*/ 97 w 149"/>
                <a:gd name="T49" fmla="*/ 209 h 241"/>
                <a:gd name="T50" fmla="*/ 99 w 149"/>
                <a:gd name="T51" fmla="*/ 184 h 241"/>
                <a:gd name="T52" fmla="*/ 52 w 149"/>
                <a:gd name="T53" fmla="*/ 184 h 241"/>
                <a:gd name="T54" fmla="*/ 43 w 149"/>
                <a:gd name="T55" fmla="*/ 192 h 241"/>
                <a:gd name="T56" fmla="*/ 53 w 149"/>
                <a:gd name="T57" fmla="*/ 201 h 241"/>
                <a:gd name="T58" fmla="*/ 99 w 149"/>
                <a:gd name="T59" fmla="*/ 201 h 241"/>
                <a:gd name="T60" fmla="*/ 110 w 149"/>
                <a:gd name="T61" fmla="*/ 192 h 241"/>
                <a:gd name="T62" fmla="*/ 99 w 149"/>
                <a:gd name="T63" fmla="*/ 184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9" h="241">
                  <a:moveTo>
                    <a:pt x="74" y="0"/>
                  </a:moveTo>
                  <a:cubicBezTo>
                    <a:pt x="74" y="0"/>
                    <a:pt x="74" y="0"/>
                    <a:pt x="74" y="0"/>
                  </a:cubicBezTo>
                  <a:cubicBezTo>
                    <a:pt x="33" y="0"/>
                    <a:pt x="0" y="31"/>
                    <a:pt x="0" y="70"/>
                  </a:cubicBezTo>
                  <a:cubicBezTo>
                    <a:pt x="0" y="92"/>
                    <a:pt x="18" y="107"/>
                    <a:pt x="27" y="127"/>
                  </a:cubicBezTo>
                  <a:cubicBezTo>
                    <a:pt x="30" y="132"/>
                    <a:pt x="31" y="136"/>
                    <a:pt x="33" y="140"/>
                  </a:cubicBezTo>
                  <a:cubicBezTo>
                    <a:pt x="34" y="146"/>
                    <a:pt x="34" y="150"/>
                    <a:pt x="35" y="154"/>
                  </a:cubicBezTo>
                  <a:cubicBezTo>
                    <a:pt x="36" y="162"/>
                    <a:pt x="38" y="170"/>
                    <a:pt x="44" y="176"/>
                  </a:cubicBezTo>
                  <a:cubicBezTo>
                    <a:pt x="107" y="176"/>
                    <a:pt x="107" y="176"/>
                    <a:pt x="107" y="176"/>
                  </a:cubicBezTo>
                  <a:cubicBezTo>
                    <a:pt x="114" y="170"/>
                    <a:pt x="115" y="162"/>
                    <a:pt x="115" y="154"/>
                  </a:cubicBezTo>
                  <a:cubicBezTo>
                    <a:pt x="117" y="146"/>
                    <a:pt x="118" y="138"/>
                    <a:pt x="124" y="127"/>
                  </a:cubicBezTo>
                  <a:cubicBezTo>
                    <a:pt x="127" y="119"/>
                    <a:pt x="132" y="112"/>
                    <a:pt x="137" y="105"/>
                  </a:cubicBezTo>
                  <a:cubicBezTo>
                    <a:pt x="143" y="94"/>
                    <a:pt x="149" y="83"/>
                    <a:pt x="149" y="70"/>
                  </a:cubicBezTo>
                  <a:cubicBezTo>
                    <a:pt x="149" y="31"/>
                    <a:pt x="115" y="0"/>
                    <a:pt x="74" y="0"/>
                  </a:cubicBezTo>
                  <a:moveTo>
                    <a:pt x="58" y="234"/>
                  </a:moveTo>
                  <a:cubicBezTo>
                    <a:pt x="58" y="234"/>
                    <a:pt x="59" y="241"/>
                    <a:pt x="67" y="241"/>
                  </a:cubicBezTo>
                  <a:cubicBezTo>
                    <a:pt x="86" y="241"/>
                    <a:pt x="86" y="241"/>
                    <a:pt x="86" y="241"/>
                  </a:cubicBezTo>
                  <a:cubicBezTo>
                    <a:pt x="93" y="241"/>
                    <a:pt x="94" y="234"/>
                    <a:pt x="94" y="234"/>
                  </a:cubicBezTo>
                  <a:lnTo>
                    <a:pt x="58" y="234"/>
                  </a:lnTo>
                  <a:close/>
                  <a:moveTo>
                    <a:pt x="97" y="209"/>
                  </a:moveTo>
                  <a:cubicBezTo>
                    <a:pt x="55" y="209"/>
                    <a:pt x="55" y="209"/>
                    <a:pt x="55" y="209"/>
                  </a:cubicBezTo>
                  <a:cubicBezTo>
                    <a:pt x="50" y="209"/>
                    <a:pt x="45" y="213"/>
                    <a:pt x="45" y="217"/>
                  </a:cubicBezTo>
                  <a:cubicBezTo>
                    <a:pt x="45" y="223"/>
                    <a:pt x="50" y="226"/>
                    <a:pt x="56" y="226"/>
                  </a:cubicBezTo>
                  <a:cubicBezTo>
                    <a:pt x="97" y="226"/>
                    <a:pt x="97" y="226"/>
                    <a:pt x="97" y="226"/>
                  </a:cubicBezTo>
                  <a:cubicBezTo>
                    <a:pt x="103" y="226"/>
                    <a:pt x="107" y="223"/>
                    <a:pt x="107" y="217"/>
                  </a:cubicBezTo>
                  <a:cubicBezTo>
                    <a:pt x="107" y="213"/>
                    <a:pt x="103" y="209"/>
                    <a:pt x="97" y="209"/>
                  </a:cubicBezTo>
                  <a:moveTo>
                    <a:pt x="99" y="184"/>
                  </a:moveTo>
                  <a:cubicBezTo>
                    <a:pt x="52" y="184"/>
                    <a:pt x="52" y="184"/>
                    <a:pt x="52" y="184"/>
                  </a:cubicBezTo>
                  <a:cubicBezTo>
                    <a:pt x="47" y="184"/>
                    <a:pt x="43" y="187"/>
                    <a:pt x="43" y="192"/>
                  </a:cubicBezTo>
                  <a:cubicBezTo>
                    <a:pt x="43" y="197"/>
                    <a:pt x="47" y="201"/>
                    <a:pt x="53" y="201"/>
                  </a:cubicBezTo>
                  <a:cubicBezTo>
                    <a:pt x="99" y="201"/>
                    <a:pt x="99" y="201"/>
                    <a:pt x="99" y="201"/>
                  </a:cubicBezTo>
                  <a:cubicBezTo>
                    <a:pt x="105" y="201"/>
                    <a:pt x="110" y="197"/>
                    <a:pt x="110" y="192"/>
                  </a:cubicBezTo>
                  <a:cubicBezTo>
                    <a:pt x="110" y="187"/>
                    <a:pt x="105" y="184"/>
                    <a:pt x="99" y="184"/>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6" name="icon  BINARY"/>
            <p:cNvSpPr>
              <a:spLocks noEditPoints="1"/>
            </p:cNvSpPr>
            <p:nvPr/>
          </p:nvSpPr>
          <p:spPr bwMode="auto">
            <a:xfrm>
              <a:off x="10075994" y="6534685"/>
              <a:ext cx="397992" cy="326620"/>
            </a:xfrm>
            <a:custGeom>
              <a:avLst/>
              <a:gdLst>
                <a:gd name="T0" fmla="*/ 64 w 275"/>
                <a:gd name="T1" fmla="*/ 55 h 226"/>
                <a:gd name="T2" fmla="*/ 65 w 275"/>
                <a:gd name="T3" fmla="*/ 0 h 226"/>
                <a:gd name="T4" fmla="*/ 64 w 275"/>
                <a:gd name="T5" fmla="*/ 9 h 226"/>
                <a:gd name="T6" fmla="*/ 72 w 275"/>
                <a:gd name="T7" fmla="*/ 28 h 226"/>
                <a:gd name="T8" fmla="*/ 96 w 275"/>
                <a:gd name="T9" fmla="*/ 45 h 226"/>
                <a:gd name="T10" fmla="*/ 96 w 275"/>
                <a:gd name="T11" fmla="*/ 15 h 226"/>
                <a:gd name="T12" fmla="*/ 119 w 275"/>
                <a:gd name="T13" fmla="*/ 45 h 226"/>
                <a:gd name="T14" fmla="*/ 178 w 275"/>
                <a:gd name="T15" fmla="*/ 54 h 226"/>
                <a:gd name="T16" fmla="*/ 155 w 275"/>
                <a:gd name="T17" fmla="*/ 45 h 226"/>
                <a:gd name="T18" fmla="*/ 144 w 275"/>
                <a:gd name="T19" fmla="*/ 5 h 226"/>
                <a:gd name="T20" fmla="*/ 178 w 275"/>
                <a:gd name="T21" fmla="*/ 45 h 226"/>
                <a:gd name="T22" fmla="*/ 222 w 275"/>
                <a:gd name="T23" fmla="*/ 48 h 226"/>
                <a:gd name="T24" fmla="*/ 194 w 275"/>
                <a:gd name="T25" fmla="*/ 7 h 226"/>
                <a:gd name="T26" fmla="*/ 215 w 275"/>
                <a:gd name="T27" fmla="*/ 28 h 226"/>
                <a:gd name="T28" fmla="*/ 208 w 275"/>
                <a:gd name="T29" fmla="*/ 46 h 226"/>
                <a:gd name="T30" fmla="*/ 269 w 275"/>
                <a:gd name="T31" fmla="*/ 48 h 226"/>
                <a:gd name="T32" fmla="*/ 242 w 275"/>
                <a:gd name="T33" fmla="*/ 7 h 226"/>
                <a:gd name="T34" fmla="*/ 263 w 275"/>
                <a:gd name="T35" fmla="*/ 28 h 226"/>
                <a:gd name="T36" fmla="*/ 256 w 275"/>
                <a:gd name="T37" fmla="*/ 46 h 226"/>
                <a:gd name="T38" fmla="*/ 0 w 275"/>
                <a:gd name="T39" fmla="*/ 140 h 226"/>
                <a:gd name="T40" fmla="*/ 11 w 275"/>
                <a:gd name="T41" fmla="*/ 98 h 226"/>
                <a:gd name="T42" fmla="*/ 23 w 275"/>
                <a:gd name="T43" fmla="*/ 85 h 226"/>
                <a:gd name="T44" fmla="*/ 34 w 275"/>
                <a:gd name="T45" fmla="*/ 140 h 226"/>
                <a:gd name="T46" fmla="*/ 64 w 275"/>
                <a:gd name="T47" fmla="*/ 141 h 226"/>
                <a:gd name="T48" fmla="*/ 65 w 275"/>
                <a:gd name="T49" fmla="*/ 85 h 226"/>
                <a:gd name="T50" fmla="*/ 64 w 275"/>
                <a:gd name="T51" fmla="*/ 94 h 226"/>
                <a:gd name="T52" fmla="*/ 71 w 275"/>
                <a:gd name="T53" fmla="*/ 113 h 226"/>
                <a:gd name="T54" fmla="*/ 111 w 275"/>
                <a:gd name="T55" fmla="*/ 141 h 226"/>
                <a:gd name="T56" fmla="*/ 112 w 275"/>
                <a:gd name="T57" fmla="*/ 85 h 226"/>
                <a:gd name="T58" fmla="*/ 112 w 275"/>
                <a:gd name="T59" fmla="*/ 94 h 226"/>
                <a:gd name="T60" fmla="*/ 119 w 275"/>
                <a:gd name="T61" fmla="*/ 113 h 226"/>
                <a:gd name="T62" fmla="*/ 145 w 275"/>
                <a:gd name="T63" fmla="*/ 130 h 226"/>
                <a:gd name="T64" fmla="*/ 144 w 275"/>
                <a:gd name="T65" fmla="*/ 100 h 226"/>
                <a:gd name="T66" fmla="*/ 167 w 275"/>
                <a:gd name="T67" fmla="*/ 130 h 226"/>
                <a:gd name="T68" fmla="*/ 227 w 275"/>
                <a:gd name="T69" fmla="*/ 113 h 226"/>
                <a:gd name="T70" fmla="*/ 188 w 275"/>
                <a:gd name="T71" fmla="*/ 115 h 226"/>
                <a:gd name="T72" fmla="*/ 227 w 275"/>
                <a:gd name="T73" fmla="*/ 113 h 226"/>
                <a:gd name="T74" fmla="*/ 200 w 275"/>
                <a:gd name="T75" fmla="*/ 113 h 226"/>
                <a:gd name="T76" fmla="*/ 83 w 275"/>
                <a:gd name="T77" fmla="*/ 199 h 226"/>
                <a:gd name="T78" fmla="*/ 45 w 275"/>
                <a:gd name="T79" fmla="*/ 200 h 226"/>
                <a:gd name="T80" fmla="*/ 83 w 275"/>
                <a:gd name="T81" fmla="*/ 199 h 226"/>
                <a:gd name="T82" fmla="*/ 56 w 275"/>
                <a:gd name="T83" fmla="*/ 200 h 226"/>
                <a:gd name="T84" fmla="*/ 132 w 275"/>
                <a:gd name="T85" fmla="*/ 199 h 226"/>
                <a:gd name="T86" fmla="*/ 93 w 275"/>
                <a:gd name="T87" fmla="*/ 200 h 226"/>
                <a:gd name="T88" fmla="*/ 132 w 275"/>
                <a:gd name="T89" fmla="*/ 199 h 226"/>
                <a:gd name="T90" fmla="*/ 105 w 275"/>
                <a:gd name="T91" fmla="*/ 200 h 226"/>
                <a:gd name="T92" fmla="*/ 178 w 275"/>
                <a:gd name="T93" fmla="*/ 225 h 226"/>
                <a:gd name="T94" fmla="*/ 155 w 275"/>
                <a:gd name="T95" fmla="*/ 216 h 226"/>
                <a:gd name="T96" fmla="*/ 144 w 275"/>
                <a:gd name="T97" fmla="*/ 176 h 226"/>
                <a:gd name="T98" fmla="*/ 178 w 275"/>
                <a:gd name="T99" fmla="*/ 216 h 226"/>
                <a:gd name="T100" fmla="*/ 222 w 275"/>
                <a:gd name="T101" fmla="*/ 220 h 226"/>
                <a:gd name="T102" fmla="*/ 194 w 275"/>
                <a:gd name="T103" fmla="*/ 178 h 226"/>
                <a:gd name="T104" fmla="*/ 215 w 275"/>
                <a:gd name="T105" fmla="*/ 199 h 226"/>
                <a:gd name="T106" fmla="*/ 208 w 275"/>
                <a:gd name="T107" fmla="*/ 218 h 226"/>
                <a:gd name="T108" fmla="*/ 240 w 275"/>
                <a:gd name="T109" fmla="*/ 225 h 226"/>
                <a:gd name="T110" fmla="*/ 252 w 275"/>
                <a:gd name="T111" fmla="*/ 183 h 226"/>
                <a:gd name="T112" fmla="*/ 263 w 275"/>
                <a:gd name="T113" fmla="*/ 172 h 226"/>
                <a:gd name="T114" fmla="*/ 274 w 275"/>
                <a:gd name="T115" fmla="*/ 22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5" h="226">
                  <a:moveTo>
                    <a:pt x="83" y="27"/>
                  </a:moveTo>
                  <a:cubicBezTo>
                    <a:pt x="83" y="36"/>
                    <a:pt x="82" y="44"/>
                    <a:pt x="78" y="48"/>
                  </a:cubicBezTo>
                  <a:cubicBezTo>
                    <a:pt x="75" y="53"/>
                    <a:pt x="70" y="55"/>
                    <a:pt x="64" y="55"/>
                  </a:cubicBezTo>
                  <a:cubicBezTo>
                    <a:pt x="51" y="55"/>
                    <a:pt x="45" y="46"/>
                    <a:pt x="45" y="28"/>
                  </a:cubicBezTo>
                  <a:cubicBezTo>
                    <a:pt x="45" y="19"/>
                    <a:pt x="46" y="13"/>
                    <a:pt x="51" y="7"/>
                  </a:cubicBezTo>
                  <a:cubicBezTo>
                    <a:pt x="54" y="3"/>
                    <a:pt x="58" y="0"/>
                    <a:pt x="65" y="0"/>
                  </a:cubicBezTo>
                  <a:cubicBezTo>
                    <a:pt x="77" y="0"/>
                    <a:pt x="83" y="9"/>
                    <a:pt x="83" y="27"/>
                  </a:cubicBezTo>
                  <a:moveTo>
                    <a:pt x="72" y="28"/>
                  </a:moveTo>
                  <a:cubicBezTo>
                    <a:pt x="72" y="16"/>
                    <a:pt x="68" y="9"/>
                    <a:pt x="64" y="9"/>
                  </a:cubicBezTo>
                  <a:cubicBezTo>
                    <a:pt x="60" y="9"/>
                    <a:pt x="56" y="16"/>
                    <a:pt x="56" y="28"/>
                  </a:cubicBezTo>
                  <a:cubicBezTo>
                    <a:pt x="56" y="41"/>
                    <a:pt x="60" y="46"/>
                    <a:pt x="64" y="46"/>
                  </a:cubicBezTo>
                  <a:cubicBezTo>
                    <a:pt x="68" y="46"/>
                    <a:pt x="72" y="41"/>
                    <a:pt x="72" y="28"/>
                  </a:cubicBezTo>
                  <a:moveTo>
                    <a:pt x="129" y="54"/>
                  </a:moveTo>
                  <a:cubicBezTo>
                    <a:pt x="96" y="54"/>
                    <a:pt x="96" y="54"/>
                    <a:pt x="96" y="54"/>
                  </a:cubicBezTo>
                  <a:cubicBezTo>
                    <a:pt x="96" y="45"/>
                    <a:pt x="96" y="45"/>
                    <a:pt x="96" y="45"/>
                  </a:cubicBezTo>
                  <a:cubicBezTo>
                    <a:pt x="107" y="45"/>
                    <a:pt x="107" y="45"/>
                    <a:pt x="107" y="45"/>
                  </a:cubicBezTo>
                  <a:cubicBezTo>
                    <a:pt x="107" y="11"/>
                    <a:pt x="107" y="11"/>
                    <a:pt x="107" y="11"/>
                  </a:cubicBezTo>
                  <a:cubicBezTo>
                    <a:pt x="96" y="15"/>
                    <a:pt x="96" y="15"/>
                    <a:pt x="96" y="15"/>
                  </a:cubicBezTo>
                  <a:cubicBezTo>
                    <a:pt x="96" y="5"/>
                    <a:pt x="96" y="5"/>
                    <a:pt x="96" y="5"/>
                  </a:cubicBezTo>
                  <a:cubicBezTo>
                    <a:pt x="119" y="0"/>
                    <a:pt x="119" y="0"/>
                    <a:pt x="119" y="0"/>
                  </a:cubicBezTo>
                  <a:cubicBezTo>
                    <a:pt x="119" y="45"/>
                    <a:pt x="119" y="45"/>
                    <a:pt x="119" y="45"/>
                  </a:cubicBezTo>
                  <a:cubicBezTo>
                    <a:pt x="129" y="45"/>
                    <a:pt x="129" y="45"/>
                    <a:pt x="129" y="45"/>
                  </a:cubicBezTo>
                  <a:lnTo>
                    <a:pt x="129" y="54"/>
                  </a:lnTo>
                  <a:close/>
                  <a:moveTo>
                    <a:pt x="178" y="54"/>
                  </a:moveTo>
                  <a:cubicBezTo>
                    <a:pt x="144" y="54"/>
                    <a:pt x="144" y="54"/>
                    <a:pt x="144" y="54"/>
                  </a:cubicBezTo>
                  <a:cubicBezTo>
                    <a:pt x="144" y="45"/>
                    <a:pt x="144" y="45"/>
                    <a:pt x="144" y="45"/>
                  </a:cubicBezTo>
                  <a:cubicBezTo>
                    <a:pt x="155" y="45"/>
                    <a:pt x="155" y="45"/>
                    <a:pt x="155" y="45"/>
                  </a:cubicBezTo>
                  <a:cubicBezTo>
                    <a:pt x="155" y="11"/>
                    <a:pt x="155" y="11"/>
                    <a:pt x="155" y="11"/>
                  </a:cubicBezTo>
                  <a:cubicBezTo>
                    <a:pt x="144" y="15"/>
                    <a:pt x="144" y="15"/>
                    <a:pt x="144" y="15"/>
                  </a:cubicBezTo>
                  <a:cubicBezTo>
                    <a:pt x="144" y="5"/>
                    <a:pt x="144" y="5"/>
                    <a:pt x="144" y="5"/>
                  </a:cubicBezTo>
                  <a:cubicBezTo>
                    <a:pt x="167" y="0"/>
                    <a:pt x="167" y="0"/>
                    <a:pt x="167" y="0"/>
                  </a:cubicBezTo>
                  <a:cubicBezTo>
                    <a:pt x="167" y="45"/>
                    <a:pt x="167" y="45"/>
                    <a:pt x="167" y="45"/>
                  </a:cubicBezTo>
                  <a:cubicBezTo>
                    <a:pt x="178" y="45"/>
                    <a:pt x="178" y="45"/>
                    <a:pt x="178" y="45"/>
                  </a:cubicBezTo>
                  <a:lnTo>
                    <a:pt x="178" y="54"/>
                  </a:lnTo>
                  <a:close/>
                  <a:moveTo>
                    <a:pt x="227" y="27"/>
                  </a:moveTo>
                  <a:cubicBezTo>
                    <a:pt x="227" y="36"/>
                    <a:pt x="225" y="44"/>
                    <a:pt x="222" y="48"/>
                  </a:cubicBezTo>
                  <a:cubicBezTo>
                    <a:pt x="218" y="53"/>
                    <a:pt x="214" y="55"/>
                    <a:pt x="207" y="55"/>
                  </a:cubicBezTo>
                  <a:cubicBezTo>
                    <a:pt x="195" y="55"/>
                    <a:pt x="188" y="46"/>
                    <a:pt x="188" y="28"/>
                  </a:cubicBezTo>
                  <a:cubicBezTo>
                    <a:pt x="188" y="19"/>
                    <a:pt x="191" y="13"/>
                    <a:pt x="194" y="7"/>
                  </a:cubicBezTo>
                  <a:cubicBezTo>
                    <a:pt x="197" y="3"/>
                    <a:pt x="203" y="0"/>
                    <a:pt x="208" y="0"/>
                  </a:cubicBezTo>
                  <a:cubicBezTo>
                    <a:pt x="220" y="0"/>
                    <a:pt x="227" y="9"/>
                    <a:pt x="227" y="27"/>
                  </a:cubicBezTo>
                  <a:moveTo>
                    <a:pt x="215" y="28"/>
                  </a:moveTo>
                  <a:cubicBezTo>
                    <a:pt x="215" y="16"/>
                    <a:pt x="213" y="9"/>
                    <a:pt x="208" y="9"/>
                  </a:cubicBezTo>
                  <a:cubicBezTo>
                    <a:pt x="203" y="9"/>
                    <a:pt x="200" y="16"/>
                    <a:pt x="200" y="28"/>
                  </a:cubicBezTo>
                  <a:cubicBezTo>
                    <a:pt x="200" y="41"/>
                    <a:pt x="203" y="46"/>
                    <a:pt x="208" y="46"/>
                  </a:cubicBezTo>
                  <a:cubicBezTo>
                    <a:pt x="213" y="46"/>
                    <a:pt x="215" y="41"/>
                    <a:pt x="215" y="28"/>
                  </a:cubicBezTo>
                  <a:moveTo>
                    <a:pt x="275" y="27"/>
                  </a:moveTo>
                  <a:cubicBezTo>
                    <a:pt x="275" y="36"/>
                    <a:pt x="274" y="44"/>
                    <a:pt x="269" y="48"/>
                  </a:cubicBezTo>
                  <a:cubicBezTo>
                    <a:pt x="266" y="53"/>
                    <a:pt x="262" y="55"/>
                    <a:pt x="256" y="55"/>
                  </a:cubicBezTo>
                  <a:cubicBezTo>
                    <a:pt x="243" y="55"/>
                    <a:pt x="236" y="46"/>
                    <a:pt x="236" y="28"/>
                  </a:cubicBezTo>
                  <a:cubicBezTo>
                    <a:pt x="236" y="19"/>
                    <a:pt x="238" y="13"/>
                    <a:pt x="242" y="7"/>
                  </a:cubicBezTo>
                  <a:cubicBezTo>
                    <a:pt x="245" y="3"/>
                    <a:pt x="250" y="0"/>
                    <a:pt x="256" y="0"/>
                  </a:cubicBezTo>
                  <a:cubicBezTo>
                    <a:pt x="269" y="0"/>
                    <a:pt x="275" y="9"/>
                    <a:pt x="275" y="27"/>
                  </a:cubicBezTo>
                  <a:moveTo>
                    <a:pt x="263" y="28"/>
                  </a:moveTo>
                  <a:cubicBezTo>
                    <a:pt x="263" y="16"/>
                    <a:pt x="260" y="9"/>
                    <a:pt x="256" y="9"/>
                  </a:cubicBezTo>
                  <a:cubicBezTo>
                    <a:pt x="250" y="9"/>
                    <a:pt x="248" y="16"/>
                    <a:pt x="248" y="28"/>
                  </a:cubicBezTo>
                  <a:cubicBezTo>
                    <a:pt x="248" y="41"/>
                    <a:pt x="250" y="46"/>
                    <a:pt x="256" y="46"/>
                  </a:cubicBezTo>
                  <a:cubicBezTo>
                    <a:pt x="260" y="46"/>
                    <a:pt x="263" y="41"/>
                    <a:pt x="263" y="28"/>
                  </a:cubicBezTo>
                  <a:moveTo>
                    <a:pt x="34" y="140"/>
                  </a:moveTo>
                  <a:cubicBezTo>
                    <a:pt x="0" y="140"/>
                    <a:pt x="0" y="140"/>
                    <a:pt x="0" y="140"/>
                  </a:cubicBezTo>
                  <a:cubicBezTo>
                    <a:pt x="0" y="130"/>
                    <a:pt x="0" y="130"/>
                    <a:pt x="0" y="130"/>
                  </a:cubicBezTo>
                  <a:cubicBezTo>
                    <a:pt x="11" y="130"/>
                    <a:pt x="11" y="130"/>
                    <a:pt x="11" y="130"/>
                  </a:cubicBezTo>
                  <a:cubicBezTo>
                    <a:pt x="11" y="98"/>
                    <a:pt x="11" y="98"/>
                    <a:pt x="11" y="98"/>
                  </a:cubicBezTo>
                  <a:cubicBezTo>
                    <a:pt x="0" y="100"/>
                    <a:pt x="0" y="100"/>
                    <a:pt x="0" y="100"/>
                  </a:cubicBezTo>
                  <a:cubicBezTo>
                    <a:pt x="0" y="90"/>
                    <a:pt x="0" y="90"/>
                    <a:pt x="0" y="90"/>
                  </a:cubicBezTo>
                  <a:cubicBezTo>
                    <a:pt x="23" y="85"/>
                    <a:pt x="23" y="85"/>
                    <a:pt x="23" y="85"/>
                  </a:cubicBezTo>
                  <a:cubicBezTo>
                    <a:pt x="23" y="130"/>
                    <a:pt x="23" y="130"/>
                    <a:pt x="23" y="130"/>
                  </a:cubicBezTo>
                  <a:cubicBezTo>
                    <a:pt x="34" y="130"/>
                    <a:pt x="34" y="130"/>
                    <a:pt x="34" y="130"/>
                  </a:cubicBezTo>
                  <a:lnTo>
                    <a:pt x="34" y="140"/>
                  </a:lnTo>
                  <a:close/>
                  <a:moveTo>
                    <a:pt x="84" y="113"/>
                  </a:moveTo>
                  <a:cubicBezTo>
                    <a:pt x="84" y="122"/>
                    <a:pt x="81" y="129"/>
                    <a:pt x="78" y="134"/>
                  </a:cubicBezTo>
                  <a:cubicBezTo>
                    <a:pt x="75" y="139"/>
                    <a:pt x="70" y="141"/>
                    <a:pt x="64" y="141"/>
                  </a:cubicBezTo>
                  <a:cubicBezTo>
                    <a:pt x="51" y="141"/>
                    <a:pt x="45" y="132"/>
                    <a:pt x="45" y="115"/>
                  </a:cubicBezTo>
                  <a:cubicBezTo>
                    <a:pt x="45" y="104"/>
                    <a:pt x="47" y="98"/>
                    <a:pt x="50" y="93"/>
                  </a:cubicBezTo>
                  <a:cubicBezTo>
                    <a:pt x="54" y="88"/>
                    <a:pt x="58" y="85"/>
                    <a:pt x="65" y="85"/>
                  </a:cubicBezTo>
                  <a:cubicBezTo>
                    <a:pt x="77" y="85"/>
                    <a:pt x="84" y="94"/>
                    <a:pt x="84" y="113"/>
                  </a:cubicBezTo>
                  <a:moveTo>
                    <a:pt x="71" y="113"/>
                  </a:moveTo>
                  <a:cubicBezTo>
                    <a:pt x="71" y="101"/>
                    <a:pt x="69" y="94"/>
                    <a:pt x="64" y="94"/>
                  </a:cubicBezTo>
                  <a:cubicBezTo>
                    <a:pt x="59" y="94"/>
                    <a:pt x="57" y="101"/>
                    <a:pt x="57" y="113"/>
                  </a:cubicBezTo>
                  <a:cubicBezTo>
                    <a:pt x="57" y="126"/>
                    <a:pt x="59" y="132"/>
                    <a:pt x="64" y="132"/>
                  </a:cubicBezTo>
                  <a:cubicBezTo>
                    <a:pt x="69" y="132"/>
                    <a:pt x="71" y="126"/>
                    <a:pt x="71" y="113"/>
                  </a:cubicBezTo>
                  <a:moveTo>
                    <a:pt x="131" y="113"/>
                  </a:moveTo>
                  <a:cubicBezTo>
                    <a:pt x="131" y="122"/>
                    <a:pt x="129" y="129"/>
                    <a:pt x="126" y="134"/>
                  </a:cubicBezTo>
                  <a:cubicBezTo>
                    <a:pt x="122" y="139"/>
                    <a:pt x="118" y="141"/>
                    <a:pt x="111" y="141"/>
                  </a:cubicBezTo>
                  <a:cubicBezTo>
                    <a:pt x="99" y="141"/>
                    <a:pt x="92" y="132"/>
                    <a:pt x="92" y="115"/>
                  </a:cubicBezTo>
                  <a:cubicBezTo>
                    <a:pt x="92" y="104"/>
                    <a:pt x="95" y="98"/>
                    <a:pt x="98" y="93"/>
                  </a:cubicBezTo>
                  <a:cubicBezTo>
                    <a:pt x="101" y="88"/>
                    <a:pt x="106" y="85"/>
                    <a:pt x="112" y="85"/>
                  </a:cubicBezTo>
                  <a:cubicBezTo>
                    <a:pt x="125" y="85"/>
                    <a:pt x="131" y="94"/>
                    <a:pt x="131" y="113"/>
                  </a:cubicBezTo>
                  <a:moveTo>
                    <a:pt x="119" y="113"/>
                  </a:moveTo>
                  <a:cubicBezTo>
                    <a:pt x="119" y="101"/>
                    <a:pt x="117" y="94"/>
                    <a:pt x="112" y="94"/>
                  </a:cubicBezTo>
                  <a:cubicBezTo>
                    <a:pt x="107" y="94"/>
                    <a:pt x="105" y="101"/>
                    <a:pt x="105" y="113"/>
                  </a:cubicBezTo>
                  <a:cubicBezTo>
                    <a:pt x="105" y="126"/>
                    <a:pt x="107" y="132"/>
                    <a:pt x="111" y="132"/>
                  </a:cubicBezTo>
                  <a:cubicBezTo>
                    <a:pt x="117" y="132"/>
                    <a:pt x="119" y="126"/>
                    <a:pt x="119" y="113"/>
                  </a:cubicBezTo>
                  <a:moveTo>
                    <a:pt x="178" y="140"/>
                  </a:moveTo>
                  <a:cubicBezTo>
                    <a:pt x="145" y="140"/>
                    <a:pt x="145" y="140"/>
                    <a:pt x="145" y="140"/>
                  </a:cubicBezTo>
                  <a:cubicBezTo>
                    <a:pt x="145" y="130"/>
                    <a:pt x="145" y="130"/>
                    <a:pt x="145" y="130"/>
                  </a:cubicBezTo>
                  <a:cubicBezTo>
                    <a:pt x="156" y="130"/>
                    <a:pt x="156" y="130"/>
                    <a:pt x="156" y="130"/>
                  </a:cubicBezTo>
                  <a:cubicBezTo>
                    <a:pt x="156" y="98"/>
                    <a:pt x="156" y="98"/>
                    <a:pt x="156" y="98"/>
                  </a:cubicBezTo>
                  <a:cubicBezTo>
                    <a:pt x="144" y="100"/>
                    <a:pt x="144" y="100"/>
                    <a:pt x="144" y="100"/>
                  </a:cubicBezTo>
                  <a:cubicBezTo>
                    <a:pt x="144" y="90"/>
                    <a:pt x="144" y="90"/>
                    <a:pt x="144" y="90"/>
                  </a:cubicBezTo>
                  <a:cubicBezTo>
                    <a:pt x="167" y="85"/>
                    <a:pt x="167" y="85"/>
                    <a:pt x="167" y="85"/>
                  </a:cubicBezTo>
                  <a:cubicBezTo>
                    <a:pt x="167" y="130"/>
                    <a:pt x="167" y="130"/>
                    <a:pt x="167" y="130"/>
                  </a:cubicBezTo>
                  <a:cubicBezTo>
                    <a:pt x="178" y="130"/>
                    <a:pt x="178" y="130"/>
                    <a:pt x="178" y="130"/>
                  </a:cubicBezTo>
                  <a:lnTo>
                    <a:pt x="178" y="140"/>
                  </a:lnTo>
                  <a:close/>
                  <a:moveTo>
                    <a:pt x="227" y="113"/>
                  </a:moveTo>
                  <a:cubicBezTo>
                    <a:pt x="227" y="122"/>
                    <a:pt x="226" y="129"/>
                    <a:pt x="221" y="134"/>
                  </a:cubicBezTo>
                  <a:cubicBezTo>
                    <a:pt x="218" y="139"/>
                    <a:pt x="213" y="141"/>
                    <a:pt x="208" y="141"/>
                  </a:cubicBezTo>
                  <a:cubicBezTo>
                    <a:pt x="195" y="141"/>
                    <a:pt x="188" y="132"/>
                    <a:pt x="188" y="115"/>
                  </a:cubicBezTo>
                  <a:cubicBezTo>
                    <a:pt x="188" y="104"/>
                    <a:pt x="190" y="98"/>
                    <a:pt x="193" y="93"/>
                  </a:cubicBezTo>
                  <a:cubicBezTo>
                    <a:pt x="197" y="88"/>
                    <a:pt x="202" y="85"/>
                    <a:pt x="208" y="85"/>
                  </a:cubicBezTo>
                  <a:cubicBezTo>
                    <a:pt x="221" y="85"/>
                    <a:pt x="227" y="94"/>
                    <a:pt x="227" y="113"/>
                  </a:cubicBezTo>
                  <a:moveTo>
                    <a:pt x="215" y="113"/>
                  </a:moveTo>
                  <a:cubicBezTo>
                    <a:pt x="215" y="101"/>
                    <a:pt x="212" y="94"/>
                    <a:pt x="208" y="94"/>
                  </a:cubicBezTo>
                  <a:cubicBezTo>
                    <a:pt x="202" y="94"/>
                    <a:pt x="200" y="101"/>
                    <a:pt x="200" y="113"/>
                  </a:cubicBezTo>
                  <a:cubicBezTo>
                    <a:pt x="200" y="126"/>
                    <a:pt x="202" y="132"/>
                    <a:pt x="208" y="132"/>
                  </a:cubicBezTo>
                  <a:cubicBezTo>
                    <a:pt x="212" y="132"/>
                    <a:pt x="215" y="126"/>
                    <a:pt x="215" y="113"/>
                  </a:cubicBezTo>
                  <a:moveTo>
                    <a:pt x="83" y="199"/>
                  </a:moveTo>
                  <a:cubicBezTo>
                    <a:pt x="83" y="207"/>
                    <a:pt x="82" y="214"/>
                    <a:pt x="78" y="220"/>
                  </a:cubicBezTo>
                  <a:cubicBezTo>
                    <a:pt x="75" y="224"/>
                    <a:pt x="70" y="226"/>
                    <a:pt x="64" y="226"/>
                  </a:cubicBezTo>
                  <a:cubicBezTo>
                    <a:pt x="51" y="226"/>
                    <a:pt x="45" y="218"/>
                    <a:pt x="45" y="200"/>
                  </a:cubicBezTo>
                  <a:cubicBezTo>
                    <a:pt x="45" y="191"/>
                    <a:pt x="46" y="183"/>
                    <a:pt x="51" y="178"/>
                  </a:cubicBezTo>
                  <a:cubicBezTo>
                    <a:pt x="54" y="174"/>
                    <a:pt x="58" y="172"/>
                    <a:pt x="65" y="172"/>
                  </a:cubicBezTo>
                  <a:cubicBezTo>
                    <a:pt x="77" y="172"/>
                    <a:pt x="83" y="181"/>
                    <a:pt x="83" y="199"/>
                  </a:cubicBezTo>
                  <a:moveTo>
                    <a:pt x="72" y="199"/>
                  </a:moveTo>
                  <a:cubicBezTo>
                    <a:pt x="72" y="186"/>
                    <a:pt x="68" y="181"/>
                    <a:pt x="64" y="181"/>
                  </a:cubicBezTo>
                  <a:cubicBezTo>
                    <a:pt x="60" y="181"/>
                    <a:pt x="56" y="186"/>
                    <a:pt x="56" y="200"/>
                  </a:cubicBezTo>
                  <a:cubicBezTo>
                    <a:pt x="56" y="211"/>
                    <a:pt x="60" y="218"/>
                    <a:pt x="64" y="218"/>
                  </a:cubicBezTo>
                  <a:cubicBezTo>
                    <a:pt x="68" y="218"/>
                    <a:pt x="72" y="211"/>
                    <a:pt x="72" y="199"/>
                  </a:cubicBezTo>
                  <a:moveTo>
                    <a:pt x="132" y="199"/>
                  </a:moveTo>
                  <a:cubicBezTo>
                    <a:pt x="132" y="207"/>
                    <a:pt x="129" y="214"/>
                    <a:pt x="126" y="220"/>
                  </a:cubicBezTo>
                  <a:cubicBezTo>
                    <a:pt x="123" y="224"/>
                    <a:pt x="118" y="226"/>
                    <a:pt x="112" y="226"/>
                  </a:cubicBezTo>
                  <a:cubicBezTo>
                    <a:pt x="99" y="226"/>
                    <a:pt x="93" y="218"/>
                    <a:pt x="93" y="200"/>
                  </a:cubicBezTo>
                  <a:cubicBezTo>
                    <a:pt x="93" y="191"/>
                    <a:pt x="95" y="183"/>
                    <a:pt x="98" y="178"/>
                  </a:cubicBezTo>
                  <a:cubicBezTo>
                    <a:pt x="102" y="174"/>
                    <a:pt x="106" y="172"/>
                    <a:pt x="113" y="172"/>
                  </a:cubicBezTo>
                  <a:cubicBezTo>
                    <a:pt x="125" y="172"/>
                    <a:pt x="132" y="181"/>
                    <a:pt x="132" y="199"/>
                  </a:cubicBezTo>
                  <a:moveTo>
                    <a:pt x="119" y="199"/>
                  </a:moveTo>
                  <a:cubicBezTo>
                    <a:pt x="119" y="186"/>
                    <a:pt x="117" y="181"/>
                    <a:pt x="112" y="181"/>
                  </a:cubicBezTo>
                  <a:cubicBezTo>
                    <a:pt x="107" y="181"/>
                    <a:pt x="105" y="186"/>
                    <a:pt x="105" y="200"/>
                  </a:cubicBezTo>
                  <a:cubicBezTo>
                    <a:pt x="105" y="211"/>
                    <a:pt x="107" y="218"/>
                    <a:pt x="112" y="218"/>
                  </a:cubicBezTo>
                  <a:cubicBezTo>
                    <a:pt x="117" y="218"/>
                    <a:pt x="119" y="211"/>
                    <a:pt x="119" y="199"/>
                  </a:cubicBezTo>
                  <a:moveTo>
                    <a:pt x="178" y="225"/>
                  </a:moveTo>
                  <a:cubicBezTo>
                    <a:pt x="144" y="225"/>
                    <a:pt x="144" y="225"/>
                    <a:pt x="144" y="225"/>
                  </a:cubicBezTo>
                  <a:cubicBezTo>
                    <a:pt x="144" y="216"/>
                    <a:pt x="144" y="216"/>
                    <a:pt x="144" y="216"/>
                  </a:cubicBezTo>
                  <a:cubicBezTo>
                    <a:pt x="155" y="216"/>
                    <a:pt x="155" y="216"/>
                    <a:pt x="155" y="216"/>
                  </a:cubicBezTo>
                  <a:cubicBezTo>
                    <a:pt x="155" y="183"/>
                    <a:pt x="155" y="183"/>
                    <a:pt x="155" y="183"/>
                  </a:cubicBezTo>
                  <a:cubicBezTo>
                    <a:pt x="144" y="185"/>
                    <a:pt x="144" y="185"/>
                    <a:pt x="144" y="185"/>
                  </a:cubicBezTo>
                  <a:cubicBezTo>
                    <a:pt x="144" y="176"/>
                    <a:pt x="144" y="176"/>
                    <a:pt x="144" y="176"/>
                  </a:cubicBezTo>
                  <a:cubicBezTo>
                    <a:pt x="167" y="172"/>
                    <a:pt x="167" y="172"/>
                    <a:pt x="167" y="172"/>
                  </a:cubicBezTo>
                  <a:cubicBezTo>
                    <a:pt x="167" y="216"/>
                    <a:pt x="167" y="216"/>
                    <a:pt x="167" y="216"/>
                  </a:cubicBezTo>
                  <a:cubicBezTo>
                    <a:pt x="178" y="216"/>
                    <a:pt x="178" y="216"/>
                    <a:pt x="178" y="216"/>
                  </a:cubicBezTo>
                  <a:lnTo>
                    <a:pt x="178" y="225"/>
                  </a:lnTo>
                  <a:close/>
                  <a:moveTo>
                    <a:pt x="227" y="199"/>
                  </a:moveTo>
                  <a:cubicBezTo>
                    <a:pt x="227" y="207"/>
                    <a:pt x="225" y="214"/>
                    <a:pt x="222" y="220"/>
                  </a:cubicBezTo>
                  <a:cubicBezTo>
                    <a:pt x="218" y="224"/>
                    <a:pt x="214" y="226"/>
                    <a:pt x="207" y="226"/>
                  </a:cubicBezTo>
                  <a:cubicBezTo>
                    <a:pt x="195" y="226"/>
                    <a:pt x="188" y="218"/>
                    <a:pt x="188" y="200"/>
                  </a:cubicBezTo>
                  <a:cubicBezTo>
                    <a:pt x="188" y="191"/>
                    <a:pt x="191" y="183"/>
                    <a:pt x="194" y="178"/>
                  </a:cubicBezTo>
                  <a:cubicBezTo>
                    <a:pt x="197" y="174"/>
                    <a:pt x="203" y="172"/>
                    <a:pt x="208" y="172"/>
                  </a:cubicBezTo>
                  <a:cubicBezTo>
                    <a:pt x="220" y="172"/>
                    <a:pt x="227" y="181"/>
                    <a:pt x="227" y="199"/>
                  </a:cubicBezTo>
                  <a:moveTo>
                    <a:pt x="215" y="199"/>
                  </a:moveTo>
                  <a:cubicBezTo>
                    <a:pt x="215" y="186"/>
                    <a:pt x="213" y="181"/>
                    <a:pt x="208" y="181"/>
                  </a:cubicBezTo>
                  <a:cubicBezTo>
                    <a:pt x="203" y="181"/>
                    <a:pt x="200" y="186"/>
                    <a:pt x="200" y="200"/>
                  </a:cubicBezTo>
                  <a:cubicBezTo>
                    <a:pt x="200" y="211"/>
                    <a:pt x="203" y="218"/>
                    <a:pt x="208" y="218"/>
                  </a:cubicBezTo>
                  <a:cubicBezTo>
                    <a:pt x="213" y="218"/>
                    <a:pt x="215" y="211"/>
                    <a:pt x="215" y="199"/>
                  </a:cubicBezTo>
                  <a:moveTo>
                    <a:pt x="274" y="225"/>
                  </a:moveTo>
                  <a:cubicBezTo>
                    <a:pt x="240" y="225"/>
                    <a:pt x="240" y="225"/>
                    <a:pt x="240" y="225"/>
                  </a:cubicBezTo>
                  <a:cubicBezTo>
                    <a:pt x="240" y="216"/>
                    <a:pt x="240" y="216"/>
                    <a:pt x="240" y="216"/>
                  </a:cubicBezTo>
                  <a:cubicBezTo>
                    <a:pt x="252" y="216"/>
                    <a:pt x="252" y="216"/>
                    <a:pt x="252" y="216"/>
                  </a:cubicBezTo>
                  <a:cubicBezTo>
                    <a:pt x="252" y="183"/>
                    <a:pt x="252" y="183"/>
                    <a:pt x="252" y="183"/>
                  </a:cubicBezTo>
                  <a:cubicBezTo>
                    <a:pt x="240" y="185"/>
                    <a:pt x="240" y="185"/>
                    <a:pt x="240" y="185"/>
                  </a:cubicBezTo>
                  <a:cubicBezTo>
                    <a:pt x="240" y="176"/>
                    <a:pt x="240" y="176"/>
                    <a:pt x="240" y="176"/>
                  </a:cubicBezTo>
                  <a:cubicBezTo>
                    <a:pt x="263" y="172"/>
                    <a:pt x="263" y="172"/>
                    <a:pt x="263" y="172"/>
                  </a:cubicBezTo>
                  <a:cubicBezTo>
                    <a:pt x="263" y="216"/>
                    <a:pt x="263" y="216"/>
                    <a:pt x="263" y="216"/>
                  </a:cubicBezTo>
                  <a:cubicBezTo>
                    <a:pt x="274" y="216"/>
                    <a:pt x="274" y="216"/>
                    <a:pt x="274" y="216"/>
                  </a:cubicBezTo>
                  <a:lnTo>
                    <a:pt x="274" y="22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7" name="icon GEARS"/>
            <p:cNvSpPr>
              <a:spLocks noEditPoints="1"/>
            </p:cNvSpPr>
            <p:nvPr/>
          </p:nvSpPr>
          <p:spPr bwMode="auto">
            <a:xfrm>
              <a:off x="11707277" y="6523798"/>
              <a:ext cx="454243" cy="378637"/>
            </a:xfrm>
            <a:custGeom>
              <a:avLst/>
              <a:gdLst>
                <a:gd name="T0" fmla="*/ 114 w 315"/>
                <a:gd name="T1" fmla="*/ 169 h 262"/>
                <a:gd name="T2" fmla="*/ 114 w 315"/>
                <a:gd name="T3" fmla="*/ 132 h 262"/>
                <a:gd name="T4" fmla="*/ 227 w 315"/>
                <a:gd name="T5" fmla="*/ 139 h 262"/>
                <a:gd name="T6" fmla="*/ 195 w 315"/>
                <a:gd name="T7" fmla="*/ 159 h 262"/>
                <a:gd name="T8" fmla="*/ 216 w 315"/>
                <a:gd name="T9" fmla="*/ 187 h 262"/>
                <a:gd name="T10" fmla="*/ 208 w 315"/>
                <a:gd name="T11" fmla="*/ 214 h 262"/>
                <a:gd name="T12" fmla="*/ 170 w 315"/>
                <a:gd name="T13" fmla="*/ 209 h 262"/>
                <a:gd name="T14" fmla="*/ 172 w 315"/>
                <a:gd name="T15" fmla="*/ 242 h 262"/>
                <a:gd name="T16" fmla="*/ 149 w 315"/>
                <a:gd name="T17" fmla="*/ 258 h 262"/>
                <a:gd name="T18" fmla="*/ 123 w 315"/>
                <a:gd name="T19" fmla="*/ 231 h 262"/>
                <a:gd name="T20" fmla="*/ 113 w 315"/>
                <a:gd name="T21" fmla="*/ 232 h 262"/>
                <a:gd name="T22" fmla="*/ 90 w 315"/>
                <a:gd name="T23" fmla="*/ 261 h 262"/>
                <a:gd name="T24" fmla="*/ 65 w 315"/>
                <a:gd name="T25" fmla="*/ 247 h 262"/>
                <a:gd name="T26" fmla="*/ 60 w 315"/>
                <a:gd name="T27" fmla="*/ 212 h 262"/>
                <a:gd name="T28" fmla="*/ 23 w 315"/>
                <a:gd name="T29" fmla="*/ 219 h 262"/>
                <a:gd name="T30" fmla="*/ 14 w 315"/>
                <a:gd name="T31" fmla="*/ 192 h 262"/>
                <a:gd name="T32" fmla="*/ 33 w 315"/>
                <a:gd name="T33" fmla="*/ 159 h 262"/>
                <a:gd name="T34" fmla="*/ 1 w 315"/>
                <a:gd name="T35" fmla="*/ 140 h 262"/>
                <a:gd name="T36" fmla="*/ 12 w 315"/>
                <a:gd name="T37" fmla="*/ 113 h 262"/>
                <a:gd name="T38" fmla="*/ 45 w 315"/>
                <a:gd name="T39" fmla="*/ 106 h 262"/>
                <a:gd name="T40" fmla="*/ 33 w 315"/>
                <a:gd name="T41" fmla="*/ 70 h 262"/>
                <a:gd name="T42" fmla="*/ 58 w 315"/>
                <a:gd name="T43" fmla="*/ 57 h 262"/>
                <a:gd name="T44" fmla="*/ 90 w 315"/>
                <a:gd name="T45" fmla="*/ 72 h 262"/>
                <a:gd name="T46" fmla="*/ 103 w 315"/>
                <a:gd name="T47" fmla="*/ 37 h 262"/>
                <a:gd name="T48" fmla="*/ 131 w 315"/>
                <a:gd name="T49" fmla="*/ 43 h 262"/>
                <a:gd name="T50" fmla="*/ 146 w 315"/>
                <a:gd name="T51" fmla="*/ 75 h 262"/>
                <a:gd name="T52" fmla="*/ 179 w 315"/>
                <a:gd name="T53" fmla="*/ 57 h 262"/>
                <a:gd name="T54" fmla="*/ 196 w 315"/>
                <a:gd name="T55" fmla="*/ 80 h 262"/>
                <a:gd name="T56" fmla="*/ 186 w 315"/>
                <a:gd name="T57" fmla="*/ 113 h 262"/>
                <a:gd name="T58" fmla="*/ 223 w 315"/>
                <a:gd name="T59" fmla="*/ 120 h 262"/>
                <a:gd name="T60" fmla="*/ 157 w 315"/>
                <a:gd name="T61" fmla="*/ 150 h 262"/>
                <a:gd name="T62" fmla="*/ 70 w 315"/>
                <a:gd name="T63" fmla="*/ 150 h 262"/>
                <a:gd name="T64" fmla="*/ 157 w 315"/>
                <a:gd name="T65" fmla="*/ 150 h 262"/>
                <a:gd name="T66" fmla="*/ 312 w 315"/>
                <a:gd name="T67" fmla="*/ 93 h 262"/>
                <a:gd name="T68" fmla="*/ 300 w 315"/>
                <a:gd name="T69" fmla="*/ 98 h 262"/>
                <a:gd name="T70" fmla="*/ 273 w 315"/>
                <a:gd name="T71" fmla="*/ 102 h 262"/>
                <a:gd name="T72" fmla="*/ 263 w 315"/>
                <a:gd name="T73" fmla="*/ 120 h 262"/>
                <a:gd name="T74" fmla="*/ 252 w 315"/>
                <a:gd name="T75" fmla="*/ 114 h 262"/>
                <a:gd name="T76" fmla="*/ 233 w 315"/>
                <a:gd name="T77" fmla="*/ 93 h 262"/>
                <a:gd name="T78" fmla="*/ 213 w 315"/>
                <a:gd name="T79" fmla="*/ 96 h 262"/>
                <a:gd name="T80" fmla="*/ 211 w 315"/>
                <a:gd name="T81" fmla="*/ 83 h 262"/>
                <a:gd name="T82" fmla="*/ 218 w 315"/>
                <a:gd name="T83" fmla="*/ 61 h 262"/>
                <a:gd name="T84" fmla="*/ 220 w 315"/>
                <a:gd name="T85" fmla="*/ 48 h 262"/>
                <a:gd name="T86" fmla="*/ 210 w 315"/>
                <a:gd name="T87" fmla="*/ 29 h 262"/>
                <a:gd name="T88" fmla="*/ 221 w 315"/>
                <a:gd name="T89" fmla="*/ 23 h 262"/>
                <a:gd name="T90" fmla="*/ 233 w 315"/>
                <a:gd name="T91" fmla="*/ 28 h 262"/>
                <a:gd name="T92" fmla="*/ 252 w 315"/>
                <a:gd name="T93" fmla="*/ 7 h 262"/>
                <a:gd name="T94" fmla="*/ 263 w 315"/>
                <a:gd name="T95" fmla="*/ 0 h 262"/>
                <a:gd name="T96" fmla="*/ 273 w 315"/>
                <a:gd name="T97" fmla="*/ 19 h 262"/>
                <a:gd name="T98" fmla="*/ 301 w 315"/>
                <a:gd name="T99" fmla="*/ 23 h 262"/>
                <a:gd name="T100" fmla="*/ 313 w 315"/>
                <a:gd name="T101" fmla="*/ 29 h 262"/>
                <a:gd name="T102" fmla="*/ 303 w 315"/>
                <a:gd name="T103" fmla="*/ 48 h 262"/>
                <a:gd name="T104" fmla="*/ 302 w 315"/>
                <a:gd name="T105" fmla="*/ 74 h 262"/>
                <a:gd name="T106" fmla="*/ 276 w 315"/>
                <a:gd name="T107" fmla="*/ 61 h 262"/>
                <a:gd name="T108" fmla="*/ 246 w 315"/>
                <a:gd name="T109" fmla="*/ 61 h 262"/>
                <a:gd name="T110" fmla="*/ 276 w 315"/>
                <a:gd name="T111" fmla="*/ 61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 h="262">
                  <a:moveTo>
                    <a:pt x="132" y="150"/>
                  </a:moveTo>
                  <a:cubicBezTo>
                    <a:pt x="132" y="160"/>
                    <a:pt x="124" y="169"/>
                    <a:pt x="114" y="169"/>
                  </a:cubicBezTo>
                  <a:cubicBezTo>
                    <a:pt x="103" y="169"/>
                    <a:pt x="95" y="160"/>
                    <a:pt x="95" y="150"/>
                  </a:cubicBezTo>
                  <a:cubicBezTo>
                    <a:pt x="95" y="140"/>
                    <a:pt x="103" y="132"/>
                    <a:pt x="114" y="132"/>
                  </a:cubicBezTo>
                  <a:cubicBezTo>
                    <a:pt x="124" y="132"/>
                    <a:pt x="132" y="140"/>
                    <a:pt x="132" y="150"/>
                  </a:cubicBezTo>
                  <a:close/>
                  <a:moveTo>
                    <a:pt x="227" y="139"/>
                  </a:moveTo>
                  <a:cubicBezTo>
                    <a:pt x="227" y="143"/>
                    <a:pt x="225" y="147"/>
                    <a:pt x="222" y="148"/>
                  </a:cubicBezTo>
                  <a:cubicBezTo>
                    <a:pt x="195" y="159"/>
                    <a:pt x="195" y="159"/>
                    <a:pt x="195" y="159"/>
                  </a:cubicBezTo>
                  <a:cubicBezTo>
                    <a:pt x="194" y="162"/>
                    <a:pt x="194" y="165"/>
                    <a:pt x="193" y="168"/>
                  </a:cubicBezTo>
                  <a:cubicBezTo>
                    <a:pt x="216" y="187"/>
                    <a:pt x="216" y="187"/>
                    <a:pt x="216" y="187"/>
                  </a:cubicBezTo>
                  <a:cubicBezTo>
                    <a:pt x="218" y="189"/>
                    <a:pt x="219" y="193"/>
                    <a:pt x="217" y="196"/>
                  </a:cubicBezTo>
                  <a:cubicBezTo>
                    <a:pt x="208" y="214"/>
                    <a:pt x="208" y="214"/>
                    <a:pt x="208" y="214"/>
                  </a:cubicBezTo>
                  <a:cubicBezTo>
                    <a:pt x="206" y="217"/>
                    <a:pt x="202" y="219"/>
                    <a:pt x="198" y="218"/>
                  </a:cubicBezTo>
                  <a:cubicBezTo>
                    <a:pt x="170" y="209"/>
                    <a:pt x="170" y="209"/>
                    <a:pt x="170" y="209"/>
                  </a:cubicBezTo>
                  <a:cubicBezTo>
                    <a:pt x="169" y="210"/>
                    <a:pt x="168" y="211"/>
                    <a:pt x="166" y="213"/>
                  </a:cubicBezTo>
                  <a:cubicBezTo>
                    <a:pt x="172" y="242"/>
                    <a:pt x="172" y="242"/>
                    <a:pt x="172" y="242"/>
                  </a:cubicBezTo>
                  <a:cubicBezTo>
                    <a:pt x="173" y="245"/>
                    <a:pt x="171" y="249"/>
                    <a:pt x="168" y="250"/>
                  </a:cubicBezTo>
                  <a:cubicBezTo>
                    <a:pt x="149" y="258"/>
                    <a:pt x="149" y="258"/>
                    <a:pt x="149" y="258"/>
                  </a:cubicBezTo>
                  <a:cubicBezTo>
                    <a:pt x="146" y="260"/>
                    <a:pt x="142" y="258"/>
                    <a:pt x="140" y="256"/>
                  </a:cubicBezTo>
                  <a:cubicBezTo>
                    <a:pt x="123" y="231"/>
                    <a:pt x="123" y="231"/>
                    <a:pt x="123" y="231"/>
                  </a:cubicBezTo>
                  <a:cubicBezTo>
                    <a:pt x="120" y="232"/>
                    <a:pt x="117" y="232"/>
                    <a:pt x="114" y="232"/>
                  </a:cubicBezTo>
                  <a:cubicBezTo>
                    <a:pt x="113" y="232"/>
                    <a:pt x="113" y="232"/>
                    <a:pt x="113" y="232"/>
                  </a:cubicBezTo>
                  <a:cubicBezTo>
                    <a:pt x="99" y="258"/>
                    <a:pt x="99" y="258"/>
                    <a:pt x="99" y="258"/>
                  </a:cubicBezTo>
                  <a:cubicBezTo>
                    <a:pt x="97" y="261"/>
                    <a:pt x="93" y="262"/>
                    <a:pt x="90" y="261"/>
                  </a:cubicBezTo>
                  <a:cubicBezTo>
                    <a:pt x="70" y="255"/>
                    <a:pt x="70" y="255"/>
                    <a:pt x="70" y="255"/>
                  </a:cubicBezTo>
                  <a:cubicBezTo>
                    <a:pt x="67" y="254"/>
                    <a:pt x="65" y="251"/>
                    <a:pt x="65" y="247"/>
                  </a:cubicBezTo>
                  <a:cubicBezTo>
                    <a:pt x="68" y="218"/>
                    <a:pt x="68" y="218"/>
                    <a:pt x="68" y="218"/>
                  </a:cubicBezTo>
                  <a:cubicBezTo>
                    <a:pt x="65" y="216"/>
                    <a:pt x="63" y="214"/>
                    <a:pt x="60" y="212"/>
                  </a:cubicBezTo>
                  <a:cubicBezTo>
                    <a:pt x="32" y="222"/>
                    <a:pt x="32" y="222"/>
                    <a:pt x="32" y="222"/>
                  </a:cubicBezTo>
                  <a:cubicBezTo>
                    <a:pt x="29" y="223"/>
                    <a:pt x="25" y="222"/>
                    <a:pt x="23" y="219"/>
                  </a:cubicBezTo>
                  <a:cubicBezTo>
                    <a:pt x="12" y="202"/>
                    <a:pt x="12" y="202"/>
                    <a:pt x="12" y="202"/>
                  </a:cubicBezTo>
                  <a:cubicBezTo>
                    <a:pt x="11" y="199"/>
                    <a:pt x="11" y="195"/>
                    <a:pt x="14" y="192"/>
                  </a:cubicBezTo>
                  <a:cubicBezTo>
                    <a:pt x="35" y="172"/>
                    <a:pt x="35" y="172"/>
                    <a:pt x="35" y="172"/>
                  </a:cubicBezTo>
                  <a:cubicBezTo>
                    <a:pt x="34" y="168"/>
                    <a:pt x="33" y="163"/>
                    <a:pt x="33" y="159"/>
                  </a:cubicBezTo>
                  <a:cubicBezTo>
                    <a:pt x="5" y="148"/>
                    <a:pt x="5" y="148"/>
                    <a:pt x="5" y="148"/>
                  </a:cubicBezTo>
                  <a:cubicBezTo>
                    <a:pt x="2" y="147"/>
                    <a:pt x="0" y="143"/>
                    <a:pt x="1" y="140"/>
                  </a:cubicBezTo>
                  <a:cubicBezTo>
                    <a:pt x="4" y="120"/>
                    <a:pt x="4" y="120"/>
                    <a:pt x="4" y="120"/>
                  </a:cubicBezTo>
                  <a:cubicBezTo>
                    <a:pt x="5" y="116"/>
                    <a:pt x="8" y="113"/>
                    <a:pt x="12" y="113"/>
                  </a:cubicBezTo>
                  <a:cubicBezTo>
                    <a:pt x="41" y="113"/>
                    <a:pt x="41" y="113"/>
                    <a:pt x="41" y="113"/>
                  </a:cubicBezTo>
                  <a:cubicBezTo>
                    <a:pt x="42" y="110"/>
                    <a:pt x="44" y="108"/>
                    <a:pt x="45" y="106"/>
                  </a:cubicBezTo>
                  <a:cubicBezTo>
                    <a:pt x="31" y="80"/>
                    <a:pt x="31" y="80"/>
                    <a:pt x="31" y="80"/>
                  </a:cubicBezTo>
                  <a:cubicBezTo>
                    <a:pt x="29" y="77"/>
                    <a:pt x="30" y="73"/>
                    <a:pt x="33" y="70"/>
                  </a:cubicBezTo>
                  <a:cubicBezTo>
                    <a:pt x="48" y="57"/>
                    <a:pt x="48" y="57"/>
                    <a:pt x="48" y="57"/>
                  </a:cubicBezTo>
                  <a:cubicBezTo>
                    <a:pt x="51" y="55"/>
                    <a:pt x="55" y="55"/>
                    <a:pt x="58" y="57"/>
                  </a:cubicBezTo>
                  <a:cubicBezTo>
                    <a:pt x="81" y="75"/>
                    <a:pt x="81" y="75"/>
                    <a:pt x="81" y="75"/>
                  </a:cubicBezTo>
                  <a:cubicBezTo>
                    <a:pt x="84" y="74"/>
                    <a:pt x="87" y="73"/>
                    <a:pt x="90" y="72"/>
                  </a:cubicBezTo>
                  <a:cubicBezTo>
                    <a:pt x="96" y="43"/>
                    <a:pt x="96" y="43"/>
                    <a:pt x="96" y="43"/>
                  </a:cubicBezTo>
                  <a:cubicBezTo>
                    <a:pt x="97" y="40"/>
                    <a:pt x="100" y="37"/>
                    <a:pt x="103" y="37"/>
                  </a:cubicBezTo>
                  <a:cubicBezTo>
                    <a:pt x="124" y="37"/>
                    <a:pt x="124" y="37"/>
                    <a:pt x="124" y="37"/>
                  </a:cubicBezTo>
                  <a:cubicBezTo>
                    <a:pt x="127" y="37"/>
                    <a:pt x="131" y="40"/>
                    <a:pt x="131" y="43"/>
                  </a:cubicBezTo>
                  <a:cubicBezTo>
                    <a:pt x="137" y="72"/>
                    <a:pt x="137" y="72"/>
                    <a:pt x="137" y="72"/>
                  </a:cubicBezTo>
                  <a:cubicBezTo>
                    <a:pt x="140" y="73"/>
                    <a:pt x="143" y="74"/>
                    <a:pt x="146" y="75"/>
                  </a:cubicBezTo>
                  <a:cubicBezTo>
                    <a:pt x="169" y="57"/>
                    <a:pt x="169" y="57"/>
                    <a:pt x="169" y="57"/>
                  </a:cubicBezTo>
                  <a:cubicBezTo>
                    <a:pt x="171" y="55"/>
                    <a:pt x="176" y="55"/>
                    <a:pt x="179" y="57"/>
                  </a:cubicBezTo>
                  <a:cubicBezTo>
                    <a:pt x="194" y="70"/>
                    <a:pt x="194" y="70"/>
                    <a:pt x="194" y="70"/>
                  </a:cubicBezTo>
                  <a:cubicBezTo>
                    <a:pt x="197" y="72"/>
                    <a:pt x="198" y="77"/>
                    <a:pt x="196" y="80"/>
                  </a:cubicBezTo>
                  <a:cubicBezTo>
                    <a:pt x="182" y="106"/>
                    <a:pt x="182" y="106"/>
                    <a:pt x="182" y="106"/>
                  </a:cubicBezTo>
                  <a:cubicBezTo>
                    <a:pt x="183" y="108"/>
                    <a:pt x="185" y="110"/>
                    <a:pt x="186" y="113"/>
                  </a:cubicBezTo>
                  <a:cubicBezTo>
                    <a:pt x="216" y="113"/>
                    <a:pt x="216" y="113"/>
                    <a:pt x="216" y="113"/>
                  </a:cubicBezTo>
                  <a:cubicBezTo>
                    <a:pt x="219" y="113"/>
                    <a:pt x="222" y="116"/>
                    <a:pt x="223" y="120"/>
                  </a:cubicBezTo>
                  <a:lnTo>
                    <a:pt x="227" y="139"/>
                  </a:lnTo>
                  <a:close/>
                  <a:moveTo>
                    <a:pt x="157" y="150"/>
                  </a:moveTo>
                  <a:cubicBezTo>
                    <a:pt x="157" y="126"/>
                    <a:pt x="137" y="107"/>
                    <a:pt x="114" y="107"/>
                  </a:cubicBezTo>
                  <a:cubicBezTo>
                    <a:pt x="90" y="107"/>
                    <a:pt x="70" y="126"/>
                    <a:pt x="70" y="150"/>
                  </a:cubicBezTo>
                  <a:cubicBezTo>
                    <a:pt x="70" y="174"/>
                    <a:pt x="90" y="193"/>
                    <a:pt x="114" y="193"/>
                  </a:cubicBezTo>
                  <a:cubicBezTo>
                    <a:pt x="137" y="193"/>
                    <a:pt x="157" y="174"/>
                    <a:pt x="157" y="150"/>
                  </a:cubicBezTo>
                  <a:close/>
                  <a:moveTo>
                    <a:pt x="311" y="83"/>
                  </a:moveTo>
                  <a:cubicBezTo>
                    <a:pt x="313" y="85"/>
                    <a:pt x="314" y="90"/>
                    <a:pt x="312" y="93"/>
                  </a:cubicBezTo>
                  <a:cubicBezTo>
                    <a:pt x="310" y="96"/>
                    <a:pt x="310" y="96"/>
                    <a:pt x="310" y="96"/>
                  </a:cubicBezTo>
                  <a:cubicBezTo>
                    <a:pt x="308" y="99"/>
                    <a:pt x="304" y="100"/>
                    <a:pt x="300" y="98"/>
                  </a:cubicBezTo>
                  <a:cubicBezTo>
                    <a:pt x="289" y="93"/>
                    <a:pt x="289" y="93"/>
                    <a:pt x="289" y="93"/>
                  </a:cubicBezTo>
                  <a:cubicBezTo>
                    <a:pt x="285" y="97"/>
                    <a:pt x="279" y="100"/>
                    <a:pt x="273" y="102"/>
                  </a:cubicBezTo>
                  <a:cubicBezTo>
                    <a:pt x="271" y="114"/>
                    <a:pt x="271" y="114"/>
                    <a:pt x="271" y="114"/>
                  </a:cubicBezTo>
                  <a:cubicBezTo>
                    <a:pt x="270" y="118"/>
                    <a:pt x="267" y="120"/>
                    <a:pt x="263" y="120"/>
                  </a:cubicBezTo>
                  <a:cubicBezTo>
                    <a:pt x="259" y="120"/>
                    <a:pt x="259" y="120"/>
                    <a:pt x="259" y="120"/>
                  </a:cubicBezTo>
                  <a:cubicBezTo>
                    <a:pt x="256" y="120"/>
                    <a:pt x="253" y="118"/>
                    <a:pt x="252" y="114"/>
                  </a:cubicBezTo>
                  <a:cubicBezTo>
                    <a:pt x="250" y="102"/>
                    <a:pt x="250" y="102"/>
                    <a:pt x="250" y="102"/>
                  </a:cubicBezTo>
                  <a:cubicBezTo>
                    <a:pt x="244" y="100"/>
                    <a:pt x="238" y="97"/>
                    <a:pt x="233" y="93"/>
                  </a:cubicBezTo>
                  <a:cubicBezTo>
                    <a:pt x="222" y="98"/>
                    <a:pt x="222" y="98"/>
                    <a:pt x="222" y="98"/>
                  </a:cubicBezTo>
                  <a:cubicBezTo>
                    <a:pt x="219" y="100"/>
                    <a:pt x="215" y="99"/>
                    <a:pt x="213" y="96"/>
                  </a:cubicBezTo>
                  <a:cubicBezTo>
                    <a:pt x="210" y="93"/>
                    <a:pt x="210" y="93"/>
                    <a:pt x="210" y="93"/>
                  </a:cubicBezTo>
                  <a:cubicBezTo>
                    <a:pt x="208" y="90"/>
                    <a:pt x="209" y="85"/>
                    <a:pt x="211" y="83"/>
                  </a:cubicBezTo>
                  <a:cubicBezTo>
                    <a:pt x="220" y="74"/>
                    <a:pt x="220" y="74"/>
                    <a:pt x="220" y="74"/>
                  </a:cubicBezTo>
                  <a:cubicBezTo>
                    <a:pt x="219" y="70"/>
                    <a:pt x="218" y="65"/>
                    <a:pt x="218" y="61"/>
                  </a:cubicBezTo>
                  <a:cubicBezTo>
                    <a:pt x="218" y="56"/>
                    <a:pt x="219" y="52"/>
                    <a:pt x="220" y="48"/>
                  </a:cubicBezTo>
                  <a:cubicBezTo>
                    <a:pt x="220" y="48"/>
                    <a:pt x="220" y="48"/>
                    <a:pt x="220" y="48"/>
                  </a:cubicBezTo>
                  <a:cubicBezTo>
                    <a:pt x="211" y="39"/>
                    <a:pt x="211" y="39"/>
                    <a:pt x="211" y="39"/>
                  </a:cubicBezTo>
                  <a:cubicBezTo>
                    <a:pt x="208" y="37"/>
                    <a:pt x="208" y="32"/>
                    <a:pt x="210" y="29"/>
                  </a:cubicBezTo>
                  <a:cubicBezTo>
                    <a:pt x="212" y="26"/>
                    <a:pt x="212" y="26"/>
                    <a:pt x="212" y="26"/>
                  </a:cubicBezTo>
                  <a:cubicBezTo>
                    <a:pt x="214" y="23"/>
                    <a:pt x="218" y="22"/>
                    <a:pt x="221" y="23"/>
                  </a:cubicBezTo>
                  <a:cubicBezTo>
                    <a:pt x="233" y="28"/>
                    <a:pt x="233" y="28"/>
                    <a:pt x="233" y="28"/>
                  </a:cubicBezTo>
                  <a:cubicBezTo>
                    <a:pt x="233" y="28"/>
                    <a:pt x="233" y="28"/>
                    <a:pt x="233" y="28"/>
                  </a:cubicBezTo>
                  <a:cubicBezTo>
                    <a:pt x="238" y="24"/>
                    <a:pt x="243" y="21"/>
                    <a:pt x="249" y="19"/>
                  </a:cubicBezTo>
                  <a:cubicBezTo>
                    <a:pt x="252" y="7"/>
                    <a:pt x="252" y="7"/>
                    <a:pt x="252" y="7"/>
                  </a:cubicBezTo>
                  <a:cubicBezTo>
                    <a:pt x="253" y="3"/>
                    <a:pt x="256" y="0"/>
                    <a:pt x="259" y="0"/>
                  </a:cubicBezTo>
                  <a:cubicBezTo>
                    <a:pt x="263" y="0"/>
                    <a:pt x="263" y="0"/>
                    <a:pt x="263" y="0"/>
                  </a:cubicBezTo>
                  <a:cubicBezTo>
                    <a:pt x="267" y="0"/>
                    <a:pt x="270" y="3"/>
                    <a:pt x="271" y="7"/>
                  </a:cubicBezTo>
                  <a:cubicBezTo>
                    <a:pt x="273" y="19"/>
                    <a:pt x="273" y="19"/>
                    <a:pt x="273" y="19"/>
                  </a:cubicBezTo>
                  <a:cubicBezTo>
                    <a:pt x="279" y="21"/>
                    <a:pt x="285" y="24"/>
                    <a:pt x="290" y="28"/>
                  </a:cubicBezTo>
                  <a:cubicBezTo>
                    <a:pt x="301" y="23"/>
                    <a:pt x="301" y="23"/>
                    <a:pt x="301" y="23"/>
                  </a:cubicBezTo>
                  <a:cubicBezTo>
                    <a:pt x="305" y="22"/>
                    <a:pt x="309" y="23"/>
                    <a:pt x="311" y="26"/>
                  </a:cubicBezTo>
                  <a:cubicBezTo>
                    <a:pt x="313" y="29"/>
                    <a:pt x="313" y="29"/>
                    <a:pt x="313" y="29"/>
                  </a:cubicBezTo>
                  <a:cubicBezTo>
                    <a:pt x="315" y="32"/>
                    <a:pt x="314" y="37"/>
                    <a:pt x="312" y="39"/>
                  </a:cubicBezTo>
                  <a:cubicBezTo>
                    <a:pt x="303" y="48"/>
                    <a:pt x="303" y="48"/>
                    <a:pt x="303" y="48"/>
                  </a:cubicBezTo>
                  <a:cubicBezTo>
                    <a:pt x="304" y="52"/>
                    <a:pt x="304" y="56"/>
                    <a:pt x="304" y="61"/>
                  </a:cubicBezTo>
                  <a:cubicBezTo>
                    <a:pt x="304" y="65"/>
                    <a:pt x="304" y="70"/>
                    <a:pt x="302" y="74"/>
                  </a:cubicBezTo>
                  <a:lnTo>
                    <a:pt x="311" y="83"/>
                  </a:lnTo>
                  <a:close/>
                  <a:moveTo>
                    <a:pt x="276" y="61"/>
                  </a:moveTo>
                  <a:cubicBezTo>
                    <a:pt x="276" y="52"/>
                    <a:pt x="269" y="46"/>
                    <a:pt x="261" y="46"/>
                  </a:cubicBezTo>
                  <a:cubicBezTo>
                    <a:pt x="253" y="46"/>
                    <a:pt x="246" y="52"/>
                    <a:pt x="246" y="61"/>
                  </a:cubicBezTo>
                  <a:cubicBezTo>
                    <a:pt x="246" y="69"/>
                    <a:pt x="253" y="75"/>
                    <a:pt x="261" y="75"/>
                  </a:cubicBezTo>
                  <a:cubicBezTo>
                    <a:pt x="269" y="75"/>
                    <a:pt x="276" y="69"/>
                    <a:pt x="276" y="61"/>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8" name="Freeform 72"/>
            <p:cNvSpPr>
              <a:spLocks noEditPoints="1"/>
            </p:cNvSpPr>
            <p:nvPr/>
          </p:nvSpPr>
          <p:spPr bwMode="auto">
            <a:xfrm>
              <a:off x="10649888" y="6630565"/>
              <a:ext cx="155969" cy="155969"/>
            </a:xfrm>
            <a:custGeom>
              <a:avLst/>
              <a:gdLst>
                <a:gd name="T0" fmla="*/ 78 w 155"/>
                <a:gd name="T1" fmla="*/ 0 h 155"/>
                <a:gd name="T2" fmla="*/ 0 w 155"/>
                <a:gd name="T3" fmla="*/ 78 h 155"/>
                <a:gd name="T4" fmla="*/ 78 w 155"/>
                <a:gd name="T5" fmla="*/ 155 h 155"/>
                <a:gd name="T6" fmla="*/ 155 w 155"/>
                <a:gd name="T7" fmla="*/ 78 h 155"/>
                <a:gd name="T8" fmla="*/ 78 w 155"/>
                <a:gd name="T9" fmla="*/ 0 h 155"/>
                <a:gd name="T10" fmla="*/ 86 w 155"/>
                <a:gd name="T11" fmla="*/ 120 h 155"/>
                <a:gd name="T12" fmla="*/ 58 w 155"/>
                <a:gd name="T13" fmla="*/ 120 h 155"/>
                <a:gd name="T14" fmla="*/ 90 w 155"/>
                <a:gd name="T15" fmla="*/ 88 h 155"/>
                <a:gd name="T16" fmla="*/ 27 w 155"/>
                <a:gd name="T17" fmla="*/ 88 h 155"/>
                <a:gd name="T18" fmla="*/ 27 w 155"/>
                <a:gd name="T19" fmla="*/ 67 h 155"/>
                <a:gd name="T20" fmla="*/ 90 w 155"/>
                <a:gd name="T21" fmla="*/ 67 h 155"/>
                <a:gd name="T22" fmla="*/ 58 w 155"/>
                <a:gd name="T23" fmla="*/ 36 h 155"/>
                <a:gd name="T24" fmla="*/ 86 w 155"/>
                <a:gd name="T25" fmla="*/ 36 h 155"/>
                <a:gd name="T26" fmla="*/ 128 w 155"/>
                <a:gd name="T27" fmla="*/ 78 h 155"/>
                <a:gd name="T28" fmla="*/ 86 w 155"/>
                <a:gd name="T29" fmla="*/ 12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 h="155">
                  <a:moveTo>
                    <a:pt x="78" y="0"/>
                  </a:moveTo>
                  <a:cubicBezTo>
                    <a:pt x="35" y="0"/>
                    <a:pt x="0" y="35"/>
                    <a:pt x="0" y="78"/>
                  </a:cubicBezTo>
                  <a:cubicBezTo>
                    <a:pt x="0" y="121"/>
                    <a:pt x="35" y="155"/>
                    <a:pt x="78" y="155"/>
                  </a:cubicBezTo>
                  <a:cubicBezTo>
                    <a:pt x="121" y="155"/>
                    <a:pt x="155" y="121"/>
                    <a:pt x="155" y="78"/>
                  </a:cubicBezTo>
                  <a:cubicBezTo>
                    <a:pt x="155" y="35"/>
                    <a:pt x="121" y="0"/>
                    <a:pt x="78" y="0"/>
                  </a:cubicBezTo>
                  <a:close/>
                  <a:moveTo>
                    <a:pt x="86" y="120"/>
                  </a:moveTo>
                  <a:cubicBezTo>
                    <a:pt x="58" y="120"/>
                    <a:pt x="58" y="120"/>
                    <a:pt x="58" y="120"/>
                  </a:cubicBezTo>
                  <a:cubicBezTo>
                    <a:pt x="90" y="88"/>
                    <a:pt x="90" y="88"/>
                    <a:pt x="90" y="88"/>
                  </a:cubicBezTo>
                  <a:cubicBezTo>
                    <a:pt x="27" y="88"/>
                    <a:pt x="27" y="88"/>
                    <a:pt x="27" y="88"/>
                  </a:cubicBezTo>
                  <a:cubicBezTo>
                    <a:pt x="27" y="67"/>
                    <a:pt x="27" y="67"/>
                    <a:pt x="27" y="67"/>
                  </a:cubicBezTo>
                  <a:cubicBezTo>
                    <a:pt x="90" y="67"/>
                    <a:pt x="90" y="67"/>
                    <a:pt x="90" y="67"/>
                  </a:cubicBezTo>
                  <a:cubicBezTo>
                    <a:pt x="58" y="36"/>
                    <a:pt x="58" y="36"/>
                    <a:pt x="58" y="36"/>
                  </a:cubicBezTo>
                  <a:cubicBezTo>
                    <a:pt x="86" y="36"/>
                    <a:pt x="86" y="36"/>
                    <a:pt x="86" y="36"/>
                  </a:cubicBezTo>
                  <a:cubicBezTo>
                    <a:pt x="128" y="78"/>
                    <a:pt x="128" y="78"/>
                    <a:pt x="128" y="78"/>
                  </a:cubicBezTo>
                  <a:lnTo>
                    <a:pt x="86" y="120"/>
                  </a:lnTo>
                  <a:close/>
                </a:path>
              </a:pathLst>
            </a:custGeom>
            <a:solidFill>
              <a:srgbClr val="D2D2D2"/>
            </a:solidFill>
            <a:ln>
              <a:noFill/>
            </a:ln>
          </p:spPr>
          <p:txBody>
            <a:bodyPr vert="horz" wrap="square" lIns="91440" tIns="45720" rIns="91440" bIns="45720" numCol="1" anchor="t" anchorCtr="0" compatLnSpc="1">
              <a:prstTxWarp prst="textNoShape">
                <a:avLst/>
              </a:prstTxWarp>
            </a:bodyPr>
            <a:lstStyle/>
            <a:p>
              <a:pPr defTabSz="896175"/>
              <a:endParaRPr lang="en-US" sz="1667">
                <a:solidFill>
                  <a:srgbClr val="000000"/>
                </a:solidFill>
              </a:endParaRPr>
            </a:p>
          </p:txBody>
        </p:sp>
        <p:sp>
          <p:nvSpPr>
            <p:cNvPr id="9" name="Freeform 72"/>
            <p:cNvSpPr>
              <a:spLocks noEditPoints="1"/>
            </p:cNvSpPr>
            <p:nvPr/>
          </p:nvSpPr>
          <p:spPr bwMode="auto">
            <a:xfrm>
              <a:off x="11375407" y="6630565"/>
              <a:ext cx="155969" cy="155969"/>
            </a:xfrm>
            <a:custGeom>
              <a:avLst/>
              <a:gdLst>
                <a:gd name="T0" fmla="*/ 78 w 155"/>
                <a:gd name="T1" fmla="*/ 0 h 155"/>
                <a:gd name="T2" fmla="*/ 0 w 155"/>
                <a:gd name="T3" fmla="*/ 78 h 155"/>
                <a:gd name="T4" fmla="*/ 78 w 155"/>
                <a:gd name="T5" fmla="*/ 155 h 155"/>
                <a:gd name="T6" fmla="*/ 155 w 155"/>
                <a:gd name="T7" fmla="*/ 78 h 155"/>
                <a:gd name="T8" fmla="*/ 78 w 155"/>
                <a:gd name="T9" fmla="*/ 0 h 155"/>
                <a:gd name="T10" fmla="*/ 86 w 155"/>
                <a:gd name="T11" fmla="*/ 120 h 155"/>
                <a:gd name="T12" fmla="*/ 58 w 155"/>
                <a:gd name="T13" fmla="*/ 120 h 155"/>
                <a:gd name="T14" fmla="*/ 90 w 155"/>
                <a:gd name="T15" fmla="*/ 88 h 155"/>
                <a:gd name="T16" fmla="*/ 27 w 155"/>
                <a:gd name="T17" fmla="*/ 88 h 155"/>
                <a:gd name="T18" fmla="*/ 27 w 155"/>
                <a:gd name="T19" fmla="*/ 67 h 155"/>
                <a:gd name="T20" fmla="*/ 90 w 155"/>
                <a:gd name="T21" fmla="*/ 67 h 155"/>
                <a:gd name="T22" fmla="*/ 58 w 155"/>
                <a:gd name="T23" fmla="*/ 36 h 155"/>
                <a:gd name="T24" fmla="*/ 86 w 155"/>
                <a:gd name="T25" fmla="*/ 36 h 155"/>
                <a:gd name="T26" fmla="*/ 128 w 155"/>
                <a:gd name="T27" fmla="*/ 78 h 155"/>
                <a:gd name="T28" fmla="*/ 86 w 155"/>
                <a:gd name="T29" fmla="*/ 12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 h="155">
                  <a:moveTo>
                    <a:pt x="78" y="0"/>
                  </a:moveTo>
                  <a:cubicBezTo>
                    <a:pt x="35" y="0"/>
                    <a:pt x="0" y="35"/>
                    <a:pt x="0" y="78"/>
                  </a:cubicBezTo>
                  <a:cubicBezTo>
                    <a:pt x="0" y="121"/>
                    <a:pt x="35" y="155"/>
                    <a:pt x="78" y="155"/>
                  </a:cubicBezTo>
                  <a:cubicBezTo>
                    <a:pt x="121" y="155"/>
                    <a:pt x="155" y="121"/>
                    <a:pt x="155" y="78"/>
                  </a:cubicBezTo>
                  <a:cubicBezTo>
                    <a:pt x="155" y="35"/>
                    <a:pt x="121" y="0"/>
                    <a:pt x="78" y="0"/>
                  </a:cubicBezTo>
                  <a:close/>
                  <a:moveTo>
                    <a:pt x="86" y="120"/>
                  </a:moveTo>
                  <a:cubicBezTo>
                    <a:pt x="58" y="120"/>
                    <a:pt x="58" y="120"/>
                    <a:pt x="58" y="120"/>
                  </a:cubicBezTo>
                  <a:cubicBezTo>
                    <a:pt x="90" y="88"/>
                    <a:pt x="90" y="88"/>
                    <a:pt x="90" y="88"/>
                  </a:cubicBezTo>
                  <a:cubicBezTo>
                    <a:pt x="27" y="88"/>
                    <a:pt x="27" y="88"/>
                    <a:pt x="27" y="88"/>
                  </a:cubicBezTo>
                  <a:cubicBezTo>
                    <a:pt x="27" y="67"/>
                    <a:pt x="27" y="67"/>
                    <a:pt x="27" y="67"/>
                  </a:cubicBezTo>
                  <a:cubicBezTo>
                    <a:pt x="90" y="67"/>
                    <a:pt x="90" y="67"/>
                    <a:pt x="90" y="67"/>
                  </a:cubicBezTo>
                  <a:cubicBezTo>
                    <a:pt x="58" y="36"/>
                    <a:pt x="58" y="36"/>
                    <a:pt x="58" y="36"/>
                  </a:cubicBezTo>
                  <a:cubicBezTo>
                    <a:pt x="86" y="36"/>
                    <a:pt x="86" y="36"/>
                    <a:pt x="86" y="36"/>
                  </a:cubicBezTo>
                  <a:cubicBezTo>
                    <a:pt x="128" y="78"/>
                    <a:pt x="128" y="78"/>
                    <a:pt x="128" y="78"/>
                  </a:cubicBezTo>
                  <a:lnTo>
                    <a:pt x="86" y="120"/>
                  </a:lnTo>
                  <a:close/>
                </a:path>
              </a:pathLst>
            </a:custGeom>
            <a:solidFill>
              <a:srgbClr val="D2D2D2"/>
            </a:solidFill>
            <a:ln>
              <a:noFill/>
            </a:ln>
          </p:spPr>
          <p:txBody>
            <a:bodyPr vert="horz" wrap="square" lIns="91440" tIns="45720" rIns="91440" bIns="45720" numCol="1" anchor="t" anchorCtr="0" compatLnSpc="1">
              <a:prstTxWarp prst="textNoShape">
                <a:avLst/>
              </a:prstTxWarp>
            </a:bodyPr>
            <a:lstStyle/>
            <a:p>
              <a:pPr defTabSz="896175"/>
              <a:endParaRPr lang="en-US" sz="1667">
                <a:solidFill>
                  <a:srgbClr val="000000"/>
                </a:solidFill>
              </a:endParaRPr>
            </a:p>
          </p:txBody>
        </p:sp>
      </p:grpSp>
    </p:spTree>
    <p:extLst>
      <p:ext uri="{BB962C8B-B14F-4D97-AF65-F5344CB8AC3E}">
        <p14:creationId xmlns:p14="http://schemas.microsoft.com/office/powerpoint/2010/main" val="311168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lide Solid">
    <p:bg>
      <p:bgPr>
        <a:solidFill>
          <a:schemeClr val="bg1"/>
        </a:solidFill>
        <a:effectLst/>
      </p:bgPr>
    </p:bg>
    <p:spTree>
      <p:nvGrpSpPr>
        <p:cNvPr id="1" name=""/>
        <p:cNvGrpSpPr/>
        <p:nvPr/>
      </p:nvGrpSpPr>
      <p:grpSpPr>
        <a:xfrm>
          <a:off x="0" y="0"/>
          <a:ext cx="0" cy="0"/>
          <a:chOff x="0" y="0"/>
          <a:chExt cx="0" cy="0"/>
        </a:xfrm>
      </p:grpSpPr>
      <p:pic>
        <p:nvPicPr>
          <p:cNvPr id="9" name="Picture 3"/>
          <p:cNvPicPr>
            <a:picLocks noChangeAspect="1" noChangeArrowheads="1"/>
          </p:cNvPicPr>
          <p:nvPr userDrawn="1"/>
        </p:nvPicPr>
        <p:blipFill rotWithShape="1">
          <a:blip r:embed="rId2" cstate="screen">
            <a:extLst>
              <a:ext uri="{28A0092B-C50C-407E-A947-70E740481C1C}">
                <a14:useLocalDpi xmlns:a14="http://schemas.microsoft.com/office/drawing/2010/main" val="0"/>
              </a:ext>
            </a:extLst>
          </a:blip>
          <a:srcRect/>
          <a:stretch/>
        </p:blipFill>
        <p:spPr bwMode="auto">
          <a:xfrm>
            <a:off x="1" y="-8457"/>
            <a:ext cx="12193556" cy="68679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userDrawn="1"/>
        </p:nvSpPr>
        <p:spPr bwMode="auto">
          <a:xfrm>
            <a:off x="272353" y="291070"/>
            <a:ext cx="6271860" cy="6275863"/>
          </a:xfrm>
          <a:prstGeom prst="rect">
            <a:avLst/>
          </a:prstGeom>
          <a:solidFill>
            <a:schemeClr val="accent4">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ctrTitle" hasCustomPrompt="1"/>
          </p:nvPr>
        </p:nvSpPr>
        <p:spPr>
          <a:xfrm>
            <a:off x="269241" y="1428401"/>
            <a:ext cx="5378548" cy="879910"/>
          </a:xfrm>
          <a:prstGeom prst="rect">
            <a:avLst/>
          </a:prstGeom>
        </p:spPr>
        <p:txBody>
          <a:bodyPr/>
          <a:lstStyle>
            <a:lvl1pPr algn="l">
              <a:defRPr sz="5098" baseline="0">
                <a:solidFill>
                  <a:schemeClr val="bg1"/>
                </a:solidFill>
              </a:defRPr>
            </a:lvl1pPr>
          </a:lstStyle>
          <a:p>
            <a:r>
              <a:rPr lang="en-US" dirty="0"/>
              <a:t>Headline here, second line here</a:t>
            </a:r>
          </a:p>
        </p:txBody>
      </p:sp>
      <p:sp>
        <p:nvSpPr>
          <p:cNvPr id="3" name="Subtitle 2"/>
          <p:cNvSpPr>
            <a:spLocks noGrp="1"/>
          </p:cNvSpPr>
          <p:nvPr>
            <p:ph type="subTitle" idx="1" hasCustomPrompt="1"/>
          </p:nvPr>
        </p:nvSpPr>
        <p:spPr>
          <a:xfrm>
            <a:off x="269302" y="4353453"/>
            <a:ext cx="5378486" cy="1034782"/>
          </a:xfrm>
          <a:prstGeom prst="rect">
            <a:avLst/>
          </a:prstGeom>
        </p:spPr>
        <p:txBody>
          <a:bodyPr/>
          <a:lstStyle>
            <a:lvl1pPr marL="0" indent="0" algn="l">
              <a:lnSpc>
                <a:spcPts val="2647"/>
              </a:lnSpc>
              <a:buNone/>
              <a:defRPr sz="2157">
                <a:solidFill>
                  <a:schemeClr val="bg1"/>
                </a:solidFill>
                <a:latin typeface="+mj-lt"/>
              </a:defRPr>
            </a:lvl1pPr>
            <a:lvl2pPr marL="448193" indent="0" algn="ctr">
              <a:buNone/>
              <a:defRPr>
                <a:solidFill>
                  <a:schemeClr val="tx1">
                    <a:tint val="75000"/>
                  </a:schemeClr>
                </a:solidFill>
              </a:defRPr>
            </a:lvl2pPr>
            <a:lvl3pPr marL="896386" indent="0" algn="ctr">
              <a:buNone/>
              <a:defRPr>
                <a:solidFill>
                  <a:schemeClr val="tx1">
                    <a:tint val="75000"/>
                  </a:schemeClr>
                </a:solidFill>
              </a:defRPr>
            </a:lvl3pPr>
            <a:lvl4pPr marL="1344579" indent="0" algn="ctr">
              <a:buNone/>
              <a:defRPr>
                <a:solidFill>
                  <a:schemeClr val="tx1">
                    <a:tint val="75000"/>
                  </a:schemeClr>
                </a:solidFill>
              </a:defRPr>
            </a:lvl4pPr>
            <a:lvl5pPr marL="1792773" indent="0" algn="ctr">
              <a:buNone/>
              <a:defRPr>
                <a:solidFill>
                  <a:schemeClr val="tx1">
                    <a:tint val="75000"/>
                  </a:schemeClr>
                </a:solidFill>
              </a:defRPr>
            </a:lvl5pPr>
            <a:lvl6pPr marL="2240966" indent="0" algn="ctr">
              <a:buNone/>
              <a:defRPr>
                <a:solidFill>
                  <a:schemeClr val="tx1">
                    <a:tint val="75000"/>
                  </a:schemeClr>
                </a:solidFill>
              </a:defRPr>
            </a:lvl6pPr>
            <a:lvl7pPr marL="2689159" indent="0" algn="ctr">
              <a:buNone/>
              <a:defRPr>
                <a:solidFill>
                  <a:schemeClr val="tx1">
                    <a:tint val="75000"/>
                  </a:schemeClr>
                </a:solidFill>
              </a:defRPr>
            </a:lvl7pPr>
            <a:lvl8pPr marL="3137352" indent="0" algn="ctr">
              <a:buNone/>
              <a:defRPr>
                <a:solidFill>
                  <a:schemeClr val="tx1">
                    <a:tint val="75000"/>
                  </a:schemeClr>
                </a:solidFill>
              </a:defRPr>
            </a:lvl8pPr>
            <a:lvl9pPr marL="3585545" indent="0" algn="ctr">
              <a:buNone/>
              <a:defRPr>
                <a:solidFill>
                  <a:schemeClr val="tx1">
                    <a:tint val="75000"/>
                  </a:schemeClr>
                </a:solidFill>
              </a:defRPr>
            </a:lvl9pPr>
          </a:lstStyle>
          <a:p>
            <a:r>
              <a:rPr lang="en-US" dirty="0"/>
              <a:t>Speaker Name</a:t>
            </a:r>
            <a:br>
              <a:rPr lang="en-US" dirty="0"/>
            </a:br>
            <a:r>
              <a:rPr lang="en-US" dirty="0"/>
              <a:t>Date</a:t>
            </a:r>
          </a:p>
        </p:txBody>
      </p:sp>
      <p:sp>
        <p:nvSpPr>
          <p:cNvPr id="8" name="Text Placeholder 7"/>
          <p:cNvSpPr>
            <a:spLocks noGrp="1"/>
          </p:cNvSpPr>
          <p:nvPr>
            <p:ph type="body" sz="quarter" idx="10" hasCustomPrompt="1"/>
          </p:nvPr>
        </p:nvSpPr>
        <p:spPr>
          <a:xfrm>
            <a:off x="272352" y="2997067"/>
            <a:ext cx="5392555" cy="863866"/>
          </a:xfrm>
          <a:prstGeom prst="rect">
            <a:avLst/>
          </a:prstGeom>
        </p:spPr>
        <p:txBody>
          <a:bodyPr/>
          <a:lstStyle>
            <a:lvl1pPr marL="0" indent="0">
              <a:buNone/>
              <a:defRPr sz="2745" baseline="0">
                <a:solidFill>
                  <a:schemeClr val="bg1"/>
                </a:solidFill>
                <a:latin typeface="+mj-lt"/>
              </a:defRPr>
            </a:lvl1pPr>
            <a:lvl2pPr marL="336145" indent="0">
              <a:buNone/>
              <a:defRPr sz="1568">
                <a:solidFill>
                  <a:schemeClr val="bg1"/>
                </a:solidFill>
                <a:latin typeface="+mj-lt"/>
              </a:defRPr>
            </a:lvl2pPr>
            <a:lvl3pPr marL="560241" indent="0">
              <a:buNone/>
              <a:defRPr sz="1372">
                <a:solidFill>
                  <a:schemeClr val="bg1"/>
                </a:solidFill>
                <a:latin typeface="+mj-lt"/>
              </a:defRPr>
            </a:lvl3pPr>
            <a:lvl4pPr marL="784338" indent="0">
              <a:buNone/>
              <a:defRPr sz="1176">
                <a:solidFill>
                  <a:schemeClr val="bg1"/>
                </a:solidFill>
                <a:latin typeface="+mj-lt"/>
              </a:defRPr>
            </a:lvl4pPr>
            <a:lvl5pPr marL="1008435" indent="0">
              <a:buNone/>
              <a:defRPr sz="1176">
                <a:solidFill>
                  <a:schemeClr val="bg1"/>
                </a:solidFill>
                <a:latin typeface="+mj-lt"/>
              </a:defRPr>
            </a:lvl5pPr>
          </a:lstStyle>
          <a:p>
            <a:pPr lvl="0"/>
            <a:r>
              <a:rPr lang="en-US" dirty="0"/>
              <a:t>Sub header here</a:t>
            </a:r>
          </a:p>
        </p:txBody>
      </p:sp>
      <p:pic>
        <p:nvPicPr>
          <p:cNvPr id="10" name="Picture 5"/>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3776" y="470067"/>
            <a:ext cx="1279273" cy="280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682349"/>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ue Tile Title">
    <p:spTree>
      <p:nvGrpSpPr>
        <p:cNvPr id="1" name=""/>
        <p:cNvGrpSpPr/>
        <p:nvPr/>
      </p:nvGrpSpPr>
      <p:grpSpPr>
        <a:xfrm>
          <a:off x="0" y="0"/>
          <a:ext cx="0" cy="0"/>
          <a:chOff x="0" y="0"/>
          <a:chExt cx="0" cy="0"/>
        </a:xfrm>
      </p:grpSpPr>
      <p:pic>
        <p:nvPicPr>
          <p:cNvPr id="5" name="Picture 3"/>
          <p:cNvPicPr>
            <a:picLocks noChangeAspect="1" noChangeArrowheads="1"/>
          </p:cNvPicPr>
          <p:nvPr userDrawn="1"/>
        </p:nvPicPr>
        <p:blipFill rotWithShape="1">
          <a:blip r:embed="rId2" cstate="screen">
            <a:extLst>
              <a:ext uri="{28A0092B-C50C-407E-A947-70E740481C1C}">
                <a14:useLocalDpi xmlns:a14="http://schemas.microsoft.com/office/drawing/2010/main" val="0"/>
              </a:ext>
            </a:extLst>
          </a:blip>
          <a:srcRect/>
          <a:stretch/>
        </p:blipFill>
        <p:spPr bwMode="auto">
          <a:xfrm>
            <a:off x="-8601" y="1"/>
            <a:ext cx="12210759" cy="6870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Placeholder 8"/>
          <p:cNvSpPr>
            <a:spLocks noGrp="1"/>
          </p:cNvSpPr>
          <p:nvPr>
            <p:ph type="body" sz="quarter" idx="10"/>
          </p:nvPr>
        </p:nvSpPr>
        <p:spPr>
          <a:xfrm>
            <a:off x="280133" y="298850"/>
            <a:ext cx="6272001" cy="6278977"/>
          </a:xfrm>
          <a:prstGeom prst="rect">
            <a:avLst/>
          </a:prstGeom>
          <a:solidFill>
            <a:srgbClr val="68217A">
              <a:alpha val="90000"/>
            </a:srgbClr>
          </a:solidFill>
        </p:spPr>
        <p:txBody>
          <a:bodyPr/>
          <a:lstStyle>
            <a:lvl1pPr marL="0" indent="0">
              <a:lnSpc>
                <a:spcPts val="4705"/>
              </a:lnSpc>
              <a:spcBef>
                <a:spcPts val="0"/>
              </a:spcBef>
              <a:buFontTx/>
              <a:buNone/>
              <a:defRPr sz="4215">
                <a:solidFill>
                  <a:schemeClr val="bg1"/>
                </a:solidFill>
              </a:defRPr>
            </a:lvl1pPr>
            <a:lvl2pPr marL="0" indent="0">
              <a:lnSpc>
                <a:spcPts val="2549"/>
              </a:lnSpc>
              <a:spcBef>
                <a:spcPts val="3529"/>
              </a:spcBef>
              <a:spcAft>
                <a:spcPts val="2353"/>
              </a:spcAft>
              <a:buFontTx/>
              <a:buNone/>
              <a:defRPr sz="1961">
                <a:solidFill>
                  <a:schemeClr val="bg1"/>
                </a:solidFill>
              </a:defRPr>
            </a:lvl2pPr>
            <a:lvl3pPr marL="225653" indent="-224097">
              <a:lnSpc>
                <a:spcPts val="2647"/>
              </a:lnSpc>
              <a:spcBef>
                <a:spcPts val="0"/>
              </a:spcBef>
              <a:defRPr sz="1961">
                <a:solidFill>
                  <a:schemeClr val="bg1"/>
                </a:solidFill>
              </a:defRPr>
            </a:lvl3pPr>
            <a:lvl4pPr marL="225653" indent="-224097">
              <a:lnSpc>
                <a:spcPts val="2647"/>
              </a:lnSpc>
              <a:spcBef>
                <a:spcPts val="0"/>
              </a:spcBef>
              <a:defRPr sz="1961">
                <a:solidFill>
                  <a:schemeClr val="bg1"/>
                </a:solidFill>
              </a:defRPr>
            </a:lvl4pPr>
            <a:lvl5pPr marL="225653" indent="-224097">
              <a:lnSpc>
                <a:spcPts val="2647"/>
              </a:lnSpc>
              <a:spcBef>
                <a:spcPts val="0"/>
              </a:spcBef>
              <a:defRPr sz="1961">
                <a:solidFill>
                  <a:schemeClr val="bg1"/>
                </a:solidFill>
              </a:defRPr>
            </a:lvl5pPr>
          </a:lstStyle>
          <a:p>
            <a:pPr lvl="0"/>
            <a:r>
              <a:rPr lang="en-US" dirty="0"/>
              <a:t>Click to edit Master text styles</a:t>
            </a:r>
          </a:p>
          <a:p>
            <a:pPr lvl="1"/>
            <a:r>
              <a:rPr lang="en-US" dirty="0"/>
              <a:t>Second level</a:t>
            </a:r>
          </a:p>
        </p:txBody>
      </p:sp>
      <p:sp>
        <p:nvSpPr>
          <p:cNvPr id="3" name="TextBox 2"/>
          <p:cNvSpPr txBox="1"/>
          <p:nvPr userDrawn="1"/>
        </p:nvSpPr>
        <p:spPr>
          <a:xfrm>
            <a:off x="-1849698" y="-355798"/>
            <a:ext cx="896425" cy="896552"/>
          </a:xfrm>
          <a:prstGeom prst="rect">
            <a:avLst/>
          </a:prstGeom>
          <a:noFill/>
        </p:spPr>
        <p:txBody>
          <a:bodyPr wrap="none" lIns="179285" tIns="143428" rIns="179285" bIns="143428" rtlCol="0">
            <a:noAutofit/>
          </a:bodyPr>
          <a:lstStyle/>
          <a:p>
            <a:pPr defTabSz="914314">
              <a:lnSpc>
                <a:spcPct val="90000"/>
              </a:lnSpc>
              <a:spcAft>
                <a:spcPts val="588"/>
              </a:spcAft>
            </a:pPr>
            <a:endParaRPr lang="en-US" sz="2353" dirty="0">
              <a:gradFill>
                <a:gsLst>
                  <a:gs pos="2917">
                    <a:srgbClr val="000000"/>
                  </a:gs>
                  <a:gs pos="30000">
                    <a:srgbClr val="000000"/>
                  </a:gs>
                </a:gsLst>
                <a:lin ang="5400000" scaled="0"/>
              </a:gradFill>
            </a:endParaRPr>
          </a:p>
        </p:txBody>
      </p:sp>
    </p:spTree>
    <p:extLst>
      <p:ext uri="{BB962C8B-B14F-4D97-AF65-F5344CB8AC3E}">
        <p14:creationId xmlns:p14="http://schemas.microsoft.com/office/powerpoint/2010/main" val="39254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50pt Title/30pt Sub/Image BG">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rotWithShape="1">
          <a:blip r:embed="rId2" cstate="screen">
            <a:extLst>
              <a:ext uri="{28A0092B-C50C-407E-A947-70E740481C1C}">
                <a14:useLocalDpi xmlns:a14="http://schemas.microsoft.com/office/drawing/2010/main" val="0"/>
              </a:ext>
            </a:extLst>
          </a:blip>
          <a:srcRect/>
          <a:stretch/>
        </p:blipFill>
        <p:spPr bwMode="auto">
          <a:xfrm>
            <a:off x="-8601" y="1"/>
            <a:ext cx="12210759" cy="6870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636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50pt Title/30pt Sub/Image BG">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rotWithShape="1">
          <a:blip r:embed="rId2" cstate="screen">
            <a:extLst>
              <a:ext uri="{28A0092B-C50C-407E-A947-70E740481C1C}">
                <a14:useLocalDpi xmlns:a14="http://schemas.microsoft.com/office/drawing/2010/main" val="0"/>
              </a:ext>
            </a:extLst>
          </a:blip>
          <a:srcRect/>
          <a:stretch/>
        </p:blipFill>
        <p:spPr bwMode="auto">
          <a:xfrm>
            <a:off x="-8601" y="1"/>
            <a:ext cx="12210759" cy="68706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1237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accent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a:gradFill>
                  <a:gsLst>
                    <a:gs pos="2917">
                      <a:schemeClr val="bg1"/>
                    </a:gs>
                    <a:gs pos="100000">
                      <a:schemeClr val="bg1"/>
                    </a:gs>
                  </a:gsLst>
                  <a:lin ang="5400000" scaled="0"/>
                </a:gradFill>
              </a:defRPr>
            </a:lvl1pPr>
          </a:lstStyle>
          <a:p>
            <a:r>
              <a:rPr lang="en-US" dirty="0"/>
              <a:t>Click to edit Master title style</a:t>
            </a:r>
          </a:p>
        </p:txBody>
      </p:sp>
      <p:sp>
        <p:nvSpPr>
          <p:cNvPr id="10" name="Title"/>
          <p:cNvSpPr>
            <a:spLocks noGrp="1"/>
          </p:cNvSpPr>
          <p:nvPr>
            <p:ph type="body" sz="quarter" idx="10" hasCustomPrompt="1"/>
          </p:nvPr>
        </p:nvSpPr>
        <p:spPr>
          <a:xfrm>
            <a:off x="269239" y="2084173"/>
            <a:ext cx="9860673" cy="1793104"/>
          </a:xfrm>
          <a:prstGeom prst="rect">
            <a:avLst/>
          </a:prstGeom>
        </p:spPr>
        <p:txBody>
          <a:bodyPr/>
          <a:lstStyle>
            <a:lvl1pPr marL="0" indent="0">
              <a:buNone/>
              <a:defRPr sz="16273">
                <a:gradFill>
                  <a:gsLst>
                    <a:gs pos="2917">
                      <a:schemeClr val="bg1"/>
                    </a:gs>
                    <a:gs pos="100000">
                      <a:schemeClr val="bg1"/>
                    </a:gs>
                  </a:gsLst>
                  <a:lin ang="5400000" scaled="0"/>
                </a:gra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Demo</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48153" y="3382305"/>
            <a:ext cx="596061" cy="59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73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chemeClr val="accent4"/>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a:gradFill>
                  <a:gsLst>
                    <a:gs pos="2917">
                      <a:schemeClr val="bg1"/>
                    </a:gs>
                    <a:gs pos="100000">
                      <a:schemeClr val="bg1"/>
                    </a:gs>
                  </a:gsLst>
                  <a:lin ang="5400000" scaled="0"/>
                </a:gradFill>
              </a:defRPr>
            </a:lvl1pPr>
          </a:lstStyle>
          <a:p>
            <a:r>
              <a:rPr lang="en-US" dirty="0"/>
              <a:t>Click to edit Master title style</a:t>
            </a:r>
          </a:p>
        </p:txBody>
      </p:sp>
      <p:sp>
        <p:nvSpPr>
          <p:cNvPr id="10" name="Title"/>
          <p:cNvSpPr>
            <a:spLocks noGrp="1"/>
          </p:cNvSpPr>
          <p:nvPr>
            <p:ph type="body" sz="quarter" idx="10" hasCustomPrompt="1"/>
          </p:nvPr>
        </p:nvSpPr>
        <p:spPr>
          <a:xfrm>
            <a:off x="269239" y="2084173"/>
            <a:ext cx="9860673" cy="1793104"/>
          </a:xfrm>
          <a:prstGeom prst="rect">
            <a:avLst/>
          </a:prstGeom>
        </p:spPr>
        <p:txBody>
          <a:bodyPr/>
          <a:lstStyle>
            <a:lvl1pPr marL="0" indent="0">
              <a:buNone/>
              <a:defRPr sz="16273">
                <a:gradFill>
                  <a:gsLst>
                    <a:gs pos="2917">
                      <a:schemeClr val="bg1"/>
                    </a:gs>
                    <a:gs pos="100000">
                      <a:schemeClr val="bg1"/>
                    </a:gs>
                  </a:gsLst>
                  <a:lin ang="5400000" scaled="0"/>
                </a:gra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Demo</a:t>
            </a:r>
          </a:p>
        </p:txBody>
      </p:sp>
    </p:spTree>
    <p:extLst>
      <p:ext uri="{BB962C8B-B14F-4D97-AF65-F5344CB8AC3E}">
        <p14:creationId xmlns:p14="http://schemas.microsoft.com/office/powerpoint/2010/main" val="2571343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Data Insights Titl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69239" y="2031021"/>
            <a:ext cx="10258286" cy="1686801"/>
          </a:xfrm>
          <a:prstGeom prst="rect">
            <a:avLst/>
          </a:prstGeom>
        </p:spPr>
        <p:txBody>
          <a:bodyPr lIns="146304" tIns="91440" rIns="146304" bIns="91440"/>
          <a:lstStyle>
            <a:lvl1pPr algn="l">
              <a:defRPr sz="5882">
                <a:gradFill>
                  <a:gsLst>
                    <a:gs pos="0">
                      <a:srgbClr val="FFFFFF"/>
                    </a:gs>
                    <a:gs pos="100000">
                      <a:srgbClr val="FFFFFF"/>
                    </a:gs>
                  </a:gsLst>
                  <a:lin ang="5400000" scaled="0"/>
                </a:gradFill>
              </a:defRPr>
            </a:lvl1pPr>
          </a:lstStyle>
          <a:p>
            <a:r>
              <a:rPr lang="en-US" dirty="0"/>
              <a:t>Data insights headline</a:t>
            </a:r>
          </a:p>
        </p:txBody>
      </p:sp>
    </p:spTree>
    <p:extLst>
      <p:ext uri="{BB962C8B-B14F-4D97-AF65-F5344CB8AC3E}">
        <p14:creationId xmlns:p14="http://schemas.microsoft.com/office/powerpoint/2010/main" val="308360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7433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Data Insights Title">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2341651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sz="5098">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192255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268927" y="286381"/>
            <a:ext cx="11653523" cy="927940"/>
          </a:xfrm>
          <a:prstGeom prst="rect">
            <a:avLst/>
          </a:prstGeom>
        </p:spPr>
        <p:txBody>
          <a:bodyPr lIns="146304" tIns="91440" rIns="146304" bIns="91440"/>
          <a:lstStyle>
            <a:lvl1pPr algn="l">
              <a:defRPr sz="5098">
                <a:solidFill>
                  <a:schemeClr val="tx2"/>
                </a:solidFill>
                <a:latin typeface="+mj-lt"/>
              </a:defRPr>
            </a:lvl1pPr>
          </a:lstStyle>
          <a:p>
            <a:r>
              <a:rPr lang="en-US" dirty="0"/>
              <a:t>Click to edit Master title style</a:t>
            </a:r>
          </a:p>
        </p:txBody>
      </p:sp>
      <p:grpSp>
        <p:nvGrpSpPr>
          <p:cNvPr id="4" name="Group 3"/>
          <p:cNvGrpSpPr/>
          <p:nvPr userDrawn="1"/>
        </p:nvGrpSpPr>
        <p:grpSpPr>
          <a:xfrm>
            <a:off x="9877921" y="6368202"/>
            <a:ext cx="2044529" cy="371246"/>
            <a:chOff x="10075994" y="6523798"/>
            <a:chExt cx="2085526" cy="378637"/>
          </a:xfrm>
        </p:grpSpPr>
        <p:sp>
          <p:nvSpPr>
            <p:cNvPr id="5" name="icon BULB"/>
            <p:cNvSpPr>
              <a:spLocks noEditPoints="1"/>
            </p:cNvSpPr>
            <p:nvPr/>
          </p:nvSpPr>
          <p:spPr bwMode="auto">
            <a:xfrm>
              <a:off x="10981759" y="6523798"/>
              <a:ext cx="217746" cy="348394"/>
            </a:xfrm>
            <a:custGeom>
              <a:avLst/>
              <a:gdLst>
                <a:gd name="T0" fmla="*/ 74 w 149"/>
                <a:gd name="T1" fmla="*/ 0 h 241"/>
                <a:gd name="T2" fmla="*/ 74 w 149"/>
                <a:gd name="T3" fmla="*/ 0 h 241"/>
                <a:gd name="T4" fmla="*/ 0 w 149"/>
                <a:gd name="T5" fmla="*/ 70 h 241"/>
                <a:gd name="T6" fmla="*/ 27 w 149"/>
                <a:gd name="T7" fmla="*/ 127 h 241"/>
                <a:gd name="T8" fmla="*/ 33 w 149"/>
                <a:gd name="T9" fmla="*/ 140 h 241"/>
                <a:gd name="T10" fmla="*/ 35 w 149"/>
                <a:gd name="T11" fmla="*/ 154 h 241"/>
                <a:gd name="T12" fmla="*/ 44 w 149"/>
                <a:gd name="T13" fmla="*/ 176 h 241"/>
                <a:gd name="T14" fmla="*/ 107 w 149"/>
                <a:gd name="T15" fmla="*/ 176 h 241"/>
                <a:gd name="T16" fmla="*/ 115 w 149"/>
                <a:gd name="T17" fmla="*/ 154 h 241"/>
                <a:gd name="T18" fmla="*/ 124 w 149"/>
                <a:gd name="T19" fmla="*/ 127 h 241"/>
                <a:gd name="T20" fmla="*/ 137 w 149"/>
                <a:gd name="T21" fmla="*/ 105 h 241"/>
                <a:gd name="T22" fmla="*/ 149 w 149"/>
                <a:gd name="T23" fmla="*/ 70 h 241"/>
                <a:gd name="T24" fmla="*/ 74 w 149"/>
                <a:gd name="T25" fmla="*/ 0 h 241"/>
                <a:gd name="T26" fmla="*/ 58 w 149"/>
                <a:gd name="T27" fmla="*/ 234 h 241"/>
                <a:gd name="T28" fmla="*/ 67 w 149"/>
                <a:gd name="T29" fmla="*/ 241 h 241"/>
                <a:gd name="T30" fmla="*/ 86 w 149"/>
                <a:gd name="T31" fmla="*/ 241 h 241"/>
                <a:gd name="T32" fmla="*/ 94 w 149"/>
                <a:gd name="T33" fmla="*/ 234 h 241"/>
                <a:gd name="T34" fmla="*/ 58 w 149"/>
                <a:gd name="T35" fmla="*/ 234 h 241"/>
                <a:gd name="T36" fmla="*/ 97 w 149"/>
                <a:gd name="T37" fmla="*/ 209 h 241"/>
                <a:gd name="T38" fmla="*/ 55 w 149"/>
                <a:gd name="T39" fmla="*/ 209 h 241"/>
                <a:gd name="T40" fmla="*/ 45 w 149"/>
                <a:gd name="T41" fmla="*/ 217 h 241"/>
                <a:gd name="T42" fmla="*/ 56 w 149"/>
                <a:gd name="T43" fmla="*/ 226 h 241"/>
                <a:gd name="T44" fmla="*/ 97 w 149"/>
                <a:gd name="T45" fmla="*/ 226 h 241"/>
                <a:gd name="T46" fmla="*/ 107 w 149"/>
                <a:gd name="T47" fmla="*/ 217 h 241"/>
                <a:gd name="T48" fmla="*/ 97 w 149"/>
                <a:gd name="T49" fmla="*/ 209 h 241"/>
                <a:gd name="T50" fmla="*/ 99 w 149"/>
                <a:gd name="T51" fmla="*/ 184 h 241"/>
                <a:gd name="T52" fmla="*/ 52 w 149"/>
                <a:gd name="T53" fmla="*/ 184 h 241"/>
                <a:gd name="T54" fmla="*/ 43 w 149"/>
                <a:gd name="T55" fmla="*/ 192 h 241"/>
                <a:gd name="T56" fmla="*/ 53 w 149"/>
                <a:gd name="T57" fmla="*/ 201 h 241"/>
                <a:gd name="T58" fmla="*/ 99 w 149"/>
                <a:gd name="T59" fmla="*/ 201 h 241"/>
                <a:gd name="T60" fmla="*/ 110 w 149"/>
                <a:gd name="T61" fmla="*/ 192 h 241"/>
                <a:gd name="T62" fmla="*/ 99 w 149"/>
                <a:gd name="T63" fmla="*/ 184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9" h="241">
                  <a:moveTo>
                    <a:pt x="74" y="0"/>
                  </a:moveTo>
                  <a:cubicBezTo>
                    <a:pt x="74" y="0"/>
                    <a:pt x="74" y="0"/>
                    <a:pt x="74" y="0"/>
                  </a:cubicBezTo>
                  <a:cubicBezTo>
                    <a:pt x="33" y="0"/>
                    <a:pt x="0" y="31"/>
                    <a:pt x="0" y="70"/>
                  </a:cubicBezTo>
                  <a:cubicBezTo>
                    <a:pt x="0" y="92"/>
                    <a:pt x="18" y="107"/>
                    <a:pt x="27" y="127"/>
                  </a:cubicBezTo>
                  <a:cubicBezTo>
                    <a:pt x="30" y="132"/>
                    <a:pt x="31" y="136"/>
                    <a:pt x="33" y="140"/>
                  </a:cubicBezTo>
                  <a:cubicBezTo>
                    <a:pt x="34" y="146"/>
                    <a:pt x="34" y="150"/>
                    <a:pt x="35" y="154"/>
                  </a:cubicBezTo>
                  <a:cubicBezTo>
                    <a:pt x="36" y="162"/>
                    <a:pt x="38" y="170"/>
                    <a:pt x="44" y="176"/>
                  </a:cubicBezTo>
                  <a:cubicBezTo>
                    <a:pt x="107" y="176"/>
                    <a:pt x="107" y="176"/>
                    <a:pt x="107" y="176"/>
                  </a:cubicBezTo>
                  <a:cubicBezTo>
                    <a:pt x="114" y="170"/>
                    <a:pt x="115" y="162"/>
                    <a:pt x="115" y="154"/>
                  </a:cubicBezTo>
                  <a:cubicBezTo>
                    <a:pt x="117" y="146"/>
                    <a:pt x="118" y="138"/>
                    <a:pt x="124" y="127"/>
                  </a:cubicBezTo>
                  <a:cubicBezTo>
                    <a:pt x="127" y="119"/>
                    <a:pt x="132" y="112"/>
                    <a:pt x="137" y="105"/>
                  </a:cubicBezTo>
                  <a:cubicBezTo>
                    <a:pt x="143" y="94"/>
                    <a:pt x="149" y="83"/>
                    <a:pt x="149" y="70"/>
                  </a:cubicBezTo>
                  <a:cubicBezTo>
                    <a:pt x="149" y="31"/>
                    <a:pt x="115" y="0"/>
                    <a:pt x="74" y="0"/>
                  </a:cubicBezTo>
                  <a:moveTo>
                    <a:pt x="58" y="234"/>
                  </a:moveTo>
                  <a:cubicBezTo>
                    <a:pt x="58" y="234"/>
                    <a:pt x="59" y="241"/>
                    <a:pt x="67" y="241"/>
                  </a:cubicBezTo>
                  <a:cubicBezTo>
                    <a:pt x="86" y="241"/>
                    <a:pt x="86" y="241"/>
                    <a:pt x="86" y="241"/>
                  </a:cubicBezTo>
                  <a:cubicBezTo>
                    <a:pt x="93" y="241"/>
                    <a:pt x="94" y="234"/>
                    <a:pt x="94" y="234"/>
                  </a:cubicBezTo>
                  <a:lnTo>
                    <a:pt x="58" y="234"/>
                  </a:lnTo>
                  <a:close/>
                  <a:moveTo>
                    <a:pt x="97" y="209"/>
                  </a:moveTo>
                  <a:cubicBezTo>
                    <a:pt x="55" y="209"/>
                    <a:pt x="55" y="209"/>
                    <a:pt x="55" y="209"/>
                  </a:cubicBezTo>
                  <a:cubicBezTo>
                    <a:pt x="50" y="209"/>
                    <a:pt x="45" y="213"/>
                    <a:pt x="45" y="217"/>
                  </a:cubicBezTo>
                  <a:cubicBezTo>
                    <a:pt x="45" y="223"/>
                    <a:pt x="50" y="226"/>
                    <a:pt x="56" y="226"/>
                  </a:cubicBezTo>
                  <a:cubicBezTo>
                    <a:pt x="97" y="226"/>
                    <a:pt x="97" y="226"/>
                    <a:pt x="97" y="226"/>
                  </a:cubicBezTo>
                  <a:cubicBezTo>
                    <a:pt x="103" y="226"/>
                    <a:pt x="107" y="223"/>
                    <a:pt x="107" y="217"/>
                  </a:cubicBezTo>
                  <a:cubicBezTo>
                    <a:pt x="107" y="213"/>
                    <a:pt x="103" y="209"/>
                    <a:pt x="97" y="209"/>
                  </a:cubicBezTo>
                  <a:moveTo>
                    <a:pt x="99" y="184"/>
                  </a:moveTo>
                  <a:cubicBezTo>
                    <a:pt x="52" y="184"/>
                    <a:pt x="52" y="184"/>
                    <a:pt x="52" y="184"/>
                  </a:cubicBezTo>
                  <a:cubicBezTo>
                    <a:pt x="47" y="184"/>
                    <a:pt x="43" y="187"/>
                    <a:pt x="43" y="192"/>
                  </a:cubicBezTo>
                  <a:cubicBezTo>
                    <a:pt x="43" y="197"/>
                    <a:pt x="47" y="201"/>
                    <a:pt x="53" y="201"/>
                  </a:cubicBezTo>
                  <a:cubicBezTo>
                    <a:pt x="99" y="201"/>
                    <a:pt x="99" y="201"/>
                    <a:pt x="99" y="201"/>
                  </a:cubicBezTo>
                  <a:cubicBezTo>
                    <a:pt x="105" y="201"/>
                    <a:pt x="110" y="197"/>
                    <a:pt x="110" y="192"/>
                  </a:cubicBezTo>
                  <a:cubicBezTo>
                    <a:pt x="110" y="187"/>
                    <a:pt x="105" y="184"/>
                    <a:pt x="99" y="184"/>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6" name="icon  BINARY"/>
            <p:cNvSpPr>
              <a:spLocks noEditPoints="1"/>
            </p:cNvSpPr>
            <p:nvPr/>
          </p:nvSpPr>
          <p:spPr bwMode="auto">
            <a:xfrm>
              <a:off x="10075994" y="6534685"/>
              <a:ext cx="397992" cy="326620"/>
            </a:xfrm>
            <a:custGeom>
              <a:avLst/>
              <a:gdLst>
                <a:gd name="T0" fmla="*/ 64 w 275"/>
                <a:gd name="T1" fmla="*/ 55 h 226"/>
                <a:gd name="T2" fmla="*/ 65 w 275"/>
                <a:gd name="T3" fmla="*/ 0 h 226"/>
                <a:gd name="T4" fmla="*/ 64 w 275"/>
                <a:gd name="T5" fmla="*/ 9 h 226"/>
                <a:gd name="T6" fmla="*/ 72 w 275"/>
                <a:gd name="T7" fmla="*/ 28 h 226"/>
                <a:gd name="T8" fmla="*/ 96 w 275"/>
                <a:gd name="T9" fmla="*/ 45 h 226"/>
                <a:gd name="T10" fmla="*/ 96 w 275"/>
                <a:gd name="T11" fmla="*/ 15 h 226"/>
                <a:gd name="T12" fmla="*/ 119 w 275"/>
                <a:gd name="T13" fmla="*/ 45 h 226"/>
                <a:gd name="T14" fmla="*/ 178 w 275"/>
                <a:gd name="T15" fmla="*/ 54 h 226"/>
                <a:gd name="T16" fmla="*/ 155 w 275"/>
                <a:gd name="T17" fmla="*/ 45 h 226"/>
                <a:gd name="T18" fmla="*/ 144 w 275"/>
                <a:gd name="T19" fmla="*/ 5 h 226"/>
                <a:gd name="T20" fmla="*/ 178 w 275"/>
                <a:gd name="T21" fmla="*/ 45 h 226"/>
                <a:gd name="T22" fmla="*/ 222 w 275"/>
                <a:gd name="T23" fmla="*/ 48 h 226"/>
                <a:gd name="T24" fmla="*/ 194 w 275"/>
                <a:gd name="T25" fmla="*/ 7 h 226"/>
                <a:gd name="T26" fmla="*/ 215 w 275"/>
                <a:gd name="T27" fmla="*/ 28 h 226"/>
                <a:gd name="T28" fmla="*/ 208 w 275"/>
                <a:gd name="T29" fmla="*/ 46 h 226"/>
                <a:gd name="T30" fmla="*/ 269 w 275"/>
                <a:gd name="T31" fmla="*/ 48 h 226"/>
                <a:gd name="T32" fmla="*/ 242 w 275"/>
                <a:gd name="T33" fmla="*/ 7 h 226"/>
                <a:gd name="T34" fmla="*/ 263 w 275"/>
                <a:gd name="T35" fmla="*/ 28 h 226"/>
                <a:gd name="T36" fmla="*/ 256 w 275"/>
                <a:gd name="T37" fmla="*/ 46 h 226"/>
                <a:gd name="T38" fmla="*/ 0 w 275"/>
                <a:gd name="T39" fmla="*/ 140 h 226"/>
                <a:gd name="T40" fmla="*/ 11 w 275"/>
                <a:gd name="T41" fmla="*/ 98 h 226"/>
                <a:gd name="T42" fmla="*/ 23 w 275"/>
                <a:gd name="T43" fmla="*/ 85 h 226"/>
                <a:gd name="T44" fmla="*/ 34 w 275"/>
                <a:gd name="T45" fmla="*/ 140 h 226"/>
                <a:gd name="T46" fmla="*/ 64 w 275"/>
                <a:gd name="T47" fmla="*/ 141 h 226"/>
                <a:gd name="T48" fmla="*/ 65 w 275"/>
                <a:gd name="T49" fmla="*/ 85 h 226"/>
                <a:gd name="T50" fmla="*/ 64 w 275"/>
                <a:gd name="T51" fmla="*/ 94 h 226"/>
                <a:gd name="T52" fmla="*/ 71 w 275"/>
                <a:gd name="T53" fmla="*/ 113 h 226"/>
                <a:gd name="T54" fmla="*/ 111 w 275"/>
                <a:gd name="T55" fmla="*/ 141 h 226"/>
                <a:gd name="T56" fmla="*/ 112 w 275"/>
                <a:gd name="T57" fmla="*/ 85 h 226"/>
                <a:gd name="T58" fmla="*/ 112 w 275"/>
                <a:gd name="T59" fmla="*/ 94 h 226"/>
                <a:gd name="T60" fmla="*/ 119 w 275"/>
                <a:gd name="T61" fmla="*/ 113 h 226"/>
                <a:gd name="T62" fmla="*/ 145 w 275"/>
                <a:gd name="T63" fmla="*/ 130 h 226"/>
                <a:gd name="T64" fmla="*/ 144 w 275"/>
                <a:gd name="T65" fmla="*/ 100 h 226"/>
                <a:gd name="T66" fmla="*/ 167 w 275"/>
                <a:gd name="T67" fmla="*/ 130 h 226"/>
                <a:gd name="T68" fmla="*/ 227 w 275"/>
                <a:gd name="T69" fmla="*/ 113 h 226"/>
                <a:gd name="T70" fmla="*/ 188 w 275"/>
                <a:gd name="T71" fmla="*/ 115 h 226"/>
                <a:gd name="T72" fmla="*/ 227 w 275"/>
                <a:gd name="T73" fmla="*/ 113 h 226"/>
                <a:gd name="T74" fmla="*/ 200 w 275"/>
                <a:gd name="T75" fmla="*/ 113 h 226"/>
                <a:gd name="T76" fmla="*/ 83 w 275"/>
                <a:gd name="T77" fmla="*/ 199 h 226"/>
                <a:gd name="T78" fmla="*/ 45 w 275"/>
                <a:gd name="T79" fmla="*/ 200 h 226"/>
                <a:gd name="T80" fmla="*/ 83 w 275"/>
                <a:gd name="T81" fmla="*/ 199 h 226"/>
                <a:gd name="T82" fmla="*/ 56 w 275"/>
                <a:gd name="T83" fmla="*/ 200 h 226"/>
                <a:gd name="T84" fmla="*/ 132 w 275"/>
                <a:gd name="T85" fmla="*/ 199 h 226"/>
                <a:gd name="T86" fmla="*/ 93 w 275"/>
                <a:gd name="T87" fmla="*/ 200 h 226"/>
                <a:gd name="T88" fmla="*/ 132 w 275"/>
                <a:gd name="T89" fmla="*/ 199 h 226"/>
                <a:gd name="T90" fmla="*/ 105 w 275"/>
                <a:gd name="T91" fmla="*/ 200 h 226"/>
                <a:gd name="T92" fmla="*/ 178 w 275"/>
                <a:gd name="T93" fmla="*/ 225 h 226"/>
                <a:gd name="T94" fmla="*/ 155 w 275"/>
                <a:gd name="T95" fmla="*/ 216 h 226"/>
                <a:gd name="T96" fmla="*/ 144 w 275"/>
                <a:gd name="T97" fmla="*/ 176 h 226"/>
                <a:gd name="T98" fmla="*/ 178 w 275"/>
                <a:gd name="T99" fmla="*/ 216 h 226"/>
                <a:gd name="T100" fmla="*/ 222 w 275"/>
                <a:gd name="T101" fmla="*/ 220 h 226"/>
                <a:gd name="T102" fmla="*/ 194 w 275"/>
                <a:gd name="T103" fmla="*/ 178 h 226"/>
                <a:gd name="T104" fmla="*/ 215 w 275"/>
                <a:gd name="T105" fmla="*/ 199 h 226"/>
                <a:gd name="T106" fmla="*/ 208 w 275"/>
                <a:gd name="T107" fmla="*/ 218 h 226"/>
                <a:gd name="T108" fmla="*/ 240 w 275"/>
                <a:gd name="T109" fmla="*/ 225 h 226"/>
                <a:gd name="T110" fmla="*/ 252 w 275"/>
                <a:gd name="T111" fmla="*/ 183 h 226"/>
                <a:gd name="T112" fmla="*/ 263 w 275"/>
                <a:gd name="T113" fmla="*/ 172 h 226"/>
                <a:gd name="T114" fmla="*/ 274 w 275"/>
                <a:gd name="T115" fmla="*/ 225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5" h="226">
                  <a:moveTo>
                    <a:pt x="83" y="27"/>
                  </a:moveTo>
                  <a:cubicBezTo>
                    <a:pt x="83" y="36"/>
                    <a:pt x="82" y="44"/>
                    <a:pt x="78" y="48"/>
                  </a:cubicBezTo>
                  <a:cubicBezTo>
                    <a:pt x="75" y="53"/>
                    <a:pt x="70" y="55"/>
                    <a:pt x="64" y="55"/>
                  </a:cubicBezTo>
                  <a:cubicBezTo>
                    <a:pt x="51" y="55"/>
                    <a:pt x="45" y="46"/>
                    <a:pt x="45" y="28"/>
                  </a:cubicBezTo>
                  <a:cubicBezTo>
                    <a:pt x="45" y="19"/>
                    <a:pt x="46" y="13"/>
                    <a:pt x="51" y="7"/>
                  </a:cubicBezTo>
                  <a:cubicBezTo>
                    <a:pt x="54" y="3"/>
                    <a:pt x="58" y="0"/>
                    <a:pt x="65" y="0"/>
                  </a:cubicBezTo>
                  <a:cubicBezTo>
                    <a:pt x="77" y="0"/>
                    <a:pt x="83" y="9"/>
                    <a:pt x="83" y="27"/>
                  </a:cubicBezTo>
                  <a:moveTo>
                    <a:pt x="72" y="28"/>
                  </a:moveTo>
                  <a:cubicBezTo>
                    <a:pt x="72" y="16"/>
                    <a:pt x="68" y="9"/>
                    <a:pt x="64" y="9"/>
                  </a:cubicBezTo>
                  <a:cubicBezTo>
                    <a:pt x="60" y="9"/>
                    <a:pt x="56" y="16"/>
                    <a:pt x="56" y="28"/>
                  </a:cubicBezTo>
                  <a:cubicBezTo>
                    <a:pt x="56" y="41"/>
                    <a:pt x="60" y="46"/>
                    <a:pt x="64" y="46"/>
                  </a:cubicBezTo>
                  <a:cubicBezTo>
                    <a:pt x="68" y="46"/>
                    <a:pt x="72" y="41"/>
                    <a:pt x="72" y="28"/>
                  </a:cubicBezTo>
                  <a:moveTo>
                    <a:pt x="129" y="54"/>
                  </a:moveTo>
                  <a:cubicBezTo>
                    <a:pt x="96" y="54"/>
                    <a:pt x="96" y="54"/>
                    <a:pt x="96" y="54"/>
                  </a:cubicBezTo>
                  <a:cubicBezTo>
                    <a:pt x="96" y="45"/>
                    <a:pt x="96" y="45"/>
                    <a:pt x="96" y="45"/>
                  </a:cubicBezTo>
                  <a:cubicBezTo>
                    <a:pt x="107" y="45"/>
                    <a:pt x="107" y="45"/>
                    <a:pt x="107" y="45"/>
                  </a:cubicBezTo>
                  <a:cubicBezTo>
                    <a:pt x="107" y="11"/>
                    <a:pt x="107" y="11"/>
                    <a:pt x="107" y="11"/>
                  </a:cubicBezTo>
                  <a:cubicBezTo>
                    <a:pt x="96" y="15"/>
                    <a:pt x="96" y="15"/>
                    <a:pt x="96" y="15"/>
                  </a:cubicBezTo>
                  <a:cubicBezTo>
                    <a:pt x="96" y="5"/>
                    <a:pt x="96" y="5"/>
                    <a:pt x="96" y="5"/>
                  </a:cubicBezTo>
                  <a:cubicBezTo>
                    <a:pt x="119" y="0"/>
                    <a:pt x="119" y="0"/>
                    <a:pt x="119" y="0"/>
                  </a:cubicBezTo>
                  <a:cubicBezTo>
                    <a:pt x="119" y="45"/>
                    <a:pt x="119" y="45"/>
                    <a:pt x="119" y="45"/>
                  </a:cubicBezTo>
                  <a:cubicBezTo>
                    <a:pt x="129" y="45"/>
                    <a:pt x="129" y="45"/>
                    <a:pt x="129" y="45"/>
                  </a:cubicBezTo>
                  <a:lnTo>
                    <a:pt x="129" y="54"/>
                  </a:lnTo>
                  <a:close/>
                  <a:moveTo>
                    <a:pt x="178" y="54"/>
                  </a:moveTo>
                  <a:cubicBezTo>
                    <a:pt x="144" y="54"/>
                    <a:pt x="144" y="54"/>
                    <a:pt x="144" y="54"/>
                  </a:cubicBezTo>
                  <a:cubicBezTo>
                    <a:pt x="144" y="45"/>
                    <a:pt x="144" y="45"/>
                    <a:pt x="144" y="45"/>
                  </a:cubicBezTo>
                  <a:cubicBezTo>
                    <a:pt x="155" y="45"/>
                    <a:pt x="155" y="45"/>
                    <a:pt x="155" y="45"/>
                  </a:cubicBezTo>
                  <a:cubicBezTo>
                    <a:pt x="155" y="11"/>
                    <a:pt x="155" y="11"/>
                    <a:pt x="155" y="11"/>
                  </a:cubicBezTo>
                  <a:cubicBezTo>
                    <a:pt x="144" y="15"/>
                    <a:pt x="144" y="15"/>
                    <a:pt x="144" y="15"/>
                  </a:cubicBezTo>
                  <a:cubicBezTo>
                    <a:pt x="144" y="5"/>
                    <a:pt x="144" y="5"/>
                    <a:pt x="144" y="5"/>
                  </a:cubicBezTo>
                  <a:cubicBezTo>
                    <a:pt x="167" y="0"/>
                    <a:pt x="167" y="0"/>
                    <a:pt x="167" y="0"/>
                  </a:cubicBezTo>
                  <a:cubicBezTo>
                    <a:pt x="167" y="45"/>
                    <a:pt x="167" y="45"/>
                    <a:pt x="167" y="45"/>
                  </a:cubicBezTo>
                  <a:cubicBezTo>
                    <a:pt x="178" y="45"/>
                    <a:pt x="178" y="45"/>
                    <a:pt x="178" y="45"/>
                  </a:cubicBezTo>
                  <a:lnTo>
                    <a:pt x="178" y="54"/>
                  </a:lnTo>
                  <a:close/>
                  <a:moveTo>
                    <a:pt x="227" y="27"/>
                  </a:moveTo>
                  <a:cubicBezTo>
                    <a:pt x="227" y="36"/>
                    <a:pt x="225" y="44"/>
                    <a:pt x="222" y="48"/>
                  </a:cubicBezTo>
                  <a:cubicBezTo>
                    <a:pt x="218" y="53"/>
                    <a:pt x="214" y="55"/>
                    <a:pt x="207" y="55"/>
                  </a:cubicBezTo>
                  <a:cubicBezTo>
                    <a:pt x="195" y="55"/>
                    <a:pt x="188" y="46"/>
                    <a:pt x="188" y="28"/>
                  </a:cubicBezTo>
                  <a:cubicBezTo>
                    <a:pt x="188" y="19"/>
                    <a:pt x="191" y="13"/>
                    <a:pt x="194" y="7"/>
                  </a:cubicBezTo>
                  <a:cubicBezTo>
                    <a:pt x="197" y="3"/>
                    <a:pt x="203" y="0"/>
                    <a:pt x="208" y="0"/>
                  </a:cubicBezTo>
                  <a:cubicBezTo>
                    <a:pt x="220" y="0"/>
                    <a:pt x="227" y="9"/>
                    <a:pt x="227" y="27"/>
                  </a:cubicBezTo>
                  <a:moveTo>
                    <a:pt x="215" y="28"/>
                  </a:moveTo>
                  <a:cubicBezTo>
                    <a:pt x="215" y="16"/>
                    <a:pt x="213" y="9"/>
                    <a:pt x="208" y="9"/>
                  </a:cubicBezTo>
                  <a:cubicBezTo>
                    <a:pt x="203" y="9"/>
                    <a:pt x="200" y="16"/>
                    <a:pt x="200" y="28"/>
                  </a:cubicBezTo>
                  <a:cubicBezTo>
                    <a:pt x="200" y="41"/>
                    <a:pt x="203" y="46"/>
                    <a:pt x="208" y="46"/>
                  </a:cubicBezTo>
                  <a:cubicBezTo>
                    <a:pt x="213" y="46"/>
                    <a:pt x="215" y="41"/>
                    <a:pt x="215" y="28"/>
                  </a:cubicBezTo>
                  <a:moveTo>
                    <a:pt x="275" y="27"/>
                  </a:moveTo>
                  <a:cubicBezTo>
                    <a:pt x="275" y="36"/>
                    <a:pt x="274" y="44"/>
                    <a:pt x="269" y="48"/>
                  </a:cubicBezTo>
                  <a:cubicBezTo>
                    <a:pt x="266" y="53"/>
                    <a:pt x="262" y="55"/>
                    <a:pt x="256" y="55"/>
                  </a:cubicBezTo>
                  <a:cubicBezTo>
                    <a:pt x="243" y="55"/>
                    <a:pt x="236" y="46"/>
                    <a:pt x="236" y="28"/>
                  </a:cubicBezTo>
                  <a:cubicBezTo>
                    <a:pt x="236" y="19"/>
                    <a:pt x="238" y="13"/>
                    <a:pt x="242" y="7"/>
                  </a:cubicBezTo>
                  <a:cubicBezTo>
                    <a:pt x="245" y="3"/>
                    <a:pt x="250" y="0"/>
                    <a:pt x="256" y="0"/>
                  </a:cubicBezTo>
                  <a:cubicBezTo>
                    <a:pt x="269" y="0"/>
                    <a:pt x="275" y="9"/>
                    <a:pt x="275" y="27"/>
                  </a:cubicBezTo>
                  <a:moveTo>
                    <a:pt x="263" y="28"/>
                  </a:moveTo>
                  <a:cubicBezTo>
                    <a:pt x="263" y="16"/>
                    <a:pt x="260" y="9"/>
                    <a:pt x="256" y="9"/>
                  </a:cubicBezTo>
                  <a:cubicBezTo>
                    <a:pt x="250" y="9"/>
                    <a:pt x="248" y="16"/>
                    <a:pt x="248" y="28"/>
                  </a:cubicBezTo>
                  <a:cubicBezTo>
                    <a:pt x="248" y="41"/>
                    <a:pt x="250" y="46"/>
                    <a:pt x="256" y="46"/>
                  </a:cubicBezTo>
                  <a:cubicBezTo>
                    <a:pt x="260" y="46"/>
                    <a:pt x="263" y="41"/>
                    <a:pt x="263" y="28"/>
                  </a:cubicBezTo>
                  <a:moveTo>
                    <a:pt x="34" y="140"/>
                  </a:moveTo>
                  <a:cubicBezTo>
                    <a:pt x="0" y="140"/>
                    <a:pt x="0" y="140"/>
                    <a:pt x="0" y="140"/>
                  </a:cubicBezTo>
                  <a:cubicBezTo>
                    <a:pt x="0" y="130"/>
                    <a:pt x="0" y="130"/>
                    <a:pt x="0" y="130"/>
                  </a:cubicBezTo>
                  <a:cubicBezTo>
                    <a:pt x="11" y="130"/>
                    <a:pt x="11" y="130"/>
                    <a:pt x="11" y="130"/>
                  </a:cubicBezTo>
                  <a:cubicBezTo>
                    <a:pt x="11" y="98"/>
                    <a:pt x="11" y="98"/>
                    <a:pt x="11" y="98"/>
                  </a:cubicBezTo>
                  <a:cubicBezTo>
                    <a:pt x="0" y="100"/>
                    <a:pt x="0" y="100"/>
                    <a:pt x="0" y="100"/>
                  </a:cubicBezTo>
                  <a:cubicBezTo>
                    <a:pt x="0" y="90"/>
                    <a:pt x="0" y="90"/>
                    <a:pt x="0" y="90"/>
                  </a:cubicBezTo>
                  <a:cubicBezTo>
                    <a:pt x="23" y="85"/>
                    <a:pt x="23" y="85"/>
                    <a:pt x="23" y="85"/>
                  </a:cubicBezTo>
                  <a:cubicBezTo>
                    <a:pt x="23" y="130"/>
                    <a:pt x="23" y="130"/>
                    <a:pt x="23" y="130"/>
                  </a:cubicBezTo>
                  <a:cubicBezTo>
                    <a:pt x="34" y="130"/>
                    <a:pt x="34" y="130"/>
                    <a:pt x="34" y="130"/>
                  </a:cubicBezTo>
                  <a:lnTo>
                    <a:pt x="34" y="140"/>
                  </a:lnTo>
                  <a:close/>
                  <a:moveTo>
                    <a:pt x="84" y="113"/>
                  </a:moveTo>
                  <a:cubicBezTo>
                    <a:pt x="84" y="122"/>
                    <a:pt x="81" y="129"/>
                    <a:pt x="78" y="134"/>
                  </a:cubicBezTo>
                  <a:cubicBezTo>
                    <a:pt x="75" y="139"/>
                    <a:pt x="70" y="141"/>
                    <a:pt x="64" y="141"/>
                  </a:cubicBezTo>
                  <a:cubicBezTo>
                    <a:pt x="51" y="141"/>
                    <a:pt x="45" y="132"/>
                    <a:pt x="45" y="115"/>
                  </a:cubicBezTo>
                  <a:cubicBezTo>
                    <a:pt x="45" y="104"/>
                    <a:pt x="47" y="98"/>
                    <a:pt x="50" y="93"/>
                  </a:cubicBezTo>
                  <a:cubicBezTo>
                    <a:pt x="54" y="88"/>
                    <a:pt x="58" y="85"/>
                    <a:pt x="65" y="85"/>
                  </a:cubicBezTo>
                  <a:cubicBezTo>
                    <a:pt x="77" y="85"/>
                    <a:pt x="84" y="94"/>
                    <a:pt x="84" y="113"/>
                  </a:cubicBezTo>
                  <a:moveTo>
                    <a:pt x="71" y="113"/>
                  </a:moveTo>
                  <a:cubicBezTo>
                    <a:pt x="71" y="101"/>
                    <a:pt x="69" y="94"/>
                    <a:pt x="64" y="94"/>
                  </a:cubicBezTo>
                  <a:cubicBezTo>
                    <a:pt x="59" y="94"/>
                    <a:pt x="57" y="101"/>
                    <a:pt x="57" y="113"/>
                  </a:cubicBezTo>
                  <a:cubicBezTo>
                    <a:pt x="57" y="126"/>
                    <a:pt x="59" y="132"/>
                    <a:pt x="64" y="132"/>
                  </a:cubicBezTo>
                  <a:cubicBezTo>
                    <a:pt x="69" y="132"/>
                    <a:pt x="71" y="126"/>
                    <a:pt x="71" y="113"/>
                  </a:cubicBezTo>
                  <a:moveTo>
                    <a:pt x="131" y="113"/>
                  </a:moveTo>
                  <a:cubicBezTo>
                    <a:pt x="131" y="122"/>
                    <a:pt x="129" y="129"/>
                    <a:pt x="126" y="134"/>
                  </a:cubicBezTo>
                  <a:cubicBezTo>
                    <a:pt x="122" y="139"/>
                    <a:pt x="118" y="141"/>
                    <a:pt x="111" y="141"/>
                  </a:cubicBezTo>
                  <a:cubicBezTo>
                    <a:pt x="99" y="141"/>
                    <a:pt x="92" y="132"/>
                    <a:pt x="92" y="115"/>
                  </a:cubicBezTo>
                  <a:cubicBezTo>
                    <a:pt x="92" y="104"/>
                    <a:pt x="95" y="98"/>
                    <a:pt x="98" y="93"/>
                  </a:cubicBezTo>
                  <a:cubicBezTo>
                    <a:pt x="101" y="88"/>
                    <a:pt x="106" y="85"/>
                    <a:pt x="112" y="85"/>
                  </a:cubicBezTo>
                  <a:cubicBezTo>
                    <a:pt x="125" y="85"/>
                    <a:pt x="131" y="94"/>
                    <a:pt x="131" y="113"/>
                  </a:cubicBezTo>
                  <a:moveTo>
                    <a:pt x="119" y="113"/>
                  </a:moveTo>
                  <a:cubicBezTo>
                    <a:pt x="119" y="101"/>
                    <a:pt x="117" y="94"/>
                    <a:pt x="112" y="94"/>
                  </a:cubicBezTo>
                  <a:cubicBezTo>
                    <a:pt x="107" y="94"/>
                    <a:pt x="105" y="101"/>
                    <a:pt x="105" y="113"/>
                  </a:cubicBezTo>
                  <a:cubicBezTo>
                    <a:pt x="105" y="126"/>
                    <a:pt x="107" y="132"/>
                    <a:pt x="111" y="132"/>
                  </a:cubicBezTo>
                  <a:cubicBezTo>
                    <a:pt x="117" y="132"/>
                    <a:pt x="119" y="126"/>
                    <a:pt x="119" y="113"/>
                  </a:cubicBezTo>
                  <a:moveTo>
                    <a:pt x="178" y="140"/>
                  </a:moveTo>
                  <a:cubicBezTo>
                    <a:pt x="145" y="140"/>
                    <a:pt x="145" y="140"/>
                    <a:pt x="145" y="140"/>
                  </a:cubicBezTo>
                  <a:cubicBezTo>
                    <a:pt x="145" y="130"/>
                    <a:pt x="145" y="130"/>
                    <a:pt x="145" y="130"/>
                  </a:cubicBezTo>
                  <a:cubicBezTo>
                    <a:pt x="156" y="130"/>
                    <a:pt x="156" y="130"/>
                    <a:pt x="156" y="130"/>
                  </a:cubicBezTo>
                  <a:cubicBezTo>
                    <a:pt x="156" y="98"/>
                    <a:pt x="156" y="98"/>
                    <a:pt x="156" y="98"/>
                  </a:cubicBezTo>
                  <a:cubicBezTo>
                    <a:pt x="144" y="100"/>
                    <a:pt x="144" y="100"/>
                    <a:pt x="144" y="100"/>
                  </a:cubicBezTo>
                  <a:cubicBezTo>
                    <a:pt x="144" y="90"/>
                    <a:pt x="144" y="90"/>
                    <a:pt x="144" y="90"/>
                  </a:cubicBezTo>
                  <a:cubicBezTo>
                    <a:pt x="167" y="85"/>
                    <a:pt x="167" y="85"/>
                    <a:pt x="167" y="85"/>
                  </a:cubicBezTo>
                  <a:cubicBezTo>
                    <a:pt x="167" y="130"/>
                    <a:pt x="167" y="130"/>
                    <a:pt x="167" y="130"/>
                  </a:cubicBezTo>
                  <a:cubicBezTo>
                    <a:pt x="178" y="130"/>
                    <a:pt x="178" y="130"/>
                    <a:pt x="178" y="130"/>
                  </a:cubicBezTo>
                  <a:lnTo>
                    <a:pt x="178" y="140"/>
                  </a:lnTo>
                  <a:close/>
                  <a:moveTo>
                    <a:pt x="227" y="113"/>
                  </a:moveTo>
                  <a:cubicBezTo>
                    <a:pt x="227" y="122"/>
                    <a:pt x="226" y="129"/>
                    <a:pt x="221" y="134"/>
                  </a:cubicBezTo>
                  <a:cubicBezTo>
                    <a:pt x="218" y="139"/>
                    <a:pt x="213" y="141"/>
                    <a:pt x="208" y="141"/>
                  </a:cubicBezTo>
                  <a:cubicBezTo>
                    <a:pt x="195" y="141"/>
                    <a:pt x="188" y="132"/>
                    <a:pt x="188" y="115"/>
                  </a:cubicBezTo>
                  <a:cubicBezTo>
                    <a:pt x="188" y="104"/>
                    <a:pt x="190" y="98"/>
                    <a:pt x="193" y="93"/>
                  </a:cubicBezTo>
                  <a:cubicBezTo>
                    <a:pt x="197" y="88"/>
                    <a:pt x="202" y="85"/>
                    <a:pt x="208" y="85"/>
                  </a:cubicBezTo>
                  <a:cubicBezTo>
                    <a:pt x="221" y="85"/>
                    <a:pt x="227" y="94"/>
                    <a:pt x="227" y="113"/>
                  </a:cubicBezTo>
                  <a:moveTo>
                    <a:pt x="215" y="113"/>
                  </a:moveTo>
                  <a:cubicBezTo>
                    <a:pt x="215" y="101"/>
                    <a:pt x="212" y="94"/>
                    <a:pt x="208" y="94"/>
                  </a:cubicBezTo>
                  <a:cubicBezTo>
                    <a:pt x="202" y="94"/>
                    <a:pt x="200" y="101"/>
                    <a:pt x="200" y="113"/>
                  </a:cubicBezTo>
                  <a:cubicBezTo>
                    <a:pt x="200" y="126"/>
                    <a:pt x="202" y="132"/>
                    <a:pt x="208" y="132"/>
                  </a:cubicBezTo>
                  <a:cubicBezTo>
                    <a:pt x="212" y="132"/>
                    <a:pt x="215" y="126"/>
                    <a:pt x="215" y="113"/>
                  </a:cubicBezTo>
                  <a:moveTo>
                    <a:pt x="83" y="199"/>
                  </a:moveTo>
                  <a:cubicBezTo>
                    <a:pt x="83" y="207"/>
                    <a:pt x="82" y="214"/>
                    <a:pt x="78" y="220"/>
                  </a:cubicBezTo>
                  <a:cubicBezTo>
                    <a:pt x="75" y="224"/>
                    <a:pt x="70" y="226"/>
                    <a:pt x="64" y="226"/>
                  </a:cubicBezTo>
                  <a:cubicBezTo>
                    <a:pt x="51" y="226"/>
                    <a:pt x="45" y="218"/>
                    <a:pt x="45" y="200"/>
                  </a:cubicBezTo>
                  <a:cubicBezTo>
                    <a:pt x="45" y="191"/>
                    <a:pt x="46" y="183"/>
                    <a:pt x="51" y="178"/>
                  </a:cubicBezTo>
                  <a:cubicBezTo>
                    <a:pt x="54" y="174"/>
                    <a:pt x="58" y="172"/>
                    <a:pt x="65" y="172"/>
                  </a:cubicBezTo>
                  <a:cubicBezTo>
                    <a:pt x="77" y="172"/>
                    <a:pt x="83" y="181"/>
                    <a:pt x="83" y="199"/>
                  </a:cubicBezTo>
                  <a:moveTo>
                    <a:pt x="72" y="199"/>
                  </a:moveTo>
                  <a:cubicBezTo>
                    <a:pt x="72" y="186"/>
                    <a:pt x="68" y="181"/>
                    <a:pt x="64" y="181"/>
                  </a:cubicBezTo>
                  <a:cubicBezTo>
                    <a:pt x="60" y="181"/>
                    <a:pt x="56" y="186"/>
                    <a:pt x="56" y="200"/>
                  </a:cubicBezTo>
                  <a:cubicBezTo>
                    <a:pt x="56" y="211"/>
                    <a:pt x="60" y="218"/>
                    <a:pt x="64" y="218"/>
                  </a:cubicBezTo>
                  <a:cubicBezTo>
                    <a:pt x="68" y="218"/>
                    <a:pt x="72" y="211"/>
                    <a:pt x="72" y="199"/>
                  </a:cubicBezTo>
                  <a:moveTo>
                    <a:pt x="132" y="199"/>
                  </a:moveTo>
                  <a:cubicBezTo>
                    <a:pt x="132" y="207"/>
                    <a:pt x="129" y="214"/>
                    <a:pt x="126" y="220"/>
                  </a:cubicBezTo>
                  <a:cubicBezTo>
                    <a:pt x="123" y="224"/>
                    <a:pt x="118" y="226"/>
                    <a:pt x="112" y="226"/>
                  </a:cubicBezTo>
                  <a:cubicBezTo>
                    <a:pt x="99" y="226"/>
                    <a:pt x="93" y="218"/>
                    <a:pt x="93" y="200"/>
                  </a:cubicBezTo>
                  <a:cubicBezTo>
                    <a:pt x="93" y="191"/>
                    <a:pt x="95" y="183"/>
                    <a:pt x="98" y="178"/>
                  </a:cubicBezTo>
                  <a:cubicBezTo>
                    <a:pt x="102" y="174"/>
                    <a:pt x="106" y="172"/>
                    <a:pt x="113" y="172"/>
                  </a:cubicBezTo>
                  <a:cubicBezTo>
                    <a:pt x="125" y="172"/>
                    <a:pt x="132" y="181"/>
                    <a:pt x="132" y="199"/>
                  </a:cubicBezTo>
                  <a:moveTo>
                    <a:pt x="119" y="199"/>
                  </a:moveTo>
                  <a:cubicBezTo>
                    <a:pt x="119" y="186"/>
                    <a:pt x="117" y="181"/>
                    <a:pt x="112" y="181"/>
                  </a:cubicBezTo>
                  <a:cubicBezTo>
                    <a:pt x="107" y="181"/>
                    <a:pt x="105" y="186"/>
                    <a:pt x="105" y="200"/>
                  </a:cubicBezTo>
                  <a:cubicBezTo>
                    <a:pt x="105" y="211"/>
                    <a:pt x="107" y="218"/>
                    <a:pt x="112" y="218"/>
                  </a:cubicBezTo>
                  <a:cubicBezTo>
                    <a:pt x="117" y="218"/>
                    <a:pt x="119" y="211"/>
                    <a:pt x="119" y="199"/>
                  </a:cubicBezTo>
                  <a:moveTo>
                    <a:pt x="178" y="225"/>
                  </a:moveTo>
                  <a:cubicBezTo>
                    <a:pt x="144" y="225"/>
                    <a:pt x="144" y="225"/>
                    <a:pt x="144" y="225"/>
                  </a:cubicBezTo>
                  <a:cubicBezTo>
                    <a:pt x="144" y="216"/>
                    <a:pt x="144" y="216"/>
                    <a:pt x="144" y="216"/>
                  </a:cubicBezTo>
                  <a:cubicBezTo>
                    <a:pt x="155" y="216"/>
                    <a:pt x="155" y="216"/>
                    <a:pt x="155" y="216"/>
                  </a:cubicBezTo>
                  <a:cubicBezTo>
                    <a:pt x="155" y="183"/>
                    <a:pt x="155" y="183"/>
                    <a:pt x="155" y="183"/>
                  </a:cubicBezTo>
                  <a:cubicBezTo>
                    <a:pt x="144" y="185"/>
                    <a:pt x="144" y="185"/>
                    <a:pt x="144" y="185"/>
                  </a:cubicBezTo>
                  <a:cubicBezTo>
                    <a:pt x="144" y="176"/>
                    <a:pt x="144" y="176"/>
                    <a:pt x="144" y="176"/>
                  </a:cubicBezTo>
                  <a:cubicBezTo>
                    <a:pt x="167" y="172"/>
                    <a:pt x="167" y="172"/>
                    <a:pt x="167" y="172"/>
                  </a:cubicBezTo>
                  <a:cubicBezTo>
                    <a:pt x="167" y="216"/>
                    <a:pt x="167" y="216"/>
                    <a:pt x="167" y="216"/>
                  </a:cubicBezTo>
                  <a:cubicBezTo>
                    <a:pt x="178" y="216"/>
                    <a:pt x="178" y="216"/>
                    <a:pt x="178" y="216"/>
                  </a:cubicBezTo>
                  <a:lnTo>
                    <a:pt x="178" y="225"/>
                  </a:lnTo>
                  <a:close/>
                  <a:moveTo>
                    <a:pt x="227" y="199"/>
                  </a:moveTo>
                  <a:cubicBezTo>
                    <a:pt x="227" y="207"/>
                    <a:pt x="225" y="214"/>
                    <a:pt x="222" y="220"/>
                  </a:cubicBezTo>
                  <a:cubicBezTo>
                    <a:pt x="218" y="224"/>
                    <a:pt x="214" y="226"/>
                    <a:pt x="207" y="226"/>
                  </a:cubicBezTo>
                  <a:cubicBezTo>
                    <a:pt x="195" y="226"/>
                    <a:pt x="188" y="218"/>
                    <a:pt x="188" y="200"/>
                  </a:cubicBezTo>
                  <a:cubicBezTo>
                    <a:pt x="188" y="191"/>
                    <a:pt x="191" y="183"/>
                    <a:pt x="194" y="178"/>
                  </a:cubicBezTo>
                  <a:cubicBezTo>
                    <a:pt x="197" y="174"/>
                    <a:pt x="203" y="172"/>
                    <a:pt x="208" y="172"/>
                  </a:cubicBezTo>
                  <a:cubicBezTo>
                    <a:pt x="220" y="172"/>
                    <a:pt x="227" y="181"/>
                    <a:pt x="227" y="199"/>
                  </a:cubicBezTo>
                  <a:moveTo>
                    <a:pt x="215" y="199"/>
                  </a:moveTo>
                  <a:cubicBezTo>
                    <a:pt x="215" y="186"/>
                    <a:pt x="213" y="181"/>
                    <a:pt x="208" y="181"/>
                  </a:cubicBezTo>
                  <a:cubicBezTo>
                    <a:pt x="203" y="181"/>
                    <a:pt x="200" y="186"/>
                    <a:pt x="200" y="200"/>
                  </a:cubicBezTo>
                  <a:cubicBezTo>
                    <a:pt x="200" y="211"/>
                    <a:pt x="203" y="218"/>
                    <a:pt x="208" y="218"/>
                  </a:cubicBezTo>
                  <a:cubicBezTo>
                    <a:pt x="213" y="218"/>
                    <a:pt x="215" y="211"/>
                    <a:pt x="215" y="199"/>
                  </a:cubicBezTo>
                  <a:moveTo>
                    <a:pt x="274" y="225"/>
                  </a:moveTo>
                  <a:cubicBezTo>
                    <a:pt x="240" y="225"/>
                    <a:pt x="240" y="225"/>
                    <a:pt x="240" y="225"/>
                  </a:cubicBezTo>
                  <a:cubicBezTo>
                    <a:pt x="240" y="216"/>
                    <a:pt x="240" y="216"/>
                    <a:pt x="240" y="216"/>
                  </a:cubicBezTo>
                  <a:cubicBezTo>
                    <a:pt x="252" y="216"/>
                    <a:pt x="252" y="216"/>
                    <a:pt x="252" y="216"/>
                  </a:cubicBezTo>
                  <a:cubicBezTo>
                    <a:pt x="252" y="183"/>
                    <a:pt x="252" y="183"/>
                    <a:pt x="252" y="183"/>
                  </a:cubicBezTo>
                  <a:cubicBezTo>
                    <a:pt x="240" y="185"/>
                    <a:pt x="240" y="185"/>
                    <a:pt x="240" y="185"/>
                  </a:cubicBezTo>
                  <a:cubicBezTo>
                    <a:pt x="240" y="176"/>
                    <a:pt x="240" y="176"/>
                    <a:pt x="240" y="176"/>
                  </a:cubicBezTo>
                  <a:cubicBezTo>
                    <a:pt x="263" y="172"/>
                    <a:pt x="263" y="172"/>
                    <a:pt x="263" y="172"/>
                  </a:cubicBezTo>
                  <a:cubicBezTo>
                    <a:pt x="263" y="216"/>
                    <a:pt x="263" y="216"/>
                    <a:pt x="263" y="216"/>
                  </a:cubicBezTo>
                  <a:cubicBezTo>
                    <a:pt x="274" y="216"/>
                    <a:pt x="274" y="216"/>
                    <a:pt x="274" y="216"/>
                  </a:cubicBezTo>
                  <a:lnTo>
                    <a:pt x="274" y="22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7" name="icon GEARS"/>
            <p:cNvSpPr>
              <a:spLocks noEditPoints="1"/>
            </p:cNvSpPr>
            <p:nvPr/>
          </p:nvSpPr>
          <p:spPr bwMode="auto">
            <a:xfrm>
              <a:off x="11707277" y="6523798"/>
              <a:ext cx="454243" cy="378637"/>
            </a:xfrm>
            <a:custGeom>
              <a:avLst/>
              <a:gdLst>
                <a:gd name="T0" fmla="*/ 114 w 315"/>
                <a:gd name="T1" fmla="*/ 169 h 262"/>
                <a:gd name="T2" fmla="*/ 114 w 315"/>
                <a:gd name="T3" fmla="*/ 132 h 262"/>
                <a:gd name="T4" fmla="*/ 227 w 315"/>
                <a:gd name="T5" fmla="*/ 139 h 262"/>
                <a:gd name="T6" fmla="*/ 195 w 315"/>
                <a:gd name="T7" fmla="*/ 159 h 262"/>
                <a:gd name="T8" fmla="*/ 216 w 315"/>
                <a:gd name="T9" fmla="*/ 187 h 262"/>
                <a:gd name="T10" fmla="*/ 208 w 315"/>
                <a:gd name="T11" fmla="*/ 214 h 262"/>
                <a:gd name="T12" fmla="*/ 170 w 315"/>
                <a:gd name="T13" fmla="*/ 209 h 262"/>
                <a:gd name="T14" fmla="*/ 172 w 315"/>
                <a:gd name="T15" fmla="*/ 242 h 262"/>
                <a:gd name="T16" fmla="*/ 149 w 315"/>
                <a:gd name="T17" fmla="*/ 258 h 262"/>
                <a:gd name="T18" fmla="*/ 123 w 315"/>
                <a:gd name="T19" fmla="*/ 231 h 262"/>
                <a:gd name="T20" fmla="*/ 113 w 315"/>
                <a:gd name="T21" fmla="*/ 232 h 262"/>
                <a:gd name="T22" fmla="*/ 90 w 315"/>
                <a:gd name="T23" fmla="*/ 261 h 262"/>
                <a:gd name="T24" fmla="*/ 65 w 315"/>
                <a:gd name="T25" fmla="*/ 247 h 262"/>
                <a:gd name="T26" fmla="*/ 60 w 315"/>
                <a:gd name="T27" fmla="*/ 212 h 262"/>
                <a:gd name="T28" fmla="*/ 23 w 315"/>
                <a:gd name="T29" fmla="*/ 219 h 262"/>
                <a:gd name="T30" fmla="*/ 14 w 315"/>
                <a:gd name="T31" fmla="*/ 192 h 262"/>
                <a:gd name="T32" fmla="*/ 33 w 315"/>
                <a:gd name="T33" fmla="*/ 159 h 262"/>
                <a:gd name="T34" fmla="*/ 1 w 315"/>
                <a:gd name="T35" fmla="*/ 140 h 262"/>
                <a:gd name="T36" fmla="*/ 12 w 315"/>
                <a:gd name="T37" fmla="*/ 113 h 262"/>
                <a:gd name="T38" fmla="*/ 45 w 315"/>
                <a:gd name="T39" fmla="*/ 106 h 262"/>
                <a:gd name="T40" fmla="*/ 33 w 315"/>
                <a:gd name="T41" fmla="*/ 70 h 262"/>
                <a:gd name="T42" fmla="*/ 58 w 315"/>
                <a:gd name="T43" fmla="*/ 57 h 262"/>
                <a:gd name="T44" fmla="*/ 90 w 315"/>
                <a:gd name="T45" fmla="*/ 72 h 262"/>
                <a:gd name="T46" fmla="*/ 103 w 315"/>
                <a:gd name="T47" fmla="*/ 37 h 262"/>
                <a:gd name="T48" fmla="*/ 131 w 315"/>
                <a:gd name="T49" fmla="*/ 43 h 262"/>
                <a:gd name="T50" fmla="*/ 146 w 315"/>
                <a:gd name="T51" fmla="*/ 75 h 262"/>
                <a:gd name="T52" fmla="*/ 179 w 315"/>
                <a:gd name="T53" fmla="*/ 57 h 262"/>
                <a:gd name="T54" fmla="*/ 196 w 315"/>
                <a:gd name="T55" fmla="*/ 80 h 262"/>
                <a:gd name="T56" fmla="*/ 186 w 315"/>
                <a:gd name="T57" fmla="*/ 113 h 262"/>
                <a:gd name="T58" fmla="*/ 223 w 315"/>
                <a:gd name="T59" fmla="*/ 120 h 262"/>
                <a:gd name="T60" fmla="*/ 157 w 315"/>
                <a:gd name="T61" fmla="*/ 150 h 262"/>
                <a:gd name="T62" fmla="*/ 70 w 315"/>
                <a:gd name="T63" fmla="*/ 150 h 262"/>
                <a:gd name="T64" fmla="*/ 157 w 315"/>
                <a:gd name="T65" fmla="*/ 150 h 262"/>
                <a:gd name="T66" fmla="*/ 312 w 315"/>
                <a:gd name="T67" fmla="*/ 93 h 262"/>
                <a:gd name="T68" fmla="*/ 300 w 315"/>
                <a:gd name="T69" fmla="*/ 98 h 262"/>
                <a:gd name="T70" fmla="*/ 273 w 315"/>
                <a:gd name="T71" fmla="*/ 102 h 262"/>
                <a:gd name="T72" fmla="*/ 263 w 315"/>
                <a:gd name="T73" fmla="*/ 120 h 262"/>
                <a:gd name="T74" fmla="*/ 252 w 315"/>
                <a:gd name="T75" fmla="*/ 114 h 262"/>
                <a:gd name="T76" fmla="*/ 233 w 315"/>
                <a:gd name="T77" fmla="*/ 93 h 262"/>
                <a:gd name="T78" fmla="*/ 213 w 315"/>
                <a:gd name="T79" fmla="*/ 96 h 262"/>
                <a:gd name="T80" fmla="*/ 211 w 315"/>
                <a:gd name="T81" fmla="*/ 83 h 262"/>
                <a:gd name="T82" fmla="*/ 218 w 315"/>
                <a:gd name="T83" fmla="*/ 61 h 262"/>
                <a:gd name="T84" fmla="*/ 220 w 315"/>
                <a:gd name="T85" fmla="*/ 48 h 262"/>
                <a:gd name="T86" fmla="*/ 210 w 315"/>
                <a:gd name="T87" fmla="*/ 29 h 262"/>
                <a:gd name="T88" fmla="*/ 221 w 315"/>
                <a:gd name="T89" fmla="*/ 23 h 262"/>
                <a:gd name="T90" fmla="*/ 233 w 315"/>
                <a:gd name="T91" fmla="*/ 28 h 262"/>
                <a:gd name="T92" fmla="*/ 252 w 315"/>
                <a:gd name="T93" fmla="*/ 7 h 262"/>
                <a:gd name="T94" fmla="*/ 263 w 315"/>
                <a:gd name="T95" fmla="*/ 0 h 262"/>
                <a:gd name="T96" fmla="*/ 273 w 315"/>
                <a:gd name="T97" fmla="*/ 19 h 262"/>
                <a:gd name="T98" fmla="*/ 301 w 315"/>
                <a:gd name="T99" fmla="*/ 23 h 262"/>
                <a:gd name="T100" fmla="*/ 313 w 315"/>
                <a:gd name="T101" fmla="*/ 29 h 262"/>
                <a:gd name="T102" fmla="*/ 303 w 315"/>
                <a:gd name="T103" fmla="*/ 48 h 262"/>
                <a:gd name="T104" fmla="*/ 302 w 315"/>
                <a:gd name="T105" fmla="*/ 74 h 262"/>
                <a:gd name="T106" fmla="*/ 276 w 315"/>
                <a:gd name="T107" fmla="*/ 61 h 262"/>
                <a:gd name="T108" fmla="*/ 246 w 315"/>
                <a:gd name="T109" fmla="*/ 61 h 262"/>
                <a:gd name="T110" fmla="*/ 276 w 315"/>
                <a:gd name="T111" fmla="*/ 61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5" h="262">
                  <a:moveTo>
                    <a:pt x="132" y="150"/>
                  </a:moveTo>
                  <a:cubicBezTo>
                    <a:pt x="132" y="160"/>
                    <a:pt x="124" y="169"/>
                    <a:pt x="114" y="169"/>
                  </a:cubicBezTo>
                  <a:cubicBezTo>
                    <a:pt x="103" y="169"/>
                    <a:pt x="95" y="160"/>
                    <a:pt x="95" y="150"/>
                  </a:cubicBezTo>
                  <a:cubicBezTo>
                    <a:pt x="95" y="140"/>
                    <a:pt x="103" y="132"/>
                    <a:pt x="114" y="132"/>
                  </a:cubicBezTo>
                  <a:cubicBezTo>
                    <a:pt x="124" y="132"/>
                    <a:pt x="132" y="140"/>
                    <a:pt x="132" y="150"/>
                  </a:cubicBezTo>
                  <a:close/>
                  <a:moveTo>
                    <a:pt x="227" y="139"/>
                  </a:moveTo>
                  <a:cubicBezTo>
                    <a:pt x="227" y="143"/>
                    <a:pt x="225" y="147"/>
                    <a:pt x="222" y="148"/>
                  </a:cubicBezTo>
                  <a:cubicBezTo>
                    <a:pt x="195" y="159"/>
                    <a:pt x="195" y="159"/>
                    <a:pt x="195" y="159"/>
                  </a:cubicBezTo>
                  <a:cubicBezTo>
                    <a:pt x="194" y="162"/>
                    <a:pt x="194" y="165"/>
                    <a:pt x="193" y="168"/>
                  </a:cubicBezTo>
                  <a:cubicBezTo>
                    <a:pt x="216" y="187"/>
                    <a:pt x="216" y="187"/>
                    <a:pt x="216" y="187"/>
                  </a:cubicBezTo>
                  <a:cubicBezTo>
                    <a:pt x="218" y="189"/>
                    <a:pt x="219" y="193"/>
                    <a:pt x="217" y="196"/>
                  </a:cubicBezTo>
                  <a:cubicBezTo>
                    <a:pt x="208" y="214"/>
                    <a:pt x="208" y="214"/>
                    <a:pt x="208" y="214"/>
                  </a:cubicBezTo>
                  <a:cubicBezTo>
                    <a:pt x="206" y="217"/>
                    <a:pt x="202" y="219"/>
                    <a:pt x="198" y="218"/>
                  </a:cubicBezTo>
                  <a:cubicBezTo>
                    <a:pt x="170" y="209"/>
                    <a:pt x="170" y="209"/>
                    <a:pt x="170" y="209"/>
                  </a:cubicBezTo>
                  <a:cubicBezTo>
                    <a:pt x="169" y="210"/>
                    <a:pt x="168" y="211"/>
                    <a:pt x="166" y="213"/>
                  </a:cubicBezTo>
                  <a:cubicBezTo>
                    <a:pt x="172" y="242"/>
                    <a:pt x="172" y="242"/>
                    <a:pt x="172" y="242"/>
                  </a:cubicBezTo>
                  <a:cubicBezTo>
                    <a:pt x="173" y="245"/>
                    <a:pt x="171" y="249"/>
                    <a:pt x="168" y="250"/>
                  </a:cubicBezTo>
                  <a:cubicBezTo>
                    <a:pt x="149" y="258"/>
                    <a:pt x="149" y="258"/>
                    <a:pt x="149" y="258"/>
                  </a:cubicBezTo>
                  <a:cubicBezTo>
                    <a:pt x="146" y="260"/>
                    <a:pt x="142" y="258"/>
                    <a:pt x="140" y="256"/>
                  </a:cubicBezTo>
                  <a:cubicBezTo>
                    <a:pt x="123" y="231"/>
                    <a:pt x="123" y="231"/>
                    <a:pt x="123" y="231"/>
                  </a:cubicBezTo>
                  <a:cubicBezTo>
                    <a:pt x="120" y="232"/>
                    <a:pt x="117" y="232"/>
                    <a:pt x="114" y="232"/>
                  </a:cubicBezTo>
                  <a:cubicBezTo>
                    <a:pt x="113" y="232"/>
                    <a:pt x="113" y="232"/>
                    <a:pt x="113" y="232"/>
                  </a:cubicBezTo>
                  <a:cubicBezTo>
                    <a:pt x="99" y="258"/>
                    <a:pt x="99" y="258"/>
                    <a:pt x="99" y="258"/>
                  </a:cubicBezTo>
                  <a:cubicBezTo>
                    <a:pt x="97" y="261"/>
                    <a:pt x="93" y="262"/>
                    <a:pt x="90" y="261"/>
                  </a:cubicBezTo>
                  <a:cubicBezTo>
                    <a:pt x="70" y="255"/>
                    <a:pt x="70" y="255"/>
                    <a:pt x="70" y="255"/>
                  </a:cubicBezTo>
                  <a:cubicBezTo>
                    <a:pt x="67" y="254"/>
                    <a:pt x="65" y="251"/>
                    <a:pt x="65" y="247"/>
                  </a:cubicBezTo>
                  <a:cubicBezTo>
                    <a:pt x="68" y="218"/>
                    <a:pt x="68" y="218"/>
                    <a:pt x="68" y="218"/>
                  </a:cubicBezTo>
                  <a:cubicBezTo>
                    <a:pt x="65" y="216"/>
                    <a:pt x="63" y="214"/>
                    <a:pt x="60" y="212"/>
                  </a:cubicBezTo>
                  <a:cubicBezTo>
                    <a:pt x="32" y="222"/>
                    <a:pt x="32" y="222"/>
                    <a:pt x="32" y="222"/>
                  </a:cubicBezTo>
                  <a:cubicBezTo>
                    <a:pt x="29" y="223"/>
                    <a:pt x="25" y="222"/>
                    <a:pt x="23" y="219"/>
                  </a:cubicBezTo>
                  <a:cubicBezTo>
                    <a:pt x="12" y="202"/>
                    <a:pt x="12" y="202"/>
                    <a:pt x="12" y="202"/>
                  </a:cubicBezTo>
                  <a:cubicBezTo>
                    <a:pt x="11" y="199"/>
                    <a:pt x="11" y="195"/>
                    <a:pt x="14" y="192"/>
                  </a:cubicBezTo>
                  <a:cubicBezTo>
                    <a:pt x="35" y="172"/>
                    <a:pt x="35" y="172"/>
                    <a:pt x="35" y="172"/>
                  </a:cubicBezTo>
                  <a:cubicBezTo>
                    <a:pt x="34" y="168"/>
                    <a:pt x="33" y="163"/>
                    <a:pt x="33" y="159"/>
                  </a:cubicBezTo>
                  <a:cubicBezTo>
                    <a:pt x="5" y="148"/>
                    <a:pt x="5" y="148"/>
                    <a:pt x="5" y="148"/>
                  </a:cubicBezTo>
                  <a:cubicBezTo>
                    <a:pt x="2" y="147"/>
                    <a:pt x="0" y="143"/>
                    <a:pt x="1" y="140"/>
                  </a:cubicBezTo>
                  <a:cubicBezTo>
                    <a:pt x="4" y="120"/>
                    <a:pt x="4" y="120"/>
                    <a:pt x="4" y="120"/>
                  </a:cubicBezTo>
                  <a:cubicBezTo>
                    <a:pt x="5" y="116"/>
                    <a:pt x="8" y="113"/>
                    <a:pt x="12" y="113"/>
                  </a:cubicBezTo>
                  <a:cubicBezTo>
                    <a:pt x="41" y="113"/>
                    <a:pt x="41" y="113"/>
                    <a:pt x="41" y="113"/>
                  </a:cubicBezTo>
                  <a:cubicBezTo>
                    <a:pt x="42" y="110"/>
                    <a:pt x="44" y="108"/>
                    <a:pt x="45" y="106"/>
                  </a:cubicBezTo>
                  <a:cubicBezTo>
                    <a:pt x="31" y="80"/>
                    <a:pt x="31" y="80"/>
                    <a:pt x="31" y="80"/>
                  </a:cubicBezTo>
                  <a:cubicBezTo>
                    <a:pt x="29" y="77"/>
                    <a:pt x="30" y="73"/>
                    <a:pt x="33" y="70"/>
                  </a:cubicBezTo>
                  <a:cubicBezTo>
                    <a:pt x="48" y="57"/>
                    <a:pt x="48" y="57"/>
                    <a:pt x="48" y="57"/>
                  </a:cubicBezTo>
                  <a:cubicBezTo>
                    <a:pt x="51" y="55"/>
                    <a:pt x="55" y="55"/>
                    <a:pt x="58" y="57"/>
                  </a:cubicBezTo>
                  <a:cubicBezTo>
                    <a:pt x="81" y="75"/>
                    <a:pt x="81" y="75"/>
                    <a:pt x="81" y="75"/>
                  </a:cubicBezTo>
                  <a:cubicBezTo>
                    <a:pt x="84" y="74"/>
                    <a:pt x="87" y="73"/>
                    <a:pt x="90" y="72"/>
                  </a:cubicBezTo>
                  <a:cubicBezTo>
                    <a:pt x="96" y="43"/>
                    <a:pt x="96" y="43"/>
                    <a:pt x="96" y="43"/>
                  </a:cubicBezTo>
                  <a:cubicBezTo>
                    <a:pt x="97" y="40"/>
                    <a:pt x="100" y="37"/>
                    <a:pt x="103" y="37"/>
                  </a:cubicBezTo>
                  <a:cubicBezTo>
                    <a:pt x="124" y="37"/>
                    <a:pt x="124" y="37"/>
                    <a:pt x="124" y="37"/>
                  </a:cubicBezTo>
                  <a:cubicBezTo>
                    <a:pt x="127" y="37"/>
                    <a:pt x="131" y="40"/>
                    <a:pt x="131" y="43"/>
                  </a:cubicBezTo>
                  <a:cubicBezTo>
                    <a:pt x="137" y="72"/>
                    <a:pt x="137" y="72"/>
                    <a:pt x="137" y="72"/>
                  </a:cubicBezTo>
                  <a:cubicBezTo>
                    <a:pt x="140" y="73"/>
                    <a:pt x="143" y="74"/>
                    <a:pt x="146" y="75"/>
                  </a:cubicBezTo>
                  <a:cubicBezTo>
                    <a:pt x="169" y="57"/>
                    <a:pt x="169" y="57"/>
                    <a:pt x="169" y="57"/>
                  </a:cubicBezTo>
                  <a:cubicBezTo>
                    <a:pt x="171" y="55"/>
                    <a:pt x="176" y="55"/>
                    <a:pt x="179" y="57"/>
                  </a:cubicBezTo>
                  <a:cubicBezTo>
                    <a:pt x="194" y="70"/>
                    <a:pt x="194" y="70"/>
                    <a:pt x="194" y="70"/>
                  </a:cubicBezTo>
                  <a:cubicBezTo>
                    <a:pt x="197" y="72"/>
                    <a:pt x="198" y="77"/>
                    <a:pt x="196" y="80"/>
                  </a:cubicBezTo>
                  <a:cubicBezTo>
                    <a:pt x="182" y="106"/>
                    <a:pt x="182" y="106"/>
                    <a:pt x="182" y="106"/>
                  </a:cubicBezTo>
                  <a:cubicBezTo>
                    <a:pt x="183" y="108"/>
                    <a:pt x="185" y="110"/>
                    <a:pt x="186" y="113"/>
                  </a:cubicBezTo>
                  <a:cubicBezTo>
                    <a:pt x="216" y="113"/>
                    <a:pt x="216" y="113"/>
                    <a:pt x="216" y="113"/>
                  </a:cubicBezTo>
                  <a:cubicBezTo>
                    <a:pt x="219" y="113"/>
                    <a:pt x="222" y="116"/>
                    <a:pt x="223" y="120"/>
                  </a:cubicBezTo>
                  <a:lnTo>
                    <a:pt x="227" y="139"/>
                  </a:lnTo>
                  <a:close/>
                  <a:moveTo>
                    <a:pt x="157" y="150"/>
                  </a:moveTo>
                  <a:cubicBezTo>
                    <a:pt x="157" y="126"/>
                    <a:pt x="137" y="107"/>
                    <a:pt x="114" y="107"/>
                  </a:cubicBezTo>
                  <a:cubicBezTo>
                    <a:pt x="90" y="107"/>
                    <a:pt x="70" y="126"/>
                    <a:pt x="70" y="150"/>
                  </a:cubicBezTo>
                  <a:cubicBezTo>
                    <a:pt x="70" y="174"/>
                    <a:pt x="90" y="193"/>
                    <a:pt x="114" y="193"/>
                  </a:cubicBezTo>
                  <a:cubicBezTo>
                    <a:pt x="137" y="193"/>
                    <a:pt x="157" y="174"/>
                    <a:pt x="157" y="150"/>
                  </a:cubicBezTo>
                  <a:close/>
                  <a:moveTo>
                    <a:pt x="311" y="83"/>
                  </a:moveTo>
                  <a:cubicBezTo>
                    <a:pt x="313" y="85"/>
                    <a:pt x="314" y="90"/>
                    <a:pt x="312" y="93"/>
                  </a:cubicBezTo>
                  <a:cubicBezTo>
                    <a:pt x="310" y="96"/>
                    <a:pt x="310" y="96"/>
                    <a:pt x="310" y="96"/>
                  </a:cubicBezTo>
                  <a:cubicBezTo>
                    <a:pt x="308" y="99"/>
                    <a:pt x="304" y="100"/>
                    <a:pt x="300" y="98"/>
                  </a:cubicBezTo>
                  <a:cubicBezTo>
                    <a:pt x="289" y="93"/>
                    <a:pt x="289" y="93"/>
                    <a:pt x="289" y="93"/>
                  </a:cubicBezTo>
                  <a:cubicBezTo>
                    <a:pt x="285" y="97"/>
                    <a:pt x="279" y="100"/>
                    <a:pt x="273" y="102"/>
                  </a:cubicBezTo>
                  <a:cubicBezTo>
                    <a:pt x="271" y="114"/>
                    <a:pt x="271" y="114"/>
                    <a:pt x="271" y="114"/>
                  </a:cubicBezTo>
                  <a:cubicBezTo>
                    <a:pt x="270" y="118"/>
                    <a:pt x="267" y="120"/>
                    <a:pt x="263" y="120"/>
                  </a:cubicBezTo>
                  <a:cubicBezTo>
                    <a:pt x="259" y="120"/>
                    <a:pt x="259" y="120"/>
                    <a:pt x="259" y="120"/>
                  </a:cubicBezTo>
                  <a:cubicBezTo>
                    <a:pt x="256" y="120"/>
                    <a:pt x="253" y="118"/>
                    <a:pt x="252" y="114"/>
                  </a:cubicBezTo>
                  <a:cubicBezTo>
                    <a:pt x="250" y="102"/>
                    <a:pt x="250" y="102"/>
                    <a:pt x="250" y="102"/>
                  </a:cubicBezTo>
                  <a:cubicBezTo>
                    <a:pt x="244" y="100"/>
                    <a:pt x="238" y="97"/>
                    <a:pt x="233" y="93"/>
                  </a:cubicBezTo>
                  <a:cubicBezTo>
                    <a:pt x="222" y="98"/>
                    <a:pt x="222" y="98"/>
                    <a:pt x="222" y="98"/>
                  </a:cubicBezTo>
                  <a:cubicBezTo>
                    <a:pt x="219" y="100"/>
                    <a:pt x="215" y="99"/>
                    <a:pt x="213" y="96"/>
                  </a:cubicBezTo>
                  <a:cubicBezTo>
                    <a:pt x="210" y="93"/>
                    <a:pt x="210" y="93"/>
                    <a:pt x="210" y="93"/>
                  </a:cubicBezTo>
                  <a:cubicBezTo>
                    <a:pt x="208" y="90"/>
                    <a:pt x="209" y="85"/>
                    <a:pt x="211" y="83"/>
                  </a:cubicBezTo>
                  <a:cubicBezTo>
                    <a:pt x="220" y="74"/>
                    <a:pt x="220" y="74"/>
                    <a:pt x="220" y="74"/>
                  </a:cubicBezTo>
                  <a:cubicBezTo>
                    <a:pt x="219" y="70"/>
                    <a:pt x="218" y="65"/>
                    <a:pt x="218" y="61"/>
                  </a:cubicBezTo>
                  <a:cubicBezTo>
                    <a:pt x="218" y="56"/>
                    <a:pt x="219" y="52"/>
                    <a:pt x="220" y="48"/>
                  </a:cubicBezTo>
                  <a:cubicBezTo>
                    <a:pt x="220" y="48"/>
                    <a:pt x="220" y="48"/>
                    <a:pt x="220" y="48"/>
                  </a:cubicBezTo>
                  <a:cubicBezTo>
                    <a:pt x="211" y="39"/>
                    <a:pt x="211" y="39"/>
                    <a:pt x="211" y="39"/>
                  </a:cubicBezTo>
                  <a:cubicBezTo>
                    <a:pt x="208" y="37"/>
                    <a:pt x="208" y="32"/>
                    <a:pt x="210" y="29"/>
                  </a:cubicBezTo>
                  <a:cubicBezTo>
                    <a:pt x="212" y="26"/>
                    <a:pt x="212" y="26"/>
                    <a:pt x="212" y="26"/>
                  </a:cubicBezTo>
                  <a:cubicBezTo>
                    <a:pt x="214" y="23"/>
                    <a:pt x="218" y="22"/>
                    <a:pt x="221" y="23"/>
                  </a:cubicBezTo>
                  <a:cubicBezTo>
                    <a:pt x="233" y="28"/>
                    <a:pt x="233" y="28"/>
                    <a:pt x="233" y="28"/>
                  </a:cubicBezTo>
                  <a:cubicBezTo>
                    <a:pt x="233" y="28"/>
                    <a:pt x="233" y="28"/>
                    <a:pt x="233" y="28"/>
                  </a:cubicBezTo>
                  <a:cubicBezTo>
                    <a:pt x="238" y="24"/>
                    <a:pt x="243" y="21"/>
                    <a:pt x="249" y="19"/>
                  </a:cubicBezTo>
                  <a:cubicBezTo>
                    <a:pt x="252" y="7"/>
                    <a:pt x="252" y="7"/>
                    <a:pt x="252" y="7"/>
                  </a:cubicBezTo>
                  <a:cubicBezTo>
                    <a:pt x="253" y="3"/>
                    <a:pt x="256" y="0"/>
                    <a:pt x="259" y="0"/>
                  </a:cubicBezTo>
                  <a:cubicBezTo>
                    <a:pt x="263" y="0"/>
                    <a:pt x="263" y="0"/>
                    <a:pt x="263" y="0"/>
                  </a:cubicBezTo>
                  <a:cubicBezTo>
                    <a:pt x="267" y="0"/>
                    <a:pt x="270" y="3"/>
                    <a:pt x="271" y="7"/>
                  </a:cubicBezTo>
                  <a:cubicBezTo>
                    <a:pt x="273" y="19"/>
                    <a:pt x="273" y="19"/>
                    <a:pt x="273" y="19"/>
                  </a:cubicBezTo>
                  <a:cubicBezTo>
                    <a:pt x="279" y="21"/>
                    <a:pt x="285" y="24"/>
                    <a:pt x="290" y="28"/>
                  </a:cubicBezTo>
                  <a:cubicBezTo>
                    <a:pt x="301" y="23"/>
                    <a:pt x="301" y="23"/>
                    <a:pt x="301" y="23"/>
                  </a:cubicBezTo>
                  <a:cubicBezTo>
                    <a:pt x="305" y="22"/>
                    <a:pt x="309" y="23"/>
                    <a:pt x="311" y="26"/>
                  </a:cubicBezTo>
                  <a:cubicBezTo>
                    <a:pt x="313" y="29"/>
                    <a:pt x="313" y="29"/>
                    <a:pt x="313" y="29"/>
                  </a:cubicBezTo>
                  <a:cubicBezTo>
                    <a:pt x="315" y="32"/>
                    <a:pt x="314" y="37"/>
                    <a:pt x="312" y="39"/>
                  </a:cubicBezTo>
                  <a:cubicBezTo>
                    <a:pt x="303" y="48"/>
                    <a:pt x="303" y="48"/>
                    <a:pt x="303" y="48"/>
                  </a:cubicBezTo>
                  <a:cubicBezTo>
                    <a:pt x="304" y="52"/>
                    <a:pt x="304" y="56"/>
                    <a:pt x="304" y="61"/>
                  </a:cubicBezTo>
                  <a:cubicBezTo>
                    <a:pt x="304" y="65"/>
                    <a:pt x="304" y="70"/>
                    <a:pt x="302" y="74"/>
                  </a:cubicBezTo>
                  <a:lnTo>
                    <a:pt x="311" y="83"/>
                  </a:lnTo>
                  <a:close/>
                  <a:moveTo>
                    <a:pt x="276" y="61"/>
                  </a:moveTo>
                  <a:cubicBezTo>
                    <a:pt x="276" y="52"/>
                    <a:pt x="269" y="46"/>
                    <a:pt x="261" y="46"/>
                  </a:cubicBezTo>
                  <a:cubicBezTo>
                    <a:pt x="253" y="46"/>
                    <a:pt x="246" y="52"/>
                    <a:pt x="246" y="61"/>
                  </a:cubicBezTo>
                  <a:cubicBezTo>
                    <a:pt x="246" y="69"/>
                    <a:pt x="253" y="75"/>
                    <a:pt x="261" y="75"/>
                  </a:cubicBezTo>
                  <a:cubicBezTo>
                    <a:pt x="269" y="75"/>
                    <a:pt x="276" y="69"/>
                    <a:pt x="276" y="61"/>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765">
                <a:solidFill>
                  <a:srgbClr val="000000"/>
                </a:solidFill>
              </a:endParaRPr>
            </a:p>
          </p:txBody>
        </p:sp>
        <p:sp>
          <p:nvSpPr>
            <p:cNvPr id="8" name="Freeform 72"/>
            <p:cNvSpPr>
              <a:spLocks noEditPoints="1"/>
            </p:cNvSpPr>
            <p:nvPr/>
          </p:nvSpPr>
          <p:spPr bwMode="auto">
            <a:xfrm>
              <a:off x="10649888" y="6630565"/>
              <a:ext cx="155969" cy="155969"/>
            </a:xfrm>
            <a:custGeom>
              <a:avLst/>
              <a:gdLst>
                <a:gd name="T0" fmla="*/ 78 w 155"/>
                <a:gd name="T1" fmla="*/ 0 h 155"/>
                <a:gd name="T2" fmla="*/ 0 w 155"/>
                <a:gd name="T3" fmla="*/ 78 h 155"/>
                <a:gd name="T4" fmla="*/ 78 w 155"/>
                <a:gd name="T5" fmla="*/ 155 h 155"/>
                <a:gd name="T6" fmla="*/ 155 w 155"/>
                <a:gd name="T7" fmla="*/ 78 h 155"/>
                <a:gd name="T8" fmla="*/ 78 w 155"/>
                <a:gd name="T9" fmla="*/ 0 h 155"/>
                <a:gd name="T10" fmla="*/ 86 w 155"/>
                <a:gd name="T11" fmla="*/ 120 h 155"/>
                <a:gd name="T12" fmla="*/ 58 w 155"/>
                <a:gd name="T13" fmla="*/ 120 h 155"/>
                <a:gd name="T14" fmla="*/ 90 w 155"/>
                <a:gd name="T15" fmla="*/ 88 h 155"/>
                <a:gd name="T16" fmla="*/ 27 w 155"/>
                <a:gd name="T17" fmla="*/ 88 h 155"/>
                <a:gd name="T18" fmla="*/ 27 w 155"/>
                <a:gd name="T19" fmla="*/ 67 h 155"/>
                <a:gd name="T20" fmla="*/ 90 w 155"/>
                <a:gd name="T21" fmla="*/ 67 h 155"/>
                <a:gd name="T22" fmla="*/ 58 w 155"/>
                <a:gd name="T23" fmla="*/ 36 h 155"/>
                <a:gd name="T24" fmla="*/ 86 w 155"/>
                <a:gd name="T25" fmla="*/ 36 h 155"/>
                <a:gd name="T26" fmla="*/ 128 w 155"/>
                <a:gd name="T27" fmla="*/ 78 h 155"/>
                <a:gd name="T28" fmla="*/ 86 w 155"/>
                <a:gd name="T29" fmla="*/ 12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 h="155">
                  <a:moveTo>
                    <a:pt x="78" y="0"/>
                  </a:moveTo>
                  <a:cubicBezTo>
                    <a:pt x="35" y="0"/>
                    <a:pt x="0" y="35"/>
                    <a:pt x="0" y="78"/>
                  </a:cubicBezTo>
                  <a:cubicBezTo>
                    <a:pt x="0" y="121"/>
                    <a:pt x="35" y="155"/>
                    <a:pt x="78" y="155"/>
                  </a:cubicBezTo>
                  <a:cubicBezTo>
                    <a:pt x="121" y="155"/>
                    <a:pt x="155" y="121"/>
                    <a:pt x="155" y="78"/>
                  </a:cubicBezTo>
                  <a:cubicBezTo>
                    <a:pt x="155" y="35"/>
                    <a:pt x="121" y="0"/>
                    <a:pt x="78" y="0"/>
                  </a:cubicBezTo>
                  <a:close/>
                  <a:moveTo>
                    <a:pt x="86" y="120"/>
                  </a:moveTo>
                  <a:cubicBezTo>
                    <a:pt x="58" y="120"/>
                    <a:pt x="58" y="120"/>
                    <a:pt x="58" y="120"/>
                  </a:cubicBezTo>
                  <a:cubicBezTo>
                    <a:pt x="90" y="88"/>
                    <a:pt x="90" y="88"/>
                    <a:pt x="90" y="88"/>
                  </a:cubicBezTo>
                  <a:cubicBezTo>
                    <a:pt x="27" y="88"/>
                    <a:pt x="27" y="88"/>
                    <a:pt x="27" y="88"/>
                  </a:cubicBezTo>
                  <a:cubicBezTo>
                    <a:pt x="27" y="67"/>
                    <a:pt x="27" y="67"/>
                    <a:pt x="27" y="67"/>
                  </a:cubicBezTo>
                  <a:cubicBezTo>
                    <a:pt x="90" y="67"/>
                    <a:pt x="90" y="67"/>
                    <a:pt x="90" y="67"/>
                  </a:cubicBezTo>
                  <a:cubicBezTo>
                    <a:pt x="58" y="36"/>
                    <a:pt x="58" y="36"/>
                    <a:pt x="58" y="36"/>
                  </a:cubicBezTo>
                  <a:cubicBezTo>
                    <a:pt x="86" y="36"/>
                    <a:pt x="86" y="36"/>
                    <a:pt x="86" y="36"/>
                  </a:cubicBezTo>
                  <a:cubicBezTo>
                    <a:pt x="128" y="78"/>
                    <a:pt x="128" y="78"/>
                    <a:pt x="128" y="78"/>
                  </a:cubicBezTo>
                  <a:lnTo>
                    <a:pt x="86" y="120"/>
                  </a:lnTo>
                  <a:close/>
                </a:path>
              </a:pathLst>
            </a:custGeom>
            <a:solidFill>
              <a:srgbClr val="D2D2D2"/>
            </a:solidFill>
            <a:ln>
              <a:noFill/>
            </a:ln>
          </p:spPr>
          <p:txBody>
            <a:bodyPr vert="horz" wrap="square" lIns="91440" tIns="45720" rIns="91440" bIns="45720" numCol="1" anchor="t" anchorCtr="0" compatLnSpc="1">
              <a:prstTxWarp prst="textNoShape">
                <a:avLst/>
              </a:prstTxWarp>
            </a:bodyPr>
            <a:lstStyle/>
            <a:p>
              <a:pPr defTabSz="896175"/>
              <a:endParaRPr lang="en-US" sz="1667">
                <a:solidFill>
                  <a:srgbClr val="000000"/>
                </a:solidFill>
              </a:endParaRPr>
            </a:p>
          </p:txBody>
        </p:sp>
        <p:sp>
          <p:nvSpPr>
            <p:cNvPr id="9" name="Freeform 72"/>
            <p:cNvSpPr>
              <a:spLocks noEditPoints="1"/>
            </p:cNvSpPr>
            <p:nvPr/>
          </p:nvSpPr>
          <p:spPr bwMode="auto">
            <a:xfrm>
              <a:off x="11375407" y="6630565"/>
              <a:ext cx="155969" cy="155969"/>
            </a:xfrm>
            <a:custGeom>
              <a:avLst/>
              <a:gdLst>
                <a:gd name="T0" fmla="*/ 78 w 155"/>
                <a:gd name="T1" fmla="*/ 0 h 155"/>
                <a:gd name="T2" fmla="*/ 0 w 155"/>
                <a:gd name="T3" fmla="*/ 78 h 155"/>
                <a:gd name="T4" fmla="*/ 78 w 155"/>
                <a:gd name="T5" fmla="*/ 155 h 155"/>
                <a:gd name="T6" fmla="*/ 155 w 155"/>
                <a:gd name="T7" fmla="*/ 78 h 155"/>
                <a:gd name="T8" fmla="*/ 78 w 155"/>
                <a:gd name="T9" fmla="*/ 0 h 155"/>
                <a:gd name="T10" fmla="*/ 86 w 155"/>
                <a:gd name="T11" fmla="*/ 120 h 155"/>
                <a:gd name="T12" fmla="*/ 58 w 155"/>
                <a:gd name="T13" fmla="*/ 120 h 155"/>
                <a:gd name="T14" fmla="*/ 90 w 155"/>
                <a:gd name="T15" fmla="*/ 88 h 155"/>
                <a:gd name="T16" fmla="*/ 27 w 155"/>
                <a:gd name="T17" fmla="*/ 88 h 155"/>
                <a:gd name="T18" fmla="*/ 27 w 155"/>
                <a:gd name="T19" fmla="*/ 67 h 155"/>
                <a:gd name="T20" fmla="*/ 90 w 155"/>
                <a:gd name="T21" fmla="*/ 67 h 155"/>
                <a:gd name="T22" fmla="*/ 58 w 155"/>
                <a:gd name="T23" fmla="*/ 36 h 155"/>
                <a:gd name="T24" fmla="*/ 86 w 155"/>
                <a:gd name="T25" fmla="*/ 36 h 155"/>
                <a:gd name="T26" fmla="*/ 128 w 155"/>
                <a:gd name="T27" fmla="*/ 78 h 155"/>
                <a:gd name="T28" fmla="*/ 86 w 155"/>
                <a:gd name="T29" fmla="*/ 12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5" h="155">
                  <a:moveTo>
                    <a:pt x="78" y="0"/>
                  </a:moveTo>
                  <a:cubicBezTo>
                    <a:pt x="35" y="0"/>
                    <a:pt x="0" y="35"/>
                    <a:pt x="0" y="78"/>
                  </a:cubicBezTo>
                  <a:cubicBezTo>
                    <a:pt x="0" y="121"/>
                    <a:pt x="35" y="155"/>
                    <a:pt x="78" y="155"/>
                  </a:cubicBezTo>
                  <a:cubicBezTo>
                    <a:pt x="121" y="155"/>
                    <a:pt x="155" y="121"/>
                    <a:pt x="155" y="78"/>
                  </a:cubicBezTo>
                  <a:cubicBezTo>
                    <a:pt x="155" y="35"/>
                    <a:pt x="121" y="0"/>
                    <a:pt x="78" y="0"/>
                  </a:cubicBezTo>
                  <a:close/>
                  <a:moveTo>
                    <a:pt x="86" y="120"/>
                  </a:moveTo>
                  <a:cubicBezTo>
                    <a:pt x="58" y="120"/>
                    <a:pt x="58" y="120"/>
                    <a:pt x="58" y="120"/>
                  </a:cubicBezTo>
                  <a:cubicBezTo>
                    <a:pt x="90" y="88"/>
                    <a:pt x="90" y="88"/>
                    <a:pt x="90" y="88"/>
                  </a:cubicBezTo>
                  <a:cubicBezTo>
                    <a:pt x="27" y="88"/>
                    <a:pt x="27" y="88"/>
                    <a:pt x="27" y="88"/>
                  </a:cubicBezTo>
                  <a:cubicBezTo>
                    <a:pt x="27" y="67"/>
                    <a:pt x="27" y="67"/>
                    <a:pt x="27" y="67"/>
                  </a:cubicBezTo>
                  <a:cubicBezTo>
                    <a:pt x="90" y="67"/>
                    <a:pt x="90" y="67"/>
                    <a:pt x="90" y="67"/>
                  </a:cubicBezTo>
                  <a:cubicBezTo>
                    <a:pt x="58" y="36"/>
                    <a:pt x="58" y="36"/>
                    <a:pt x="58" y="36"/>
                  </a:cubicBezTo>
                  <a:cubicBezTo>
                    <a:pt x="86" y="36"/>
                    <a:pt x="86" y="36"/>
                    <a:pt x="86" y="36"/>
                  </a:cubicBezTo>
                  <a:cubicBezTo>
                    <a:pt x="128" y="78"/>
                    <a:pt x="128" y="78"/>
                    <a:pt x="128" y="78"/>
                  </a:cubicBezTo>
                  <a:lnTo>
                    <a:pt x="86" y="120"/>
                  </a:lnTo>
                  <a:close/>
                </a:path>
              </a:pathLst>
            </a:custGeom>
            <a:solidFill>
              <a:srgbClr val="D2D2D2"/>
            </a:solidFill>
            <a:ln>
              <a:noFill/>
            </a:ln>
          </p:spPr>
          <p:txBody>
            <a:bodyPr vert="horz" wrap="square" lIns="91440" tIns="45720" rIns="91440" bIns="45720" numCol="1" anchor="t" anchorCtr="0" compatLnSpc="1">
              <a:prstTxWarp prst="textNoShape">
                <a:avLst/>
              </a:prstTxWarp>
            </a:bodyPr>
            <a:lstStyle/>
            <a:p>
              <a:pPr defTabSz="896175"/>
              <a:endParaRPr lang="en-US" sz="1667">
                <a:solidFill>
                  <a:srgbClr val="000000"/>
                </a:solidFill>
              </a:endParaRPr>
            </a:p>
          </p:txBody>
        </p:sp>
      </p:grpSp>
    </p:spTree>
    <p:extLst>
      <p:ext uri="{BB962C8B-B14F-4D97-AF65-F5344CB8AC3E}">
        <p14:creationId xmlns:p14="http://schemas.microsoft.com/office/powerpoint/2010/main" val="222824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0pt Title/30pt Sub/White BG">
    <p:bg>
      <p:bgPr>
        <a:solidFill>
          <a:schemeClr val="bg1"/>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a:solidFill>
                  <a:srgbClr val="002050"/>
                </a:solidFill>
              </a:defRPr>
            </a:lvl1pPr>
          </a:lstStyle>
          <a:p>
            <a:r>
              <a:rPr dirty="0"/>
              <a:t>Microsoft Confidential</a:t>
            </a:r>
          </a:p>
        </p:txBody>
      </p:sp>
      <p:sp>
        <p:nvSpPr>
          <p:cNvPr id="4" name="Slide Number Placeholder 3"/>
          <p:cNvSpPr>
            <a:spLocks noGrp="1"/>
          </p:cNvSpPr>
          <p:nvPr>
            <p:ph type="sldNum" sz="quarter" idx="11"/>
          </p:nvPr>
        </p:nvSpPr>
        <p:spPr/>
        <p:txBody>
          <a:bodyPr/>
          <a:lstStyle>
            <a:lvl1pPr>
              <a:defRPr>
                <a:solidFill>
                  <a:srgbClr val="002050"/>
                </a:solidFill>
              </a:defRPr>
            </a:lvl1pPr>
          </a:lstStyle>
          <a:p>
            <a:fld id="{27258FFF-F925-446B-8502-81C933981705}" type="slidenum">
              <a:rPr smtClean="0"/>
              <a:pPr/>
              <a:t>‹#›</a:t>
            </a:fld>
            <a:endParaRPr dirty="0"/>
          </a:p>
        </p:txBody>
      </p:sp>
      <p:sp>
        <p:nvSpPr>
          <p:cNvPr id="6" name="Text Placeholder 8"/>
          <p:cNvSpPr>
            <a:spLocks noGrp="1"/>
          </p:cNvSpPr>
          <p:nvPr>
            <p:ph type="body" sz="quarter" idx="12"/>
          </p:nvPr>
        </p:nvSpPr>
        <p:spPr>
          <a:xfrm>
            <a:off x="269239" y="291069"/>
            <a:ext cx="10757098" cy="888769"/>
          </a:xfrm>
          <a:prstGeom prst="rect">
            <a:avLst/>
          </a:prstGeom>
          <a:noFill/>
        </p:spPr>
        <p:txBody>
          <a:bodyPr/>
          <a:lstStyle>
            <a:lvl1pPr marL="0" indent="0">
              <a:lnSpc>
                <a:spcPts val="5392"/>
              </a:lnSpc>
              <a:spcBef>
                <a:spcPts val="0"/>
              </a:spcBef>
              <a:buFontTx/>
              <a:buNone/>
              <a:defRPr sz="5098">
                <a:solidFill>
                  <a:schemeClr val="tx2"/>
                </a:solidFill>
                <a:latin typeface="+mj-lt"/>
              </a:defRPr>
            </a:lvl1pPr>
            <a:lvl2pPr marL="0" indent="0">
              <a:lnSpc>
                <a:spcPts val="2549"/>
              </a:lnSpc>
              <a:spcBef>
                <a:spcPts val="1765"/>
              </a:spcBef>
              <a:spcAft>
                <a:spcPts val="0"/>
              </a:spcAft>
              <a:buFontTx/>
              <a:buNone/>
              <a:defRPr sz="5294">
                <a:solidFill>
                  <a:schemeClr val="tx2"/>
                </a:solidFill>
                <a:latin typeface="+mj-lt"/>
              </a:defRPr>
            </a:lvl2pPr>
            <a:lvl3pPr marL="225653" indent="-224097">
              <a:lnSpc>
                <a:spcPts val="2647"/>
              </a:lnSpc>
              <a:spcBef>
                <a:spcPts val="0"/>
              </a:spcBef>
              <a:defRPr sz="1961">
                <a:solidFill>
                  <a:schemeClr val="bg1"/>
                </a:solidFill>
              </a:defRPr>
            </a:lvl3pPr>
            <a:lvl4pPr marL="225653" indent="-224097">
              <a:lnSpc>
                <a:spcPts val="2647"/>
              </a:lnSpc>
              <a:spcBef>
                <a:spcPts val="0"/>
              </a:spcBef>
              <a:defRPr sz="1961">
                <a:solidFill>
                  <a:schemeClr val="bg1"/>
                </a:solidFill>
              </a:defRPr>
            </a:lvl4pPr>
            <a:lvl5pPr marL="225653" indent="-224097">
              <a:lnSpc>
                <a:spcPts val="2647"/>
              </a:lnSpc>
              <a:spcBef>
                <a:spcPts val="0"/>
              </a:spcBef>
              <a:defRPr sz="196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91663889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8927" y="286381"/>
            <a:ext cx="11653523" cy="927940"/>
          </a:xfrm>
          <a:prstGeom prst="rect">
            <a:avLst/>
          </a:prstGeom>
        </p:spPr>
        <p:txBody>
          <a:bodyPr/>
          <a:lstStyle>
            <a:lvl1pPr algn="l">
              <a:defRPr sz="5098">
                <a:gradFill>
                  <a:gsLst>
                    <a:gs pos="1250">
                      <a:schemeClr val="tx1"/>
                    </a:gs>
                    <a:gs pos="100000">
                      <a:schemeClr val="tx1"/>
                    </a:gs>
                  </a:gsLst>
                  <a:lin ang="5400000" scaled="0"/>
                </a:gradFill>
              </a:defRPr>
            </a:lvl1pPr>
          </a:lstStyle>
          <a:p>
            <a:r>
              <a:rPr lang="en-US" dirty="0"/>
              <a:t>Click to edit master title style</a:t>
            </a:r>
          </a:p>
        </p:txBody>
      </p:sp>
      <p:sp>
        <p:nvSpPr>
          <p:cNvPr id="8" name="Slide Number Placeholder 7"/>
          <p:cNvSpPr>
            <a:spLocks noGrp="1"/>
          </p:cNvSpPr>
          <p:nvPr>
            <p:ph type="sldNum" sz="quarter" idx="11"/>
          </p:nvPr>
        </p:nvSpPr>
        <p:spPr/>
        <p:txBody>
          <a:bodyPr/>
          <a:lstStyle/>
          <a:p>
            <a:pPr>
              <a:lnSpc>
                <a:spcPct val="90000"/>
              </a:lnSpc>
            </a:pPr>
            <a:fld id="{1BC86A1F-E589-44B2-A543-2EC98F5547A7}" type="slidenum">
              <a:rPr>
                <a:gradFill>
                  <a:gsLst>
                    <a:gs pos="0">
                      <a:srgbClr val="EFEFEF"/>
                    </a:gs>
                    <a:gs pos="100000">
                      <a:srgbClr val="EFEFEF"/>
                    </a:gs>
                  </a:gsLst>
                  <a:lin ang="5400000" scaled="0"/>
                </a:gradFill>
              </a:rPr>
              <a:pPr>
                <a:lnSpc>
                  <a:spcPct val="90000"/>
                </a:lnSpc>
              </a:pPr>
              <a:t>‹#›</a:t>
            </a:fld>
            <a:endParaRPr dirty="0">
              <a:gradFill>
                <a:gsLst>
                  <a:gs pos="0">
                    <a:srgbClr val="EFEFEF"/>
                  </a:gs>
                  <a:gs pos="100000">
                    <a:srgbClr val="EFEFEF"/>
                  </a:gs>
                </a:gsLst>
                <a:lin ang="5400000" scaled="0"/>
              </a:gradFill>
            </a:endParaRPr>
          </a:p>
        </p:txBody>
      </p:sp>
    </p:spTree>
    <p:extLst>
      <p:ext uri="{BB962C8B-B14F-4D97-AF65-F5344CB8AC3E}">
        <p14:creationId xmlns:p14="http://schemas.microsoft.com/office/powerpoint/2010/main" val="22535789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Section Change 48pt Title">
    <p:bg>
      <p:bgPr>
        <a:solidFill>
          <a:schemeClr val="accent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a:prstGeom prst="rect">
            <a:avLst/>
          </a:prstGeom>
        </p:spPr>
        <p:txBody>
          <a:bodyPr/>
          <a:lstStyle>
            <a:lvl1pPr marL="0" indent="0">
              <a:buNone/>
              <a:defRPr>
                <a:solidFill>
                  <a:schemeClr val="bg1"/>
                </a:solidFill>
              </a:defRPr>
            </a:lvl1pPr>
          </a:lstStyle>
          <a:p>
            <a:r>
              <a:rPr lang="en-US"/>
              <a:t>Click icon to add picture</a:t>
            </a:r>
            <a:endParaRPr lang="en-US" dirty="0"/>
          </a:p>
        </p:txBody>
      </p:sp>
      <p:sp>
        <p:nvSpPr>
          <p:cNvPr id="3" name="Text Placeholder 2"/>
          <p:cNvSpPr>
            <a:spLocks noGrp="1"/>
          </p:cNvSpPr>
          <p:nvPr>
            <p:ph type="body" sz="quarter" idx="11"/>
          </p:nvPr>
        </p:nvSpPr>
        <p:spPr>
          <a:xfrm>
            <a:off x="269239" y="1187620"/>
            <a:ext cx="4482124" cy="4482760"/>
          </a:xfrm>
          <a:prstGeom prst="rect">
            <a:avLst/>
          </a:prstGeom>
          <a:solidFill>
            <a:srgbClr val="008272">
              <a:alpha val="90588"/>
            </a:srgbClr>
          </a:solidFill>
        </p:spPr>
        <p:txBody>
          <a:bodyPr lIns="146304" tIns="91440" rIns="146304" bIns="91440">
            <a:noAutofit/>
          </a:bodyPr>
          <a:lstStyle>
            <a:lvl1pPr marL="0" indent="0" algn="l">
              <a:buNone/>
              <a:defRPr lang="en-US" sz="4705" kern="1200" spc="0" baseline="0" dirty="0" smtClean="0">
                <a:solidFill>
                  <a:schemeClr val="bg1"/>
                </a:solidFill>
                <a:latin typeface="+mj-lt"/>
                <a:ea typeface="+mn-ea"/>
                <a:cs typeface="+mn-cs"/>
              </a:defRPr>
            </a:lvl1pPr>
            <a:lvl2pPr marL="336113" indent="0" algn="l">
              <a:buNone/>
              <a:defRPr sz="4705"/>
            </a:lvl2pPr>
            <a:lvl3pPr marL="560187" indent="0" algn="l">
              <a:buNone/>
              <a:defRPr sz="4705"/>
            </a:lvl3pPr>
            <a:lvl4pPr marL="784261" indent="0" algn="l">
              <a:buNone/>
              <a:defRPr sz="4705"/>
            </a:lvl4pPr>
            <a:lvl5pPr marL="1008335" indent="0" algn="l">
              <a:buNone/>
              <a:defRPr sz="4705"/>
            </a:lvl5pPr>
          </a:lstStyle>
          <a:p>
            <a:pPr marL="0" marR="0" lvl="0" indent="0" algn="l" defTabSz="914367" rtl="0" eaLnBrk="1" fontAlgn="auto" latinLnBrk="0" hangingPunct="1">
              <a:lnSpc>
                <a:spcPct val="90000"/>
              </a:lnSpc>
              <a:spcBef>
                <a:spcPct val="20000"/>
              </a:spcBef>
              <a:spcAft>
                <a:spcPts val="0"/>
              </a:spcAft>
              <a:buClrTx/>
              <a:buSzPct val="90000"/>
              <a:buFont typeface="Arial" pitchFamily="34" charset="0"/>
              <a:buNone/>
              <a:tabLst/>
            </a:pPr>
            <a:r>
              <a:rPr lang="en-US" dirty="0"/>
              <a:t>Click to edit Master text styles</a:t>
            </a:r>
          </a:p>
        </p:txBody>
      </p:sp>
      <p:sp>
        <p:nvSpPr>
          <p:cNvPr id="5" name="Footer Placeholder 2"/>
          <p:cNvSpPr>
            <a:spLocks noGrp="1"/>
          </p:cNvSpPr>
          <p:nvPr>
            <p:ph type="ftr" sz="quarter" idx="3"/>
          </p:nvPr>
        </p:nvSpPr>
        <p:spPr>
          <a:xfrm>
            <a:off x="448212" y="6437243"/>
            <a:ext cx="3859607" cy="134483"/>
          </a:xfrm>
          <a:prstGeom prst="rect">
            <a:avLst/>
          </a:prstGeom>
        </p:spPr>
        <p:txBody>
          <a:bodyPr vert="horz" lIns="0" tIns="0" rIns="91440" bIns="0" rtlCol="0" anchor="ctr"/>
          <a:lstStyle>
            <a:lvl1pPr marL="0" algn="l" defTabSz="914367" rtl="0" eaLnBrk="1" latinLnBrk="0" hangingPunct="1">
              <a:defRPr lang="en-US" sz="882" kern="1200">
                <a:solidFill>
                  <a:schemeClr val="bg1"/>
                </a:solidFill>
                <a:latin typeface="+mn-lt"/>
                <a:ea typeface="+mn-ea"/>
                <a:cs typeface="+mn-cs"/>
              </a:defRPr>
            </a:lvl1pPr>
          </a:lstStyle>
          <a:p>
            <a:r>
              <a:rPr>
                <a:solidFill>
                  <a:srgbClr val="FFFFFF"/>
                </a:solidFill>
              </a:rPr>
              <a:t>Microsoft Confidential</a:t>
            </a:r>
          </a:p>
        </p:txBody>
      </p:sp>
      <p:sp>
        <p:nvSpPr>
          <p:cNvPr id="6" name="Slide Number Placeholder 4"/>
          <p:cNvSpPr>
            <a:spLocks noGrp="1"/>
          </p:cNvSpPr>
          <p:nvPr>
            <p:ph type="sldNum" sz="quarter" idx="4"/>
          </p:nvPr>
        </p:nvSpPr>
        <p:spPr>
          <a:xfrm>
            <a:off x="11367166" y="6437243"/>
            <a:ext cx="555596" cy="134483"/>
          </a:xfrm>
          <a:prstGeom prst="rect">
            <a:avLst/>
          </a:prstGeom>
        </p:spPr>
        <p:txBody>
          <a:bodyPr vert="horz" lIns="91440" tIns="0" rIns="0" bIns="0" rtlCol="0" anchor="ctr"/>
          <a:lstStyle>
            <a:lvl1pPr algn="r">
              <a:defRPr lang="en-US" sz="882" b="0" kern="1200" smtClean="0">
                <a:solidFill>
                  <a:schemeClr val="bg1"/>
                </a:solidFill>
                <a:latin typeface="+mn-lt"/>
                <a:ea typeface="+mn-ea"/>
                <a:cs typeface="+mn-cs"/>
              </a:defRPr>
            </a:lvl1pPr>
          </a:lstStyle>
          <a:p>
            <a:fld id="{27258FFF-F925-446B-8502-81C933981705}" type="slidenum">
              <a:rPr>
                <a:solidFill>
                  <a:srgbClr val="FFFFFF"/>
                </a:solidFill>
              </a:rPr>
              <a:pPr/>
              <a:t>‹#›</a:t>
            </a:fld>
            <a:endParaRPr>
              <a:solidFill>
                <a:srgbClr val="FFFFFF"/>
              </a:solidFill>
            </a:endParaRPr>
          </a:p>
        </p:txBody>
      </p:sp>
    </p:spTree>
    <p:extLst>
      <p:ext uri="{BB962C8B-B14F-4D97-AF65-F5344CB8AC3E}">
        <p14:creationId xmlns:p14="http://schemas.microsoft.com/office/powerpoint/2010/main" val="329530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a:solidFill>
                  <a:srgbClr val="505050"/>
                </a:solidFill>
              </a:rPr>
              <a:t>Microsoft Confidential</a:t>
            </a:r>
          </a:p>
        </p:txBody>
      </p:sp>
      <p:sp>
        <p:nvSpPr>
          <p:cNvPr id="3" name="Slide Number Placeholder 2"/>
          <p:cNvSpPr>
            <a:spLocks noGrp="1"/>
          </p:cNvSpPr>
          <p:nvPr>
            <p:ph type="sldNum" sz="quarter" idx="11"/>
          </p:nvPr>
        </p:nvSpPr>
        <p:spPr/>
        <p:txBody>
          <a:bodyPr/>
          <a:lstStyle/>
          <a:p>
            <a:fld id="{27258FFF-F925-446B-8502-81C933981705}" type="slidenum">
              <a:rPr>
                <a:solidFill>
                  <a:srgbClr val="505050"/>
                </a:solidFill>
              </a:rPr>
              <a:pPr/>
              <a:t>‹#›</a:t>
            </a:fld>
            <a:endParaRPr>
              <a:solidFill>
                <a:srgbClr val="505050"/>
              </a:solidFill>
            </a:endParaRPr>
          </a:p>
        </p:txBody>
      </p:sp>
    </p:spTree>
    <p:extLst>
      <p:ext uri="{BB962C8B-B14F-4D97-AF65-F5344CB8AC3E}">
        <p14:creationId xmlns:p14="http://schemas.microsoft.com/office/powerpoint/2010/main" val="19875977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and 2-color bullete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240678"/>
          </a:xfrm>
          <a:prstGeom prst="rect">
            <a:avLst/>
          </a:prstGeom>
        </p:spPr>
        <p:txBody>
          <a:bodyPr>
            <a:spAutoFit/>
          </a:bodyPr>
          <a:lstStyle>
            <a:lvl1pPr>
              <a:buClr>
                <a:schemeClr val="tx2"/>
              </a:buClr>
              <a:defRPr>
                <a:gradFill>
                  <a:gsLst>
                    <a:gs pos="13869">
                      <a:schemeClr val="tx2"/>
                    </a:gs>
                    <a:gs pos="42000">
                      <a:schemeClr val="tx2"/>
                    </a:gs>
                  </a:gsLst>
                  <a:lin ang="5400000" scaled="0"/>
                </a:gradFill>
              </a:defRPr>
            </a:lvl1pPr>
            <a:lvl3pPr>
              <a:defRPr sz="2353"/>
            </a:lvl3pPr>
            <a:lvl4pPr>
              <a:defRPr sz="1961"/>
            </a:lvl4pPr>
            <a:lvl5pPr>
              <a:defRPr sz="196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a:xfrm>
            <a:off x="269240" y="289511"/>
            <a:ext cx="11655840" cy="89966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25224194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3720" y="3113371"/>
            <a:ext cx="11408230" cy="1101726"/>
          </a:xfrm>
        </p:spPr>
        <p:txBody>
          <a:bodyPr anchor="b">
            <a:normAutofit/>
          </a:bodyPr>
          <a:lstStyle>
            <a:lvl1pPr algn="ctr">
              <a:defRPr sz="3600" baseline="0"/>
            </a:lvl1pPr>
          </a:lstStyle>
          <a:p>
            <a:r>
              <a:rPr lang="en-US" dirty="0"/>
              <a:t>Click to edit lecture title</a:t>
            </a:r>
            <a:endParaRPr lang="en-GB" dirty="0"/>
          </a:p>
        </p:txBody>
      </p:sp>
      <p:sp>
        <p:nvSpPr>
          <p:cNvPr id="3" name="Subtitle 2"/>
          <p:cNvSpPr>
            <a:spLocks noGrp="1"/>
          </p:cNvSpPr>
          <p:nvPr>
            <p:ph type="subTitle" idx="1" hasCustomPrompt="1"/>
          </p:nvPr>
        </p:nvSpPr>
        <p:spPr>
          <a:xfrm>
            <a:off x="383720" y="4268030"/>
            <a:ext cx="11408230" cy="1063691"/>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lecture description</a:t>
            </a:r>
            <a:endParaRPr lang="en-GB" dirty="0"/>
          </a:p>
        </p:txBody>
      </p:sp>
      <p:sp>
        <p:nvSpPr>
          <p:cNvPr id="17" name="Text Placeholder 16"/>
          <p:cNvSpPr>
            <a:spLocks noGrp="1"/>
          </p:cNvSpPr>
          <p:nvPr>
            <p:ph type="body" sz="quarter" idx="13" hasCustomPrompt="1"/>
          </p:nvPr>
        </p:nvSpPr>
        <p:spPr>
          <a:xfrm>
            <a:off x="383720" y="2045571"/>
            <a:ext cx="11408230" cy="985094"/>
          </a:xfrm>
        </p:spPr>
        <p:txBody>
          <a:bodyPr>
            <a:noAutofit/>
          </a:bodyPr>
          <a:lstStyle>
            <a:lvl1pPr marL="0" indent="0" algn="ctr">
              <a:buFontTx/>
              <a:buNone/>
              <a:defRPr sz="3600" b="1" baseline="0">
                <a:latin typeface="+mn-lt"/>
              </a:defRPr>
            </a:lvl1pPr>
            <a:lvl2pPr marL="457200" indent="0">
              <a:buNone/>
              <a:defRPr/>
            </a:lvl2pPr>
            <a:lvl3pPr marL="914400" indent="0">
              <a:buNone/>
              <a:defRPr/>
            </a:lvl3pPr>
            <a:lvl5pPr marL="1828800" indent="0">
              <a:buNone/>
              <a:defRPr/>
            </a:lvl5pPr>
          </a:lstStyle>
          <a:p>
            <a:pPr lvl="0"/>
            <a:r>
              <a:rPr lang="en-US" dirty="0"/>
              <a:t>Click to edit module title</a:t>
            </a:r>
          </a:p>
        </p:txBody>
      </p:sp>
    </p:spTree>
    <p:extLst>
      <p:ext uri="{BB962C8B-B14F-4D97-AF65-F5344CB8AC3E}">
        <p14:creationId xmlns:p14="http://schemas.microsoft.com/office/powerpoint/2010/main" val="6628382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
        <p:nvSpPr>
          <p:cNvPr id="7" name="Title 6"/>
          <p:cNvSpPr>
            <a:spLocks noGrp="1"/>
          </p:cNvSpPr>
          <p:nvPr>
            <p:ph type="title"/>
          </p:nvPr>
        </p:nvSpPr>
        <p:spPr/>
        <p:txBody>
          <a:bodyPr/>
          <a:lstStyle/>
          <a:p>
            <a:r>
              <a:rPr lang="en-US"/>
              <a:t>Click to edit Master title style</a:t>
            </a:r>
            <a:endParaRPr lang="en-GB"/>
          </a:p>
        </p:txBody>
      </p:sp>
      <p:sp>
        <p:nvSpPr>
          <p:cNvPr id="8" name="Footer Placeholder 7"/>
          <p:cNvSpPr>
            <a:spLocks noGrp="1"/>
          </p:cNvSpPr>
          <p:nvPr>
            <p:ph type="ftr" sz="quarter" idx="13"/>
          </p:nvPr>
        </p:nvSpPr>
        <p:spPr/>
        <p:txBody>
          <a:bodyPr/>
          <a:lstStyle/>
          <a:p>
            <a:r>
              <a:rPr lang="en-GB" dirty="0"/>
              <a:t>School of Computing, Engineering &amp; Digital Technologies</a:t>
            </a:r>
          </a:p>
        </p:txBody>
      </p:sp>
    </p:spTree>
    <p:extLst>
      <p:ext uri="{BB962C8B-B14F-4D97-AF65-F5344CB8AC3E}">
        <p14:creationId xmlns:p14="http://schemas.microsoft.com/office/powerpoint/2010/main" val="23020818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GB" dirty="0"/>
              <a:t>School of Computing, Engineering &amp;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918185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496881" cy="795461"/>
          </a:xfrm>
        </p:spPr>
        <p:txBody>
          <a:bodyPr/>
          <a:lstStyle/>
          <a:p>
            <a:r>
              <a:rPr lang="en-US"/>
              <a:t>Click to edit Master title style</a:t>
            </a:r>
            <a:endParaRPr lang="en-GB"/>
          </a:p>
        </p:txBody>
      </p:sp>
      <p:sp>
        <p:nvSpPr>
          <p:cNvPr id="3" name="Content Placeholder 2"/>
          <p:cNvSpPr>
            <a:spLocks noGrp="1"/>
          </p:cNvSpPr>
          <p:nvPr>
            <p:ph sz="half" idx="1"/>
          </p:nvPr>
        </p:nvSpPr>
        <p:spPr>
          <a:xfrm>
            <a:off x="383720" y="1380067"/>
            <a:ext cx="5636080"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199" y="1380067"/>
            <a:ext cx="5690508"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dirty="0"/>
              <a:t>School of Computing &amp; Digital Technologies</a:t>
            </a:r>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12112168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5"/>
            <a:ext cx="9505347" cy="803275"/>
          </a:xfrm>
        </p:spPr>
        <p:txBody>
          <a:bodyPr/>
          <a:lstStyle/>
          <a:p>
            <a:r>
              <a:rPr lang="en-US"/>
              <a:t>Click to edit Master title style</a:t>
            </a:r>
            <a:endParaRPr lang="en-GB" dirty="0"/>
          </a:p>
        </p:txBody>
      </p:sp>
      <p:sp>
        <p:nvSpPr>
          <p:cNvPr id="3" name="Text Placeholder 2"/>
          <p:cNvSpPr>
            <a:spLocks noGrp="1"/>
          </p:cNvSpPr>
          <p:nvPr>
            <p:ph type="body" idx="1"/>
          </p:nvPr>
        </p:nvSpPr>
        <p:spPr>
          <a:xfrm>
            <a:off x="383719" y="1262063"/>
            <a:ext cx="5613856"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3720" y="1854202"/>
            <a:ext cx="5613856"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72198" y="1262063"/>
            <a:ext cx="5690507"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199" y="1854202"/>
            <a:ext cx="5690507"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p:cNvSpPr>
            <a:spLocks noGrp="1"/>
          </p:cNvSpPr>
          <p:nvPr>
            <p:ph type="ftr" sz="quarter" idx="11"/>
          </p:nvPr>
        </p:nvSpPr>
        <p:spPr/>
        <p:txBody>
          <a:bodyPr/>
          <a:lstStyle/>
          <a:p>
            <a:r>
              <a:rPr lang="en-GB"/>
              <a:t>School of Computing &amp; Digital Technologies</a:t>
            </a:r>
            <a:endParaRPr lang="en-GB" dirty="0"/>
          </a:p>
        </p:txBody>
      </p:sp>
      <p:sp>
        <p:nvSpPr>
          <p:cNvPr id="9" name="Slide Number Placeholder 8"/>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9183968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513813" cy="795461"/>
          </a:xfrm>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r>
              <a:rPr lang="en-GB" dirty="0"/>
              <a:t>School of Computing, Engineering &amp; Digital Technologies</a:t>
            </a:r>
          </a:p>
        </p:txBody>
      </p:sp>
      <p:sp>
        <p:nvSpPr>
          <p:cNvPr id="5" name="Slide Number Placeholder 4"/>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1414575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School of Computing, Engineering &amp; Digital Technologies</a:t>
            </a:r>
          </a:p>
        </p:txBody>
      </p:sp>
      <p:sp>
        <p:nvSpPr>
          <p:cNvPr id="4" name="Slide Number Placeholder 3"/>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8892424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7" y="1337733"/>
            <a:ext cx="6679519" cy="452331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a:t>School of Computing &amp; Digital Technologies</a:t>
            </a:r>
            <a:endParaRPr lang="en-GB" dirty="0"/>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7609547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7" y="1329267"/>
            <a:ext cx="6679519" cy="45317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a:t>School of Computing &amp; Digital Technologies</a:t>
            </a:r>
            <a:endParaRPr lang="en-GB" dirty="0"/>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4836551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83720" y="365126"/>
            <a:ext cx="9496880" cy="795461"/>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383721" y="1337734"/>
            <a:ext cx="11478986" cy="483923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School of Computing &amp;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9497929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19733" y="1346199"/>
            <a:ext cx="2142973" cy="48307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3721" y="365125"/>
            <a:ext cx="9209012"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11"/>
          </p:nvPr>
        </p:nvSpPr>
        <p:spPr/>
        <p:txBody>
          <a:bodyPr/>
          <a:lstStyle/>
          <a:p>
            <a:r>
              <a:rPr lang="en-GB"/>
              <a:t>School of Computing &amp; Digital Technologies</a:t>
            </a:r>
            <a:endParaRPr lang="en-GB" dirty="0"/>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5915014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6" name="TextBox 5"/>
          <p:cNvSpPr txBox="1"/>
          <p:nvPr userDrawn="1"/>
        </p:nvSpPr>
        <p:spPr>
          <a:xfrm>
            <a:off x="6188149" y="3349256"/>
            <a:ext cx="914400" cy="914400"/>
          </a:xfrm>
          <a:prstGeom prst="rect">
            <a:avLst/>
          </a:prstGeom>
        </p:spPr>
        <p:txBody>
          <a:bodyPr wrap="none" rtlCol="0" anchor="ctr" anchorCtr="0">
            <a:normAutofit/>
          </a:bodyPr>
          <a:lstStyle/>
          <a:p>
            <a:endParaRPr lang="en-US" sz="4000" b="1">
              <a:latin typeface="Arial" charset="0"/>
              <a:ea typeface="Arial" charset="0"/>
              <a:cs typeface="Arial" charset="0"/>
            </a:endParaRPr>
          </a:p>
        </p:txBody>
      </p:sp>
      <p:sp>
        <p:nvSpPr>
          <p:cNvPr id="7" name="Title 1"/>
          <p:cNvSpPr>
            <a:spLocks noGrp="1"/>
          </p:cNvSpPr>
          <p:nvPr>
            <p:ph type="ctrTitle" hasCustomPrompt="1"/>
          </p:nvPr>
        </p:nvSpPr>
        <p:spPr>
          <a:xfrm>
            <a:off x="321365" y="1565341"/>
            <a:ext cx="11536018" cy="734864"/>
          </a:xfrm>
          <a:prstGeom prst="rect">
            <a:avLst/>
          </a:prstGeom>
        </p:spPr>
        <p:txBody>
          <a:bodyPr anchor="b"/>
          <a:lstStyle>
            <a:lvl1pPr algn="l">
              <a:defRPr sz="4000" b="1" i="0" baseline="0">
                <a:latin typeface="arial" charset="0"/>
              </a:defRPr>
            </a:lvl1pPr>
          </a:lstStyle>
          <a:p>
            <a:r>
              <a:rPr lang="en-US"/>
              <a:t>Title of slide</a:t>
            </a:r>
          </a:p>
        </p:txBody>
      </p:sp>
      <p:sp>
        <p:nvSpPr>
          <p:cNvPr id="8" name="Subtitle 2"/>
          <p:cNvSpPr>
            <a:spLocks noGrp="1"/>
          </p:cNvSpPr>
          <p:nvPr>
            <p:ph type="subTitle" idx="1" hasCustomPrompt="1"/>
          </p:nvPr>
        </p:nvSpPr>
        <p:spPr>
          <a:xfrm>
            <a:off x="321365" y="2521374"/>
            <a:ext cx="11536018" cy="3198941"/>
          </a:xfrm>
          <a:prstGeom prst="rect">
            <a:avLst/>
          </a:prstGeom>
        </p:spPr>
        <p:txBody>
          <a:bodyPr/>
          <a:lstStyle>
            <a:lvl1pPr marL="0" indent="0" algn="l">
              <a:buNone/>
              <a:defRPr sz="2800" baseline="0">
                <a:solidFill>
                  <a:schemeClr val="tx1"/>
                </a:solidFill>
                <a:latin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of person/subtitle</a:t>
            </a:r>
          </a:p>
        </p:txBody>
      </p:sp>
    </p:spTree>
    <p:extLst>
      <p:ext uri="{BB962C8B-B14F-4D97-AF65-F5344CB8AC3E}">
        <p14:creationId xmlns:p14="http://schemas.microsoft.com/office/powerpoint/2010/main" val="25536980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imag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82773" y="2030818"/>
            <a:ext cx="11461898" cy="3732029"/>
          </a:xfrm>
          <a:prstGeom prst="rect">
            <a:avLst/>
          </a:prstGeom>
        </p:spPr>
        <p:txBody>
          <a:bodyPr/>
          <a:lstStyle/>
          <a:p>
            <a:endParaRPr lang="en-US"/>
          </a:p>
        </p:txBody>
      </p:sp>
    </p:spTree>
    <p:extLst>
      <p:ext uri="{BB962C8B-B14F-4D97-AF65-F5344CB8AC3E}">
        <p14:creationId xmlns:p14="http://schemas.microsoft.com/office/powerpoint/2010/main" val="301590124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8343" y="1534707"/>
            <a:ext cx="11557591" cy="825721"/>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08343" y="2541181"/>
            <a:ext cx="11557591" cy="363578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69915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7711" y="1709738"/>
            <a:ext cx="11568223"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297711" y="4589463"/>
            <a:ext cx="11568223"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8839679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7204" y="1513442"/>
            <a:ext cx="11538097" cy="82572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317204" y="2583713"/>
            <a:ext cx="5702596" cy="359324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2583713"/>
            <a:ext cx="5683101" cy="3593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3591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8160" y="1524074"/>
            <a:ext cx="11536510" cy="84399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308160" y="2521135"/>
            <a:ext cx="5689415"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8160" y="3345047"/>
            <a:ext cx="5689415" cy="284461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2521135"/>
            <a:ext cx="567247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345047"/>
            <a:ext cx="5672470" cy="284461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33161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a:t>School of Computing , Engineering and Digital Technologies</a:t>
            </a:r>
          </a:p>
        </p:txBody>
      </p:sp>
      <p:sp>
        <p:nvSpPr>
          <p:cNvPr id="4" name="Slide Number Placeholder 3"/>
          <p:cNvSpPr>
            <a:spLocks noGrp="1"/>
          </p:cNvSpPr>
          <p:nvPr>
            <p:ph type="sldNum" sz="quarter" idx="12"/>
          </p:nvPr>
        </p:nvSpPr>
        <p:spPr/>
        <p:txBody>
          <a:bodyPr/>
          <a:lstStyle/>
          <a:p>
            <a:fld id="{5BC3EEBC-8848-48BC-9E86-2856C4334E59}" type="slidenum">
              <a:rPr lang="en-GB" smtClean="0"/>
              <a:t>‹#›</a:t>
            </a:fld>
            <a:endParaRPr lang="en-GB"/>
          </a:p>
        </p:txBody>
      </p:sp>
    </p:spTree>
    <p:extLst>
      <p:ext uri="{BB962C8B-B14F-4D97-AF65-F5344CB8AC3E}">
        <p14:creationId xmlns:p14="http://schemas.microsoft.com/office/powerpoint/2010/main" val="23880519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513813" cy="795461"/>
          </a:xfrm>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r>
              <a:rPr lang="en-GB"/>
              <a:t>School of Computing , Engineering and Digital Technologies</a:t>
            </a:r>
          </a:p>
        </p:txBody>
      </p:sp>
      <p:sp>
        <p:nvSpPr>
          <p:cNvPr id="5" name="Slide Number Placeholder 4"/>
          <p:cNvSpPr>
            <a:spLocks noGrp="1"/>
          </p:cNvSpPr>
          <p:nvPr>
            <p:ph type="sldNum" sz="quarter" idx="12"/>
          </p:nvPr>
        </p:nvSpPr>
        <p:spPr/>
        <p:txBody>
          <a:bodyPr/>
          <a:lstStyle/>
          <a:p>
            <a:fld id="{5BC3EEBC-8848-48BC-9E86-2856C4334E59}" type="slidenum">
              <a:rPr lang="en-GB" smtClean="0"/>
              <a:t>‹#›</a:t>
            </a:fld>
            <a:endParaRPr lang="en-GB"/>
          </a:p>
        </p:txBody>
      </p:sp>
    </p:spTree>
    <p:extLst>
      <p:ext uri="{BB962C8B-B14F-4D97-AF65-F5344CB8AC3E}">
        <p14:creationId xmlns:p14="http://schemas.microsoft.com/office/powerpoint/2010/main" val="17776981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3.xml"/><Relationship Id="rId1" Type="http://schemas.openxmlformats.org/officeDocument/2006/relationships/slideLayout" Target="../slideLayouts/slideLayout11.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6.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theme" Target="../theme/theme7.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image" Target="../media/image6.png"/><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8.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image" Target="../media/image12.png"/><Relationship Id="rId4" Type="http://schemas.openxmlformats.org/officeDocument/2006/relationships/slideLayout" Target="../slideLayouts/slideLayout68.xml"/><Relationship Id="rId9"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826938"/>
      </p:ext>
    </p:extLst>
  </p:cSld>
  <p:clrMap bg1="lt1" tx1="dk1" bg2="lt2" tx2="dk2" accent1="accent1" accent2="accent2" accent3="accent3" accent4="accent4" accent5="accent5" accent6="accent6" hlink="hlink" folHlink="folHlink"/>
  <p:sldLayoutIdLst>
    <p:sldLayoutId id="2147483649" r:id="rId1"/>
    <p:sldLayoutId id="2147483674" r:id="rId2"/>
    <p:sldLayoutId id="2147483689" r:id="rId3"/>
    <p:sldLayoutId id="214748369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7298"/>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84" r:id="rId3"/>
    <p:sldLayoutId id="2147483685" r:id="rId4"/>
    <p:sldLayoutId id="2147483686" r:id="rId5"/>
    <p:sldLayoutId id="214748368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Placeholder 14"/>
          <p:cNvPicPr>
            <a:picLocks noChangeAspect="1"/>
          </p:cNvPicPr>
          <p:nvPr userDrawn="1"/>
        </p:nvPicPr>
        <p:blipFill>
          <a:blip r:embed="rId3">
            <a:extLst>
              <a:ext uri="{28A0092B-C50C-407E-A947-70E740481C1C}">
                <a14:useLocalDpi xmlns:a14="http://schemas.microsoft.com/office/drawing/2010/main" val="0"/>
              </a:ext>
            </a:extLst>
          </a:blip>
          <a:srcRect t="7864" b="7864"/>
          <a:stretch>
            <a:fillRect/>
          </a:stretch>
        </p:blipFill>
        <p:spPr>
          <a:xfrm>
            <a:off x="0" y="4597"/>
            <a:ext cx="12192000" cy="6858000"/>
          </a:xfrm>
          <a:prstGeom prst="rect">
            <a:avLst/>
          </a:prstGeom>
        </p:spPr>
      </p:pic>
      <p:pic>
        <p:nvPicPr>
          <p:cNvPr id="5" name="Picture Placeholder 14"/>
          <p:cNvPicPr>
            <a:picLocks noChangeAspect="1"/>
          </p:cNvPicPr>
          <p:nvPr userDrawn="1"/>
        </p:nvPicPr>
        <p:blipFill>
          <a:blip r:embed="rId3">
            <a:extLst>
              <a:ext uri="{28A0092B-C50C-407E-A947-70E740481C1C}">
                <a14:useLocalDpi xmlns:a14="http://schemas.microsoft.com/office/drawing/2010/main" val="0"/>
              </a:ext>
            </a:extLst>
          </a:blip>
          <a:srcRect t="7864" b="7864"/>
          <a:stretch>
            <a:fillRect/>
          </a:stretch>
        </p:blipFill>
        <p:spPr>
          <a:xfrm>
            <a:off x="0" y="0"/>
            <a:ext cx="12192000" cy="6858000"/>
          </a:xfrm>
          <a:prstGeom prst="rect">
            <a:avLst/>
          </a:prstGeom>
        </p:spPr>
      </p:pic>
      <p:pic>
        <p:nvPicPr>
          <p:cNvPr id="3" name="Picture Placeholder 1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5777230"/>
            <a:ext cx="12192000" cy="1079500"/>
          </a:xfrm>
          <a:prstGeom prst="rect">
            <a:avLst/>
          </a:prstGeom>
        </p:spPr>
      </p:pic>
    </p:spTree>
    <p:extLst>
      <p:ext uri="{BB962C8B-B14F-4D97-AF65-F5344CB8AC3E}">
        <p14:creationId xmlns:p14="http://schemas.microsoft.com/office/powerpoint/2010/main" val="413483056"/>
      </p:ext>
    </p:extLst>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43837"/>
      </p:ext>
    </p:extLst>
  </p:cSld>
  <p:clrMap bg1="lt1" tx1="dk1" bg2="lt2" tx2="dk2" accent1="accent1" accent2="accent2" accent3="accent3" accent4="accent4" accent5="accent5" accent6="accent6" hlink="hlink" folHlink="folHlink"/>
  <p:sldLayoutIdLst>
    <p:sldLayoutId id="2147483679" r:id="rId1"/>
    <p:sldLayoutId id="214748368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userDrawn="1"/>
        </p:nvSpPr>
        <p:spPr>
          <a:xfrm>
            <a:off x="936" y="6384470"/>
            <a:ext cx="12191064" cy="4735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solidFill>
            </a:endParaRPr>
          </a:p>
        </p:txBody>
      </p:sp>
      <p:sp>
        <p:nvSpPr>
          <p:cNvPr id="2" name="Title Placeholder 1"/>
          <p:cNvSpPr>
            <a:spLocks noGrp="1"/>
          </p:cNvSpPr>
          <p:nvPr>
            <p:ph type="title"/>
          </p:nvPr>
        </p:nvSpPr>
        <p:spPr>
          <a:xfrm>
            <a:off x="383720" y="292937"/>
            <a:ext cx="9369880" cy="795461"/>
          </a:xfrm>
          <a:prstGeom prst="rect">
            <a:avLst/>
          </a:prstGeom>
        </p:spPr>
        <p:txBody>
          <a:bodyPr vert="horz" lIns="91440" tIns="45720" rIns="91440" bIns="45720" rtlCol="0" anchor="b">
            <a:normAutofit/>
          </a:bodyPr>
          <a:lstStyle/>
          <a:p>
            <a:r>
              <a:rPr lang="en-US"/>
              <a:t>Click to edit Master title style</a:t>
            </a:r>
            <a:endParaRPr lang="en-GB" dirty="0"/>
          </a:p>
        </p:txBody>
      </p:sp>
      <p:sp>
        <p:nvSpPr>
          <p:cNvPr id="3" name="Text Placeholder 2"/>
          <p:cNvSpPr>
            <a:spLocks noGrp="1"/>
          </p:cNvSpPr>
          <p:nvPr>
            <p:ph type="body" idx="1"/>
          </p:nvPr>
        </p:nvSpPr>
        <p:spPr>
          <a:xfrm>
            <a:off x="383721" y="1323474"/>
            <a:ext cx="11478986" cy="485348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83720" y="6515100"/>
            <a:ext cx="10654393" cy="206375"/>
          </a:xfrm>
          <a:prstGeom prst="rect">
            <a:avLst/>
          </a:prstGeom>
        </p:spPr>
        <p:txBody>
          <a:bodyPr vert="horz" lIns="91440" tIns="45720" rIns="91440" bIns="45720" rtlCol="0" anchor="ctr"/>
          <a:lstStyle>
            <a:lvl1pPr algn="l">
              <a:defRPr sz="1100">
                <a:solidFill>
                  <a:schemeClr val="bg1"/>
                </a:solidFill>
              </a:defRPr>
            </a:lvl1pPr>
          </a:lstStyle>
          <a:p>
            <a:r>
              <a:rPr lang="en-GB"/>
              <a:t>School of Computing &amp; Digital Technologies</a:t>
            </a:r>
            <a:endParaRPr lang="en-GB" dirty="0"/>
          </a:p>
        </p:txBody>
      </p:sp>
      <p:sp>
        <p:nvSpPr>
          <p:cNvPr id="6" name="Slide Number Placeholder 5"/>
          <p:cNvSpPr>
            <a:spLocks noGrp="1"/>
          </p:cNvSpPr>
          <p:nvPr>
            <p:ph type="sldNum" sz="quarter" idx="4"/>
          </p:nvPr>
        </p:nvSpPr>
        <p:spPr>
          <a:xfrm>
            <a:off x="11179628" y="6515099"/>
            <a:ext cx="683079" cy="206375"/>
          </a:xfrm>
          <a:prstGeom prst="rect">
            <a:avLst/>
          </a:prstGeom>
        </p:spPr>
        <p:txBody>
          <a:bodyPr vert="horz" lIns="91440" tIns="45720" rIns="91440" bIns="45720" rtlCol="0" anchor="ctr"/>
          <a:lstStyle>
            <a:lvl1pPr algn="r">
              <a:defRPr sz="1100">
                <a:solidFill>
                  <a:schemeClr val="bg2"/>
                </a:solidFill>
              </a:defRPr>
            </a:lvl1pPr>
          </a:lstStyle>
          <a:p>
            <a:fld id="{5BC3EEBC-8848-48BC-9E86-2856C4334E59}" type="slidenum">
              <a:rPr lang="en-GB" smtClean="0"/>
              <a:pPr/>
              <a:t>‹#›</a:t>
            </a:fld>
            <a:endParaRPr lang="en-GB" dirty="0"/>
          </a:p>
        </p:txBody>
      </p:sp>
      <p:pic>
        <p:nvPicPr>
          <p:cNvPr id="7" name="Picture 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074743" y="292937"/>
            <a:ext cx="1787964" cy="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938810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hdr="0" dt="0"/>
  <p:txStyles>
    <p:titleStyle>
      <a:lvl1pPr algn="l" defTabSz="914400" rtl="0" eaLnBrk="1" latinLnBrk="0" hangingPunct="1">
        <a:lnSpc>
          <a:spcPct val="90000"/>
        </a:lnSpc>
        <a:spcBef>
          <a:spcPct val="0"/>
        </a:spcBef>
        <a:buNone/>
        <a:defRPr sz="4400" kern="1200" spc="-15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74000">
              <a:schemeClr val="accent3">
                <a:lumMod val="30000"/>
                <a:lumOff val="70000"/>
              </a:schemeClr>
            </a:gs>
            <a:gs pos="83000">
              <a:schemeClr val="accent3">
                <a:lumMod val="45000"/>
                <a:lumOff val="55000"/>
              </a:schemeClr>
            </a:gs>
            <a:gs pos="100000">
              <a:schemeClr val="accent3">
                <a:lumMod val="85000"/>
                <a:lumOff val="1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C60101-2C17-4A56-907F-B487BB39A80C}" type="datetimeFigureOut">
              <a:rPr lang="en-GB" smtClean="0"/>
              <a:t>22/09/2025</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DCDBA3-2635-432A-8824-5592A51525B4}" type="slidenum">
              <a:rPr lang="en-GB" smtClean="0"/>
              <a:t>‹#›</a:t>
            </a:fld>
            <a:endParaRPr lang="en-GB" dirty="0"/>
          </a:p>
        </p:txBody>
      </p:sp>
    </p:spTree>
    <p:extLst>
      <p:ext uri="{BB962C8B-B14F-4D97-AF65-F5344CB8AC3E}">
        <p14:creationId xmlns:p14="http://schemas.microsoft.com/office/powerpoint/2010/main" val="279279664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7" name="Footer Placeholder 2"/>
          <p:cNvSpPr>
            <a:spLocks noGrp="1"/>
          </p:cNvSpPr>
          <p:nvPr>
            <p:ph type="ftr" sz="quarter" idx="3"/>
          </p:nvPr>
        </p:nvSpPr>
        <p:spPr>
          <a:xfrm>
            <a:off x="448212" y="6437243"/>
            <a:ext cx="3859607" cy="134483"/>
          </a:xfrm>
          <a:prstGeom prst="rect">
            <a:avLst/>
          </a:prstGeom>
        </p:spPr>
        <p:txBody>
          <a:bodyPr vert="horz" lIns="0" tIns="0" rIns="91440" bIns="0" rtlCol="0" anchor="ctr"/>
          <a:lstStyle>
            <a:lvl1pPr marL="0" algn="l" defTabSz="914367" rtl="0" eaLnBrk="1" latinLnBrk="0" hangingPunct="1">
              <a:defRPr lang="en-US" sz="882" kern="1200">
                <a:solidFill>
                  <a:schemeClr val="bg1"/>
                </a:solidFill>
                <a:latin typeface="+mn-lt"/>
                <a:ea typeface="+mn-ea"/>
                <a:cs typeface="+mn-cs"/>
              </a:defRPr>
            </a:lvl1pPr>
          </a:lstStyle>
          <a:p>
            <a:r>
              <a:rPr>
                <a:solidFill>
                  <a:srgbClr val="FFFFFF"/>
                </a:solidFill>
              </a:rPr>
              <a:t>Microsoft Confidential</a:t>
            </a:r>
          </a:p>
        </p:txBody>
      </p:sp>
      <p:sp>
        <p:nvSpPr>
          <p:cNvPr id="8" name="Slide Number Placeholder 4"/>
          <p:cNvSpPr>
            <a:spLocks noGrp="1"/>
          </p:cNvSpPr>
          <p:nvPr>
            <p:ph type="sldNum" sz="quarter" idx="4"/>
          </p:nvPr>
        </p:nvSpPr>
        <p:spPr>
          <a:xfrm>
            <a:off x="11367166" y="6437243"/>
            <a:ext cx="555596" cy="134483"/>
          </a:xfrm>
          <a:prstGeom prst="rect">
            <a:avLst/>
          </a:prstGeom>
        </p:spPr>
        <p:txBody>
          <a:bodyPr vert="horz" lIns="91440" tIns="0" rIns="0" bIns="0" rtlCol="0" anchor="ctr"/>
          <a:lstStyle>
            <a:lvl1pPr algn="r">
              <a:defRPr lang="en-US" sz="882" b="0" kern="1200" smtClean="0">
                <a:solidFill>
                  <a:schemeClr val="bg1"/>
                </a:solidFill>
                <a:latin typeface="+mn-lt"/>
                <a:ea typeface="+mn-ea"/>
                <a:cs typeface="+mn-cs"/>
              </a:defRPr>
            </a:lvl1pPr>
          </a:lstStyle>
          <a:p>
            <a:fld id="{27258FFF-F925-446B-8502-81C933981705}" type="slidenum">
              <a:rPr>
                <a:solidFill>
                  <a:srgbClr val="FFFFFF"/>
                </a:solidFill>
              </a:rPr>
              <a:pPr/>
              <a:t>‹#›</a:t>
            </a:fld>
            <a:endParaRPr>
              <a:solidFill>
                <a:srgbClr val="FFFFFF"/>
              </a:solidFill>
            </a:endParaRPr>
          </a:p>
        </p:txBody>
      </p:sp>
    </p:spTree>
    <p:extLst>
      <p:ext uri="{BB962C8B-B14F-4D97-AF65-F5344CB8AC3E}">
        <p14:creationId xmlns:p14="http://schemas.microsoft.com/office/powerpoint/2010/main" val="372145264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896386" rtl="0" eaLnBrk="1" latinLnBrk="0" hangingPunct="1">
        <a:spcBef>
          <a:spcPct val="0"/>
        </a:spcBef>
        <a:buNone/>
        <a:defRPr sz="4313" kern="1200">
          <a:solidFill>
            <a:schemeClr val="tx1"/>
          </a:solidFill>
          <a:latin typeface="+mj-lt"/>
          <a:ea typeface="+mj-ea"/>
          <a:cs typeface="+mj-cs"/>
        </a:defRPr>
      </a:lvl1pPr>
    </p:titleStyle>
    <p:bodyStyle>
      <a:lvl1pPr marL="336145" indent="-336145" algn="l" defTabSz="896386" rtl="0" eaLnBrk="1" latinLnBrk="0" hangingPunct="1">
        <a:spcBef>
          <a:spcPct val="20000"/>
        </a:spcBef>
        <a:buFont typeface="Arial" pitchFamily="34" charset="0"/>
        <a:buChar char="•"/>
        <a:defRPr sz="3137" kern="1200">
          <a:solidFill>
            <a:schemeClr val="tx1"/>
          </a:solidFill>
          <a:latin typeface="+mn-lt"/>
          <a:ea typeface="+mn-ea"/>
          <a:cs typeface="+mn-cs"/>
        </a:defRPr>
      </a:lvl1pPr>
      <a:lvl2pPr marL="728314" indent="-280121" algn="l" defTabSz="896386" rtl="0" eaLnBrk="1" latinLnBrk="0" hangingPunct="1">
        <a:spcBef>
          <a:spcPct val="20000"/>
        </a:spcBef>
        <a:buFont typeface="Arial" pitchFamily="34" charset="0"/>
        <a:buChar char="–"/>
        <a:defRPr sz="2745" kern="1200">
          <a:solidFill>
            <a:schemeClr val="tx1"/>
          </a:solidFill>
          <a:latin typeface="+mn-lt"/>
          <a:ea typeface="+mn-ea"/>
          <a:cs typeface="+mn-cs"/>
        </a:defRPr>
      </a:lvl2pPr>
      <a:lvl3pPr marL="1120483" indent="-224097" algn="l" defTabSz="896386" rtl="0" eaLnBrk="1" latinLnBrk="0" hangingPunct="1">
        <a:spcBef>
          <a:spcPct val="20000"/>
        </a:spcBef>
        <a:buFont typeface="Arial" pitchFamily="34" charset="0"/>
        <a:buChar char="•"/>
        <a:defRPr sz="2353" kern="1200">
          <a:solidFill>
            <a:schemeClr val="tx1"/>
          </a:solidFill>
          <a:latin typeface="+mn-lt"/>
          <a:ea typeface="+mn-ea"/>
          <a:cs typeface="+mn-cs"/>
        </a:defRPr>
      </a:lvl3pPr>
      <a:lvl4pPr marL="1568676"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4pPr>
      <a:lvl5pPr marL="2016869"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5pPr>
      <a:lvl6pPr marL="2465062"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13256"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361449"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09642" indent="-224097" algn="l" defTabSz="896386"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896386" rtl="0" eaLnBrk="1" latinLnBrk="0" hangingPunct="1">
        <a:defRPr sz="1765" kern="1200">
          <a:solidFill>
            <a:schemeClr val="tx1"/>
          </a:solidFill>
          <a:latin typeface="+mn-lt"/>
          <a:ea typeface="+mn-ea"/>
          <a:cs typeface="+mn-cs"/>
        </a:defRPr>
      </a:lvl1pPr>
      <a:lvl2pPr marL="448193" algn="l" defTabSz="896386" rtl="0" eaLnBrk="1" latinLnBrk="0" hangingPunct="1">
        <a:defRPr sz="1765" kern="1200">
          <a:solidFill>
            <a:schemeClr val="tx1"/>
          </a:solidFill>
          <a:latin typeface="+mn-lt"/>
          <a:ea typeface="+mn-ea"/>
          <a:cs typeface="+mn-cs"/>
        </a:defRPr>
      </a:lvl2pPr>
      <a:lvl3pPr marL="896386" algn="l" defTabSz="896386" rtl="0" eaLnBrk="1" latinLnBrk="0" hangingPunct="1">
        <a:defRPr sz="1765" kern="1200">
          <a:solidFill>
            <a:schemeClr val="tx1"/>
          </a:solidFill>
          <a:latin typeface="+mn-lt"/>
          <a:ea typeface="+mn-ea"/>
          <a:cs typeface="+mn-cs"/>
        </a:defRPr>
      </a:lvl3pPr>
      <a:lvl4pPr marL="1344579" algn="l" defTabSz="896386" rtl="0" eaLnBrk="1" latinLnBrk="0" hangingPunct="1">
        <a:defRPr sz="1765" kern="1200">
          <a:solidFill>
            <a:schemeClr val="tx1"/>
          </a:solidFill>
          <a:latin typeface="+mn-lt"/>
          <a:ea typeface="+mn-ea"/>
          <a:cs typeface="+mn-cs"/>
        </a:defRPr>
      </a:lvl4pPr>
      <a:lvl5pPr marL="1792773" algn="l" defTabSz="896386" rtl="0" eaLnBrk="1" latinLnBrk="0" hangingPunct="1">
        <a:defRPr sz="1765" kern="1200">
          <a:solidFill>
            <a:schemeClr val="tx1"/>
          </a:solidFill>
          <a:latin typeface="+mn-lt"/>
          <a:ea typeface="+mn-ea"/>
          <a:cs typeface="+mn-cs"/>
        </a:defRPr>
      </a:lvl5pPr>
      <a:lvl6pPr marL="2240966" algn="l" defTabSz="896386" rtl="0" eaLnBrk="1" latinLnBrk="0" hangingPunct="1">
        <a:defRPr sz="1765" kern="1200">
          <a:solidFill>
            <a:schemeClr val="tx1"/>
          </a:solidFill>
          <a:latin typeface="+mn-lt"/>
          <a:ea typeface="+mn-ea"/>
          <a:cs typeface="+mn-cs"/>
        </a:defRPr>
      </a:lvl6pPr>
      <a:lvl7pPr marL="2689159" algn="l" defTabSz="896386" rtl="0" eaLnBrk="1" latinLnBrk="0" hangingPunct="1">
        <a:defRPr sz="1765" kern="1200">
          <a:solidFill>
            <a:schemeClr val="tx1"/>
          </a:solidFill>
          <a:latin typeface="+mn-lt"/>
          <a:ea typeface="+mn-ea"/>
          <a:cs typeface="+mn-cs"/>
        </a:defRPr>
      </a:lvl7pPr>
      <a:lvl8pPr marL="3137352" algn="l" defTabSz="896386" rtl="0" eaLnBrk="1" latinLnBrk="0" hangingPunct="1">
        <a:defRPr sz="1765" kern="1200">
          <a:solidFill>
            <a:schemeClr val="tx1"/>
          </a:solidFill>
          <a:latin typeface="+mn-lt"/>
          <a:ea typeface="+mn-ea"/>
          <a:cs typeface="+mn-cs"/>
        </a:defRPr>
      </a:lvl8pPr>
      <a:lvl9pPr marL="3585545" algn="l" defTabSz="896386"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3">
          <p15:clr>
            <a:srgbClr val="547EBF"/>
          </p15:clr>
        </p15:guide>
        <p15:guide id="2" orient="horz" pos="187">
          <p15:clr>
            <a:srgbClr val="547EBF"/>
          </p15:clr>
        </p15:guide>
        <p15:guide id="3" orient="horz" pos="4219">
          <p15:clr>
            <a:srgbClr val="547EBF"/>
          </p15:clr>
        </p15:guide>
        <p15:guide id="4" pos="7661">
          <p15:clr>
            <a:srgbClr val="547EBF"/>
          </p15:clr>
        </p15:guide>
        <p15:guide id="5" orient="horz" pos="763">
          <p15:clr>
            <a:srgbClr val="A4A3A4"/>
          </p15:clr>
        </p15:guide>
        <p15:guide id="6" orient="horz" pos="1339">
          <p15:clr>
            <a:srgbClr val="A4A3A4"/>
          </p15:clr>
        </p15:guide>
        <p15:guide id="7" orient="horz" pos="1915">
          <p15:clr>
            <a:srgbClr val="A4A3A4"/>
          </p15:clr>
        </p15:guide>
        <p15:guide id="8" orient="horz" pos="2491">
          <p15:clr>
            <a:srgbClr val="A4A3A4"/>
          </p15:clr>
        </p15:guide>
        <p15:guide id="9" orient="horz" pos="3067">
          <p15:clr>
            <a:srgbClr val="A4A3A4"/>
          </p15:clr>
        </p15:guide>
        <p15:guide id="10" orient="horz" pos="3643">
          <p15:clr>
            <a:srgbClr val="A4A3A4"/>
          </p15:clr>
        </p15:guide>
        <p15:guide id="11" pos="749">
          <p15:clr>
            <a:srgbClr val="A4A3A4"/>
          </p15:clr>
        </p15:guide>
        <p15:guide id="12" pos="1325">
          <p15:clr>
            <a:srgbClr val="A4A3A4"/>
          </p15:clr>
        </p15:guide>
        <p15:guide id="13" pos="1901">
          <p15:clr>
            <a:srgbClr val="A4A3A4"/>
          </p15:clr>
        </p15:guide>
        <p15:guide id="14" pos="2477">
          <p15:clr>
            <a:srgbClr val="A4A3A4"/>
          </p15:clr>
        </p15:guide>
        <p15:guide id="15" pos="3053">
          <p15:clr>
            <a:srgbClr val="A4A3A4"/>
          </p15:clr>
        </p15:guide>
        <p15:guide id="16" pos="3629">
          <p15:clr>
            <a:srgbClr val="A4A3A4"/>
          </p15:clr>
        </p15:guide>
        <p15:guide id="17" pos="4205">
          <p15:clr>
            <a:srgbClr val="A4A3A4"/>
          </p15:clr>
        </p15:guide>
        <p15:guide id="18" pos="4781">
          <p15:clr>
            <a:srgbClr val="A4A3A4"/>
          </p15:clr>
        </p15:guide>
        <p15:guide id="19" pos="5357">
          <p15:clr>
            <a:srgbClr val="A4A3A4"/>
          </p15:clr>
        </p15:guide>
        <p15:guide id="20" pos="5933">
          <p15:clr>
            <a:srgbClr val="A4A3A4"/>
          </p15:clr>
        </p15:guide>
        <p15:guide id="21" pos="6509">
          <p15:clr>
            <a:srgbClr val="A4A3A4"/>
          </p15:clr>
        </p15:guide>
        <p15:guide id="22" pos="7085">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userDrawn="1"/>
        </p:nvSpPr>
        <p:spPr>
          <a:xfrm>
            <a:off x="936" y="6384470"/>
            <a:ext cx="12191064" cy="4735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solidFill>
            </a:endParaRPr>
          </a:p>
        </p:txBody>
      </p:sp>
      <p:sp>
        <p:nvSpPr>
          <p:cNvPr id="2" name="Title Placeholder 1"/>
          <p:cNvSpPr>
            <a:spLocks noGrp="1"/>
          </p:cNvSpPr>
          <p:nvPr>
            <p:ph type="title"/>
          </p:nvPr>
        </p:nvSpPr>
        <p:spPr>
          <a:xfrm>
            <a:off x="383720" y="292937"/>
            <a:ext cx="9369880" cy="795461"/>
          </a:xfrm>
          <a:prstGeom prst="rect">
            <a:avLst/>
          </a:prstGeom>
        </p:spPr>
        <p:txBody>
          <a:bodyPr vert="horz" lIns="91440" tIns="45720" rIns="91440" bIns="45720" rtlCol="0" anchor="b">
            <a:normAutofit/>
          </a:bodyPr>
          <a:lstStyle/>
          <a:p>
            <a:r>
              <a:rPr lang="en-US"/>
              <a:t>Click to edit Master title style</a:t>
            </a:r>
            <a:endParaRPr lang="en-GB" dirty="0"/>
          </a:p>
        </p:txBody>
      </p:sp>
      <p:sp>
        <p:nvSpPr>
          <p:cNvPr id="3" name="Text Placeholder 2"/>
          <p:cNvSpPr>
            <a:spLocks noGrp="1"/>
          </p:cNvSpPr>
          <p:nvPr>
            <p:ph type="body" idx="1"/>
          </p:nvPr>
        </p:nvSpPr>
        <p:spPr>
          <a:xfrm>
            <a:off x="383721" y="1323474"/>
            <a:ext cx="11478986" cy="485348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83720" y="6515100"/>
            <a:ext cx="10654393" cy="206375"/>
          </a:xfrm>
          <a:prstGeom prst="rect">
            <a:avLst/>
          </a:prstGeom>
        </p:spPr>
        <p:txBody>
          <a:bodyPr vert="horz" lIns="91440" tIns="45720" rIns="91440" bIns="45720" rtlCol="0" anchor="ctr"/>
          <a:lstStyle>
            <a:lvl1pPr algn="l">
              <a:defRPr sz="1100">
                <a:solidFill>
                  <a:schemeClr val="bg1"/>
                </a:solidFill>
              </a:defRPr>
            </a:lvl1pPr>
          </a:lstStyle>
          <a:p>
            <a:r>
              <a:rPr lang="en-GB"/>
              <a:t>School of Computing &amp; Digital Technologies</a:t>
            </a:r>
            <a:endParaRPr lang="en-GB" dirty="0"/>
          </a:p>
        </p:txBody>
      </p:sp>
      <p:sp>
        <p:nvSpPr>
          <p:cNvPr id="6" name="Slide Number Placeholder 5"/>
          <p:cNvSpPr>
            <a:spLocks noGrp="1"/>
          </p:cNvSpPr>
          <p:nvPr>
            <p:ph type="sldNum" sz="quarter" idx="4"/>
          </p:nvPr>
        </p:nvSpPr>
        <p:spPr>
          <a:xfrm>
            <a:off x="11179628" y="6515099"/>
            <a:ext cx="683079" cy="206375"/>
          </a:xfrm>
          <a:prstGeom prst="rect">
            <a:avLst/>
          </a:prstGeom>
        </p:spPr>
        <p:txBody>
          <a:bodyPr vert="horz" lIns="91440" tIns="45720" rIns="91440" bIns="45720" rtlCol="0" anchor="ctr"/>
          <a:lstStyle>
            <a:lvl1pPr algn="r">
              <a:defRPr sz="1100">
                <a:solidFill>
                  <a:schemeClr val="bg2"/>
                </a:solidFill>
              </a:defRPr>
            </a:lvl1pPr>
          </a:lstStyle>
          <a:p>
            <a:fld id="{5BC3EEBC-8848-48BC-9E86-2856C4334E59}" type="slidenum">
              <a:rPr lang="en-GB" smtClean="0"/>
              <a:pPr/>
              <a:t>‹#›</a:t>
            </a:fld>
            <a:endParaRPr lang="en-GB" dirty="0"/>
          </a:p>
        </p:txBody>
      </p:sp>
      <p:pic>
        <p:nvPicPr>
          <p:cNvPr id="7" name="Picture 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074743" y="292937"/>
            <a:ext cx="1787964" cy="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484231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dt="0"/>
  <p:txStyles>
    <p:titleStyle>
      <a:lvl1pPr algn="l" defTabSz="914400" rtl="0" eaLnBrk="1" latinLnBrk="0" hangingPunct="1">
        <a:lnSpc>
          <a:spcPct val="90000"/>
        </a:lnSpc>
        <a:spcBef>
          <a:spcPct val="0"/>
        </a:spcBef>
        <a:buNone/>
        <a:defRPr sz="4400" kern="1200" spc="-15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476386"/>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jpg"/><Relationship Id="rId7" Type="http://schemas.openxmlformats.org/officeDocument/2006/relationships/image" Target="../media/image18.jpeg"/><Relationship Id="rId2" Type="http://schemas.openxmlformats.org/officeDocument/2006/relationships/image" Target="../media/image15.jpg"/><Relationship Id="rId1" Type="http://schemas.openxmlformats.org/officeDocument/2006/relationships/slideLayout" Target="../slideLayouts/slideLayout55.xml"/><Relationship Id="rId6" Type="http://schemas.openxmlformats.org/officeDocument/2006/relationships/hyperlink" Target="mailto:c.tarzi@tees.ac.uk" TargetMode="External"/><Relationship Id="rId5" Type="http://schemas.openxmlformats.org/officeDocument/2006/relationships/hyperlink" Target="mailto:a.ochippinti@tees.ac.uk" TargetMode="External"/><Relationship Id="rId4" Type="http://schemas.openxmlformats.org/officeDocument/2006/relationships/image" Target="../media/image17.jpg"/></Relationships>
</file>

<file path=ppt/slides/_rels/slide4.xml.rels><?xml version="1.0" encoding="UTF-8" standalone="yes"?>
<Relationships xmlns="http://schemas.openxmlformats.org/package/2006/relationships"><Relationship Id="rId8" Type="http://schemas.openxmlformats.org/officeDocument/2006/relationships/hyperlink" Target="mailto:n.huber-kralj@tees.ac.uk" TargetMode="External"/><Relationship Id="rId13" Type="http://schemas.openxmlformats.org/officeDocument/2006/relationships/hyperlink" Target="mailto:C.Thornton@tees.ac.uk" TargetMode="External"/><Relationship Id="rId3" Type="http://schemas.openxmlformats.org/officeDocument/2006/relationships/hyperlink" Target="mailto:M.Nawaz@tees.ac.uk" TargetMode="External"/><Relationship Id="rId7" Type="http://schemas.openxmlformats.org/officeDocument/2006/relationships/hyperlink" Target="mailto:S.Verma@tees.ac.uk" TargetMode="External"/><Relationship Id="rId12" Type="http://schemas.openxmlformats.org/officeDocument/2006/relationships/hyperlink" Target="mailto:%20K.Shahhosseini@tees.ac.uk" TargetMode="External"/><Relationship Id="rId2" Type="http://schemas.openxmlformats.org/officeDocument/2006/relationships/hyperlink" Target="mailto:B.Ogbo@tees.ac.uk" TargetMode="External"/><Relationship Id="rId1" Type="http://schemas.openxmlformats.org/officeDocument/2006/relationships/slideLayout" Target="../slideLayouts/slideLayout55.xml"/><Relationship Id="rId6" Type="http://schemas.openxmlformats.org/officeDocument/2006/relationships/hyperlink" Target="mailto:L.Doan@tees.ac.uk" TargetMode="External"/><Relationship Id="rId11" Type="http://schemas.openxmlformats.org/officeDocument/2006/relationships/hyperlink" Target="mailto:N.Mathews@tees.ac.uk" TargetMode="External"/><Relationship Id="rId5" Type="http://schemas.openxmlformats.org/officeDocument/2006/relationships/hyperlink" Target="mailto:S.Elkazza@tees.ac.uk" TargetMode="External"/><Relationship Id="rId10" Type="http://schemas.openxmlformats.org/officeDocument/2006/relationships/hyperlink" Target="mailto:A.Laeeq@tees.ac.uk" TargetMode="External"/><Relationship Id="rId4" Type="http://schemas.openxmlformats.org/officeDocument/2006/relationships/hyperlink" Target="mailto:C.Opara@tees.ac.uk" TargetMode="External"/><Relationship Id="rId9" Type="http://schemas.openxmlformats.org/officeDocument/2006/relationships/hyperlink" Target="mailto:a.haider@tees.ac.uk" TargetMode="External"/><Relationship Id="rId14" Type="http://schemas.openxmlformats.org/officeDocument/2006/relationships/hyperlink" Target="https://bb.tees.ac.uk/"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bb.tees.ac.uk/" TargetMode="Externa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youtube.com/watch?v=mAgy_B_sSuE" TargetMode="Externa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hyperlink" Target="https://docs.microsoft.com/en-gb/learn/modules/get-started-with-power-bi/" TargetMode="External"/><Relationship Id="rId2" Type="http://schemas.openxmlformats.org/officeDocument/2006/relationships/hyperlink" Target="https://powerbi.microsoft.com/en-us/" TargetMode="External"/><Relationship Id="rId1" Type="http://schemas.openxmlformats.org/officeDocument/2006/relationships/slideLayout" Target="../slideLayouts/slideLayout15.xml"/><Relationship Id="rId5" Type="http://schemas.openxmlformats.org/officeDocument/2006/relationships/hyperlink" Target="https://www.pbiusergroup.com/home" TargetMode="External"/><Relationship Id="rId4" Type="http://schemas.openxmlformats.org/officeDocument/2006/relationships/hyperlink" Target="https://docs.microsoft.com/en-us/power-bi/guided-learning/"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hyperlink" Target="https://docs.microsoft.com/en-us/sql/reporting-services/create-deploy-and-manage-mobile-and-paginated-reports?view=sql-server-2017" TargetMode="External"/><Relationship Id="rId3" Type="http://schemas.openxmlformats.org/officeDocument/2006/relationships/image" Target="../media/image43.png"/><Relationship Id="rId7" Type="http://schemas.openxmlformats.org/officeDocument/2006/relationships/hyperlink" Target="powerbi.microsoft.com/en-us" TargetMode="External"/><Relationship Id="rId12" Type="http://schemas.openxmlformats.org/officeDocument/2006/relationships/image" Target="../media/image49.png"/><Relationship Id="rId2" Type="http://schemas.openxmlformats.org/officeDocument/2006/relationships/notesSlide" Target="../notesSlides/notesSlide10.xml"/><Relationship Id="rId16" Type="http://schemas.openxmlformats.org/officeDocument/2006/relationships/image" Target="../media/image52.png"/><Relationship Id="rId1" Type="http://schemas.openxmlformats.org/officeDocument/2006/relationships/slideLayout" Target="../slideLayouts/slideLayout30.xml"/><Relationship Id="rId6" Type="http://schemas.openxmlformats.org/officeDocument/2006/relationships/image" Target="../media/image46.png"/><Relationship Id="rId11" Type="http://schemas.openxmlformats.org/officeDocument/2006/relationships/hyperlink" Target="https://docs.microsoft.com/en-us/sql/analysis-services/analysis-services?view=sql-server-2017" TargetMode="External"/><Relationship Id="rId5" Type="http://schemas.openxmlformats.org/officeDocument/2006/relationships/image" Target="../media/image45.png"/><Relationship Id="rId15" Type="http://schemas.openxmlformats.org/officeDocument/2006/relationships/image" Target="../media/image51.png"/><Relationship Id="rId10" Type="http://schemas.openxmlformats.org/officeDocument/2006/relationships/image" Target="../media/image48.jpeg"/><Relationship Id="rId4" Type="http://schemas.openxmlformats.org/officeDocument/2006/relationships/image" Target="../media/image44.png"/><Relationship Id="rId9" Type="http://schemas.openxmlformats.org/officeDocument/2006/relationships/hyperlink" Target="https://docs.microsoft.com/en-us/sql/integration-services/sql-server-integration-services?view=sql-server-ver15" TargetMode="External"/><Relationship Id="rId14" Type="http://schemas.openxmlformats.org/officeDocument/2006/relationships/image" Target="../media/image50.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5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3.png"/><Relationship Id="rId5" Type="http://schemas.openxmlformats.org/officeDocument/2006/relationships/image" Target="../media/image40.png"/><Relationship Id="rId4"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5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3.png"/><Relationship Id="rId5" Type="http://schemas.openxmlformats.org/officeDocument/2006/relationships/image" Target="../media/image40.png"/><Relationship Id="rId4"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2.xml"/><Relationship Id="rId1" Type="http://schemas.openxmlformats.org/officeDocument/2006/relationships/slideLayout" Target="../slideLayouts/slideLayout47.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3.xml"/><Relationship Id="rId1" Type="http://schemas.openxmlformats.org/officeDocument/2006/relationships/slideLayout" Target="../slideLayouts/slideLayout36.xml"/><Relationship Id="rId5" Type="http://schemas.openxmlformats.org/officeDocument/2006/relationships/hyperlink" Target="https://powerbi.microsoft.com/en-us/demo/" TargetMode="External"/><Relationship Id="rId4" Type="http://schemas.openxmlformats.org/officeDocument/2006/relationships/hyperlink" Target="https://powerbi.microsoft.com/en-us/what-is-power-bi/" TargetMode="Externa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3.png"/><Relationship Id="rId4"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47.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47.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47.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6.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hyperlink" Target="https://b.socrative.com/login/student/"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hyperlink" Target="https://quizizz.com/joi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9.png"/><Relationship Id="rId1" Type="http://schemas.openxmlformats.org/officeDocument/2006/relationships/slideLayout" Target="../slideLayouts/slideLayout56.xml"/><Relationship Id="rId5" Type="http://schemas.openxmlformats.org/officeDocument/2006/relationships/image" Target="../media/image47.png"/><Relationship Id="rId4" Type="http://schemas.openxmlformats.org/officeDocument/2006/relationships/hyperlink" Target="powerbi.microsoft.com/en-us"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5">
            <a:extLst>
              <a:ext uri="{FF2B5EF4-FFF2-40B4-BE49-F238E27FC236}">
                <a16:creationId xmlns:a16="http://schemas.microsoft.com/office/drawing/2014/main" id="{BA3ECBAB-A1BE-4585-AA10-A5A7D89A7B47}"/>
              </a:ext>
            </a:extLst>
          </p:cNvPr>
          <p:cNvSpPr txBox="1">
            <a:spLocks/>
          </p:cNvSpPr>
          <p:nvPr/>
        </p:nvSpPr>
        <p:spPr>
          <a:xfrm>
            <a:off x="383720" y="2791252"/>
            <a:ext cx="11408230" cy="122847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spc="-150" baseline="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GB" sz="3600" b="0" i="0" u="none" strike="noStrike" kern="1200" cap="none" spc="-150" normalizeH="0" baseline="0" noProof="0" dirty="0">
              <a:ln>
                <a:noFill/>
              </a:ln>
              <a:solidFill>
                <a:sysClr val="windowText" lastClr="000000"/>
              </a:solidFill>
              <a:effectLst/>
              <a:uLnTx/>
              <a:uFillTx/>
              <a:latin typeface="Calibri Light" panose="020F0302020204030204"/>
              <a:ea typeface="+mj-ea"/>
              <a:cs typeface="+mj-cs"/>
            </a:endParaRPr>
          </a:p>
        </p:txBody>
      </p:sp>
      <p:sp>
        <p:nvSpPr>
          <p:cNvPr id="17" name="Subtitle 6">
            <a:extLst>
              <a:ext uri="{FF2B5EF4-FFF2-40B4-BE49-F238E27FC236}">
                <a16:creationId xmlns:a16="http://schemas.microsoft.com/office/drawing/2014/main" id="{54CEB7E1-D194-46C9-A1DF-A6A853556ADF}"/>
              </a:ext>
            </a:extLst>
          </p:cNvPr>
          <p:cNvSpPr txBox="1">
            <a:spLocks/>
          </p:cNvSpPr>
          <p:nvPr/>
        </p:nvSpPr>
        <p:spPr>
          <a:xfrm>
            <a:off x="383720" y="4268030"/>
            <a:ext cx="11408230" cy="10636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8" name="Text Placeholder 7">
            <a:extLst>
              <a:ext uri="{FF2B5EF4-FFF2-40B4-BE49-F238E27FC236}">
                <a16:creationId xmlns:a16="http://schemas.microsoft.com/office/drawing/2014/main" id="{67ABA581-7897-49E5-98D9-3414F9D8A384}"/>
              </a:ext>
            </a:extLst>
          </p:cNvPr>
          <p:cNvSpPr txBox="1">
            <a:spLocks/>
          </p:cNvSpPr>
          <p:nvPr/>
        </p:nvSpPr>
        <p:spPr>
          <a:xfrm>
            <a:off x="391885" y="2202930"/>
            <a:ext cx="11408230" cy="98509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3600" b="1" kern="120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spcBef>
                <a:spcPct val="0"/>
              </a:spcBef>
              <a:defRPr/>
            </a:pPr>
            <a:r>
              <a:rPr lang="en-GB" spc="-150" dirty="0">
                <a:solidFill>
                  <a:sysClr val="windowText" lastClr="000000"/>
                </a:solidFill>
                <a:latin typeface="Calibri Light" panose="020F0302020204030204"/>
              </a:rPr>
              <a:t>Introduction to the Module and ICA Briefing</a:t>
            </a:r>
          </a:p>
          <a:p>
            <a:pPr lvl="0">
              <a:spcBef>
                <a:spcPct val="0"/>
              </a:spcBef>
              <a:defRPr/>
            </a:pPr>
            <a:endParaRPr lang="en-GB" spc="-150" dirty="0">
              <a:solidFill>
                <a:sysClr val="windowText" lastClr="000000"/>
              </a:solidFill>
              <a:latin typeface="Calibri Light" panose="020F0302020204030204"/>
            </a:endParaRPr>
          </a:p>
          <a:p>
            <a:pPr lvl="0">
              <a:spcBef>
                <a:spcPct val="0"/>
              </a:spcBef>
              <a:defRPr/>
            </a:pPr>
            <a:r>
              <a:rPr lang="en-GB" spc="-150" dirty="0">
                <a:solidFill>
                  <a:sysClr val="windowText" lastClr="000000"/>
                </a:solidFill>
                <a:latin typeface="Calibri Light" panose="020F0302020204030204"/>
              </a:rPr>
              <a:t>Big Data and Business Intelligence</a:t>
            </a:r>
          </a:p>
        </p:txBody>
      </p:sp>
    </p:spTree>
    <p:extLst>
      <p:ext uri="{BB962C8B-B14F-4D97-AF65-F5344CB8AC3E}">
        <p14:creationId xmlns:p14="http://schemas.microsoft.com/office/powerpoint/2010/main" val="114917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DE918F-8A20-43DC-8939-BA9D0F8B104E}"/>
              </a:ext>
            </a:extLst>
          </p:cNvPr>
          <p:cNvSpPr>
            <a:spLocks noGrp="1"/>
          </p:cNvSpPr>
          <p:nvPr>
            <p:ph sz="half" idx="1"/>
          </p:nvPr>
        </p:nvSpPr>
        <p:spPr>
          <a:xfrm>
            <a:off x="0" y="1099735"/>
            <a:ext cx="7266710" cy="5159916"/>
          </a:xfrm>
        </p:spPr>
        <p:txBody>
          <a:bodyPr>
            <a:normAutofit fontScale="92500" lnSpcReduction="10000"/>
          </a:bodyPr>
          <a:lstStyle/>
          <a:p>
            <a:pPr marL="0" indent="0">
              <a:buNone/>
            </a:pPr>
            <a:endParaRPr lang="en-GB" sz="2400" b="1" dirty="0"/>
          </a:p>
          <a:p>
            <a:pPr marL="342900" indent="-342900">
              <a:buFont typeface="Arial" panose="020B0604020202020204" pitchFamily="34" charset="0"/>
              <a:buChar char="•"/>
            </a:pPr>
            <a:r>
              <a:rPr lang="en-GB" sz="2200" dirty="0"/>
              <a:t>2016 - Preparatory Classes Mathematics and Physics Degree in Alphonse Daudet, Nimes, France.</a:t>
            </a:r>
          </a:p>
          <a:p>
            <a:pPr marL="342900" indent="-342900">
              <a:buFont typeface="Arial" panose="020B0604020202020204" pitchFamily="34" charset="0"/>
              <a:buChar char="•"/>
            </a:pPr>
            <a:endParaRPr lang="en-GB" sz="2200" dirty="0"/>
          </a:p>
          <a:p>
            <a:pPr marL="342900" indent="-342900">
              <a:buFont typeface="Arial" panose="020B0604020202020204" pitchFamily="34" charset="0"/>
              <a:buChar char="•"/>
            </a:pPr>
            <a:r>
              <a:rPr lang="en-GB" sz="2200" dirty="0"/>
              <a:t>2019 - Master Degree in Software engineering, ENSIAS, Rabat &amp; Research Associate – INRIA, Rennes, France.</a:t>
            </a:r>
          </a:p>
          <a:p>
            <a:pPr marL="342900" indent="-342900">
              <a:buFont typeface="Arial" panose="020B0604020202020204" pitchFamily="34" charset="0"/>
              <a:buChar char="•"/>
            </a:pPr>
            <a:endParaRPr lang="en-GB" sz="2200" dirty="0"/>
          </a:p>
          <a:p>
            <a:pPr marL="342900" indent="-342900">
              <a:buFont typeface="Arial" panose="020B0604020202020204" pitchFamily="34" charset="0"/>
              <a:buChar char="•"/>
            </a:pPr>
            <a:r>
              <a:rPr lang="en-GB" sz="2200" dirty="0"/>
              <a:t>2020-2024 - PhD in Computer Science, Teesside University, UK &amp; Research associate in National Horizon Centre (NHC).</a:t>
            </a:r>
          </a:p>
          <a:p>
            <a:endParaRPr lang="en-GB" sz="2200" dirty="0"/>
          </a:p>
          <a:p>
            <a:pPr marL="342900" indent="-342900">
              <a:buFont typeface="Arial" panose="020B0604020202020204" pitchFamily="34" charset="0"/>
              <a:buChar char="•"/>
            </a:pPr>
            <a:r>
              <a:rPr lang="en-GB" sz="2200" dirty="0"/>
              <a:t>Jan 2023 – March 2024 - PTL in Computer Science, Teesside University.</a:t>
            </a:r>
          </a:p>
          <a:p>
            <a:endParaRPr lang="en-GB" sz="2200" dirty="0"/>
          </a:p>
          <a:p>
            <a:pPr marL="342900" indent="-342900">
              <a:buFont typeface="Arial" panose="020B0604020202020204" pitchFamily="34" charset="0"/>
              <a:buChar char="•"/>
            </a:pPr>
            <a:r>
              <a:rPr lang="en-GB" sz="2200" dirty="0"/>
              <a:t>March 2024, Lecturer in Computing &amp; Games, Teesside University.</a:t>
            </a:r>
            <a:endParaRPr lang="en-GB" sz="2000" dirty="0"/>
          </a:p>
          <a:p>
            <a:endParaRPr lang="en-GB" sz="2200" dirty="0"/>
          </a:p>
          <a:p>
            <a:endParaRPr lang="en-GB" dirty="0"/>
          </a:p>
        </p:txBody>
      </p:sp>
      <p:sp>
        <p:nvSpPr>
          <p:cNvPr id="5" name="Footer Placeholder 4">
            <a:extLst>
              <a:ext uri="{FF2B5EF4-FFF2-40B4-BE49-F238E27FC236}">
                <a16:creationId xmlns:a16="http://schemas.microsoft.com/office/drawing/2014/main" id="{0A93A71E-127E-4F9E-B022-41B5AFBBC6CA}"/>
              </a:ext>
            </a:extLst>
          </p:cNvPr>
          <p:cNvSpPr>
            <a:spLocks noGrp="1"/>
          </p:cNvSpPr>
          <p:nvPr>
            <p:ph type="ftr" sz="quarter" idx="11"/>
          </p:nvPr>
        </p:nvSpPr>
        <p:spPr>
          <a:xfrm>
            <a:off x="383720" y="6515100"/>
            <a:ext cx="10654393" cy="206375"/>
          </a:xfrm>
          <a:prstGeom prst="rect">
            <a:avLst/>
          </a:prstGeom>
        </p:spPr>
        <p:txBody>
          <a:bodyPr vert="horz" lIns="91440" tIns="45720" rIns="91440" bIns="45720" rtlCol="0" anchor="ctr">
            <a:normAutofit fontScale="92500" lnSpcReduction="20000"/>
          </a:bodyPr>
          <a:lstStyle>
            <a:defPPr>
              <a:defRPr lang="en-US"/>
            </a:defPPr>
            <a:lvl1pPr marL="0" algn="l" defTabSz="914400" rtl="0" eaLnBrk="1" latinLnBrk="0" hangingPunct="1">
              <a:defRPr sz="11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Tx/>
              <a:buSzTx/>
              <a:buFontTx/>
              <a:buNone/>
              <a:tabLst/>
              <a:defRPr/>
            </a:pPr>
            <a:r>
              <a:rPr lang="en-GB"/>
              <a:t>School of Computing &amp; Digital Technologies</a:t>
            </a:r>
            <a:endParaRPr kumimoji="0" lang="en-GB" sz="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CA861DAE-D46B-44E1-9D97-C5725D8B7E5D}"/>
              </a:ext>
            </a:extLst>
          </p:cNvPr>
          <p:cNvSpPr>
            <a:spLocks noGrp="1"/>
          </p:cNvSpPr>
          <p:nvPr>
            <p:ph type="sldNum" sz="quarter" idx="12"/>
          </p:nvPr>
        </p:nvSpPr>
        <p:spPr>
          <a:xfrm>
            <a:off x="11179628" y="6515099"/>
            <a:ext cx="683079" cy="206375"/>
          </a:xfrm>
          <a:prstGeom prst="rect">
            <a:avLst/>
          </a:prstGeom>
        </p:spPr>
        <p:txBody>
          <a:bodyPr vert="horz" lIns="91440" tIns="45720" rIns="91440" bIns="45720" rtlCol="0" anchor="ctr">
            <a:normAutofit fontScale="92500" lnSpcReduction="20000"/>
          </a:bodyPr>
          <a:lstStyle>
            <a:defPPr>
              <a:defRPr lang="en-US"/>
            </a:defPPr>
            <a:lvl1pPr marL="0" algn="r" defTabSz="914400" rtl="0" eaLnBrk="1" latinLnBrk="0" hangingPunct="1">
              <a:defRPr sz="11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0"/>
              </a:spcBef>
              <a:spcAft>
                <a:spcPts val="600"/>
              </a:spcAft>
              <a:buClrTx/>
              <a:buSzTx/>
              <a:buFontTx/>
              <a:buNone/>
              <a:tabLst/>
              <a:defRPr/>
            </a:pPr>
            <a:fld id="{5BC3EEBC-8848-48BC-9E86-2856C4334E59}" type="slidenum">
              <a:rPr lang="en-GB" smtClean="0"/>
              <a:pPr marL="0" marR="0" lvl="0" indent="0" algn="r" defTabSz="914400" rtl="0" eaLnBrk="1" fontAlgn="auto" latinLnBrk="0" hangingPunct="1">
                <a:lnSpc>
                  <a:spcPct val="90000"/>
                </a:lnSpc>
                <a:spcBef>
                  <a:spcPts val="0"/>
                </a:spcBef>
                <a:spcAft>
                  <a:spcPts val="600"/>
                </a:spcAft>
                <a:buClrTx/>
                <a:buSzTx/>
                <a:buFontTx/>
                <a:buNone/>
                <a:tabLst/>
                <a:defRPr/>
              </a:pPr>
              <a:t>2</a:t>
            </a:fld>
            <a:endParaRPr kumimoji="0" lang="en-GB" sz="800" b="0" i="0" u="none" strike="noStrike" kern="1200" cap="none" spc="0" normalizeH="0" baseline="0" noProof="0">
              <a:ln>
                <a:noFill/>
              </a:ln>
              <a:solidFill>
                <a:srgbClr val="E7E6E6"/>
              </a:solidFill>
              <a:effectLst/>
              <a:uLnTx/>
              <a:uFillTx/>
              <a:latin typeface="Arial" panose="020B0604020202020204"/>
              <a:ea typeface="+mn-ea"/>
              <a:cs typeface="+mn-cs"/>
            </a:endParaRPr>
          </a:p>
        </p:txBody>
      </p:sp>
      <p:sp>
        <p:nvSpPr>
          <p:cNvPr id="7" name="Title 3">
            <a:extLst>
              <a:ext uri="{FF2B5EF4-FFF2-40B4-BE49-F238E27FC236}">
                <a16:creationId xmlns:a16="http://schemas.microsoft.com/office/drawing/2014/main" id="{D893EABD-E4AA-32A9-023C-B5D61A6EF9F3}"/>
              </a:ext>
            </a:extLst>
          </p:cNvPr>
          <p:cNvSpPr txBox="1">
            <a:spLocks/>
          </p:cNvSpPr>
          <p:nvPr/>
        </p:nvSpPr>
        <p:spPr>
          <a:xfrm>
            <a:off x="158638" y="135098"/>
            <a:ext cx="6369346" cy="709188"/>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t>A bit about me…</a:t>
            </a:r>
          </a:p>
        </p:txBody>
      </p:sp>
      <p:pic>
        <p:nvPicPr>
          <p:cNvPr id="6" name="Picture 5">
            <a:extLst>
              <a:ext uri="{FF2B5EF4-FFF2-40B4-BE49-F238E27FC236}">
                <a16:creationId xmlns:a16="http://schemas.microsoft.com/office/drawing/2014/main" id="{06170420-771F-9D73-8500-D4CC65DCBED8}"/>
              </a:ext>
            </a:extLst>
          </p:cNvPr>
          <p:cNvPicPr>
            <a:picLocks noChangeAspect="1"/>
          </p:cNvPicPr>
          <p:nvPr/>
        </p:nvPicPr>
        <p:blipFill>
          <a:blip r:embed="rId2"/>
          <a:stretch>
            <a:fillRect/>
          </a:stretch>
        </p:blipFill>
        <p:spPr>
          <a:xfrm>
            <a:off x="7269804" y="123485"/>
            <a:ext cx="4705592" cy="6597989"/>
          </a:xfrm>
          <a:prstGeom prst="rect">
            <a:avLst/>
          </a:prstGeom>
        </p:spPr>
      </p:pic>
      <p:pic>
        <p:nvPicPr>
          <p:cNvPr id="15" name="Picture 14" descr="Icon&#10;&#10;Description automatically generated">
            <a:extLst>
              <a:ext uri="{FF2B5EF4-FFF2-40B4-BE49-F238E27FC236}">
                <a16:creationId xmlns:a16="http://schemas.microsoft.com/office/drawing/2014/main" id="{9B1AAAAD-6CDB-4057-9BF3-81B8312564B7}"/>
              </a:ext>
            </a:extLst>
          </p:cNvPr>
          <p:cNvPicPr>
            <a:picLocks noChangeAspect="1"/>
          </p:cNvPicPr>
          <p:nvPr/>
        </p:nvPicPr>
        <p:blipFill>
          <a:blip r:embed="rId3"/>
          <a:stretch>
            <a:fillRect/>
          </a:stretch>
        </p:blipFill>
        <p:spPr>
          <a:xfrm>
            <a:off x="9529015" y="1887802"/>
            <a:ext cx="533400" cy="533400"/>
          </a:xfrm>
          <a:prstGeom prst="rect">
            <a:avLst/>
          </a:prstGeom>
        </p:spPr>
      </p:pic>
      <p:pic>
        <p:nvPicPr>
          <p:cNvPr id="19" name="Picture 18" descr="Icon&#10;&#10;Description automatically generated">
            <a:extLst>
              <a:ext uri="{FF2B5EF4-FFF2-40B4-BE49-F238E27FC236}">
                <a16:creationId xmlns:a16="http://schemas.microsoft.com/office/drawing/2014/main" id="{D4751D90-4946-766F-E854-F03EA4A60166}"/>
              </a:ext>
            </a:extLst>
          </p:cNvPr>
          <p:cNvPicPr>
            <a:picLocks noChangeAspect="1"/>
          </p:cNvPicPr>
          <p:nvPr/>
        </p:nvPicPr>
        <p:blipFill>
          <a:blip r:embed="rId3"/>
          <a:stretch>
            <a:fillRect/>
          </a:stretch>
        </p:blipFill>
        <p:spPr>
          <a:xfrm>
            <a:off x="10180341" y="2771384"/>
            <a:ext cx="533400" cy="533400"/>
          </a:xfrm>
          <a:prstGeom prst="rect">
            <a:avLst/>
          </a:prstGeom>
        </p:spPr>
      </p:pic>
      <p:pic>
        <p:nvPicPr>
          <p:cNvPr id="20" name="Picture 19" descr="Icon&#10;&#10;Description automatically generated">
            <a:extLst>
              <a:ext uri="{FF2B5EF4-FFF2-40B4-BE49-F238E27FC236}">
                <a16:creationId xmlns:a16="http://schemas.microsoft.com/office/drawing/2014/main" id="{C82567FB-F0F2-BF08-31CD-988A45DDA82C}"/>
              </a:ext>
            </a:extLst>
          </p:cNvPr>
          <p:cNvPicPr>
            <a:picLocks noChangeAspect="1"/>
          </p:cNvPicPr>
          <p:nvPr/>
        </p:nvPicPr>
        <p:blipFill>
          <a:blip r:embed="rId3"/>
          <a:stretch>
            <a:fillRect/>
          </a:stretch>
        </p:blipFill>
        <p:spPr>
          <a:xfrm>
            <a:off x="8642986" y="4503763"/>
            <a:ext cx="533400" cy="533400"/>
          </a:xfrm>
          <a:prstGeom prst="rect">
            <a:avLst/>
          </a:prstGeom>
        </p:spPr>
      </p:pic>
      <p:pic>
        <p:nvPicPr>
          <p:cNvPr id="21" name="Picture 20" descr="Icon&#10;&#10;Description automatically generated">
            <a:extLst>
              <a:ext uri="{FF2B5EF4-FFF2-40B4-BE49-F238E27FC236}">
                <a16:creationId xmlns:a16="http://schemas.microsoft.com/office/drawing/2014/main" id="{2D4132AD-3A7B-6E5C-1A68-A5CFF536E4D3}"/>
              </a:ext>
            </a:extLst>
          </p:cNvPr>
          <p:cNvPicPr>
            <a:picLocks noChangeAspect="1"/>
          </p:cNvPicPr>
          <p:nvPr/>
        </p:nvPicPr>
        <p:blipFill>
          <a:blip r:embed="rId3"/>
          <a:stretch>
            <a:fillRect/>
          </a:stretch>
        </p:blipFill>
        <p:spPr>
          <a:xfrm>
            <a:off x="9532711" y="748013"/>
            <a:ext cx="533400" cy="533400"/>
          </a:xfrm>
          <a:prstGeom prst="rect">
            <a:avLst/>
          </a:prstGeom>
        </p:spPr>
      </p:pic>
    </p:spTree>
    <p:extLst>
      <p:ext uri="{BB962C8B-B14F-4D97-AF65-F5344CB8AC3E}">
        <p14:creationId xmlns:p14="http://schemas.microsoft.com/office/powerpoint/2010/main" val="140315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537" y="154000"/>
            <a:ext cx="3033395" cy="697230"/>
          </a:xfrm>
          <a:prstGeom prst="rect">
            <a:avLst/>
          </a:prstGeom>
        </p:spPr>
        <p:txBody>
          <a:bodyPr vert="horz" wrap="square" lIns="0" tIns="13335" rIns="0" bIns="0" rtlCol="0">
            <a:spAutoFit/>
          </a:bodyPr>
          <a:lstStyle/>
          <a:p>
            <a:pPr marL="12700">
              <a:lnSpc>
                <a:spcPct val="100000"/>
              </a:lnSpc>
              <a:spcBef>
                <a:spcPts val="105"/>
              </a:spcBef>
            </a:pPr>
            <a:r>
              <a:rPr spc="-595" dirty="0"/>
              <a:t>T</a:t>
            </a:r>
            <a:r>
              <a:rPr spc="-200" dirty="0"/>
              <a:t>e</a:t>
            </a:r>
            <a:r>
              <a:rPr spc="-204" dirty="0"/>
              <a:t>a</a:t>
            </a:r>
            <a:r>
              <a:rPr spc="-200" dirty="0"/>
              <a:t>ch</a:t>
            </a:r>
            <a:r>
              <a:rPr spc="-190" dirty="0"/>
              <a:t>i</a:t>
            </a:r>
            <a:r>
              <a:rPr spc="-215" dirty="0"/>
              <a:t>n</a:t>
            </a:r>
            <a:r>
              <a:rPr spc="-10" dirty="0"/>
              <a:t>g</a:t>
            </a:r>
            <a:r>
              <a:rPr spc="-350" dirty="0"/>
              <a:t> </a:t>
            </a:r>
            <a:r>
              <a:rPr spc="-555" dirty="0"/>
              <a:t>T</a:t>
            </a:r>
            <a:r>
              <a:rPr spc="-160" dirty="0"/>
              <a:t>e</a:t>
            </a:r>
            <a:r>
              <a:rPr spc="-165" dirty="0"/>
              <a:t>a</a:t>
            </a:r>
            <a:r>
              <a:rPr spc="30" dirty="0"/>
              <a:t>m</a:t>
            </a:r>
          </a:p>
        </p:txBody>
      </p:sp>
      <p:pic>
        <p:nvPicPr>
          <p:cNvPr id="7" name="object 7"/>
          <p:cNvPicPr/>
          <p:nvPr/>
        </p:nvPicPr>
        <p:blipFill>
          <a:blip r:embed="rId2" cstate="print"/>
          <a:stretch>
            <a:fillRect/>
          </a:stretch>
        </p:blipFill>
        <p:spPr>
          <a:xfrm>
            <a:off x="1295400" y="4952999"/>
            <a:ext cx="1627632" cy="1336547"/>
          </a:xfrm>
          <a:prstGeom prst="rect">
            <a:avLst/>
          </a:prstGeom>
        </p:spPr>
      </p:pic>
      <p:pic>
        <p:nvPicPr>
          <p:cNvPr id="8" name="object 8"/>
          <p:cNvPicPr/>
          <p:nvPr/>
        </p:nvPicPr>
        <p:blipFill>
          <a:blip r:embed="rId3" cstate="print"/>
          <a:stretch>
            <a:fillRect/>
          </a:stretch>
        </p:blipFill>
        <p:spPr>
          <a:xfrm>
            <a:off x="3581400" y="5033919"/>
            <a:ext cx="4367783" cy="1255628"/>
          </a:xfrm>
          <a:prstGeom prst="rect">
            <a:avLst/>
          </a:prstGeom>
        </p:spPr>
      </p:pic>
      <p:pic>
        <p:nvPicPr>
          <p:cNvPr id="9" name="object 9"/>
          <p:cNvPicPr/>
          <p:nvPr/>
        </p:nvPicPr>
        <p:blipFill>
          <a:blip r:embed="rId4" cstate="print"/>
          <a:stretch>
            <a:fillRect/>
          </a:stretch>
        </p:blipFill>
        <p:spPr>
          <a:xfrm>
            <a:off x="8607551" y="5033919"/>
            <a:ext cx="1703832" cy="1255628"/>
          </a:xfrm>
          <a:prstGeom prst="rect">
            <a:avLst/>
          </a:prstGeom>
        </p:spPr>
      </p:pic>
      <p:sp>
        <p:nvSpPr>
          <p:cNvPr id="10" name="object 10"/>
          <p:cNvSpPr txBox="1"/>
          <p:nvPr/>
        </p:nvSpPr>
        <p:spPr>
          <a:xfrm>
            <a:off x="462483" y="1080135"/>
            <a:ext cx="9280145" cy="3544560"/>
          </a:xfrm>
          <a:prstGeom prst="rect">
            <a:avLst/>
          </a:prstGeom>
        </p:spPr>
        <p:txBody>
          <a:bodyPr vert="horz" wrap="square" lIns="0" tIns="12700" rIns="0" bIns="0" rtlCol="0">
            <a:spAutoFit/>
          </a:bodyPr>
          <a:lstStyle/>
          <a:p>
            <a:pPr marL="123189">
              <a:lnSpc>
                <a:spcPct val="100000"/>
              </a:lnSpc>
              <a:spcBef>
                <a:spcPts val="100"/>
              </a:spcBef>
            </a:pPr>
            <a:r>
              <a:rPr sz="2400" b="1" dirty="0">
                <a:latin typeface="Calibri"/>
                <a:cs typeface="Calibri"/>
              </a:rPr>
              <a:t>Module</a:t>
            </a:r>
            <a:r>
              <a:rPr sz="2400" b="1" spc="-35" dirty="0">
                <a:latin typeface="Calibri"/>
                <a:cs typeface="Calibri"/>
              </a:rPr>
              <a:t> </a:t>
            </a:r>
            <a:r>
              <a:rPr sz="2400" b="1" spc="-10" dirty="0">
                <a:latin typeface="Calibri"/>
                <a:cs typeface="Calibri"/>
              </a:rPr>
              <a:t>Leader</a:t>
            </a:r>
            <a:r>
              <a:rPr lang="en-GB" sz="2400" b="1" spc="-10" dirty="0">
                <a:latin typeface="Calibri"/>
                <a:cs typeface="Calibri"/>
              </a:rPr>
              <a:t> &amp; Moderator</a:t>
            </a:r>
            <a:endParaRPr sz="2400" dirty="0">
              <a:latin typeface="Calibri"/>
              <a:cs typeface="Calibri"/>
            </a:endParaRPr>
          </a:p>
          <a:p>
            <a:pPr marL="240665" indent="-227965">
              <a:lnSpc>
                <a:spcPct val="100000"/>
              </a:lnSpc>
              <a:spcBef>
                <a:spcPts val="2265"/>
              </a:spcBef>
              <a:buFont typeface="Arial MT"/>
              <a:buChar char="•"/>
              <a:tabLst>
                <a:tab pos="240665" algn="l"/>
              </a:tabLst>
            </a:pPr>
            <a:r>
              <a:rPr sz="1800" b="1" dirty="0">
                <a:latin typeface="Calibri"/>
                <a:cs typeface="Calibri"/>
              </a:rPr>
              <a:t>Dr</a:t>
            </a:r>
            <a:r>
              <a:rPr sz="1800" b="1" spc="-60" dirty="0">
                <a:latin typeface="Calibri"/>
                <a:cs typeface="Calibri"/>
              </a:rPr>
              <a:t> </a:t>
            </a:r>
            <a:r>
              <a:rPr lang="en-GB" sz="1800" b="1" dirty="0">
                <a:latin typeface="Calibri"/>
                <a:cs typeface="Calibri"/>
              </a:rPr>
              <a:t>Annalisa Occhipinti</a:t>
            </a:r>
            <a:r>
              <a:rPr sz="1800" dirty="0">
                <a:latin typeface="Calibri"/>
                <a:cs typeface="Calibri"/>
              </a:rPr>
              <a:t>,</a:t>
            </a:r>
            <a:r>
              <a:rPr sz="1800" spc="-70" dirty="0">
                <a:latin typeface="Calibri"/>
                <a:cs typeface="Calibri"/>
              </a:rPr>
              <a:t> </a:t>
            </a:r>
            <a:r>
              <a:rPr lang="en-GB" sz="1800" dirty="0">
                <a:latin typeface="Calibri"/>
                <a:cs typeface="Calibri"/>
              </a:rPr>
              <a:t>Professor </a:t>
            </a:r>
            <a:r>
              <a:rPr sz="1800" dirty="0">
                <a:latin typeface="Calibri"/>
                <a:cs typeface="Calibri"/>
              </a:rPr>
              <a:t>in</a:t>
            </a:r>
            <a:r>
              <a:rPr sz="1800" spc="-55" dirty="0">
                <a:latin typeface="Calibri"/>
                <a:cs typeface="Calibri"/>
              </a:rPr>
              <a:t> </a:t>
            </a:r>
            <a:r>
              <a:rPr sz="1800" dirty="0">
                <a:latin typeface="Calibri"/>
                <a:cs typeface="Calibri"/>
              </a:rPr>
              <a:t>Computer</a:t>
            </a:r>
            <a:r>
              <a:rPr sz="1800" spc="-30" dirty="0">
                <a:latin typeface="Calibri"/>
                <a:cs typeface="Calibri"/>
              </a:rPr>
              <a:t> </a:t>
            </a:r>
            <a:r>
              <a:rPr sz="1800" dirty="0">
                <a:latin typeface="Calibri"/>
                <a:cs typeface="Calibri"/>
              </a:rPr>
              <a:t>Science,</a:t>
            </a:r>
            <a:r>
              <a:rPr sz="1800" spc="-35" dirty="0">
                <a:latin typeface="Calibri"/>
                <a:cs typeface="Calibri"/>
              </a:rPr>
              <a:t> </a:t>
            </a:r>
            <a:r>
              <a:rPr sz="1800" spc="-10" dirty="0">
                <a:latin typeface="Calibri"/>
                <a:cs typeface="Calibri"/>
              </a:rPr>
              <a:t>SCEDT</a:t>
            </a:r>
            <a:endParaRPr lang="en-GB" sz="1800" spc="-10" dirty="0">
              <a:latin typeface="Calibri"/>
              <a:cs typeface="Calibri"/>
            </a:endParaRPr>
          </a:p>
          <a:p>
            <a:pPr marL="240665" indent="-227965">
              <a:spcBef>
                <a:spcPts val="2265"/>
              </a:spcBef>
              <a:buFont typeface="Arial MT"/>
              <a:buChar char="•"/>
              <a:tabLst>
                <a:tab pos="240665" algn="l"/>
              </a:tabLst>
            </a:pPr>
            <a:r>
              <a:rPr lang="fr-FR" sz="1800" b="1" dirty="0">
                <a:latin typeface="Calibri"/>
                <a:cs typeface="Calibri"/>
              </a:rPr>
              <a:t>Email:</a:t>
            </a:r>
            <a:r>
              <a:rPr lang="fr-FR" sz="1800" b="1" spc="-5" dirty="0">
                <a:latin typeface="Calibri"/>
                <a:cs typeface="Calibri"/>
              </a:rPr>
              <a:t> </a:t>
            </a:r>
            <a:r>
              <a:rPr lang="fr-FR" sz="1800" b="1" u="sng" spc="-10" dirty="0">
                <a:solidFill>
                  <a:srgbClr val="6C2786"/>
                </a:solidFill>
                <a:uFill>
                  <a:solidFill>
                    <a:srgbClr val="6C2786"/>
                  </a:solidFill>
                </a:uFill>
                <a:latin typeface="Calibri"/>
                <a:cs typeface="Calibri"/>
                <a:hlinkClick r:id="rId5"/>
              </a:rPr>
              <a:t>a.occhipinti@tees.ac.uk</a:t>
            </a:r>
            <a:r>
              <a:rPr lang="fr-FR" sz="1800" b="1" u="sng" spc="-10" dirty="0">
                <a:solidFill>
                  <a:srgbClr val="6C2786"/>
                </a:solidFill>
                <a:uFill>
                  <a:solidFill>
                    <a:srgbClr val="6C2786"/>
                  </a:solidFill>
                </a:uFill>
                <a:latin typeface="Calibri"/>
                <a:cs typeface="Calibri"/>
              </a:rPr>
              <a:t> </a:t>
            </a:r>
            <a:endParaRPr lang="en-GB" sz="1600" spc="-10" dirty="0">
              <a:latin typeface="Calibri"/>
              <a:cs typeface="Calibri"/>
            </a:endParaRPr>
          </a:p>
          <a:p>
            <a:pPr marL="240665" indent="-227965">
              <a:lnSpc>
                <a:spcPct val="100000"/>
              </a:lnSpc>
              <a:spcBef>
                <a:spcPts val="2265"/>
              </a:spcBef>
              <a:buFont typeface="Arial MT"/>
              <a:buChar char="•"/>
              <a:tabLst>
                <a:tab pos="240665" algn="l"/>
              </a:tabLst>
            </a:pPr>
            <a:r>
              <a:rPr lang="en-GB" b="1" spc="-10" dirty="0">
                <a:latin typeface="Calibri"/>
                <a:cs typeface="Calibri"/>
              </a:rPr>
              <a:t>Chaimaa Tarzi, </a:t>
            </a:r>
            <a:r>
              <a:rPr lang="en-GB" spc="-10" dirty="0">
                <a:latin typeface="Calibri"/>
                <a:cs typeface="Calibri"/>
              </a:rPr>
              <a:t>Lecturer in Computing and Games, SCEDT</a:t>
            </a:r>
          </a:p>
          <a:p>
            <a:pPr marL="240665" indent="-227965">
              <a:spcBef>
                <a:spcPts val="2265"/>
              </a:spcBef>
              <a:buFont typeface="Arial MT"/>
              <a:buChar char="•"/>
              <a:tabLst>
                <a:tab pos="240665" algn="l"/>
              </a:tabLst>
            </a:pPr>
            <a:r>
              <a:rPr lang="fr-FR" sz="1800" b="1" dirty="0">
                <a:latin typeface="Calibri"/>
                <a:cs typeface="Calibri"/>
              </a:rPr>
              <a:t>Email:</a:t>
            </a:r>
            <a:r>
              <a:rPr lang="fr-FR" sz="1800" b="1" spc="-5" dirty="0">
                <a:latin typeface="Calibri"/>
                <a:cs typeface="Calibri"/>
              </a:rPr>
              <a:t> </a:t>
            </a:r>
            <a:r>
              <a:rPr lang="fr-FR" sz="1800" b="1" u="sng" spc="-10" dirty="0">
                <a:solidFill>
                  <a:srgbClr val="6C2786"/>
                </a:solidFill>
                <a:uFill>
                  <a:solidFill>
                    <a:srgbClr val="6C2786"/>
                  </a:solidFill>
                </a:uFill>
                <a:latin typeface="Calibri"/>
                <a:cs typeface="Calibri"/>
                <a:hlinkClick r:id="rId6"/>
              </a:rPr>
              <a:t>c.tarzi@tees.ac.uk</a:t>
            </a:r>
            <a:r>
              <a:rPr lang="fr-FR" sz="1800" b="1" u="sng" spc="-10" dirty="0">
                <a:solidFill>
                  <a:srgbClr val="6C2786"/>
                </a:solidFill>
                <a:uFill>
                  <a:solidFill>
                    <a:srgbClr val="6C2786"/>
                  </a:solidFill>
                </a:uFill>
                <a:latin typeface="Calibri"/>
                <a:cs typeface="Calibri"/>
              </a:rPr>
              <a:t> </a:t>
            </a:r>
            <a:endParaRPr sz="1800" dirty="0">
              <a:latin typeface="Calibri"/>
              <a:cs typeface="Calibri"/>
            </a:endParaRPr>
          </a:p>
          <a:p>
            <a:pPr marL="240665" indent="-227965">
              <a:lnSpc>
                <a:spcPct val="100000"/>
              </a:lnSpc>
              <a:spcBef>
                <a:spcPts val="1250"/>
              </a:spcBef>
              <a:buFont typeface="Arial MT"/>
              <a:buChar char="•"/>
              <a:tabLst>
                <a:tab pos="240665" algn="l"/>
              </a:tabLst>
            </a:pPr>
            <a:r>
              <a:rPr sz="1800" b="1" dirty="0">
                <a:latin typeface="Calibri"/>
                <a:cs typeface="Calibri"/>
              </a:rPr>
              <a:t>Office</a:t>
            </a:r>
            <a:r>
              <a:rPr sz="1800" b="1" spc="-30" dirty="0">
                <a:latin typeface="Calibri"/>
                <a:cs typeface="Calibri"/>
              </a:rPr>
              <a:t> </a:t>
            </a:r>
            <a:r>
              <a:rPr sz="1800" b="1" dirty="0">
                <a:latin typeface="Calibri"/>
                <a:cs typeface="Calibri"/>
              </a:rPr>
              <a:t>Hours</a:t>
            </a:r>
            <a:r>
              <a:rPr sz="1800" b="1" spc="-55" dirty="0">
                <a:latin typeface="Calibri"/>
                <a:cs typeface="Calibri"/>
              </a:rPr>
              <a:t> </a:t>
            </a:r>
            <a:r>
              <a:rPr sz="1800" b="1" dirty="0">
                <a:latin typeface="Calibri"/>
                <a:cs typeface="Calibri"/>
              </a:rPr>
              <a:t>(IT1.13):</a:t>
            </a:r>
            <a:r>
              <a:rPr sz="1800" b="1" spc="-15" dirty="0">
                <a:latin typeface="Calibri"/>
                <a:cs typeface="Calibri"/>
              </a:rPr>
              <a:t> </a:t>
            </a:r>
            <a:r>
              <a:rPr sz="1800" spc="-10" dirty="0">
                <a:latin typeface="Calibri"/>
                <a:cs typeface="Calibri"/>
              </a:rPr>
              <a:t>TBC</a:t>
            </a:r>
            <a:endParaRPr sz="1800" dirty="0">
              <a:latin typeface="Calibri"/>
              <a:cs typeface="Calibri"/>
            </a:endParaRPr>
          </a:p>
          <a:p>
            <a:pPr marL="240665" indent="-227965">
              <a:lnSpc>
                <a:spcPct val="100000"/>
              </a:lnSpc>
              <a:spcBef>
                <a:spcPts val="1245"/>
              </a:spcBef>
              <a:buFont typeface="Arial MT"/>
              <a:buChar char="•"/>
              <a:tabLst>
                <a:tab pos="240665" algn="l"/>
              </a:tabLst>
            </a:pPr>
            <a:r>
              <a:rPr sz="1800" dirty="0">
                <a:latin typeface="Calibri"/>
                <a:cs typeface="Calibri"/>
              </a:rPr>
              <a:t>Greig</a:t>
            </a:r>
            <a:r>
              <a:rPr sz="1800" spc="-35" dirty="0">
                <a:latin typeface="Calibri"/>
                <a:cs typeface="Calibri"/>
              </a:rPr>
              <a:t> </a:t>
            </a:r>
            <a:r>
              <a:rPr sz="1800" dirty="0">
                <a:latin typeface="Calibri"/>
                <a:cs typeface="Calibri"/>
              </a:rPr>
              <a:t>Building</a:t>
            </a:r>
            <a:r>
              <a:rPr sz="1800" spc="-15" dirty="0">
                <a:latin typeface="Calibri"/>
                <a:cs typeface="Calibri"/>
              </a:rPr>
              <a:t> </a:t>
            </a:r>
            <a:r>
              <a:rPr sz="1800" dirty="0">
                <a:latin typeface="Calibri"/>
                <a:cs typeface="Calibri"/>
              </a:rPr>
              <a:t>(4</a:t>
            </a:r>
            <a:r>
              <a:rPr sz="1800" spc="-25" dirty="0">
                <a:latin typeface="Calibri"/>
                <a:cs typeface="Calibri"/>
              </a:rPr>
              <a:t> </a:t>
            </a:r>
            <a:r>
              <a:rPr sz="1800" dirty="0">
                <a:latin typeface="Calibri"/>
                <a:cs typeface="Calibri"/>
              </a:rPr>
              <a:t>on</a:t>
            </a:r>
            <a:r>
              <a:rPr sz="1800" spc="-25" dirty="0">
                <a:latin typeface="Calibri"/>
                <a:cs typeface="Calibri"/>
              </a:rPr>
              <a:t> </a:t>
            </a:r>
            <a:r>
              <a:rPr sz="1800" spc="-20" dirty="0">
                <a:latin typeface="Calibri"/>
                <a:cs typeface="Calibri"/>
              </a:rPr>
              <a:t>map)</a:t>
            </a:r>
            <a:endParaRPr sz="1800" dirty="0">
              <a:latin typeface="Calibri"/>
              <a:cs typeface="Calibri"/>
            </a:endParaRPr>
          </a:p>
        </p:txBody>
      </p:sp>
      <p:pic>
        <p:nvPicPr>
          <p:cNvPr id="13" name="Picture 12" descr="A person smiling at camera&#10;&#10;Description automatically generated">
            <a:extLst>
              <a:ext uri="{FF2B5EF4-FFF2-40B4-BE49-F238E27FC236}">
                <a16:creationId xmlns:a16="http://schemas.microsoft.com/office/drawing/2014/main" id="{4501D196-DC44-00AF-A1AE-AF87229F06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82200" y="1283144"/>
            <a:ext cx="1853127" cy="2222056"/>
          </a:xfrm>
          <a:prstGeom prst="rect">
            <a:avLst/>
          </a:prstGeom>
        </p:spPr>
      </p:pic>
      <p:pic>
        <p:nvPicPr>
          <p:cNvPr id="15" name="Picture 14">
            <a:extLst>
              <a:ext uri="{FF2B5EF4-FFF2-40B4-BE49-F238E27FC236}">
                <a16:creationId xmlns:a16="http://schemas.microsoft.com/office/drawing/2014/main" id="{F300EF9F-79A1-AC8B-F5BA-5568CF900B0E}"/>
              </a:ext>
            </a:extLst>
          </p:cNvPr>
          <p:cNvPicPr>
            <a:picLocks noChangeAspect="1"/>
          </p:cNvPicPr>
          <p:nvPr/>
        </p:nvPicPr>
        <p:blipFill>
          <a:blip r:embed="rId8"/>
          <a:stretch>
            <a:fillRect/>
          </a:stretch>
        </p:blipFill>
        <p:spPr>
          <a:xfrm>
            <a:off x="8153400" y="1206944"/>
            <a:ext cx="1524000" cy="22758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6824" y="1219200"/>
            <a:ext cx="11355921" cy="4630114"/>
          </a:xfrm>
          <a:prstGeom prst="rect">
            <a:avLst/>
          </a:prstGeom>
        </p:spPr>
        <p:txBody>
          <a:bodyPr vert="horz" wrap="square" lIns="0" tIns="145415" rIns="0" bIns="0" rtlCol="0">
            <a:spAutoFit/>
          </a:bodyPr>
          <a:lstStyle/>
          <a:p>
            <a:pPr marL="355600" indent="-342900">
              <a:lnSpc>
                <a:spcPct val="100000"/>
              </a:lnSpc>
              <a:spcBef>
                <a:spcPts val="1040"/>
              </a:spcBef>
              <a:buFont typeface="Arial" panose="020B0604020202020204" pitchFamily="34" charset="0"/>
              <a:buChar char="•"/>
              <a:tabLst>
                <a:tab pos="469265" algn="l"/>
              </a:tabLst>
            </a:pPr>
            <a:endParaRPr lang="en-GB" sz="1900" u="sng" spc="-10" dirty="0">
              <a:solidFill>
                <a:srgbClr val="6C2786"/>
              </a:solidFill>
              <a:uFill>
                <a:solidFill>
                  <a:srgbClr val="6C2786"/>
                </a:solidFill>
              </a:uFill>
              <a:latin typeface="Calibri"/>
              <a:cs typeface="Calibri"/>
            </a:endParaRPr>
          </a:p>
          <a:p>
            <a:pPr marL="285750" indent="-285750">
              <a:buFont typeface="Arial" panose="020B0604020202020204" pitchFamily="34" charset="0"/>
              <a:buChar char="•"/>
            </a:pPr>
            <a:r>
              <a:rPr lang="en-GB" b="1" dirty="0"/>
              <a:t>Dr </a:t>
            </a:r>
            <a:r>
              <a:rPr lang="en-GB" b="1" dirty="0" err="1"/>
              <a:t>Ogbo</a:t>
            </a:r>
            <a:r>
              <a:rPr lang="en-GB" b="1" dirty="0"/>
              <a:t> Bianca</a:t>
            </a:r>
            <a:r>
              <a:rPr lang="en-GB" dirty="0"/>
              <a:t>, Lecturer in Computer Science, SCEDT – Email: </a:t>
            </a:r>
            <a:r>
              <a:rPr lang="en-GB" u="sng" dirty="0">
                <a:hlinkClick r:id="rId2"/>
              </a:rPr>
              <a:t>B.Ogbo@tees.ac.uk</a:t>
            </a:r>
            <a:endParaRPr lang="en-GB" dirty="0"/>
          </a:p>
          <a:p>
            <a:pPr marL="285750" indent="-285750">
              <a:buFont typeface="Arial" panose="020B0604020202020204" pitchFamily="34" charset="0"/>
              <a:buChar char="•"/>
            </a:pPr>
            <a:r>
              <a:rPr lang="en-GB" b="1" dirty="0"/>
              <a:t>Mansha Nawaz</a:t>
            </a:r>
            <a:r>
              <a:rPr lang="en-GB" dirty="0"/>
              <a:t>, Senior Lecturer in Computing &amp; Games, SCEDT – Email: </a:t>
            </a:r>
            <a:r>
              <a:rPr lang="en-GB" u="sng" dirty="0">
                <a:hlinkClick r:id="rId3"/>
              </a:rPr>
              <a:t>M.Nawaz@tees.ac.uk</a:t>
            </a:r>
            <a:endParaRPr lang="en-GB" dirty="0"/>
          </a:p>
          <a:p>
            <a:pPr marL="285750" indent="-285750">
              <a:buFont typeface="Arial" panose="020B0604020202020204" pitchFamily="34" charset="0"/>
              <a:buChar char="•"/>
            </a:pPr>
            <a:r>
              <a:rPr lang="en-GB" b="1" dirty="0"/>
              <a:t>Dr Chi Opara – </a:t>
            </a:r>
            <a:r>
              <a:rPr lang="en-GB" dirty="0"/>
              <a:t>Lecturer in Computer Science, SCEDT - Email </a:t>
            </a:r>
            <a:r>
              <a:rPr lang="en-GB" u="sng" dirty="0">
                <a:hlinkClick r:id="rId4"/>
              </a:rPr>
              <a:t>C.Opara@tees.ac.uk</a:t>
            </a:r>
            <a:endParaRPr lang="en-GB" dirty="0"/>
          </a:p>
          <a:p>
            <a:pPr marL="285750" indent="-285750">
              <a:buFont typeface="Arial" panose="020B0604020202020204" pitchFamily="34" charset="0"/>
              <a:buChar char="•"/>
            </a:pPr>
            <a:r>
              <a:rPr lang="en-GB" b="1" dirty="0"/>
              <a:t>Dr </a:t>
            </a:r>
            <a:r>
              <a:rPr lang="en-GB" b="1" dirty="0" err="1"/>
              <a:t>Sumeia</a:t>
            </a:r>
            <a:r>
              <a:rPr lang="en-GB" b="1" dirty="0"/>
              <a:t> </a:t>
            </a:r>
            <a:r>
              <a:rPr lang="en-GB" b="1" dirty="0" err="1"/>
              <a:t>Elkazza</a:t>
            </a:r>
            <a:r>
              <a:rPr lang="en-GB" b="1" dirty="0"/>
              <a:t> </a:t>
            </a:r>
            <a:r>
              <a:rPr lang="en-GB" dirty="0"/>
              <a:t>– Lecturer in Computer Science, SCEDT – Email: </a:t>
            </a:r>
            <a:r>
              <a:rPr lang="en-GB" u="sng" dirty="0">
                <a:hlinkClick r:id="rId5"/>
              </a:rPr>
              <a:t>S.Elkazza@tees.ac.uk</a:t>
            </a:r>
            <a:endParaRPr lang="en-GB" dirty="0"/>
          </a:p>
          <a:p>
            <a:pPr marL="285750" indent="-285750">
              <a:buFont typeface="Arial" panose="020B0604020202020204" pitchFamily="34" charset="0"/>
              <a:buChar char="•"/>
            </a:pPr>
            <a:r>
              <a:rPr lang="en-GB" b="1" dirty="0"/>
              <a:t>Le Minh Thao Doan – </a:t>
            </a:r>
            <a:r>
              <a:rPr lang="en-GB" dirty="0"/>
              <a:t>3-year PhD student / Part-time Lecturer, SCEDT - Email: </a:t>
            </a:r>
            <a:r>
              <a:rPr lang="en-GB" u="sng" dirty="0">
                <a:hlinkClick r:id="rId6"/>
              </a:rPr>
              <a:t>L.Doan@tees.ac.uk</a:t>
            </a:r>
            <a:endParaRPr lang="en-GB" dirty="0"/>
          </a:p>
          <a:p>
            <a:pPr marL="285750" indent="-285750">
              <a:buFont typeface="Arial" panose="020B0604020202020204" pitchFamily="34" charset="0"/>
              <a:buChar char="•"/>
            </a:pPr>
            <a:r>
              <a:rPr lang="en-GB" b="1" dirty="0"/>
              <a:t>Suraj Verma – </a:t>
            </a:r>
            <a:r>
              <a:rPr lang="en-GB" dirty="0"/>
              <a:t>4-year PhD student / Part-time Lecturer, SCEDT - Email: </a:t>
            </a:r>
            <a:r>
              <a:rPr lang="en-GB" u="sng" dirty="0">
                <a:hlinkClick r:id="rId7"/>
              </a:rPr>
              <a:t>S.Verma@tees.ac.uk</a:t>
            </a:r>
            <a:endParaRPr lang="en-GB" dirty="0"/>
          </a:p>
          <a:p>
            <a:pPr marL="285750" indent="-285750">
              <a:buFont typeface="Arial" panose="020B0604020202020204" pitchFamily="34" charset="0"/>
              <a:buChar char="•"/>
            </a:pPr>
            <a:r>
              <a:rPr lang="en-GB" b="1" dirty="0"/>
              <a:t>Nikita Huber Kralj – </a:t>
            </a:r>
            <a:r>
              <a:rPr lang="en-GB" dirty="0"/>
              <a:t>1-year PhD student / Part-time Lecturer, SCEDT - Email:</a:t>
            </a:r>
            <a:r>
              <a:rPr lang="en-GB" u="sng" dirty="0"/>
              <a:t> </a:t>
            </a:r>
            <a:r>
              <a:rPr lang="en-GB" u="sng" dirty="0">
                <a:hlinkClick r:id="rId8"/>
              </a:rPr>
              <a:t>n.huber-kralj@tees.ac.uk</a:t>
            </a:r>
            <a:endParaRPr lang="en-GB" dirty="0"/>
          </a:p>
          <a:p>
            <a:pPr marL="342900" indent="-342900">
              <a:buFont typeface="Arial" panose="020B0604020202020204" pitchFamily="34" charset="0"/>
              <a:buChar char="•"/>
            </a:pPr>
            <a:r>
              <a:rPr lang="en-GB" b="1" dirty="0"/>
              <a:t>Haider, Abbas – </a:t>
            </a:r>
            <a:r>
              <a:rPr lang="en-GB" dirty="0"/>
              <a:t>Lecturer in Computer Science, SCEDT - Email </a:t>
            </a:r>
            <a:r>
              <a:rPr lang="en-GB" dirty="0">
                <a:hlinkClick r:id="rId9"/>
              </a:rPr>
              <a:t>a.haider@tees.ac.uk</a:t>
            </a:r>
            <a:endParaRPr lang="en-GB" dirty="0"/>
          </a:p>
          <a:p>
            <a:pPr marL="342900" indent="-342900">
              <a:buFont typeface="Arial" panose="020B0604020202020204" pitchFamily="34" charset="0"/>
              <a:buChar char="•"/>
            </a:pPr>
            <a:r>
              <a:rPr lang="en-GB" b="1" dirty="0"/>
              <a:t>Laeeq, Ammara – </a:t>
            </a:r>
            <a:r>
              <a:rPr lang="en-GB" dirty="0"/>
              <a:t>Part-time Lecturer, SCEDT - Email: </a:t>
            </a:r>
            <a:r>
              <a:rPr lang="en-GB" dirty="0">
                <a:hlinkClick r:id="rId10"/>
              </a:rPr>
              <a:t>A.Laeeq@tees.ac.uk</a:t>
            </a:r>
            <a:endParaRPr lang="en-GB" dirty="0"/>
          </a:p>
          <a:p>
            <a:pPr marL="342900" indent="-342900">
              <a:buFont typeface="Arial" panose="020B0604020202020204" pitchFamily="34" charset="0"/>
              <a:buChar char="•"/>
            </a:pPr>
            <a:r>
              <a:rPr lang="en-GB" b="1" dirty="0"/>
              <a:t>Nissy Mathews – </a:t>
            </a:r>
            <a:r>
              <a:rPr lang="en-GB" dirty="0"/>
              <a:t>Part-time Lecturer, SCEDT - Email:</a:t>
            </a:r>
            <a:r>
              <a:rPr lang="en-GB" dirty="0">
                <a:hlinkClick r:id="rId11"/>
              </a:rPr>
              <a:t> N.Mathews@tees.ac.uk</a:t>
            </a:r>
            <a:endParaRPr lang="en-GB" dirty="0"/>
          </a:p>
          <a:p>
            <a:pPr marL="342900" indent="-342900">
              <a:buFont typeface="Arial" panose="020B0604020202020204" pitchFamily="34" charset="0"/>
              <a:buChar char="•"/>
            </a:pPr>
            <a:r>
              <a:rPr lang="en-GB" b="1" dirty="0"/>
              <a:t>Kaveh Shahhosseini –  </a:t>
            </a:r>
            <a:r>
              <a:rPr lang="en-GB" dirty="0"/>
              <a:t>3-year PhD student / Part-time Lecturer, SCEDT - Email: </a:t>
            </a:r>
            <a:r>
              <a:rPr lang="en-GB" dirty="0">
                <a:hlinkClick r:id="rId12"/>
              </a:rPr>
              <a:t>K.Shahhosseini@tees.ac.uk</a:t>
            </a:r>
            <a:endParaRPr lang="en-GB" dirty="0"/>
          </a:p>
          <a:p>
            <a:pPr marL="342900" indent="-342900">
              <a:buFont typeface="Arial" panose="020B0604020202020204" pitchFamily="34" charset="0"/>
              <a:buChar char="•"/>
            </a:pPr>
            <a:r>
              <a:rPr lang="en-GB" b="1" dirty="0"/>
              <a:t>Thornton, Christopher – </a:t>
            </a:r>
            <a:r>
              <a:rPr lang="en-GB" dirty="0"/>
              <a:t>Lecturer in Computer Science, SCEDT - Email </a:t>
            </a:r>
            <a:r>
              <a:rPr lang="en-GB" dirty="0">
                <a:hlinkClick r:id="rId13"/>
              </a:rPr>
              <a:t>C.Thornton@tees.ac.uk</a:t>
            </a:r>
            <a:r>
              <a:rPr lang="en-GB" dirty="0"/>
              <a:t>﻿</a:t>
            </a:r>
          </a:p>
          <a:p>
            <a:pPr marL="12700">
              <a:spcBef>
                <a:spcPts val="1045"/>
              </a:spcBef>
              <a:tabLst>
                <a:tab pos="469265" algn="l"/>
              </a:tabLst>
            </a:pPr>
            <a:endParaRPr sz="1900" dirty="0">
              <a:latin typeface="Calibri"/>
              <a:cs typeface="Calibri"/>
            </a:endParaRPr>
          </a:p>
          <a:p>
            <a:pPr marL="12700">
              <a:lnSpc>
                <a:spcPct val="100000"/>
              </a:lnSpc>
            </a:pPr>
            <a:r>
              <a:rPr sz="1900" dirty="0">
                <a:latin typeface="Calibri"/>
                <a:cs typeface="Calibri"/>
              </a:rPr>
              <a:t>See</a:t>
            </a:r>
            <a:r>
              <a:rPr sz="1900" spc="-70" dirty="0">
                <a:latin typeface="Calibri"/>
                <a:cs typeface="Calibri"/>
              </a:rPr>
              <a:t> </a:t>
            </a:r>
            <a:r>
              <a:rPr sz="1900" dirty="0">
                <a:latin typeface="Calibri"/>
                <a:cs typeface="Calibri"/>
              </a:rPr>
              <a:t>Blackboard</a:t>
            </a:r>
            <a:r>
              <a:rPr sz="1900" spc="-65" dirty="0">
                <a:latin typeface="Calibri"/>
                <a:cs typeface="Calibri"/>
              </a:rPr>
              <a:t> </a:t>
            </a:r>
            <a:r>
              <a:rPr sz="1900" dirty="0">
                <a:latin typeface="Calibri"/>
                <a:cs typeface="Calibri"/>
              </a:rPr>
              <a:t>for</a:t>
            </a:r>
            <a:r>
              <a:rPr sz="1900" spc="-85" dirty="0">
                <a:latin typeface="Calibri"/>
                <a:cs typeface="Calibri"/>
              </a:rPr>
              <a:t> </a:t>
            </a:r>
            <a:r>
              <a:rPr sz="1900" dirty="0">
                <a:latin typeface="Calibri"/>
                <a:cs typeface="Calibri"/>
              </a:rPr>
              <a:t>online</a:t>
            </a:r>
            <a:r>
              <a:rPr sz="1900" spc="-55" dirty="0">
                <a:latin typeface="Calibri"/>
                <a:cs typeface="Calibri"/>
              </a:rPr>
              <a:t> </a:t>
            </a:r>
            <a:r>
              <a:rPr sz="1900" dirty="0">
                <a:latin typeface="Calibri"/>
                <a:cs typeface="Calibri"/>
              </a:rPr>
              <a:t>materials:</a:t>
            </a:r>
            <a:r>
              <a:rPr sz="1900" spc="-60" dirty="0">
                <a:latin typeface="Calibri"/>
                <a:cs typeface="Calibri"/>
              </a:rPr>
              <a:t> </a:t>
            </a:r>
            <a:r>
              <a:rPr sz="1900" u="sng" spc="-10" dirty="0">
                <a:solidFill>
                  <a:srgbClr val="6C2786"/>
                </a:solidFill>
                <a:uFill>
                  <a:solidFill>
                    <a:srgbClr val="6C2786"/>
                  </a:solidFill>
                </a:uFill>
                <a:latin typeface="Calibri"/>
                <a:cs typeface="Calibri"/>
                <a:hlinkClick r:id="rId14"/>
              </a:rPr>
              <a:t>https://bb.tees.ac.uk/</a:t>
            </a:r>
            <a:endParaRPr sz="1900" dirty="0">
              <a:latin typeface="Calibri"/>
              <a:cs typeface="Calibri"/>
            </a:endParaRPr>
          </a:p>
        </p:txBody>
      </p:sp>
      <p:sp>
        <p:nvSpPr>
          <p:cNvPr id="4" name="object 4"/>
          <p:cNvSpPr txBox="1"/>
          <p:nvPr/>
        </p:nvSpPr>
        <p:spPr>
          <a:xfrm>
            <a:off x="462483" y="6549034"/>
            <a:ext cx="3230245" cy="165735"/>
          </a:xfrm>
          <a:prstGeom prst="rect">
            <a:avLst/>
          </a:prstGeom>
        </p:spPr>
        <p:txBody>
          <a:bodyPr vert="horz" wrap="square" lIns="0" tIns="0" rIns="0" bIns="0" rtlCol="0">
            <a:spAutoFit/>
          </a:bodyPr>
          <a:lstStyle/>
          <a:p>
            <a:pPr marL="12700">
              <a:lnSpc>
                <a:spcPts val="1150"/>
              </a:lnSpc>
            </a:pPr>
            <a:r>
              <a:rPr sz="1100" dirty="0">
                <a:solidFill>
                  <a:srgbClr val="FFFFFF"/>
                </a:solidFill>
                <a:latin typeface="Calibri"/>
                <a:cs typeface="Calibri"/>
              </a:rPr>
              <a:t>School</a:t>
            </a:r>
            <a:r>
              <a:rPr sz="1100" spc="-25" dirty="0">
                <a:solidFill>
                  <a:srgbClr val="FFFFFF"/>
                </a:solidFill>
                <a:latin typeface="Calibri"/>
                <a:cs typeface="Calibri"/>
              </a:rPr>
              <a:t> </a:t>
            </a:r>
            <a:r>
              <a:rPr sz="1100" dirty="0">
                <a:solidFill>
                  <a:srgbClr val="FFFFFF"/>
                </a:solidFill>
                <a:latin typeface="Calibri"/>
                <a:cs typeface="Calibri"/>
              </a:rPr>
              <a:t>of</a:t>
            </a:r>
            <a:r>
              <a:rPr sz="1100" spc="-10" dirty="0">
                <a:solidFill>
                  <a:srgbClr val="FFFFFF"/>
                </a:solidFill>
                <a:latin typeface="Calibri"/>
                <a:cs typeface="Calibri"/>
              </a:rPr>
              <a:t> </a:t>
            </a:r>
            <a:r>
              <a:rPr sz="1100" dirty="0">
                <a:solidFill>
                  <a:srgbClr val="FFFFFF"/>
                </a:solidFill>
                <a:latin typeface="Calibri"/>
                <a:cs typeface="Calibri"/>
              </a:rPr>
              <a:t>Computing,</a:t>
            </a:r>
            <a:r>
              <a:rPr sz="1100" spc="-20" dirty="0">
                <a:solidFill>
                  <a:srgbClr val="FFFFFF"/>
                </a:solidFill>
                <a:latin typeface="Calibri"/>
                <a:cs typeface="Calibri"/>
              </a:rPr>
              <a:t> </a:t>
            </a:r>
            <a:r>
              <a:rPr sz="1100" spc="-10" dirty="0">
                <a:solidFill>
                  <a:srgbClr val="FFFFFF"/>
                </a:solidFill>
                <a:latin typeface="Calibri"/>
                <a:cs typeface="Calibri"/>
              </a:rPr>
              <a:t>Engineering </a:t>
            </a:r>
            <a:r>
              <a:rPr sz="1100" dirty="0">
                <a:solidFill>
                  <a:srgbClr val="FFFFFF"/>
                </a:solidFill>
                <a:latin typeface="Calibri"/>
                <a:cs typeface="Calibri"/>
              </a:rPr>
              <a:t>&amp;</a:t>
            </a:r>
            <a:r>
              <a:rPr sz="1100" spc="5" dirty="0">
                <a:solidFill>
                  <a:srgbClr val="FFFFFF"/>
                </a:solidFill>
                <a:latin typeface="Calibri"/>
                <a:cs typeface="Calibri"/>
              </a:rPr>
              <a:t> </a:t>
            </a:r>
            <a:r>
              <a:rPr sz="1100" dirty="0">
                <a:solidFill>
                  <a:srgbClr val="FFFFFF"/>
                </a:solidFill>
                <a:latin typeface="Calibri"/>
                <a:cs typeface="Calibri"/>
              </a:rPr>
              <a:t>Digital</a:t>
            </a:r>
            <a:r>
              <a:rPr sz="1100" spc="-10" dirty="0">
                <a:solidFill>
                  <a:srgbClr val="FFFFFF"/>
                </a:solidFill>
                <a:latin typeface="Calibri"/>
                <a:cs typeface="Calibri"/>
              </a:rPr>
              <a:t> Technologies</a:t>
            </a:r>
            <a:endParaRPr sz="1100">
              <a:latin typeface="Calibri"/>
              <a:cs typeface="Calibri"/>
            </a:endParaRPr>
          </a:p>
        </p:txBody>
      </p:sp>
      <p:sp>
        <p:nvSpPr>
          <p:cNvPr id="3" name="object 3"/>
          <p:cNvSpPr txBox="1">
            <a:spLocks noGrp="1"/>
          </p:cNvSpPr>
          <p:nvPr>
            <p:ph type="title"/>
          </p:nvPr>
        </p:nvSpPr>
        <p:spPr>
          <a:xfrm>
            <a:off x="440537" y="154000"/>
            <a:ext cx="3033395" cy="697230"/>
          </a:xfrm>
          <a:prstGeom prst="rect">
            <a:avLst/>
          </a:prstGeom>
        </p:spPr>
        <p:txBody>
          <a:bodyPr vert="horz" wrap="square" lIns="0" tIns="13335" rIns="0" bIns="0" rtlCol="0">
            <a:spAutoFit/>
          </a:bodyPr>
          <a:lstStyle/>
          <a:p>
            <a:pPr marL="12700">
              <a:lnSpc>
                <a:spcPct val="100000"/>
              </a:lnSpc>
              <a:spcBef>
                <a:spcPts val="105"/>
              </a:spcBef>
            </a:pPr>
            <a:r>
              <a:rPr spc="-595" dirty="0"/>
              <a:t>T</a:t>
            </a:r>
            <a:r>
              <a:rPr spc="-200" dirty="0"/>
              <a:t>e</a:t>
            </a:r>
            <a:r>
              <a:rPr spc="-204" dirty="0"/>
              <a:t>a</a:t>
            </a:r>
            <a:r>
              <a:rPr spc="-200" dirty="0"/>
              <a:t>ch</a:t>
            </a:r>
            <a:r>
              <a:rPr spc="-190" dirty="0"/>
              <a:t>i</a:t>
            </a:r>
            <a:r>
              <a:rPr spc="-215" dirty="0"/>
              <a:t>n</a:t>
            </a:r>
            <a:r>
              <a:rPr spc="-10" dirty="0"/>
              <a:t>g</a:t>
            </a:r>
            <a:r>
              <a:rPr spc="-350" dirty="0"/>
              <a:t> </a:t>
            </a:r>
            <a:r>
              <a:rPr spc="-555" dirty="0"/>
              <a:t>T</a:t>
            </a:r>
            <a:r>
              <a:rPr spc="-160" dirty="0"/>
              <a:t>e</a:t>
            </a:r>
            <a:r>
              <a:rPr spc="-165" dirty="0"/>
              <a:t>a</a:t>
            </a:r>
            <a:r>
              <a:rPr spc="30" dirty="0"/>
              <a:t>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6E0E9E4-BFD9-4C17-8932-16EE514B9165}"/>
              </a:ext>
            </a:extLst>
          </p:cNvPr>
          <p:cNvSpPr>
            <a:spLocks noGrp="1"/>
          </p:cNvSpPr>
          <p:nvPr>
            <p:ph type="title"/>
          </p:nvPr>
        </p:nvSpPr>
        <p:spPr/>
        <p:txBody>
          <a:bodyPr/>
          <a:lstStyle/>
          <a:p>
            <a:r>
              <a:rPr lang="en-GB" dirty="0"/>
              <a:t>A few Important Info</a:t>
            </a:r>
          </a:p>
        </p:txBody>
      </p:sp>
      <p:sp>
        <p:nvSpPr>
          <p:cNvPr id="11" name="Content Placeholder 10">
            <a:extLst>
              <a:ext uri="{FF2B5EF4-FFF2-40B4-BE49-F238E27FC236}">
                <a16:creationId xmlns:a16="http://schemas.microsoft.com/office/drawing/2014/main" id="{4A0D0587-A240-4EBA-B78B-7E8F37BCAA67}"/>
              </a:ext>
            </a:extLst>
          </p:cNvPr>
          <p:cNvSpPr>
            <a:spLocks noGrp="1"/>
          </p:cNvSpPr>
          <p:nvPr>
            <p:ph sz="half" idx="4294967295"/>
          </p:nvPr>
        </p:nvSpPr>
        <p:spPr>
          <a:xfrm>
            <a:off x="515007" y="2216588"/>
            <a:ext cx="5702300" cy="3592513"/>
          </a:xfrm>
        </p:spPr>
        <p:txBody>
          <a:bodyPr/>
          <a:lstStyle/>
          <a:p>
            <a:r>
              <a:rPr lang="en-GB" dirty="0"/>
              <a:t>Blackboard Module: </a:t>
            </a:r>
            <a:r>
              <a:rPr lang="en-GB" dirty="0">
                <a:hlinkClick r:id="rId2"/>
              </a:rPr>
              <a:t>Link</a:t>
            </a:r>
            <a:endParaRPr lang="en-GB" dirty="0"/>
          </a:p>
        </p:txBody>
      </p:sp>
      <p:sp>
        <p:nvSpPr>
          <p:cNvPr id="2" name="Rectangle 1">
            <a:extLst>
              <a:ext uri="{FF2B5EF4-FFF2-40B4-BE49-F238E27FC236}">
                <a16:creationId xmlns:a16="http://schemas.microsoft.com/office/drawing/2014/main" id="{34516263-9D55-4EF0-BAE4-D186000AB772}"/>
              </a:ext>
            </a:extLst>
          </p:cNvPr>
          <p:cNvSpPr/>
          <p:nvPr/>
        </p:nvSpPr>
        <p:spPr>
          <a:xfrm>
            <a:off x="8468139" y="2594113"/>
            <a:ext cx="616226" cy="2186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1397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dirty="0"/>
              <a:t>Module Overview</a:t>
            </a:r>
          </a:p>
          <a:p>
            <a:r>
              <a:rPr lang="en-GB" dirty="0"/>
              <a:t>Power BI Introduction and Demo</a:t>
            </a:r>
          </a:p>
          <a:p>
            <a:r>
              <a:rPr lang="en-GB" dirty="0"/>
              <a:t>In-course assessment (ICA) Briefing </a:t>
            </a:r>
          </a:p>
          <a:p>
            <a:pPr marL="0" indent="0">
              <a:buNone/>
            </a:pPr>
            <a:endParaRPr lang="en-GB" dirty="0"/>
          </a:p>
          <a:p>
            <a:pPr marL="0" indent="0">
              <a:buNone/>
            </a:pPr>
            <a:endParaRPr lang="en-GB" dirty="0"/>
          </a:p>
        </p:txBody>
      </p:sp>
      <p:sp>
        <p:nvSpPr>
          <p:cNvPr id="3" name="Slide Number Placeholder 2"/>
          <p:cNvSpPr>
            <a:spLocks noGrp="1"/>
          </p:cNvSpPr>
          <p:nvPr>
            <p:ph type="sldNum" sz="quarter" idx="12"/>
          </p:nvPr>
        </p:nvSpPr>
        <p:spPr/>
        <p:txBody>
          <a:bodyPr/>
          <a:lstStyle/>
          <a:p>
            <a:fld id="{5BC3EEBC-8848-48BC-9E86-2856C4334E59}" type="slidenum">
              <a:rPr lang="en-GB" smtClean="0"/>
              <a:t>6</a:t>
            </a:fld>
            <a:endParaRPr lang="en-GB" dirty="0"/>
          </a:p>
        </p:txBody>
      </p:sp>
      <p:sp>
        <p:nvSpPr>
          <p:cNvPr id="4" name="Title 3"/>
          <p:cNvSpPr>
            <a:spLocks noGrp="1"/>
          </p:cNvSpPr>
          <p:nvPr>
            <p:ph type="title"/>
          </p:nvPr>
        </p:nvSpPr>
        <p:spPr/>
        <p:txBody>
          <a:bodyPr/>
          <a:lstStyle/>
          <a:p>
            <a:r>
              <a:rPr lang="en-GB" dirty="0"/>
              <a:t>Today’s plan</a:t>
            </a:r>
          </a:p>
        </p:txBody>
      </p:sp>
      <p:sp>
        <p:nvSpPr>
          <p:cNvPr id="5" name="Footer Placeholder 4"/>
          <p:cNvSpPr>
            <a:spLocks noGrp="1"/>
          </p:cNvSpPr>
          <p:nvPr>
            <p:ph type="ftr" sz="quarter" idx="13"/>
          </p:nvPr>
        </p:nvSpPr>
        <p:spPr/>
        <p:txBody>
          <a:bodyPr/>
          <a:lstStyle/>
          <a:p>
            <a:r>
              <a:rPr lang="en-GB"/>
              <a:t>School of Computing , Engineering and Digital Technologies</a:t>
            </a:r>
            <a:endParaRPr lang="en-GB" dirty="0"/>
          </a:p>
        </p:txBody>
      </p:sp>
    </p:spTree>
    <p:extLst>
      <p:ext uri="{BB962C8B-B14F-4D97-AF65-F5344CB8AC3E}">
        <p14:creationId xmlns:p14="http://schemas.microsoft.com/office/powerpoint/2010/main" val="147319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3C34-3925-4998-9D5F-BC88DC828C46}"/>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AE6C825D-4005-4C72-B948-ECE44B3ABAD8}"/>
              </a:ext>
            </a:extLst>
          </p:cNvPr>
          <p:cNvSpPr>
            <a:spLocks noGrp="1"/>
          </p:cNvSpPr>
          <p:nvPr>
            <p:ph type="body" idx="1"/>
          </p:nvPr>
        </p:nvSpPr>
        <p:spPr>
          <a:xfrm>
            <a:off x="95250" y="5986504"/>
            <a:ext cx="11557591" cy="459737"/>
          </a:xfrm>
        </p:spPr>
        <p:txBody>
          <a:bodyPr/>
          <a:lstStyle/>
          <a:p>
            <a:pPr marL="0" indent="0">
              <a:buNone/>
            </a:pPr>
            <a:r>
              <a:rPr lang="en-GB" dirty="0">
                <a:hlinkClick r:id="rId2"/>
              </a:rPr>
              <a:t>Link to how to join a Team using a code video</a:t>
            </a:r>
            <a:r>
              <a:rPr lang="en-GB" dirty="0"/>
              <a:t>  </a:t>
            </a:r>
          </a:p>
        </p:txBody>
      </p:sp>
      <p:pic>
        <p:nvPicPr>
          <p:cNvPr id="5" name="Picture 4">
            <a:extLst>
              <a:ext uri="{FF2B5EF4-FFF2-40B4-BE49-F238E27FC236}">
                <a16:creationId xmlns:a16="http://schemas.microsoft.com/office/drawing/2014/main" id="{6999DE91-F4C7-4217-81A8-8B4C05BE150A}"/>
              </a:ext>
            </a:extLst>
          </p:cNvPr>
          <p:cNvPicPr>
            <a:picLocks noChangeAspect="1"/>
          </p:cNvPicPr>
          <p:nvPr/>
        </p:nvPicPr>
        <p:blipFill>
          <a:blip r:embed="rId3"/>
          <a:stretch>
            <a:fillRect/>
          </a:stretch>
        </p:blipFill>
        <p:spPr>
          <a:xfrm>
            <a:off x="95250" y="1278780"/>
            <a:ext cx="6000750" cy="4829175"/>
          </a:xfrm>
          <a:prstGeom prst="rect">
            <a:avLst/>
          </a:prstGeom>
        </p:spPr>
      </p:pic>
      <p:pic>
        <p:nvPicPr>
          <p:cNvPr id="7" name="Picture 6">
            <a:extLst>
              <a:ext uri="{FF2B5EF4-FFF2-40B4-BE49-F238E27FC236}">
                <a16:creationId xmlns:a16="http://schemas.microsoft.com/office/drawing/2014/main" id="{68C2096D-77C6-4A76-8D08-0D180EDD9DB2}"/>
              </a:ext>
            </a:extLst>
          </p:cNvPr>
          <p:cNvPicPr>
            <a:picLocks noChangeAspect="1"/>
          </p:cNvPicPr>
          <p:nvPr/>
        </p:nvPicPr>
        <p:blipFill>
          <a:blip r:embed="rId4"/>
          <a:stretch>
            <a:fillRect/>
          </a:stretch>
        </p:blipFill>
        <p:spPr>
          <a:xfrm>
            <a:off x="5810250" y="1507380"/>
            <a:ext cx="6411500" cy="4495801"/>
          </a:xfrm>
          <a:prstGeom prst="rect">
            <a:avLst/>
          </a:prstGeom>
        </p:spPr>
      </p:pic>
      <p:sp>
        <p:nvSpPr>
          <p:cNvPr id="8" name="TextBox 7">
            <a:extLst>
              <a:ext uri="{FF2B5EF4-FFF2-40B4-BE49-F238E27FC236}">
                <a16:creationId xmlns:a16="http://schemas.microsoft.com/office/drawing/2014/main" id="{092C4E0C-9595-451F-A956-13B250646AF4}"/>
              </a:ext>
            </a:extLst>
          </p:cNvPr>
          <p:cNvSpPr txBox="1"/>
          <p:nvPr/>
        </p:nvSpPr>
        <p:spPr>
          <a:xfrm>
            <a:off x="7514869" y="5576798"/>
            <a:ext cx="3200400" cy="1200329"/>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rgbClr val="FF0000"/>
                </a:solidFill>
              </a:rPr>
              <a:t>Join the Team using the code: 4o919wm</a:t>
            </a:r>
          </a:p>
          <a:p>
            <a:endParaRPr lang="en-GB" b="1" dirty="0">
              <a:solidFill>
                <a:srgbClr val="FF0000"/>
              </a:solidFill>
            </a:endParaRPr>
          </a:p>
          <a:p>
            <a:endParaRPr lang="en-GB" dirty="0"/>
          </a:p>
        </p:txBody>
      </p:sp>
      <p:cxnSp>
        <p:nvCxnSpPr>
          <p:cNvPr id="10" name="Straight Arrow Connector 9">
            <a:extLst>
              <a:ext uri="{FF2B5EF4-FFF2-40B4-BE49-F238E27FC236}">
                <a16:creationId xmlns:a16="http://schemas.microsoft.com/office/drawing/2014/main" id="{5FAB5644-6515-4DF8-BE82-DF7212525E13}"/>
              </a:ext>
            </a:extLst>
          </p:cNvPr>
          <p:cNvCxnSpPr>
            <a:cxnSpLocks/>
          </p:cNvCxnSpPr>
          <p:nvPr/>
        </p:nvCxnSpPr>
        <p:spPr>
          <a:xfrm flipH="1">
            <a:off x="9115069" y="4690678"/>
            <a:ext cx="562331" cy="886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103D62C9-1906-42E7-A162-732B9346C01C}"/>
              </a:ext>
            </a:extLst>
          </p:cNvPr>
          <p:cNvSpPr txBox="1">
            <a:spLocks/>
          </p:cNvSpPr>
          <p:nvPr/>
        </p:nvSpPr>
        <p:spPr>
          <a:xfrm>
            <a:off x="170640" y="342035"/>
            <a:ext cx="11536018" cy="73486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Join the Module’s Team</a:t>
            </a:r>
            <a:endParaRPr lang="en-GB" dirty="0"/>
          </a:p>
        </p:txBody>
      </p:sp>
      <p:pic>
        <p:nvPicPr>
          <p:cNvPr id="11" name="Picture 10">
            <a:extLst>
              <a:ext uri="{FF2B5EF4-FFF2-40B4-BE49-F238E27FC236}">
                <a16:creationId xmlns:a16="http://schemas.microsoft.com/office/drawing/2014/main" id="{4A30314F-5C8E-46E5-91F7-410A0A61C6B0}"/>
              </a:ext>
            </a:extLst>
          </p:cNvPr>
          <p:cNvPicPr>
            <a:picLocks noChangeAspect="1"/>
          </p:cNvPicPr>
          <p:nvPr/>
        </p:nvPicPr>
        <p:blipFill>
          <a:blip r:embed="rId5"/>
          <a:stretch>
            <a:fillRect/>
          </a:stretch>
        </p:blipFill>
        <p:spPr>
          <a:xfrm>
            <a:off x="10681344" y="-30916"/>
            <a:ext cx="1540406" cy="1423905"/>
          </a:xfrm>
          <a:prstGeom prst="rect">
            <a:avLst/>
          </a:prstGeom>
        </p:spPr>
      </p:pic>
    </p:spTree>
    <p:extLst>
      <p:ext uri="{BB962C8B-B14F-4D97-AF65-F5344CB8AC3E}">
        <p14:creationId xmlns:p14="http://schemas.microsoft.com/office/powerpoint/2010/main" val="487993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 Overview</a:t>
            </a:r>
          </a:p>
        </p:txBody>
      </p:sp>
      <p:sp>
        <p:nvSpPr>
          <p:cNvPr id="3" name="Text Placeholder 2"/>
          <p:cNvSpPr>
            <a:spLocks noGrp="1"/>
          </p:cNvSpPr>
          <p:nvPr>
            <p:ph type="body" idx="1"/>
          </p:nvPr>
        </p:nvSpPr>
        <p:spPr/>
        <p:txBody>
          <a:bodyPr/>
          <a:lstStyle/>
          <a:p>
            <a:endParaRPr lang="en-GB"/>
          </a:p>
        </p:txBody>
      </p:sp>
      <p:sp>
        <p:nvSpPr>
          <p:cNvPr id="4" name="Footer Placeholder 3"/>
          <p:cNvSpPr>
            <a:spLocks noGrp="1"/>
          </p:cNvSpPr>
          <p:nvPr>
            <p:ph type="ftr" sz="quarter" idx="11"/>
          </p:nvPr>
        </p:nvSpPr>
        <p:spPr/>
        <p:txBody>
          <a:bodyPr/>
          <a:lstStyle/>
          <a:p>
            <a:r>
              <a:rPr lang="en-GB"/>
              <a:t>School of Computing , Engineering and Digital Technologies</a:t>
            </a:r>
            <a:endParaRPr lang="en-GB" dirty="0"/>
          </a:p>
        </p:txBody>
      </p:sp>
      <p:sp>
        <p:nvSpPr>
          <p:cNvPr id="5" name="Slide Number Placeholder 4"/>
          <p:cNvSpPr>
            <a:spLocks noGrp="1"/>
          </p:cNvSpPr>
          <p:nvPr>
            <p:ph type="sldNum" sz="quarter" idx="12"/>
          </p:nvPr>
        </p:nvSpPr>
        <p:spPr/>
        <p:txBody>
          <a:bodyPr/>
          <a:lstStyle/>
          <a:p>
            <a:fld id="{5BC3EEBC-8848-48BC-9E86-2856C4334E59}" type="slidenum">
              <a:rPr lang="en-GB" smtClean="0"/>
              <a:t>8</a:t>
            </a:fld>
            <a:endParaRPr lang="en-GB" dirty="0"/>
          </a:p>
        </p:txBody>
      </p:sp>
    </p:spTree>
    <p:extLst>
      <p:ext uri="{BB962C8B-B14F-4D97-AF65-F5344CB8AC3E}">
        <p14:creationId xmlns:p14="http://schemas.microsoft.com/office/powerpoint/2010/main" val="4051145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of data is changing</a:t>
            </a:r>
          </a:p>
        </p:txBody>
      </p:sp>
      <p:sp>
        <p:nvSpPr>
          <p:cNvPr id="64" name="Rectangle 63"/>
          <p:cNvSpPr/>
          <p:nvPr/>
        </p:nvSpPr>
        <p:spPr bwMode="auto">
          <a:xfrm>
            <a:off x="835288" y="4021656"/>
            <a:ext cx="10274429" cy="2466637"/>
          </a:xfrm>
          <a:prstGeom prst="rect">
            <a:avLst/>
          </a:prstGeom>
          <a:noFill/>
          <a:ln w="38100" cap="flat" cmpd="sng" algn="ctr">
            <a:noFill/>
            <a:prstDash val="solid"/>
            <a:headEnd type="none" w="med" len="med"/>
            <a:tailEnd type="none" w="med" len="med"/>
          </a:ln>
          <a:effectLst/>
        </p:spPr>
        <p:txBody>
          <a:bodyPr vert="horz" wrap="square" lIns="0" tIns="0" rIns="0" bIns="0" numCol="1" rtlCol="0" anchor="t" anchorCtr="0" compatLnSpc="1">
            <a:prstTxWarp prst="textNoShape">
              <a:avLst/>
            </a:prstTxWarp>
            <a:spAutoFit/>
          </a:bodyPr>
          <a:lstStyle/>
          <a:p>
            <a:pPr marL="133325" indent="-131738" defTabSz="913924" fontAlgn="base">
              <a:lnSpc>
                <a:spcPct val="90000"/>
              </a:lnSpc>
              <a:spcBef>
                <a:spcPts val="1200"/>
              </a:spcBef>
              <a:spcAft>
                <a:spcPct val="0"/>
              </a:spcAft>
              <a:defRPr/>
            </a:pPr>
            <a:r>
              <a:rPr lang="en-US" sz="3333" kern="0" dirty="0">
                <a:gradFill>
                  <a:gsLst>
                    <a:gs pos="0">
                      <a:srgbClr val="505050"/>
                    </a:gs>
                    <a:gs pos="99000">
                      <a:srgbClr val="505050"/>
                    </a:gs>
                  </a:gsLst>
                  <a:lin ang="5400000" scaled="0"/>
                </a:gradFill>
                <a:latin typeface="Segoe UI Light"/>
                <a:ea typeface="Segoe UI" pitchFamily="34" charset="0"/>
                <a:cs typeface="Segoe UI" pitchFamily="34" charset="0"/>
              </a:rPr>
              <a:t>“Organizations that build a modern information management system will outperform their peers financially by 20 percent.”</a:t>
            </a:r>
          </a:p>
          <a:p>
            <a:pPr marL="133325" indent="-131738" defTabSz="913924" fontAlgn="base">
              <a:lnSpc>
                <a:spcPct val="90000"/>
              </a:lnSpc>
              <a:spcBef>
                <a:spcPts val="1200"/>
              </a:spcBef>
              <a:spcAft>
                <a:spcPct val="0"/>
              </a:spcAft>
              <a:defRPr/>
            </a:pPr>
            <a:endParaRPr lang="en-US" sz="1078" kern="0" dirty="0">
              <a:gradFill>
                <a:gsLst>
                  <a:gs pos="0">
                    <a:srgbClr val="505050"/>
                  </a:gs>
                  <a:gs pos="99000">
                    <a:srgbClr val="505050"/>
                  </a:gs>
                </a:gsLst>
                <a:lin ang="5400000" scaled="0"/>
              </a:gradFill>
              <a:latin typeface="Segoe UI Light"/>
              <a:ea typeface="Segoe UI" pitchFamily="34" charset="0"/>
              <a:cs typeface="Segoe UI" pitchFamily="34" charset="0"/>
            </a:endParaRPr>
          </a:p>
          <a:p>
            <a:pPr marL="133325" indent="-131738" algn="r" defTabSz="913924" fontAlgn="base">
              <a:lnSpc>
                <a:spcPct val="90000"/>
              </a:lnSpc>
              <a:spcBef>
                <a:spcPts val="1200"/>
              </a:spcBef>
              <a:spcAft>
                <a:spcPct val="0"/>
              </a:spcAft>
              <a:defRPr/>
            </a:pPr>
            <a:r>
              <a:rPr lang="en-US" sz="2000" kern="0" dirty="0">
                <a:gradFill>
                  <a:gsLst>
                    <a:gs pos="0">
                      <a:srgbClr val="505050"/>
                    </a:gs>
                    <a:gs pos="99000">
                      <a:srgbClr val="505050"/>
                    </a:gs>
                  </a:gsLst>
                  <a:lin ang="5400000" scaled="0"/>
                </a:gradFill>
                <a:latin typeface="Segoe UI Light"/>
                <a:ea typeface="Segoe UI" pitchFamily="34" charset="0"/>
                <a:cs typeface="Segoe UI" pitchFamily="34" charset="0"/>
              </a:rPr>
              <a:t> 		– Gartner, Mark Beyer., “Information Management in the 21st Century”</a:t>
            </a:r>
          </a:p>
          <a:p>
            <a:pPr marL="1588" algn="r" defTabSz="913924" fontAlgn="base">
              <a:lnSpc>
                <a:spcPct val="90000"/>
              </a:lnSpc>
              <a:spcBef>
                <a:spcPts val="1200"/>
              </a:spcBef>
              <a:spcAft>
                <a:spcPct val="0"/>
              </a:spcAft>
              <a:defRPr/>
            </a:pPr>
            <a:endParaRPr lang="en-US" sz="1400" kern="0" dirty="0">
              <a:gradFill>
                <a:gsLst>
                  <a:gs pos="0">
                    <a:srgbClr val="505050"/>
                  </a:gs>
                  <a:gs pos="99000">
                    <a:srgbClr val="505050"/>
                  </a:gs>
                </a:gsLst>
                <a:lin ang="5400000" scaled="0"/>
              </a:gradFill>
              <a:latin typeface="Segoe UI"/>
              <a:ea typeface="Segoe UI" pitchFamily="34" charset="0"/>
              <a:cs typeface="Segoe UI" pitchFamily="34" charset="0"/>
            </a:endParaRPr>
          </a:p>
        </p:txBody>
      </p:sp>
      <p:sp>
        <p:nvSpPr>
          <p:cNvPr id="43" name="Rectangle 42"/>
          <p:cNvSpPr/>
          <p:nvPr/>
        </p:nvSpPr>
        <p:spPr bwMode="auto">
          <a:xfrm>
            <a:off x="6143383" y="1464225"/>
            <a:ext cx="2879952" cy="2239962"/>
          </a:xfrm>
          <a:prstGeom prst="rect">
            <a:avLst/>
          </a:prstGeom>
          <a:solidFill>
            <a:srgbClr val="FF8C00"/>
          </a:solidFill>
          <a:ln w="38100" cap="flat" cmpd="sng" algn="ctr">
            <a:noFill/>
            <a:prstDash val="solid"/>
            <a:headEnd type="none" w="med" len="med"/>
            <a:tailEnd type="none" w="med" len="med"/>
          </a:ln>
          <a:effectLst/>
        </p:spPr>
        <p:txBody>
          <a:bodyPr vert="horz" wrap="square" lIns="182854" tIns="137141" rIns="182854" bIns="137141" numCol="1" rtlCol="0" anchor="b" anchorCtr="0" compatLnSpc="1">
            <a:prstTxWarp prst="textNoShape">
              <a:avLst/>
            </a:prstTxWarp>
          </a:bodyPr>
          <a:lstStyle/>
          <a:p>
            <a:pPr defTabSz="913924" fontAlgn="base">
              <a:lnSpc>
                <a:spcPct val="90000"/>
              </a:lnSpc>
              <a:spcBef>
                <a:spcPct val="0"/>
              </a:spcBef>
              <a:spcAft>
                <a:spcPct val="0"/>
              </a:spcAft>
              <a:defRPr/>
            </a:pPr>
            <a:r>
              <a:rPr lang="en-US" sz="2800" kern="0" spc="-40" dirty="0">
                <a:gradFill>
                  <a:gsLst>
                    <a:gs pos="0">
                      <a:srgbClr val="FFFFFF"/>
                    </a:gs>
                    <a:gs pos="100000">
                      <a:srgbClr val="FFFFFF"/>
                    </a:gs>
                  </a:gsLst>
                  <a:lin ang="5400000" scaled="0"/>
                </a:gradFill>
                <a:latin typeface="Segoe UI Light" pitchFamily="34" charset="0"/>
              </a:rPr>
              <a:t>New Technologies Required</a:t>
            </a:r>
          </a:p>
        </p:txBody>
      </p:sp>
      <p:sp>
        <p:nvSpPr>
          <p:cNvPr id="39" name="Rectangle 38"/>
          <p:cNvSpPr/>
          <p:nvPr/>
        </p:nvSpPr>
        <p:spPr bwMode="auto">
          <a:xfrm>
            <a:off x="835287" y="1464225"/>
            <a:ext cx="1097124" cy="1097124"/>
          </a:xfrm>
          <a:prstGeom prst="rect">
            <a:avLst/>
          </a:prstGeom>
          <a:solidFill>
            <a:srgbClr val="DC3C00"/>
          </a:solidFill>
          <a:ln w="38100" cap="flat" cmpd="sng" algn="ctr">
            <a:noFill/>
            <a:prstDash val="solid"/>
            <a:headEnd type="none" w="med" len="med"/>
            <a:tailEnd type="none" w="med" len="med"/>
          </a:ln>
          <a:effectLst/>
        </p:spPr>
        <p:txBody>
          <a:bodyPr vert="horz" wrap="square" lIns="109712" tIns="73141" rIns="109712" bIns="73141" numCol="1" rtlCol="0" anchor="t" anchorCtr="0" compatLnSpc="1">
            <a:prstTxWarp prst="textNoShape">
              <a:avLst/>
            </a:prstTxWarp>
          </a:bodyPr>
          <a:lstStyle/>
          <a:p>
            <a:pPr defTabSz="913924" fontAlgn="base">
              <a:lnSpc>
                <a:spcPct val="85000"/>
              </a:lnSpc>
              <a:spcBef>
                <a:spcPct val="0"/>
              </a:spcBef>
              <a:spcAft>
                <a:spcPct val="0"/>
              </a:spcAft>
              <a:defRPr/>
            </a:pPr>
            <a:r>
              <a:rPr lang="en-US" sz="2800" kern="0" dirty="0">
                <a:gradFill>
                  <a:gsLst>
                    <a:gs pos="0">
                      <a:srgbClr val="FFFFFF"/>
                    </a:gs>
                    <a:gs pos="100000">
                      <a:srgbClr val="FFFFFF"/>
                    </a:gs>
                  </a:gsLst>
                  <a:lin ang="5400000" scaled="0"/>
                </a:gradFill>
                <a:latin typeface="Segoe UI"/>
                <a:ea typeface="Segoe UI" pitchFamily="34" charset="0"/>
                <a:cs typeface="Segoe UI" pitchFamily="34" charset="0"/>
              </a:rPr>
              <a:t>10x</a:t>
            </a:r>
            <a:r>
              <a:rPr lang="en-US" sz="1400" kern="0" dirty="0">
                <a:gradFill>
                  <a:gsLst>
                    <a:gs pos="0">
                      <a:srgbClr val="FFFFFF"/>
                    </a:gs>
                    <a:gs pos="100000">
                      <a:srgbClr val="FFFFFF"/>
                    </a:gs>
                  </a:gsLst>
                  <a:lin ang="5400000" scaled="0"/>
                </a:gradFill>
                <a:latin typeface="Segoe UI"/>
                <a:ea typeface="Segoe UI" pitchFamily="34" charset="0"/>
                <a:cs typeface="Segoe UI" pitchFamily="34" charset="0"/>
              </a:rPr>
              <a:t> increase every five years</a:t>
            </a:r>
          </a:p>
        </p:txBody>
      </p:sp>
      <p:sp>
        <p:nvSpPr>
          <p:cNvPr id="40" name="Rectangle 39"/>
          <p:cNvSpPr/>
          <p:nvPr/>
        </p:nvSpPr>
        <p:spPr bwMode="auto">
          <a:xfrm>
            <a:off x="1976776" y="2607063"/>
            <a:ext cx="1097124" cy="1097124"/>
          </a:xfrm>
          <a:prstGeom prst="rect">
            <a:avLst/>
          </a:prstGeom>
          <a:solidFill>
            <a:srgbClr val="DC3C00"/>
          </a:solidFill>
          <a:ln w="38100" cap="flat" cmpd="sng" algn="ctr">
            <a:noFill/>
            <a:prstDash val="solid"/>
            <a:headEnd type="none" w="med" len="med"/>
            <a:tailEnd type="none" w="med" len="med"/>
          </a:ln>
          <a:effectLst/>
        </p:spPr>
        <p:txBody>
          <a:bodyPr vert="horz" wrap="square" lIns="109712" tIns="73141" rIns="109712" bIns="73141" numCol="1" rtlCol="0" anchor="t" anchorCtr="0" compatLnSpc="1">
            <a:prstTxWarp prst="textNoShape">
              <a:avLst/>
            </a:prstTxWarp>
          </a:bodyPr>
          <a:lstStyle/>
          <a:p>
            <a:pPr defTabSz="913924" fontAlgn="base">
              <a:lnSpc>
                <a:spcPct val="85000"/>
              </a:lnSpc>
              <a:spcBef>
                <a:spcPct val="0"/>
              </a:spcBef>
              <a:spcAft>
                <a:spcPct val="0"/>
              </a:spcAft>
              <a:defRPr/>
            </a:pPr>
            <a:r>
              <a:rPr lang="en-US" sz="2800" kern="0" spc="-30" dirty="0">
                <a:gradFill>
                  <a:gsLst>
                    <a:gs pos="0">
                      <a:srgbClr val="FFFFFF"/>
                    </a:gs>
                    <a:gs pos="100000">
                      <a:srgbClr val="FFFFFF"/>
                    </a:gs>
                  </a:gsLst>
                  <a:lin ang="5400000" scaled="0"/>
                </a:gradFill>
                <a:latin typeface="Segoe UI"/>
                <a:ea typeface="Segoe UI" pitchFamily="34" charset="0"/>
                <a:cs typeface="Segoe UI" pitchFamily="34" charset="0"/>
              </a:rPr>
              <a:t>85%</a:t>
            </a:r>
            <a:r>
              <a:rPr lang="en-US" sz="1400" kern="0" spc="-30" dirty="0">
                <a:gradFill>
                  <a:gsLst>
                    <a:gs pos="0">
                      <a:srgbClr val="FFFFFF"/>
                    </a:gs>
                    <a:gs pos="100000">
                      <a:srgbClr val="FFFFFF"/>
                    </a:gs>
                  </a:gsLst>
                  <a:lin ang="5400000" scaled="0"/>
                </a:gradFill>
                <a:latin typeface="Segoe UI"/>
                <a:ea typeface="Segoe UI" pitchFamily="34" charset="0"/>
                <a:cs typeface="Segoe UI" pitchFamily="34" charset="0"/>
              </a:rPr>
              <a:t> from new data types</a:t>
            </a:r>
          </a:p>
        </p:txBody>
      </p:sp>
      <p:pic>
        <p:nvPicPr>
          <p:cNvPr id="41" name="6 - pic movie"/>
          <p:cNvPicPr preferRelativeResize="0">
            <a:picLocks noChangeAspect="1" noChangeArrowheads="1"/>
          </p:cNvPicPr>
          <p:nvPr/>
        </p:nvPicPr>
        <p:blipFill rotWithShape="1">
          <a:blip r:embed="rId3" cstate="screen">
            <a:lum bright="70000" contrast="-70000"/>
            <a:extLst>
              <a:ext uri="{28A0092B-C50C-407E-A947-70E740481C1C}">
                <a14:useLocalDpi xmlns:a14="http://schemas.microsoft.com/office/drawing/2010/main" val="0"/>
              </a:ext>
            </a:extLst>
          </a:blip>
          <a:srcRect l="-1"/>
          <a:stretch/>
        </p:blipFill>
        <p:spPr bwMode="auto">
          <a:xfrm>
            <a:off x="1976776" y="1464225"/>
            <a:ext cx="1097124" cy="109712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2" name="6 - pic movie"/>
          <p:cNvPicPr preferRelativeResize="0">
            <a:picLocks noChangeAspect="1" noChangeArrowheads="1"/>
          </p:cNvPicPr>
          <p:nvPr/>
        </p:nvPicPr>
        <p:blipFill rotWithShape="1">
          <a:blip r:embed="rId3" cstate="screen">
            <a:lum bright="70000" contrast="-70000"/>
            <a:extLst>
              <a:ext uri="{28A0092B-C50C-407E-A947-70E740481C1C}">
                <a14:useLocalDpi xmlns:a14="http://schemas.microsoft.com/office/drawing/2010/main" val="0"/>
              </a:ext>
            </a:extLst>
          </a:blip>
          <a:srcRect l="-1"/>
          <a:stretch/>
        </p:blipFill>
        <p:spPr bwMode="auto">
          <a:xfrm>
            <a:off x="835287" y="2607063"/>
            <a:ext cx="1097124" cy="109712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5" name="Rectangle 44"/>
          <p:cNvSpPr/>
          <p:nvPr/>
        </p:nvSpPr>
        <p:spPr bwMode="auto">
          <a:xfrm>
            <a:off x="3168667" y="1464225"/>
            <a:ext cx="2879952" cy="2239962"/>
          </a:xfrm>
          <a:prstGeom prst="rect">
            <a:avLst/>
          </a:prstGeom>
          <a:solidFill>
            <a:srgbClr val="DC3C00"/>
          </a:solidFill>
          <a:ln w="38100" cap="flat" cmpd="sng" algn="ctr">
            <a:noFill/>
            <a:prstDash val="solid"/>
            <a:headEnd type="none" w="med" len="med"/>
            <a:tailEnd type="none" w="med" len="med"/>
          </a:ln>
          <a:effectLst/>
        </p:spPr>
        <p:txBody>
          <a:bodyPr vert="horz" wrap="square" lIns="182854" tIns="137141" rIns="182854" bIns="137141" numCol="1" rtlCol="0" anchor="b" anchorCtr="0" compatLnSpc="1">
            <a:prstTxWarp prst="textNoShape">
              <a:avLst/>
            </a:prstTxWarp>
          </a:bodyPr>
          <a:lstStyle/>
          <a:p>
            <a:pPr defTabSz="913924" fontAlgn="base">
              <a:lnSpc>
                <a:spcPct val="90000"/>
              </a:lnSpc>
              <a:spcBef>
                <a:spcPct val="0"/>
              </a:spcBef>
              <a:spcAft>
                <a:spcPct val="0"/>
              </a:spcAft>
              <a:defRPr/>
            </a:pPr>
            <a:r>
              <a:rPr lang="en-US" sz="2843" kern="0" spc="-40" dirty="0">
                <a:gradFill>
                  <a:gsLst>
                    <a:gs pos="0">
                      <a:srgbClr val="FFFFFF"/>
                    </a:gs>
                    <a:gs pos="100000">
                      <a:srgbClr val="FFFFFF"/>
                    </a:gs>
                  </a:gsLst>
                  <a:lin ang="5400000" scaled="0"/>
                </a:gradFill>
                <a:latin typeface="Segoe UI Light" pitchFamily="34" charset="0"/>
              </a:rPr>
              <a:t>Big </a:t>
            </a:r>
          </a:p>
          <a:p>
            <a:pPr defTabSz="913924" fontAlgn="base">
              <a:lnSpc>
                <a:spcPct val="90000"/>
              </a:lnSpc>
              <a:spcBef>
                <a:spcPct val="0"/>
              </a:spcBef>
              <a:spcAft>
                <a:spcPct val="0"/>
              </a:spcAft>
              <a:defRPr/>
            </a:pPr>
            <a:r>
              <a:rPr lang="en-US" sz="2843" kern="0" spc="-40" dirty="0">
                <a:gradFill>
                  <a:gsLst>
                    <a:gs pos="0">
                      <a:srgbClr val="FFFFFF"/>
                    </a:gs>
                    <a:gs pos="100000">
                      <a:srgbClr val="FFFFFF"/>
                    </a:gs>
                  </a:gsLst>
                  <a:lin ang="5400000" scaled="0"/>
                </a:gradFill>
                <a:latin typeface="Segoe UI Light" pitchFamily="34" charset="0"/>
              </a:rPr>
              <a:t>Data</a:t>
            </a:r>
          </a:p>
        </p:txBody>
      </p:sp>
      <p:grpSp>
        <p:nvGrpSpPr>
          <p:cNvPr id="5" name="Group 4"/>
          <p:cNvGrpSpPr/>
          <p:nvPr/>
        </p:nvGrpSpPr>
        <p:grpSpPr>
          <a:xfrm>
            <a:off x="9118101" y="2607063"/>
            <a:ext cx="1097125" cy="1097124"/>
            <a:chOff x="780466" y="7239000"/>
            <a:chExt cx="1097281" cy="1097280"/>
          </a:xfrm>
        </p:grpSpPr>
        <p:sp>
          <p:nvSpPr>
            <p:cNvPr id="71" name="Rectangle 70"/>
            <p:cNvSpPr/>
            <p:nvPr/>
          </p:nvSpPr>
          <p:spPr bwMode="auto">
            <a:xfrm>
              <a:off x="780466" y="7239000"/>
              <a:ext cx="1097281" cy="1097280"/>
            </a:xfrm>
            <a:prstGeom prst="rect">
              <a:avLst/>
            </a:prstGeom>
            <a:solidFill>
              <a:srgbClr val="FFFFFF">
                <a:lumMod val="85000"/>
              </a:srgbClr>
            </a:solidFill>
            <a:ln w="38100" cap="flat" cmpd="sng" algn="ctr">
              <a:noFill/>
              <a:prstDash val="solid"/>
              <a:headEnd type="none" w="med" len="med"/>
              <a:tailEnd type="none" w="med" len="med"/>
            </a:ln>
            <a:effectLst/>
          </p:spPr>
          <p:txBody>
            <a:bodyPr vert="horz" wrap="square" lIns="91423" tIns="45711" rIns="91423" bIns="45711" numCol="1" rtlCol="0" anchor="b" anchorCtr="0" compatLnSpc="1">
              <a:prstTxWarp prst="textNoShape">
                <a:avLst/>
              </a:prstTxWarp>
            </a:bodyPr>
            <a:lstStyle/>
            <a:p>
              <a:pPr algn="r" defTabSz="913924" fontAlgn="base">
                <a:lnSpc>
                  <a:spcPct val="90000"/>
                </a:lnSpc>
                <a:spcBef>
                  <a:spcPct val="0"/>
                </a:spcBef>
                <a:spcAft>
                  <a:spcPct val="0"/>
                </a:spcAft>
                <a:defRPr/>
              </a:pPr>
              <a:endParaRPr lang="en-US" sz="140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2" name="Picture 3"/>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790410" y="7334967"/>
              <a:ext cx="1077393" cy="86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0" name="Rectangle 29"/>
          <p:cNvSpPr/>
          <p:nvPr/>
        </p:nvSpPr>
        <p:spPr bwMode="auto">
          <a:xfrm>
            <a:off x="9118101" y="1464225"/>
            <a:ext cx="1097124" cy="1097124"/>
          </a:xfrm>
          <a:prstGeom prst="rect">
            <a:avLst/>
          </a:prstGeom>
          <a:solidFill>
            <a:srgbClr val="FF8C00"/>
          </a:solidFill>
          <a:ln w="38100" cap="flat" cmpd="sng" algn="ctr">
            <a:noFill/>
            <a:prstDash val="solid"/>
            <a:headEnd type="none" w="med" len="med"/>
            <a:tailEnd type="none" w="med" len="med"/>
          </a:ln>
          <a:effectLst/>
        </p:spPr>
        <p:txBody>
          <a:bodyPr vert="horz" wrap="square" lIns="109712" tIns="73141" rIns="109712" bIns="73141" numCol="1" rtlCol="0" anchor="t" anchorCtr="0" compatLnSpc="1">
            <a:prstTxWarp prst="textNoShape">
              <a:avLst/>
            </a:prstTxWarp>
          </a:bodyPr>
          <a:lstStyle/>
          <a:p>
            <a:pPr defTabSz="913924" fontAlgn="base">
              <a:lnSpc>
                <a:spcPct val="85000"/>
              </a:lnSpc>
              <a:spcBef>
                <a:spcPct val="0"/>
              </a:spcBef>
              <a:spcAft>
                <a:spcPct val="0"/>
              </a:spcAft>
              <a:defRPr/>
            </a:pPr>
            <a:r>
              <a:rPr lang="en-US" sz="2800" kern="0" dirty="0">
                <a:gradFill>
                  <a:gsLst>
                    <a:gs pos="0">
                      <a:srgbClr val="FFFFFF"/>
                    </a:gs>
                    <a:gs pos="100000">
                      <a:srgbClr val="FFFFFF"/>
                    </a:gs>
                  </a:gsLst>
                  <a:lin ang="5400000" scaled="0"/>
                </a:gradFill>
                <a:latin typeface="Segoe UI"/>
                <a:ea typeface="Segoe UI" pitchFamily="34" charset="0"/>
                <a:cs typeface="Segoe UI" pitchFamily="34" charset="0"/>
              </a:rPr>
              <a:t>4.3</a:t>
            </a:r>
            <a:r>
              <a:rPr lang="en-US" sz="1400" kern="0" dirty="0">
                <a:gradFill>
                  <a:gsLst>
                    <a:gs pos="0">
                      <a:srgbClr val="FFFFFF"/>
                    </a:gs>
                    <a:gs pos="100000">
                      <a:srgbClr val="FFFFFF"/>
                    </a:gs>
                  </a:gsLst>
                  <a:lin ang="5400000" scaled="0"/>
                </a:gradFill>
                <a:latin typeface="Segoe UI"/>
                <a:ea typeface="Segoe UI" pitchFamily="34" charset="0"/>
                <a:cs typeface="Segoe UI" pitchFamily="34" charset="0"/>
              </a:rPr>
              <a:t> connected devices per adult</a:t>
            </a:r>
          </a:p>
        </p:txBody>
      </p:sp>
      <p:sp>
        <p:nvSpPr>
          <p:cNvPr id="31" name="Rectangle 30"/>
          <p:cNvSpPr/>
          <p:nvPr/>
        </p:nvSpPr>
        <p:spPr bwMode="auto">
          <a:xfrm>
            <a:off x="10259590" y="2607063"/>
            <a:ext cx="1097124" cy="1097124"/>
          </a:xfrm>
          <a:prstGeom prst="rect">
            <a:avLst/>
          </a:prstGeom>
          <a:solidFill>
            <a:srgbClr val="FF8C00"/>
          </a:solidFill>
          <a:ln w="38100" cap="flat" cmpd="sng" algn="ctr">
            <a:noFill/>
            <a:prstDash val="solid"/>
            <a:headEnd type="none" w="med" len="med"/>
            <a:tailEnd type="none" w="med" len="med"/>
          </a:ln>
          <a:effectLst/>
        </p:spPr>
        <p:txBody>
          <a:bodyPr vert="horz" wrap="square" lIns="109712" tIns="73141" rIns="109712" bIns="73141" numCol="1" rtlCol="0" anchor="t" anchorCtr="0" compatLnSpc="1">
            <a:prstTxWarp prst="textNoShape">
              <a:avLst/>
            </a:prstTxWarp>
          </a:bodyPr>
          <a:lstStyle/>
          <a:p>
            <a:pPr defTabSz="913924" fontAlgn="base">
              <a:lnSpc>
                <a:spcPct val="85000"/>
              </a:lnSpc>
              <a:spcBef>
                <a:spcPct val="0"/>
              </a:spcBef>
              <a:spcAft>
                <a:spcPct val="0"/>
              </a:spcAft>
              <a:defRPr/>
            </a:pPr>
            <a:r>
              <a:rPr lang="en-US" sz="2800" kern="0" spc="-30" dirty="0">
                <a:gradFill>
                  <a:gsLst>
                    <a:gs pos="0">
                      <a:srgbClr val="FFFFFF"/>
                    </a:gs>
                    <a:gs pos="100000">
                      <a:srgbClr val="FFFFFF"/>
                    </a:gs>
                  </a:gsLst>
                  <a:lin ang="5400000" scaled="0"/>
                </a:gradFill>
                <a:latin typeface="Segoe UI"/>
                <a:ea typeface="Segoe UI" pitchFamily="34" charset="0"/>
                <a:cs typeface="Segoe UI" pitchFamily="34" charset="0"/>
              </a:rPr>
              <a:t>27%</a:t>
            </a:r>
          </a:p>
          <a:p>
            <a:pPr defTabSz="913924" fontAlgn="base">
              <a:lnSpc>
                <a:spcPct val="85000"/>
              </a:lnSpc>
              <a:spcBef>
                <a:spcPct val="0"/>
              </a:spcBef>
              <a:spcAft>
                <a:spcPct val="0"/>
              </a:spcAft>
              <a:defRPr/>
            </a:pPr>
            <a:r>
              <a:rPr lang="en-US" sz="1400" kern="0" spc="-30" dirty="0">
                <a:gradFill>
                  <a:gsLst>
                    <a:gs pos="0">
                      <a:srgbClr val="FFFFFF"/>
                    </a:gs>
                    <a:gs pos="100000">
                      <a:srgbClr val="FFFFFF"/>
                    </a:gs>
                  </a:gsLst>
                  <a:lin ang="5400000" scaled="0"/>
                </a:gradFill>
                <a:latin typeface="Segoe UI"/>
                <a:ea typeface="Segoe UI" pitchFamily="34" charset="0"/>
                <a:cs typeface="Segoe UI" pitchFamily="34" charset="0"/>
              </a:rPr>
              <a:t>using social media input</a:t>
            </a:r>
          </a:p>
        </p:txBody>
      </p:sp>
      <p:grpSp>
        <p:nvGrpSpPr>
          <p:cNvPr id="4" name="Group 3"/>
          <p:cNvGrpSpPr/>
          <p:nvPr/>
        </p:nvGrpSpPr>
        <p:grpSpPr>
          <a:xfrm>
            <a:off x="10259590" y="1464225"/>
            <a:ext cx="1097124" cy="1097124"/>
            <a:chOff x="1922117" y="6096000"/>
            <a:chExt cx="1097280" cy="1097280"/>
          </a:xfrm>
        </p:grpSpPr>
        <p:sp>
          <p:nvSpPr>
            <p:cNvPr id="38" name="Rectangle 37"/>
            <p:cNvSpPr/>
            <p:nvPr/>
          </p:nvSpPr>
          <p:spPr bwMode="auto">
            <a:xfrm>
              <a:off x="1922117" y="6096000"/>
              <a:ext cx="1097280" cy="1097280"/>
            </a:xfrm>
            <a:prstGeom prst="rect">
              <a:avLst/>
            </a:prstGeom>
            <a:solidFill>
              <a:srgbClr val="FFFFFF">
                <a:lumMod val="85000"/>
              </a:srgbClr>
            </a:solidFill>
            <a:ln w="38100" cap="flat" cmpd="sng" algn="ctr">
              <a:noFill/>
              <a:prstDash val="solid"/>
              <a:headEnd type="none" w="med" len="med"/>
              <a:tailEnd type="none" w="med" len="med"/>
            </a:ln>
            <a:effectLst/>
          </p:spPr>
          <p:txBody>
            <a:bodyPr vert="horz" wrap="square" lIns="91423" tIns="45711" rIns="91423" bIns="45711" numCol="1" rtlCol="0" anchor="b" anchorCtr="0" compatLnSpc="1">
              <a:prstTxWarp prst="textNoShape">
                <a:avLst/>
              </a:prstTxWarp>
            </a:bodyPr>
            <a:lstStyle/>
            <a:p>
              <a:pPr algn="r" defTabSz="913924" fontAlgn="base">
                <a:lnSpc>
                  <a:spcPct val="90000"/>
                </a:lnSpc>
                <a:spcBef>
                  <a:spcPct val="0"/>
                </a:spcBef>
                <a:spcAft>
                  <a:spcPct val="0"/>
                </a:spcAft>
                <a:defRPr/>
              </a:pPr>
              <a:endParaRPr lang="en-US" sz="120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46" name="Group 45"/>
            <p:cNvGrpSpPr/>
            <p:nvPr/>
          </p:nvGrpSpPr>
          <p:grpSpPr>
            <a:xfrm>
              <a:off x="1953542" y="6244627"/>
              <a:ext cx="1034431" cy="800024"/>
              <a:chOff x="8958986" y="4228507"/>
              <a:chExt cx="2623029" cy="2099049"/>
            </a:xfrm>
          </p:grpSpPr>
          <p:pic>
            <p:nvPicPr>
              <p:cNvPr id="57" name="Picture 2" descr="E:\iPad_Assets\ipad.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958986" y="4228507"/>
                <a:ext cx="1031089" cy="145692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3" descr="G:\MyPhotos\DVD\DVD_Art_08-10-2010\Artwork_Imagery\Hardware Photos\OEM HW\COMPUTERS - PC\Windows 7\AIOs\acer aspire z5610-all-in-one.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877681" y="4311753"/>
                <a:ext cx="1704334" cy="178859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 descr="\\SFP\Work\White_Whale\2-20426_Lees_MCB_Partner\Art\Images\Phones\VerizonDroidPhone_Full.png"/>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825512" y="5087133"/>
                <a:ext cx="436093" cy="794585"/>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60" name="Picture 5" descr="\\SFP\Work\White_Whale\2-xxxxx_Anderson_MMS\SFP_Art\Device Freedom\Symbian_Phone.png"/>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9292954" y="5284139"/>
                <a:ext cx="477529" cy="83855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61" name="Picture 5"/>
              <p:cNvPicPr>
                <a:picLocks noChangeAspect="1" noChangeArrowheads="1"/>
              </p:cNvPicPr>
              <p:nvPr/>
            </p:nvPicPr>
            <p:blipFill>
              <a:blip r:embed="rId9" cstate="screen">
                <a:extLst>
                  <a:ext uri="{28A0092B-C50C-407E-A947-70E740481C1C}">
                    <a14:useLocalDpi xmlns:a14="http://schemas.microsoft.com/office/drawing/2010/main"/>
                  </a:ext>
                </a:extLst>
              </a:blip>
              <a:stretch>
                <a:fillRect/>
              </a:stretch>
            </p:blipFill>
            <p:spPr bwMode="auto">
              <a:xfrm>
                <a:off x="10128485" y="5400328"/>
                <a:ext cx="431560" cy="7937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62" name="Picture 2"/>
              <p:cNvPicPr>
                <a:picLocks noChangeAspect="1" noChangeArrowheads="1"/>
              </p:cNvPicPr>
              <p:nvPr/>
            </p:nvPicPr>
            <p:blipFill>
              <a:blip r:embed="rId10" cstate="screen">
                <a:extLst>
                  <a:ext uri="{28A0092B-C50C-407E-A947-70E740481C1C}">
                    <a14:useLocalDpi xmlns:a14="http://schemas.microsoft.com/office/drawing/2010/main"/>
                  </a:ext>
                </a:extLst>
              </a:blip>
              <a:stretch>
                <a:fillRect/>
              </a:stretch>
            </p:blipFill>
            <p:spPr bwMode="auto">
              <a:xfrm>
                <a:off x="9613542" y="5516707"/>
                <a:ext cx="459867" cy="810849"/>
              </a:xfrm>
              <a:prstGeom prst="rect">
                <a:avLst/>
              </a:prstGeom>
              <a:noFill/>
              <a:effectLst/>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044792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decel="100000" fill="hold" nodeType="withEffect">
                                  <p:stCondLst>
                                    <p:cond delay="15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0-#ppt_w/2"/>
                                          </p:val>
                                        </p:tav>
                                        <p:tav tm="100000">
                                          <p:val>
                                            <p:strVal val="#ppt_x"/>
                                          </p:val>
                                        </p:tav>
                                      </p:tavLst>
                                    </p:anim>
                                    <p:anim calcmode="lin" valueType="num">
                                      <p:cBhvr additive="base">
                                        <p:cTn id="12" dur="500" fill="hold"/>
                                        <p:tgtEl>
                                          <p:spTgt spid="4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30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0-#ppt_w/2"/>
                                          </p:val>
                                        </p:tav>
                                        <p:tav tm="100000">
                                          <p:val>
                                            <p:strVal val="#ppt_x"/>
                                          </p:val>
                                        </p:tav>
                                      </p:tavLst>
                                    </p:anim>
                                    <p:anim calcmode="lin" valueType="num">
                                      <p:cBhvr additive="base">
                                        <p:cTn id="16" dur="500" fill="hold"/>
                                        <p:tgtEl>
                                          <p:spTgt spid="4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45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0-#ppt_w/2"/>
                                          </p:val>
                                        </p:tav>
                                        <p:tav tm="100000">
                                          <p:val>
                                            <p:strVal val="#ppt_x"/>
                                          </p:val>
                                        </p:tav>
                                      </p:tavLst>
                                    </p:anim>
                                    <p:anim calcmode="lin" valueType="num">
                                      <p:cBhvr additive="base">
                                        <p:cTn id="20" dur="500" fill="hold"/>
                                        <p:tgtEl>
                                          <p:spTgt spid="39"/>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60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0-#ppt_w/2"/>
                                          </p:val>
                                        </p:tav>
                                        <p:tav tm="100000">
                                          <p:val>
                                            <p:strVal val="#ppt_x"/>
                                          </p:val>
                                        </p:tav>
                                      </p:tavLst>
                                    </p:anim>
                                    <p:anim calcmode="lin" valueType="num">
                                      <p:cBhvr additive="base">
                                        <p:cTn id="24" dur="500" fill="hold"/>
                                        <p:tgtEl>
                                          <p:spTgt spid="4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500" fill="hold"/>
                                        <p:tgtEl>
                                          <p:spTgt spid="43"/>
                                        </p:tgtEl>
                                        <p:attrNameLst>
                                          <p:attrName>ppt_x</p:attrName>
                                        </p:attrNameLst>
                                      </p:cBhvr>
                                      <p:tavLst>
                                        <p:tav tm="0">
                                          <p:val>
                                            <p:strVal val="1+#ppt_w/2"/>
                                          </p:val>
                                        </p:tav>
                                        <p:tav tm="100000">
                                          <p:val>
                                            <p:strVal val="#ppt_x"/>
                                          </p:val>
                                        </p:tav>
                                      </p:tavLst>
                                    </p:anim>
                                    <p:anim calcmode="lin" valueType="num">
                                      <p:cBhvr additive="base">
                                        <p:cTn id="28" dur="500" fill="hold"/>
                                        <p:tgtEl>
                                          <p:spTgt spid="4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15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1+#ppt_w/2"/>
                                          </p:val>
                                        </p:tav>
                                        <p:tav tm="100000">
                                          <p:val>
                                            <p:strVal val="#ppt_x"/>
                                          </p:val>
                                        </p:tav>
                                      </p:tavLst>
                                    </p:anim>
                                    <p:anim calcmode="lin" valueType="num">
                                      <p:cBhvr additive="base">
                                        <p:cTn id="32" dur="500" fill="hold"/>
                                        <p:tgtEl>
                                          <p:spTgt spid="30"/>
                                        </p:tgtEl>
                                        <p:attrNameLst>
                                          <p:attrName>ppt_y</p:attrName>
                                        </p:attrNameLst>
                                      </p:cBhvr>
                                      <p:tavLst>
                                        <p:tav tm="0">
                                          <p:val>
                                            <p:strVal val="#ppt_y"/>
                                          </p:val>
                                        </p:tav>
                                        <p:tav tm="100000">
                                          <p:val>
                                            <p:strVal val="#ppt_y"/>
                                          </p:val>
                                        </p:tav>
                                      </p:tavLst>
                                    </p:anim>
                                  </p:childTnLst>
                                </p:cTn>
                              </p:par>
                              <p:par>
                                <p:cTn id="33" presetID="2" presetClass="entr" presetSubtype="2" decel="100000" fill="hold" nodeType="withEffect">
                                  <p:stCondLst>
                                    <p:cond delay="30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1+#ppt_w/2"/>
                                          </p:val>
                                        </p:tav>
                                        <p:tav tm="100000">
                                          <p:val>
                                            <p:strVal val="#ppt_x"/>
                                          </p:val>
                                        </p:tav>
                                      </p:tavLst>
                                    </p:anim>
                                    <p:anim calcmode="lin" valueType="num">
                                      <p:cBhvr additive="base">
                                        <p:cTn id="36" dur="500" fill="hold"/>
                                        <p:tgtEl>
                                          <p:spTgt spid="5"/>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45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1+#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60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1+#ppt_w/2"/>
                                          </p:val>
                                        </p:tav>
                                        <p:tav tm="100000">
                                          <p:val>
                                            <p:strVal val="#ppt_x"/>
                                          </p:val>
                                        </p:tav>
                                      </p:tavLst>
                                    </p:anim>
                                    <p:anim calcmode="lin" valueType="num">
                                      <p:cBhvr additive="base">
                                        <p:cTn id="44" dur="500" fill="hold"/>
                                        <p:tgtEl>
                                          <p:spTgt spid="31"/>
                                        </p:tgtEl>
                                        <p:attrNameLst>
                                          <p:attrName>ppt_y</p:attrName>
                                        </p:attrNameLst>
                                      </p:cBhvr>
                                      <p:tavLst>
                                        <p:tav tm="0">
                                          <p:val>
                                            <p:strVal val="#ppt_y"/>
                                          </p:val>
                                        </p:tav>
                                        <p:tav tm="100000">
                                          <p:val>
                                            <p:strVal val="#ppt_y"/>
                                          </p:val>
                                        </p:tav>
                                      </p:tavLst>
                                    </p:anim>
                                  </p:childTnLst>
                                </p:cTn>
                              </p:par>
                            </p:childTnLst>
                          </p:cTn>
                        </p:par>
                        <p:par>
                          <p:cTn id="45" fill="hold">
                            <p:stCondLst>
                              <p:cond delay="1100"/>
                            </p:stCondLst>
                            <p:childTnLst>
                              <p:par>
                                <p:cTn id="46" presetID="42" presetClass="entr" presetSubtype="0" fill="hold" grpId="0"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750"/>
                                        <p:tgtEl>
                                          <p:spTgt spid="64"/>
                                        </p:tgtEl>
                                      </p:cBhvr>
                                    </p:animEffect>
                                    <p:anim calcmode="lin" valueType="num">
                                      <p:cBhvr>
                                        <p:cTn id="49" dur="750" fill="hold"/>
                                        <p:tgtEl>
                                          <p:spTgt spid="64"/>
                                        </p:tgtEl>
                                        <p:attrNameLst>
                                          <p:attrName>ppt_x</p:attrName>
                                        </p:attrNameLst>
                                      </p:cBhvr>
                                      <p:tavLst>
                                        <p:tav tm="0">
                                          <p:val>
                                            <p:strVal val="#ppt_x"/>
                                          </p:val>
                                        </p:tav>
                                        <p:tav tm="100000">
                                          <p:val>
                                            <p:strVal val="#ppt_x"/>
                                          </p:val>
                                        </p:tav>
                                      </p:tavLst>
                                    </p:anim>
                                    <p:anim calcmode="lin" valueType="num">
                                      <p:cBhvr>
                                        <p:cTn id="50" dur="75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43" grpId="0" animBg="1"/>
      <p:bldP spid="39" grpId="0" animBg="1"/>
      <p:bldP spid="40" grpId="0" animBg="1"/>
      <p:bldP spid="45"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p:cNvGrpSpPr/>
          <p:nvPr/>
        </p:nvGrpSpPr>
        <p:grpSpPr>
          <a:xfrm>
            <a:off x="470044" y="1623628"/>
            <a:ext cx="4409020" cy="3885065"/>
            <a:chOff x="703852" y="1217287"/>
            <a:chExt cx="4409020" cy="3885065"/>
          </a:xfrm>
        </p:grpSpPr>
        <p:grpSp>
          <p:nvGrpSpPr>
            <p:cNvPr id="9" name="Group 8"/>
            <p:cNvGrpSpPr/>
            <p:nvPr/>
          </p:nvGrpSpPr>
          <p:grpSpPr>
            <a:xfrm>
              <a:off x="703852" y="1217287"/>
              <a:ext cx="4409020" cy="3885065"/>
              <a:chOff x="4979976" y="1371830"/>
              <a:chExt cx="7202655" cy="5335314"/>
            </a:xfrm>
          </p:grpSpPr>
          <p:grpSp>
            <p:nvGrpSpPr>
              <p:cNvPr id="112" name="Group 111"/>
              <p:cNvGrpSpPr/>
              <p:nvPr/>
            </p:nvGrpSpPr>
            <p:grpSpPr>
              <a:xfrm>
                <a:off x="4979976" y="1377360"/>
                <a:ext cx="7202655" cy="1528520"/>
                <a:chOff x="4296161" y="1524072"/>
                <a:chExt cx="7291210" cy="1410738"/>
              </a:xfrm>
            </p:grpSpPr>
            <p:sp>
              <p:nvSpPr>
                <p:cNvPr id="113"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14" name="Rectangle 113"/>
                <p:cNvSpPr/>
                <p:nvPr/>
              </p:nvSpPr>
              <p:spPr bwMode="auto">
                <a:xfrm>
                  <a:off x="4296161" y="1524072"/>
                  <a:ext cx="7291210" cy="1410738"/>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lvl="0" defTabSz="913924" fontAlgn="base">
                    <a:spcBef>
                      <a:spcPts val="2353"/>
                    </a:spcBef>
                    <a:spcAft>
                      <a:spcPct val="0"/>
                    </a:spcAft>
                    <a:defRPr/>
                  </a:pPr>
                  <a:r>
                    <a:rPr lang="en-GB" sz="2400" dirty="0">
                      <a:solidFill>
                        <a:schemeClr val="bg1"/>
                      </a:solidFill>
                      <a:cs typeface="Segoe UI" panose="020B0502040204020203" pitchFamily="34" charset="0"/>
                    </a:rPr>
                    <a:t>Explore how </a:t>
                  </a:r>
                  <a:r>
                    <a:rPr lang="en-GB" sz="2400" b="1" dirty="0">
                      <a:solidFill>
                        <a:schemeClr val="bg1"/>
                      </a:solidFill>
                      <a:cs typeface="Segoe UI" panose="020B0502040204020203" pitchFamily="34" charset="0"/>
                    </a:rPr>
                    <a:t>Big Data </a:t>
                  </a:r>
                  <a:r>
                    <a:rPr lang="en-GB" sz="2400" dirty="0">
                      <a:solidFill>
                        <a:schemeClr val="bg1"/>
                      </a:solidFill>
                      <a:cs typeface="Segoe UI" panose="020B0502040204020203" pitchFamily="34" charset="0"/>
                    </a:rPr>
                    <a:t>creates several new types of analytical workload</a:t>
                  </a:r>
                  <a:endParaRPr kumimoji="0" lang="en-US" sz="2353" b="0" i="0" u="none" strike="noStrike" kern="0" cap="none" spc="0" normalizeH="0" baseline="0" noProof="0" dirty="0">
                    <a:ln>
                      <a:noFill/>
                    </a:ln>
                    <a:solidFill>
                      <a:schemeClr val="bg1"/>
                    </a:solidFill>
                    <a:effectLst/>
                    <a:uLnTx/>
                    <a:uFillTx/>
                    <a:ea typeface="Segoe UI" pitchFamily="34" charset="0"/>
                    <a:cs typeface="Segoe UI" panose="020B0502040204020203" pitchFamily="34" charset="0"/>
                  </a:endParaRPr>
                </a:p>
              </p:txBody>
            </p:sp>
          </p:grpSp>
          <p:sp>
            <p:nvSpPr>
              <p:cNvPr id="116" name="Rectangle 11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3" name="Picture 2"/>
            <p:cNvPicPr>
              <a:picLocks noChangeAspect="1"/>
            </p:cNvPicPr>
            <p:nvPr/>
          </p:nvPicPr>
          <p:blipFill>
            <a:blip r:embed="rId3"/>
            <a:stretch>
              <a:fillRect/>
            </a:stretch>
          </p:blipFill>
          <p:spPr>
            <a:xfrm>
              <a:off x="1045166" y="2557300"/>
              <a:ext cx="3691882" cy="2322102"/>
            </a:xfrm>
            <a:prstGeom prst="rect">
              <a:avLst/>
            </a:prstGeom>
          </p:spPr>
        </p:pic>
      </p:grpSp>
      <p:sp useBgFill="1">
        <p:nvSpPr>
          <p:cNvPr id="7" name="Rectangle 6"/>
          <p:cNvSpPr/>
          <p:nvPr/>
        </p:nvSpPr>
        <p:spPr>
          <a:xfrm>
            <a:off x="1" y="487"/>
            <a:ext cx="419843" cy="68570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 name="Title 1"/>
          <p:cNvSpPr>
            <a:spLocks noGrp="1"/>
          </p:cNvSpPr>
          <p:nvPr>
            <p:ph type="title"/>
          </p:nvPr>
        </p:nvSpPr>
        <p:spPr/>
        <p:txBody>
          <a:bodyPr/>
          <a:lstStyle/>
          <a:p>
            <a:pPr lvl="0"/>
            <a:r>
              <a:rPr lang="en-US" sz="4313" dirty="0"/>
              <a:t>Module Aims</a:t>
            </a:r>
          </a:p>
        </p:txBody>
      </p:sp>
      <p:grpSp>
        <p:nvGrpSpPr>
          <p:cNvPr id="15" name="Group 14"/>
          <p:cNvGrpSpPr/>
          <p:nvPr/>
        </p:nvGrpSpPr>
        <p:grpSpPr>
          <a:xfrm>
            <a:off x="3404489" y="254091"/>
            <a:ext cx="4067705" cy="3470930"/>
            <a:chOff x="3558654" y="140951"/>
            <a:chExt cx="4067705" cy="3470930"/>
          </a:xfrm>
        </p:grpSpPr>
        <p:grpSp>
          <p:nvGrpSpPr>
            <p:cNvPr id="46" name="Group 45"/>
            <p:cNvGrpSpPr/>
            <p:nvPr/>
          </p:nvGrpSpPr>
          <p:grpSpPr>
            <a:xfrm>
              <a:off x="3558654" y="140951"/>
              <a:ext cx="4067705" cy="3470930"/>
              <a:chOff x="4979976" y="1371830"/>
              <a:chExt cx="7202655" cy="5335314"/>
            </a:xfrm>
          </p:grpSpPr>
          <p:grpSp>
            <p:nvGrpSpPr>
              <p:cNvPr id="48" name="Group 47"/>
              <p:cNvGrpSpPr/>
              <p:nvPr/>
            </p:nvGrpSpPr>
            <p:grpSpPr>
              <a:xfrm>
                <a:off x="4979976" y="1377360"/>
                <a:ext cx="7202655" cy="1757868"/>
                <a:chOff x="4296161" y="1524072"/>
                <a:chExt cx="7291210" cy="1622413"/>
              </a:xfrm>
            </p:grpSpPr>
            <p:sp>
              <p:nvSpPr>
                <p:cNvPr id="50"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51" name="Rectangle 50"/>
                <p:cNvSpPr/>
                <p:nvPr/>
              </p:nvSpPr>
              <p:spPr bwMode="auto">
                <a:xfrm>
                  <a:off x="4296161" y="1524072"/>
                  <a:ext cx="7291210" cy="1622413"/>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lvl="0" defTabSz="913924" fontAlgn="base">
                    <a:spcBef>
                      <a:spcPts val="2353"/>
                    </a:spcBef>
                    <a:spcAft>
                      <a:spcPct val="0"/>
                    </a:spcAft>
                    <a:defRPr/>
                  </a:pPr>
                  <a:r>
                    <a:rPr lang="en-GB" sz="2400" dirty="0">
                      <a:solidFill>
                        <a:schemeClr val="bg1"/>
                      </a:solidFill>
                    </a:rPr>
                    <a:t>Examine </a:t>
                  </a:r>
                  <a:r>
                    <a:rPr lang="en-GB" sz="2400" b="1" dirty="0">
                      <a:solidFill>
                        <a:schemeClr val="bg1"/>
                      </a:solidFill>
                    </a:rPr>
                    <a:t>Big Data technology platforms</a:t>
                  </a:r>
                  <a:r>
                    <a:rPr lang="en-GB" sz="2400" dirty="0">
                      <a:solidFill>
                        <a:schemeClr val="bg1"/>
                      </a:solidFill>
                    </a:rPr>
                    <a:t> beyond the data warehouse</a:t>
                  </a:r>
                  <a:endParaRPr kumimoji="0" lang="en-US" sz="2353" b="0" i="0" u="none" strike="noStrike" kern="0" cap="none" spc="0" normalizeH="0" baseline="0" noProof="0" dirty="0">
                    <a:ln>
                      <a:noFill/>
                    </a:ln>
                    <a:solidFill>
                      <a:schemeClr val="bg1"/>
                    </a:solidFill>
                    <a:effectLst/>
                    <a:uLnTx/>
                    <a:uFillTx/>
                    <a:latin typeface="Segoe UI" panose="020B0502040204020203" pitchFamily="34" charset="0"/>
                    <a:ea typeface="Segoe UI" pitchFamily="34" charset="0"/>
                    <a:cs typeface="Segoe UI" panose="020B0502040204020203" pitchFamily="34" charset="0"/>
                  </a:endParaRPr>
                </a:p>
              </p:txBody>
            </p:sp>
          </p:grpSp>
          <p:sp>
            <p:nvSpPr>
              <p:cNvPr id="49" name="Rectangle 48"/>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11" name="Picture 10"/>
            <p:cNvPicPr>
              <a:picLocks noChangeAspect="1"/>
            </p:cNvPicPr>
            <p:nvPr/>
          </p:nvPicPr>
          <p:blipFill>
            <a:blip r:embed="rId4"/>
            <a:stretch>
              <a:fillRect/>
            </a:stretch>
          </p:blipFill>
          <p:spPr>
            <a:xfrm>
              <a:off x="3589512" y="1333865"/>
              <a:ext cx="4036847" cy="2232296"/>
            </a:xfrm>
            <a:prstGeom prst="rect">
              <a:avLst/>
            </a:prstGeom>
          </p:spPr>
        </p:pic>
      </p:grpSp>
      <p:grpSp>
        <p:nvGrpSpPr>
          <p:cNvPr id="16" name="Group 15"/>
          <p:cNvGrpSpPr/>
          <p:nvPr/>
        </p:nvGrpSpPr>
        <p:grpSpPr>
          <a:xfrm>
            <a:off x="7164294" y="762856"/>
            <a:ext cx="4067705" cy="3470930"/>
            <a:chOff x="7164294" y="762856"/>
            <a:chExt cx="4067705" cy="3470930"/>
          </a:xfrm>
        </p:grpSpPr>
        <p:grpSp>
          <p:nvGrpSpPr>
            <p:cNvPr id="55" name="Group 54"/>
            <p:cNvGrpSpPr/>
            <p:nvPr/>
          </p:nvGrpSpPr>
          <p:grpSpPr>
            <a:xfrm>
              <a:off x="7164294" y="762856"/>
              <a:ext cx="4067705" cy="3470930"/>
              <a:chOff x="4979976" y="1371830"/>
              <a:chExt cx="7202655" cy="5335314"/>
            </a:xfrm>
          </p:grpSpPr>
          <p:grpSp>
            <p:nvGrpSpPr>
              <p:cNvPr id="56" name="Group 55"/>
              <p:cNvGrpSpPr/>
              <p:nvPr/>
            </p:nvGrpSpPr>
            <p:grpSpPr>
              <a:xfrm>
                <a:off x="4979976" y="1377360"/>
                <a:ext cx="7202655" cy="1757868"/>
                <a:chOff x="4296161" y="1524072"/>
                <a:chExt cx="7291210" cy="1622413"/>
              </a:xfrm>
            </p:grpSpPr>
            <p:sp>
              <p:nvSpPr>
                <p:cNvPr id="58"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59" name="Rectangle 58"/>
                <p:cNvSpPr/>
                <p:nvPr/>
              </p:nvSpPr>
              <p:spPr bwMode="auto">
                <a:xfrm>
                  <a:off x="4296161" y="1524072"/>
                  <a:ext cx="7291210" cy="1622413"/>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lvl="0" defTabSz="913924" fontAlgn="base">
                    <a:spcBef>
                      <a:spcPts val="2353"/>
                    </a:spcBef>
                    <a:spcAft>
                      <a:spcPct val="0"/>
                    </a:spcAft>
                    <a:defRPr/>
                  </a:pPr>
                  <a:r>
                    <a:rPr lang="en-GB" sz="2400" dirty="0">
                      <a:solidFill>
                        <a:schemeClr val="bg1"/>
                      </a:solidFill>
                    </a:rPr>
                    <a:t>Investigate how to analyse </a:t>
                  </a:r>
                  <a:r>
                    <a:rPr lang="en-GB" sz="2400" b="1" dirty="0">
                      <a:solidFill>
                        <a:schemeClr val="bg1"/>
                      </a:solidFill>
                    </a:rPr>
                    <a:t>un-modelled, multi-structured data</a:t>
                  </a:r>
                  <a:endParaRPr kumimoji="0" lang="en-US" sz="2353" b="1" i="0" u="none" strike="noStrike" kern="0" cap="none" spc="0" normalizeH="0" baseline="0" noProof="0" dirty="0">
                    <a:ln>
                      <a:noFill/>
                    </a:ln>
                    <a:solidFill>
                      <a:schemeClr val="bg1"/>
                    </a:solidFill>
                    <a:effectLst/>
                    <a:uLnTx/>
                    <a:uFillTx/>
                    <a:latin typeface="Segoe UI" panose="020B0502040204020203" pitchFamily="34" charset="0"/>
                    <a:ea typeface="Segoe UI" pitchFamily="34" charset="0"/>
                    <a:cs typeface="Segoe UI" panose="020B0502040204020203" pitchFamily="34" charset="0"/>
                  </a:endParaRPr>
                </a:p>
              </p:txBody>
            </p:sp>
          </p:grpSp>
          <p:sp>
            <p:nvSpPr>
              <p:cNvPr id="57" name="Rectangle 56"/>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1030" name="Picture 6" descr="ServiceNow Data Model - SnowMirror"/>
            <p:cNvPicPr>
              <a:picLocks noChangeAspect="1" noChangeArrowheads="1"/>
            </p:cNvPicPr>
            <p:nvPr/>
          </p:nvPicPr>
          <p:blipFill rotWithShape="1">
            <a:blip r:embed="rId5">
              <a:extLst>
                <a:ext uri="{28A0092B-C50C-407E-A947-70E740481C1C}">
                  <a14:useLocalDpi xmlns:a14="http://schemas.microsoft.com/office/drawing/2010/main" val="0"/>
                </a:ext>
              </a:extLst>
            </a:blip>
            <a:srcRect b="6367"/>
            <a:stretch/>
          </p:blipFill>
          <p:spPr bwMode="auto">
            <a:xfrm>
              <a:off x="7196226" y="1924908"/>
              <a:ext cx="4004915" cy="22996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8" name="Group 77"/>
          <p:cNvGrpSpPr/>
          <p:nvPr/>
        </p:nvGrpSpPr>
        <p:grpSpPr>
          <a:xfrm>
            <a:off x="8014440" y="3048451"/>
            <a:ext cx="4067705" cy="3470930"/>
            <a:chOff x="7862040" y="2896051"/>
            <a:chExt cx="4067705" cy="3470930"/>
          </a:xfrm>
        </p:grpSpPr>
        <p:grpSp>
          <p:nvGrpSpPr>
            <p:cNvPr id="79" name="Group 78"/>
            <p:cNvGrpSpPr/>
            <p:nvPr/>
          </p:nvGrpSpPr>
          <p:grpSpPr>
            <a:xfrm>
              <a:off x="7862040" y="2896051"/>
              <a:ext cx="4067705" cy="3470930"/>
              <a:chOff x="4979976" y="1371830"/>
              <a:chExt cx="7202655" cy="5335314"/>
            </a:xfrm>
          </p:grpSpPr>
          <p:grpSp>
            <p:nvGrpSpPr>
              <p:cNvPr id="81" name="Group 80"/>
              <p:cNvGrpSpPr/>
              <p:nvPr/>
            </p:nvGrpSpPr>
            <p:grpSpPr>
              <a:xfrm>
                <a:off x="4979976" y="1377360"/>
                <a:ext cx="7202655" cy="1757868"/>
                <a:chOff x="4296161" y="1524072"/>
                <a:chExt cx="7291210" cy="1622413"/>
              </a:xfrm>
            </p:grpSpPr>
            <p:sp>
              <p:nvSpPr>
                <p:cNvPr id="83"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84" name="Rectangle 83"/>
                <p:cNvSpPr/>
                <p:nvPr/>
              </p:nvSpPr>
              <p:spPr bwMode="auto">
                <a:xfrm>
                  <a:off x="4296161" y="1524072"/>
                  <a:ext cx="7291210" cy="1622413"/>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lvl="0" defTabSz="913924" fontAlgn="base">
                    <a:spcBef>
                      <a:spcPts val="2353"/>
                    </a:spcBef>
                    <a:spcAft>
                      <a:spcPct val="0"/>
                    </a:spcAft>
                    <a:defRPr/>
                  </a:pPr>
                  <a:r>
                    <a:rPr lang="en-GB" sz="2400" dirty="0">
                      <a:solidFill>
                        <a:schemeClr val="bg1"/>
                      </a:solidFill>
                    </a:rPr>
                    <a:t>Explore how to </a:t>
                  </a:r>
                  <a:r>
                    <a:rPr lang="en-GB" sz="2400" b="1" dirty="0">
                      <a:solidFill>
                        <a:schemeClr val="bg1"/>
                      </a:solidFill>
                    </a:rPr>
                    <a:t>integrate Big Data</a:t>
                  </a:r>
                  <a:r>
                    <a:rPr lang="en-GB" sz="2400" dirty="0">
                      <a:solidFill>
                        <a:schemeClr val="bg1"/>
                      </a:solidFill>
                    </a:rPr>
                    <a:t> with traditional data warehouses and BI systems</a:t>
                  </a:r>
                  <a:endParaRPr kumimoji="0" lang="en-US" sz="2353" b="0" i="0" u="none" strike="noStrike" kern="0" cap="none" spc="0" normalizeH="0" baseline="0" noProof="0" dirty="0">
                    <a:ln>
                      <a:noFill/>
                    </a:ln>
                    <a:solidFill>
                      <a:schemeClr val="bg1"/>
                    </a:solidFill>
                    <a:effectLst/>
                    <a:uLnTx/>
                    <a:uFillTx/>
                    <a:latin typeface="Segoe UI" panose="020B0502040204020203" pitchFamily="34" charset="0"/>
                    <a:ea typeface="Segoe UI" pitchFamily="34" charset="0"/>
                    <a:cs typeface="Segoe UI" panose="020B0502040204020203" pitchFamily="34" charset="0"/>
                  </a:endParaRPr>
                </a:p>
              </p:txBody>
            </p:sp>
          </p:grpSp>
          <p:sp>
            <p:nvSpPr>
              <p:cNvPr id="82" name="Rectangle 81"/>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80" name="Picture 79"/>
            <p:cNvPicPr>
              <a:picLocks noChangeAspect="1"/>
            </p:cNvPicPr>
            <p:nvPr/>
          </p:nvPicPr>
          <p:blipFill>
            <a:blip r:embed="rId6"/>
            <a:stretch>
              <a:fillRect/>
            </a:stretch>
          </p:blipFill>
          <p:spPr>
            <a:xfrm>
              <a:off x="7877894" y="4043244"/>
              <a:ext cx="4000599" cy="2247828"/>
            </a:xfrm>
            <a:prstGeom prst="rect">
              <a:avLst/>
            </a:prstGeom>
          </p:spPr>
        </p:pic>
      </p:grpSp>
      <p:grpSp>
        <p:nvGrpSpPr>
          <p:cNvPr id="28" name="Group 27"/>
          <p:cNvGrpSpPr/>
          <p:nvPr/>
        </p:nvGrpSpPr>
        <p:grpSpPr>
          <a:xfrm>
            <a:off x="3796004" y="3128379"/>
            <a:ext cx="4067705" cy="3632277"/>
            <a:chOff x="3558654" y="3445673"/>
            <a:chExt cx="4067705" cy="3632277"/>
          </a:xfrm>
        </p:grpSpPr>
        <p:grpSp>
          <p:nvGrpSpPr>
            <p:cNvPr id="63" name="Group 62"/>
            <p:cNvGrpSpPr/>
            <p:nvPr/>
          </p:nvGrpSpPr>
          <p:grpSpPr>
            <a:xfrm>
              <a:off x="3558654" y="3445673"/>
              <a:ext cx="4067705" cy="3470930"/>
              <a:chOff x="4979976" y="1371830"/>
              <a:chExt cx="7202655" cy="5335314"/>
            </a:xfrm>
          </p:grpSpPr>
          <p:grpSp>
            <p:nvGrpSpPr>
              <p:cNvPr id="65" name="Group 64"/>
              <p:cNvGrpSpPr/>
              <p:nvPr/>
            </p:nvGrpSpPr>
            <p:grpSpPr>
              <a:xfrm>
                <a:off x="4979976" y="1377360"/>
                <a:ext cx="7202655" cy="1757868"/>
                <a:chOff x="4296161" y="1524072"/>
                <a:chExt cx="7291210" cy="1622413"/>
              </a:xfrm>
            </p:grpSpPr>
            <p:sp>
              <p:nvSpPr>
                <p:cNvPr id="6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8" name="Rectangle 67"/>
                <p:cNvSpPr/>
                <p:nvPr/>
              </p:nvSpPr>
              <p:spPr bwMode="auto">
                <a:xfrm>
                  <a:off x="4296161" y="1524072"/>
                  <a:ext cx="7291210" cy="1622413"/>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lvl="0" defTabSz="913924" fontAlgn="base">
                    <a:spcBef>
                      <a:spcPts val="2353"/>
                    </a:spcBef>
                    <a:spcAft>
                      <a:spcPct val="0"/>
                    </a:spcAft>
                    <a:defRPr/>
                  </a:pPr>
                  <a:r>
                    <a:rPr lang="en-GB" sz="2400" dirty="0">
                      <a:solidFill>
                        <a:schemeClr val="bg1"/>
                      </a:solidFill>
                    </a:rPr>
                    <a:t>Explore how Big Data can deliver </a:t>
                  </a:r>
                  <a:r>
                    <a:rPr lang="en-GB" sz="2400" b="1" dirty="0">
                      <a:solidFill>
                        <a:schemeClr val="bg1"/>
                      </a:solidFill>
                    </a:rPr>
                    <a:t>business value</a:t>
                  </a:r>
                  <a:r>
                    <a:rPr lang="en-GB" sz="2400" dirty="0">
                      <a:solidFill>
                        <a:schemeClr val="bg1"/>
                      </a:solidFill>
                    </a:rPr>
                    <a:t>.</a:t>
                  </a:r>
                  <a:endParaRPr kumimoji="0" lang="en-US" sz="2353" b="0" i="0" u="none" strike="noStrike" kern="0" cap="none" spc="0" normalizeH="0" baseline="0" noProof="0" dirty="0">
                    <a:ln>
                      <a:noFill/>
                    </a:ln>
                    <a:solidFill>
                      <a:schemeClr val="bg1"/>
                    </a:solidFill>
                    <a:effectLst/>
                    <a:uLnTx/>
                    <a:uFillTx/>
                    <a:latin typeface="Segoe UI" panose="020B0502040204020203" pitchFamily="34" charset="0"/>
                    <a:ea typeface="Segoe UI" pitchFamily="34" charset="0"/>
                    <a:cs typeface="Segoe UI" panose="020B0502040204020203" pitchFamily="34" charset="0"/>
                  </a:endParaRPr>
                </a:p>
              </p:txBody>
            </p:sp>
          </p:grpSp>
          <p:sp>
            <p:nvSpPr>
              <p:cNvPr id="66" name="Rectangle 6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pic>
          <p:nvPicPr>
            <p:cNvPr id="27" name="Picture 26"/>
            <p:cNvPicPr>
              <a:picLocks noChangeAspect="1"/>
            </p:cNvPicPr>
            <p:nvPr/>
          </p:nvPicPr>
          <p:blipFill rotWithShape="1">
            <a:blip r:embed="rId7"/>
            <a:srcRect l="5861" t="9999"/>
            <a:stretch/>
          </p:blipFill>
          <p:spPr>
            <a:xfrm>
              <a:off x="3593592" y="4599432"/>
              <a:ext cx="4032766" cy="2478518"/>
            </a:xfrm>
            <a:prstGeom prst="rect">
              <a:avLst/>
            </a:prstGeom>
          </p:spPr>
        </p:pic>
      </p:grpSp>
    </p:spTree>
    <p:extLst>
      <p:ext uri="{BB962C8B-B14F-4D97-AF65-F5344CB8AC3E}">
        <p14:creationId xmlns:p14="http://schemas.microsoft.com/office/powerpoint/2010/main" val="3888819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56507" y="1124882"/>
            <a:ext cx="11478986" cy="4853489"/>
          </a:xfrm>
        </p:spPr>
        <p:txBody>
          <a:bodyPr>
            <a:normAutofit fontScale="92500" lnSpcReduction="10000"/>
          </a:bodyPr>
          <a:lstStyle/>
          <a:p>
            <a:pPr marL="469900">
              <a:lnSpc>
                <a:spcPct val="100000"/>
              </a:lnSpc>
              <a:spcBef>
                <a:spcPts val="1200"/>
              </a:spcBef>
              <a:tabLst>
                <a:tab pos="4291330" algn="l"/>
              </a:tabLst>
            </a:pPr>
            <a:r>
              <a:rPr lang="en-GB" spc="-15" dirty="0">
                <a:cs typeface="Calibri"/>
              </a:rPr>
              <a:t>Each </a:t>
            </a:r>
            <a:r>
              <a:rPr lang="en-GB" spc="-5" dirty="0">
                <a:cs typeface="Calibri"/>
              </a:rPr>
              <a:t>session</a:t>
            </a:r>
            <a:r>
              <a:rPr lang="en-GB" spc="25" dirty="0">
                <a:cs typeface="Calibri"/>
              </a:rPr>
              <a:t> </a:t>
            </a:r>
            <a:r>
              <a:rPr lang="en-GB" spc="-5" dirty="0">
                <a:cs typeface="Calibri"/>
              </a:rPr>
              <a:t>will</a:t>
            </a:r>
            <a:r>
              <a:rPr lang="en-GB" spc="15" dirty="0">
                <a:cs typeface="Calibri"/>
              </a:rPr>
              <a:t> </a:t>
            </a:r>
            <a:r>
              <a:rPr lang="en-GB" spc="-15" dirty="0">
                <a:cs typeface="Calibri"/>
              </a:rPr>
              <a:t>consist </a:t>
            </a:r>
            <a:r>
              <a:rPr lang="en-GB" spc="-5" dirty="0">
                <a:cs typeface="Calibri"/>
              </a:rPr>
              <a:t>of </a:t>
            </a:r>
            <a:r>
              <a:rPr lang="en-GB" dirty="0">
                <a:cs typeface="Calibri"/>
              </a:rPr>
              <a:t>one </a:t>
            </a:r>
            <a:r>
              <a:rPr lang="en-GB" spc="-5" dirty="0">
                <a:cs typeface="Calibri"/>
              </a:rPr>
              <a:t>lecture\seminar</a:t>
            </a:r>
            <a:r>
              <a:rPr lang="en-GB" spc="-45" dirty="0">
                <a:cs typeface="Calibri"/>
              </a:rPr>
              <a:t> </a:t>
            </a:r>
            <a:r>
              <a:rPr lang="en-GB" spc="-5" dirty="0">
                <a:cs typeface="Calibri"/>
              </a:rPr>
              <a:t>(1 </a:t>
            </a:r>
            <a:r>
              <a:rPr lang="en-GB" spc="-10" dirty="0">
                <a:cs typeface="Calibri"/>
              </a:rPr>
              <a:t>hour) </a:t>
            </a:r>
            <a:r>
              <a:rPr lang="en-GB" spc="-5" dirty="0">
                <a:cs typeface="Calibri"/>
              </a:rPr>
              <a:t>and </a:t>
            </a:r>
            <a:r>
              <a:rPr lang="en-GB" dirty="0">
                <a:cs typeface="Calibri"/>
              </a:rPr>
              <a:t>a </a:t>
            </a:r>
            <a:r>
              <a:rPr lang="en-GB" spc="-15" dirty="0">
                <a:cs typeface="Calibri"/>
              </a:rPr>
              <a:t>practical </a:t>
            </a:r>
            <a:r>
              <a:rPr lang="en-GB" spc="-5" dirty="0">
                <a:cs typeface="Calibri"/>
              </a:rPr>
              <a:t>session (2</a:t>
            </a:r>
            <a:r>
              <a:rPr lang="en-GB" spc="10" dirty="0">
                <a:cs typeface="Calibri"/>
              </a:rPr>
              <a:t> </a:t>
            </a:r>
            <a:r>
              <a:rPr lang="en-GB" spc="-10" dirty="0">
                <a:cs typeface="Calibri"/>
              </a:rPr>
              <a:t>hours).</a:t>
            </a:r>
            <a:endParaRPr lang="en-GB" dirty="0">
              <a:cs typeface="Calibri"/>
            </a:endParaRPr>
          </a:p>
          <a:p>
            <a:pPr marL="469900">
              <a:lnSpc>
                <a:spcPct val="100000"/>
              </a:lnSpc>
              <a:spcBef>
                <a:spcPts val="1220"/>
              </a:spcBef>
            </a:pPr>
            <a:r>
              <a:rPr lang="en-GB" spc="-55" dirty="0">
                <a:cs typeface="Calibri"/>
              </a:rPr>
              <a:t>You </a:t>
            </a:r>
            <a:r>
              <a:rPr lang="en-GB" spc="-5" dirty="0">
                <a:cs typeface="Calibri"/>
              </a:rPr>
              <a:t>will </a:t>
            </a:r>
            <a:r>
              <a:rPr lang="en-GB" spc="-10" dirty="0">
                <a:cs typeface="Calibri"/>
              </a:rPr>
              <a:t>be required to do work outside the class-time.</a:t>
            </a:r>
            <a:endParaRPr lang="en-GB" dirty="0">
              <a:cs typeface="Calibri"/>
            </a:endParaRPr>
          </a:p>
          <a:p>
            <a:pPr marL="469900">
              <a:lnSpc>
                <a:spcPct val="100000"/>
              </a:lnSpc>
              <a:spcBef>
                <a:spcPts val="1200"/>
              </a:spcBef>
            </a:pPr>
            <a:r>
              <a:rPr lang="en-GB" spc="-15" dirty="0">
                <a:cs typeface="Calibri"/>
              </a:rPr>
              <a:t>Bring pen, paper to each lesson.</a:t>
            </a:r>
          </a:p>
          <a:p>
            <a:pPr marL="241300" indent="0">
              <a:lnSpc>
                <a:spcPct val="100000"/>
              </a:lnSpc>
              <a:spcBef>
                <a:spcPts val="1200"/>
              </a:spcBef>
              <a:buNone/>
            </a:pPr>
            <a:r>
              <a:rPr lang="en-GB" spc="-15" dirty="0">
                <a:cs typeface="Calibri"/>
              </a:rPr>
              <a:t>Even more…</a:t>
            </a:r>
          </a:p>
          <a:p>
            <a:pPr marL="469900">
              <a:lnSpc>
                <a:spcPct val="100000"/>
              </a:lnSpc>
              <a:spcBef>
                <a:spcPts val="1200"/>
              </a:spcBef>
            </a:pPr>
            <a:r>
              <a:rPr lang="en-GB" dirty="0"/>
              <a:t>You must attend all lectures, seminars and labs.</a:t>
            </a:r>
          </a:p>
          <a:p>
            <a:pPr marL="469900">
              <a:lnSpc>
                <a:spcPct val="100000"/>
              </a:lnSpc>
              <a:spcBef>
                <a:spcPts val="1200"/>
              </a:spcBef>
            </a:pPr>
            <a:r>
              <a:rPr lang="en-GB" dirty="0"/>
              <a:t>You must ensure you complete the practical work every week by working between class\sessions.</a:t>
            </a:r>
          </a:p>
          <a:p>
            <a:pPr marL="469900">
              <a:lnSpc>
                <a:spcPct val="100000"/>
              </a:lnSpc>
              <a:spcBef>
                <a:spcPts val="1200"/>
              </a:spcBef>
            </a:pPr>
            <a:r>
              <a:rPr lang="en-GB" dirty="0"/>
              <a:t>This module is fundamental to your career and will form the basis of most job interviews.</a:t>
            </a:r>
          </a:p>
          <a:p>
            <a:pPr marL="241300" indent="0">
              <a:lnSpc>
                <a:spcPct val="100000"/>
              </a:lnSpc>
              <a:spcBef>
                <a:spcPts val="1200"/>
              </a:spcBef>
              <a:buNone/>
            </a:pPr>
            <a:endParaRPr lang="en-GB" dirty="0"/>
          </a:p>
          <a:p>
            <a:pPr marL="469900">
              <a:lnSpc>
                <a:spcPct val="100000"/>
              </a:lnSpc>
              <a:spcBef>
                <a:spcPts val="1200"/>
              </a:spcBef>
            </a:pPr>
            <a:endParaRPr lang="en-GB" spc="-15" dirty="0">
              <a:cs typeface="Calibri"/>
            </a:endParaRPr>
          </a:p>
          <a:p>
            <a:pPr marL="469900">
              <a:lnSpc>
                <a:spcPct val="100000"/>
              </a:lnSpc>
              <a:spcBef>
                <a:spcPts val="1200"/>
              </a:spcBef>
            </a:pPr>
            <a:endParaRPr lang="en-GB" dirty="0">
              <a:cs typeface="Calibri"/>
            </a:endParaRPr>
          </a:p>
          <a:p>
            <a:endParaRPr lang="en-GB" dirty="0"/>
          </a:p>
        </p:txBody>
      </p:sp>
      <p:sp>
        <p:nvSpPr>
          <p:cNvPr id="3" name="Slide Number Placeholder 2"/>
          <p:cNvSpPr>
            <a:spLocks noGrp="1"/>
          </p:cNvSpPr>
          <p:nvPr>
            <p:ph type="sldNum" sz="quarter" idx="12"/>
          </p:nvPr>
        </p:nvSpPr>
        <p:spPr/>
        <p:txBody>
          <a:bodyPr/>
          <a:lstStyle/>
          <a:p>
            <a:fld id="{5BC3EEBC-8848-48BC-9E86-2856C4334E59}" type="slidenum">
              <a:rPr lang="en-GB" smtClean="0"/>
              <a:t>11</a:t>
            </a:fld>
            <a:endParaRPr lang="en-GB" dirty="0"/>
          </a:p>
        </p:txBody>
      </p:sp>
      <p:sp>
        <p:nvSpPr>
          <p:cNvPr id="4" name="Title 3"/>
          <p:cNvSpPr>
            <a:spLocks noGrp="1"/>
          </p:cNvSpPr>
          <p:nvPr>
            <p:ph type="title"/>
          </p:nvPr>
        </p:nvSpPr>
        <p:spPr/>
        <p:txBody>
          <a:bodyPr/>
          <a:lstStyle/>
          <a:p>
            <a:r>
              <a:rPr lang="en-GB" dirty="0"/>
              <a:t>Approach to Teaching</a:t>
            </a:r>
          </a:p>
        </p:txBody>
      </p:sp>
      <p:sp>
        <p:nvSpPr>
          <p:cNvPr id="5" name="Footer Placeholder 4"/>
          <p:cNvSpPr>
            <a:spLocks noGrp="1"/>
          </p:cNvSpPr>
          <p:nvPr>
            <p:ph type="ftr" sz="quarter" idx="13"/>
          </p:nvPr>
        </p:nvSpPr>
        <p:spPr/>
        <p:txBody>
          <a:bodyPr/>
          <a:lstStyle/>
          <a:p>
            <a:r>
              <a:rPr lang="en-GB"/>
              <a:t>School of Computing , Engineering and Digital Technologies</a:t>
            </a:r>
            <a:endParaRPr lang="en-GB" dirty="0"/>
          </a:p>
        </p:txBody>
      </p:sp>
    </p:spTree>
    <p:extLst>
      <p:ext uri="{BB962C8B-B14F-4D97-AF65-F5344CB8AC3E}">
        <p14:creationId xmlns:p14="http://schemas.microsoft.com/office/powerpoint/2010/main" val="164431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p:cNvGrpSpPr/>
          <p:nvPr/>
        </p:nvGrpSpPr>
        <p:grpSpPr>
          <a:xfrm>
            <a:off x="417671" y="1195216"/>
            <a:ext cx="899699" cy="5145882"/>
            <a:chOff x="426046" y="1218686"/>
            <a:chExt cx="917740" cy="5249068"/>
          </a:xfrm>
        </p:grpSpPr>
        <p:sp>
          <p:nvSpPr>
            <p:cNvPr id="18" name="Rectangle 17"/>
            <p:cNvSpPr/>
            <p:nvPr/>
          </p:nvSpPr>
          <p:spPr>
            <a:xfrm>
              <a:off x="429386" y="21330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4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4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3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3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73" name="Rectangle 72"/>
            <p:cNvSpPr/>
            <p:nvPr/>
          </p:nvSpPr>
          <p:spPr>
            <a:xfrm>
              <a:off x="426046" y="12186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74" name="Group 44"/>
            <p:cNvGrpSpPr>
              <a:grpSpLocks/>
            </p:cNvGrpSpPr>
            <p:nvPr/>
          </p:nvGrpSpPr>
          <p:grpSpPr bwMode="auto">
            <a:xfrm>
              <a:off x="657986" y="1447286"/>
              <a:ext cx="457200" cy="457200"/>
              <a:chOff x="-3781305" y="3065460"/>
              <a:chExt cx="1777999" cy="1777999"/>
            </a:xfrm>
          </p:grpSpPr>
          <p:sp>
            <p:nvSpPr>
              <p:cNvPr id="7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20" name="Group 44"/>
            <p:cNvGrpSpPr>
              <a:grpSpLocks/>
            </p:cNvGrpSpPr>
            <p:nvPr/>
          </p:nvGrpSpPr>
          <p:grpSpPr bwMode="auto">
            <a:xfrm>
              <a:off x="657986" y="6010554"/>
              <a:ext cx="457200" cy="457200"/>
              <a:chOff x="-3781305" y="3065460"/>
              <a:chExt cx="1777999" cy="1777999"/>
            </a:xfrm>
          </p:grpSpPr>
          <p:sp>
            <p:nvSpPr>
              <p:cNvPr id="12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useBgFill="1">
        <p:nvSpPr>
          <p:cNvPr id="7" name="Rectangle 6"/>
          <p:cNvSpPr/>
          <p:nvPr/>
        </p:nvSpPr>
        <p:spPr>
          <a:xfrm>
            <a:off x="1" y="487"/>
            <a:ext cx="419843" cy="68570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 name="Title 1"/>
          <p:cNvSpPr>
            <a:spLocks noGrp="1"/>
          </p:cNvSpPr>
          <p:nvPr>
            <p:ph type="title"/>
          </p:nvPr>
        </p:nvSpPr>
        <p:spPr>
          <a:xfrm>
            <a:off x="417671" y="239463"/>
            <a:ext cx="10515600" cy="1325563"/>
          </a:xfrm>
        </p:spPr>
        <p:txBody>
          <a:bodyPr anchor="t"/>
          <a:lstStyle/>
          <a:p>
            <a:pPr lvl="0"/>
            <a:r>
              <a:rPr lang="en-US" sz="4313" dirty="0"/>
              <a:t>Module Content</a:t>
            </a:r>
          </a:p>
        </p:txBody>
      </p:sp>
      <p:sp>
        <p:nvSpPr>
          <p:cNvPr id="2" name="Content Placeholder 1"/>
          <p:cNvSpPr>
            <a:spLocks noGrp="1"/>
          </p:cNvSpPr>
          <p:nvPr>
            <p:ph idx="1"/>
          </p:nvPr>
        </p:nvSpPr>
        <p:spPr/>
        <p:txBody>
          <a:bodyPr/>
          <a:lstStyle/>
          <a:p>
            <a:endParaRPr lang="en-GB"/>
          </a:p>
        </p:txBody>
      </p:sp>
      <p:sp>
        <p:nvSpPr>
          <p:cNvPr id="118" name="Right Brace 117"/>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nvGrpSpPr>
          <p:cNvPr id="44" name="Group 43"/>
          <p:cNvGrpSpPr/>
          <p:nvPr/>
        </p:nvGrpSpPr>
        <p:grpSpPr>
          <a:xfrm>
            <a:off x="4734255" y="779382"/>
            <a:ext cx="7073924" cy="4897958"/>
            <a:chOff x="4979976" y="1371830"/>
            <a:chExt cx="7202655" cy="5335314"/>
          </a:xfrm>
        </p:grpSpPr>
        <p:grpSp>
          <p:nvGrpSpPr>
            <p:cNvPr id="45" name="Group 44"/>
            <p:cNvGrpSpPr/>
            <p:nvPr/>
          </p:nvGrpSpPr>
          <p:grpSpPr>
            <a:xfrm>
              <a:off x="4979976" y="1377359"/>
              <a:ext cx="7202655" cy="1030604"/>
              <a:chOff x="4296161" y="1524072"/>
              <a:chExt cx="7291210" cy="951190"/>
            </a:xfrm>
          </p:grpSpPr>
          <p:sp>
            <p:nvSpPr>
              <p:cNvPr id="4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48" name="Rectangle 47"/>
              <p:cNvSpPr/>
              <p:nvPr/>
            </p:nvSpPr>
            <p:spPr bwMode="auto">
              <a:xfrm>
                <a:off x="4296161" y="1524072"/>
                <a:ext cx="7291210" cy="95119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solidFill>
                      <a:srgbClr val="FFFFFF"/>
                    </a:solidFill>
                    <a:effectLst/>
                    <a:uLnTx/>
                    <a:uFillTx/>
                    <a:latin typeface="Segoe UI"/>
                    <a:ea typeface="+mn-ea"/>
                    <a:cs typeface="+mn-cs"/>
                  </a:rPr>
                  <a:t>  </a:t>
                </a:r>
                <a:r>
                  <a:rPr kumimoji="0" lang="en-GB" sz="2400" b="1" i="0" u="none" strike="noStrike" kern="1200" cap="none" spc="0" normalizeH="0" baseline="0" noProof="0" dirty="0">
                    <a:ln>
                      <a:noFill/>
                    </a:ln>
                    <a:solidFill>
                      <a:srgbClr val="FFFFFF"/>
                    </a:solidFill>
                    <a:effectLst/>
                    <a:uLnTx/>
                    <a:uFillTx/>
                    <a:latin typeface="Segoe UI Light"/>
                    <a:ea typeface="+mn-ea"/>
                    <a:cs typeface="+mn-cs"/>
                  </a:rPr>
                  <a:t>Business Intelligence modelling techniques</a:t>
                </a:r>
                <a:r>
                  <a:rPr kumimoji="0" lang="en-GB" sz="2400" b="0" i="0" u="none" strike="noStrike" kern="1200" cap="none" spc="0" normalizeH="0" baseline="0" noProof="0" dirty="0">
                    <a:ln>
                      <a:noFill/>
                    </a:ln>
                    <a:solidFill>
                      <a:srgbClr val="000000"/>
                    </a:solidFill>
                    <a:effectLst/>
                    <a:uLnTx/>
                    <a:uFillTx/>
                    <a:latin typeface="Segoe UI Light"/>
                    <a:ea typeface="+mn-ea"/>
                    <a:cs typeface="+mn-cs"/>
                  </a:rPr>
                  <a:t> </a:t>
                </a: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Light"/>
                  <a:ea typeface="+mn-ea"/>
                  <a:cs typeface="+mn-cs"/>
                </a:endParaRPr>
              </a:p>
            </p:txBody>
          </p:sp>
        </p:grpSp>
        <p:sp>
          <p:nvSpPr>
            <p:cNvPr id="46" name="Rectangle 4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4" name="TextBox 53"/>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2050" name="Picture 2" descr="Image result for business intelligence sol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981" y="1730579"/>
            <a:ext cx="7030804" cy="3868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56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0-#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118"/>
                                        </p:tgtEl>
                                        <p:attrNameLst>
                                          <p:attrName>style.visibility</p:attrName>
                                        </p:attrNameLst>
                                      </p:cBhvr>
                                      <p:to>
                                        <p:strVal val="visible"/>
                                      </p:to>
                                    </p:set>
                                    <p:animEffect transition="in" filter="fade">
                                      <p:cBhvr>
                                        <p:cTn id="11" dur="1000"/>
                                        <p:tgtEl>
                                          <p:spTgt spid="118"/>
                                        </p:tgtEl>
                                      </p:cBhvr>
                                    </p:animEffect>
                                  </p:childTnLst>
                                </p:cTn>
                              </p:par>
                              <p:par>
                                <p:cTn id="12" presetID="2" presetClass="entr" presetSubtype="2" fill="hold" nodeType="withEffect">
                                  <p:stCondLst>
                                    <p:cond delay="250"/>
                                  </p:stCondLst>
                                  <p:childTnLst>
                                    <p:set>
                                      <p:cBhvr>
                                        <p:cTn id="13" dur="1" fill="hold">
                                          <p:stCondLst>
                                            <p:cond delay="0"/>
                                          </p:stCondLst>
                                        </p:cTn>
                                        <p:tgtEl>
                                          <p:spTgt spid="44"/>
                                        </p:tgtEl>
                                        <p:attrNameLst>
                                          <p:attrName>style.visibility</p:attrName>
                                        </p:attrNameLst>
                                      </p:cBhvr>
                                      <p:to>
                                        <p:strVal val="visible"/>
                                      </p:to>
                                    </p:set>
                                    <p:anim calcmode="lin" valueType="num">
                                      <p:cBhvr additive="base">
                                        <p:cTn id="14" dur="500" fill="hold"/>
                                        <p:tgtEl>
                                          <p:spTgt spid="44"/>
                                        </p:tgtEl>
                                        <p:attrNameLst>
                                          <p:attrName>ppt_x</p:attrName>
                                        </p:attrNameLst>
                                      </p:cBhvr>
                                      <p:tavLst>
                                        <p:tav tm="0">
                                          <p:val>
                                            <p:strVal val="1+#ppt_w/2"/>
                                          </p:val>
                                        </p:tav>
                                        <p:tav tm="100000">
                                          <p:val>
                                            <p:strVal val="#ppt_x"/>
                                          </p:val>
                                        </p:tav>
                                      </p:tavLst>
                                    </p:anim>
                                    <p:anim calcmode="lin" valueType="num">
                                      <p:cBhvr additive="base">
                                        <p:cTn id="15" dur="500" fill="hold"/>
                                        <p:tgtEl>
                                          <p:spTgt spid="44"/>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 calcmode="lin" valueType="num">
                                      <p:cBhvr additive="base">
                                        <p:cTn id="18" dur="500" fill="hold"/>
                                        <p:tgtEl>
                                          <p:spTgt spid="54"/>
                                        </p:tgtEl>
                                        <p:attrNameLst>
                                          <p:attrName>ppt_x</p:attrName>
                                        </p:attrNameLst>
                                      </p:cBhvr>
                                      <p:tavLst>
                                        <p:tav tm="0">
                                          <p:val>
                                            <p:strVal val="0-#ppt_w/2"/>
                                          </p:val>
                                        </p:tav>
                                        <p:tav tm="100000">
                                          <p:val>
                                            <p:strVal val="#ppt_x"/>
                                          </p:val>
                                        </p:tav>
                                      </p:tavLst>
                                    </p:anim>
                                    <p:anim calcmode="lin" valueType="num">
                                      <p:cBhvr additive="base">
                                        <p:cTn id="19" dur="500" fill="hold"/>
                                        <p:tgtEl>
                                          <p:spTgt spid="54"/>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0"/>
                                  </p:stCondLst>
                                  <p:childTnLst>
                                    <p:set>
                                      <p:cBhvr>
                                        <p:cTn id="21" dur="1" fill="hold">
                                          <p:stCondLst>
                                            <p:cond delay="0"/>
                                          </p:stCondLst>
                                        </p:cTn>
                                        <p:tgtEl>
                                          <p:spTgt spid="2050"/>
                                        </p:tgtEl>
                                        <p:attrNameLst>
                                          <p:attrName>style.visibility</p:attrName>
                                        </p:attrNameLst>
                                      </p:cBhvr>
                                      <p:to>
                                        <p:strVal val="visible"/>
                                      </p:to>
                                    </p:set>
                                    <p:anim calcmode="lin" valueType="num">
                                      <p:cBhvr additive="base">
                                        <p:cTn id="22" dur="500" fill="hold"/>
                                        <p:tgtEl>
                                          <p:spTgt spid="2050"/>
                                        </p:tgtEl>
                                        <p:attrNameLst>
                                          <p:attrName>ppt_x</p:attrName>
                                        </p:attrNameLst>
                                      </p:cBhvr>
                                      <p:tavLst>
                                        <p:tav tm="0">
                                          <p:val>
                                            <p:strVal val="1+#ppt_w/2"/>
                                          </p:val>
                                        </p:tav>
                                        <p:tav tm="100000">
                                          <p:val>
                                            <p:strVal val="#ppt_x"/>
                                          </p:val>
                                        </p:tav>
                                      </p:tavLst>
                                    </p:anim>
                                    <p:anim calcmode="lin" valueType="num">
                                      <p:cBhvr additive="base">
                                        <p:cTn id="23" dur="500" fill="hold"/>
                                        <p:tgtEl>
                                          <p:spTgt spid="20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p:cNvGrpSpPr/>
          <p:nvPr/>
        </p:nvGrpSpPr>
        <p:grpSpPr>
          <a:xfrm>
            <a:off x="417671" y="1195216"/>
            <a:ext cx="899699" cy="4482124"/>
            <a:chOff x="426046" y="1218686"/>
            <a:chExt cx="917740" cy="4572000"/>
          </a:xfrm>
        </p:grpSpPr>
        <p:sp>
          <p:nvSpPr>
            <p:cNvPr id="31" name="Rectangle 30"/>
            <p:cNvSpPr/>
            <p:nvPr/>
          </p:nvSpPr>
          <p:spPr>
            <a:xfrm>
              <a:off x="429386" y="21330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2" name="Group 455"/>
            <p:cNvGrpSpPr>
              <a:grpSpLocks/>
            </p:cNvGrpSpPr>
            <p:nvPr/>
          </p:nvGrpSpPr>
          <p:grpSpPr bwMode="auto">
            <a:xfrm>
              <a:off x="657986" y="2361686"/>
              <a:ext cx="457200" cy="457200"/>
              <a:chOff x="-3781305" y="3065460"/>
              <a:chExt cx="1777999" cy="1777999"/>
            </a:xfrm>
          </p:grpSpPr>
          <p:sp>
            <p:nvSpPr>
              <p:cNvPr id="6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3" name="Rectangle 32"/>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4" name="Group 34"/>
            <p:cNvGrpSpPr>
              <a:grpSpLocks/>
            </p:cNvGrpSpPr>
            <p:nvPr/>
          </p:nvGrpSpPr>
          <p:grpSpPr bwMode="auto">
            <a:xfrm>
              <a:off x="657986" y="3276086"/>
              <a:ext cx="457200" cy="457200"/>
              <a:chOff x="-3781305" y="3065460"/>
              <a:chExt cx="1777999" cy="1777999"/>
            </a:xfrm>
          </p:grpSpPr>
          <p:sp>
            <p:nvSpPr>
              <p:cNvPr id="5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39"/>
            <p:cNvGrpSpPr>
              <a:grpSpLocks/>
            </p:cNvGrpSpPr>
            <p:nvPr/>
          </p:nvGrpSpPr>
          <p:grpSpPr bwMode="auto">
            <a:xfrm>
              <a:off x="657986" y="4190486"/>
              <a:ext cx="457200" cy="457200"/>
              <a:chOff x="-3781305" y="3065460"/>
              <a:chExt cx="1777999" cy="1777999"/>
            </a:xfrm>
          </p:grpSpPr>
          <p:sp>
            <p:nvSpPr>
              <p:cNvPr id="5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Rectangle 36"/>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9" name="Group 44"/>
            <p:cNvGrpSpPr>
              <a:grpSpLocks/>
            </p:cNvGrpSpPr>
            <p:nvPr/>
          </p:nvGrpSpPr>
          <p:grpSpPr bwMode="auto">
            <a:xfrm>
              <a:off x="657986" y="5104886"/>
              <a:ext cx="457200" cy="457200"/>
              <a:chOff x="-3781305" y="3065460"/>
              <a:chExt cx="1777999" cy="1777999"/>
            </a:xfrm>
          </p:grpSpPr>
          <p:sp>
            <p:nvSpPr>
              <p:cNvPr id="5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4" name="Rectangle 43"/>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5" name="Group 44"/>
            <p:cNvGrpSpPr>
              <a:grpSpLocks/>
            </p:cNvGrpSpPr>
            <p:nvPr/>
          </p:nvGrpSpPr>
          <p:grpSpPr bwMode="auto">
            <a:xfrm>
              <a:off x="657986" y="14472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nvGrpSpPr>
          <p:cNvPr id="63" name="Group 62"/>
          <p:cNvGrpSpPr/>
          <p:nvPr/>
        </p:nvGrpSpPr>
        <p:grpSpPr>
          <a:xfrm>
            <a:off x="4829254" y="485442"/>
            <a:ext cx="7124671" cy="6231447"/>
            <a:chOff x="4979976" y="1371830"/>
            <a:chExt cx="7202655" cy="5335314"/>
          </a:xfrm>
        </p:grpSpPr>
        <p:grpSp>
          <p:nvGrpSpPr>
            <p:cNvPr id="65" name="Group 64"/>
            <p:cNvGrpSpPr/>
            <p:nvPr/>
          </p:nvGrpSpPr>
          <p:grpSpPr>
            <a:xfrm>
              <a:off x="4979976" y="1377361"/>
              <a:ext cx="7202655" cy="721742"/>
              <a:chOff x="4296161" y="1524072"/>
              <a:chExt cx="7291210" cy="666127"/>
            </a:xfrm>
          </p:grpSpPr>
          <p:sp>
            <p:nvSpPr>
              <p:cNvPr id="6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8" name="Rectangle 67"/>
              <p:cNvSpPr/>
              <p:nvPr/>
            </p:nvSpPr>
            <p:spPr bwMode="auto">
              <a:xfrm>
                <a:off x="4296161" y="1524072"/>
                <a:ext cx="7291210" cy="666127"/>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Integrating data</a:t>
                </a:r>
                <a:endParaRPr kumimoji="0" lang="en-US" sz="2400" b="0"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66" name="Rectangle 6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6" name="Right Brace 75"/>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2" name="TextBox 81"/>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3" name="TextBox 82"/>
          <p:cNvSpPr txBox="1"/>
          <p:nvPr/>
        </p:nvSpPr>
        <p:spPr>
          <a:xfrm>
            <a:off x="1423037" y="2035461"/>
            <a:ext cx="3069608" cy="926755"/>
          </a:xfrm>
          <a:prstGeom prst="rect">
            <a:avLst/>
          </a:prstGeom>
          <a:noFill/>
        </p:spPr>
        <p:txBody>
          <a:bodyPr wrap="square" tIns="143428" rIns="179285" bIns="143428" anchor="ctr">
            <a:spAutoFit/>
          </a:bodyPr>
          <a:lstStyle/>
          <a:p>
            <a:pPr lvl="0" defTabSz="914314">
              <a:lnSpc>
                <a:spcPct val="90000"/>
              </a:lnSpc>
              <a:spcAft>
                <a:spcPts val="1176"/>
              </a:spcAft>
              <a:defRPr/>
            </a:pPr>
            <a:r>
              <a:rPr lang="en-GB" sz="2300" dirty="0">
                <a:solidFill>
                  <a:srgbClr val="D2D2D2">
                    <a:lumMod val="50000"/>
                  </a:srgbClr>
                </a:solidFill>
                <a:latin typeface="Segoe UI"/>
              </a:rPr>
              <a:t>Data Integration and Modelling</a:t>
            </a:r>
            <a:endParaRPr lang="en-US" sz="2300" dirty="0">
              <a:solidFill>
                <a:srgbClr val="D2D2D2">
                  <a:lumMod val="50000"/>
                </a:srgbClr>
              </a:solidFill>
              <a:latin typeface="Segoe UI Light"/>
              <a:cs typeface="Segoe UI"/>
            </a:endParaRPr>
          </a:p>
        </p:txBody>
      </p:sp>
      <p:pic>
        <p:nvPicPr>
          <p:cNvPr id="1026" name="Picture 2" descr="Image result for integrating different data type power b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237" y="1286720"/>
            <a:ext cx="6986939" cy="546032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GB"/>
          </a:p>
        </p:txBody>
      </p:sp>
      <p:sp>
        <p:nvSpPr>
          <p:cNvPr id="38" name="Title 1"/>
          <p:cNvSpPr txBox="1">
            <a:spLocks/>
          </p:cNvSpPr>
          <p:nvPr/>
        </p:nvSpPr>
        <p:spPr>
          <a:xfrm>
            <a:off x="417671" y="239463"/>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13"/>
              <a:t>Module Content</a:t>
            </a:r>
            <a:endParaRPr lang="en-US" sz="4313" dirty="0"/>
          </a:p>
        </p:txBody>
      </p:sp>
    </p:spTree>
    <p:extLst>
      <p:ext uri="{BB962C8B-B14F-4D97-AF65-F5344CB8AC3E}">
        <p14:creationId xmlns:p14="http://schemas.microsoft.com/office/powerpoint/2010/main" val="357924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500"/>
                                        <p:tgtEl>
                                          <p:spTgt spid="83"/>
                                        </p:tgtEl>
                                      </p:cBhvr>
                                    </p:animEffect>
                                  </p:childTnLst>
                                </p:cTn>
                              </p:par>
                              <p:par>
                                <p:cTn id="8" presetID="10" presetClass="entr" presetSubtype="0" fill="hold"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 name="Group 21"/>
          <p:cNvGrpSpPr/>
          <p:nvPr/>
        </p:nvGrpSpPr>
        <p:grpSpPr>
          <a:xfrm>
            <a:off x="417671" y="1195216"/>
            <a:ext cx="899699" cy="4482124"/>
            <a:chOff x="426046" y="1218686"/>
            <a:chExt cx="917740" cy="4572000"/>
          </a:xfrm>
        </p:grpSpPr>
        <p:sp>
          <p:nvSpPr>
            <p:cNvPr id="24" name="Rectangle 23"/>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455"/>
            <p:cNvGrpSpPr>
              <a:grpSpLocks/>
            </p:cNvGrpSpPr>
            <p:nvPr/>
          </p:nvGrpSpPr>
          <p:grpSpPr bwMode="auto">
            <a:xfrm>
              <a:off x="657986" y="2361686"/>
              <a:ext cx="457200" cy="457200"/>
              <a:chOff x="-3781305" y="3065460"/>
              <a:chExt cx="1777999" cy="1777999"/>
            </a:xfrm>
          </p:grpSpPr>
          <p:sp>
            <p:nvSpPr>
              <p:cNvPr id="5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30474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34"/>
            <p:cNvGrpSpPr>
              <a:grpSpLocks/>
            </p:cNvGrpSpPr>
            <p:nvPr/>
          </p:nvGrpSpPr>
          <p:grpSpPr bwMode="auto">
            <a:xfrm>
              <a:off x="657986" y="3276086"/>
              <a:ext cx="457200" cy="457200"/>
              <a:chOff x="-3781305" y="3065460"/>
              <a:chExt cx="1777999" cy="1777999"/>
            </a:xfrm>
          </p:grpSpPr>
          <p:sp>
            <p:nvSpPr>
              <p:cNvPr id="5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2" name="Rectangle 31"/>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3" name="Group 39"/>
            <p:cNvGrpSpPr>
              <a:grpSpLocks/>
            </p:cNvGrpSpPr>
            <p:nvPr/>
          </p:nvGrpSpPr>
          <p:grpSpPr bwMode="auto">
            <a:xfrm>
              <a:off x="657986" y="41904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4" name="Rectangle 33"/>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5" name="Group 44"/>
            <p:cNvGrpSpPr>
              <a:grpSpLocks/>
            </p:cNvGrpSpPr>
            <p:nvPr/>
          </p:nvGrpSpPr>
          <p:grpSpPr bwMode="auto">
            <a:xfrm>
              <a:off x="657986" y="51048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1" name="Rectangle 40"/>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2" name="Group 44"/>
            <p:cNvGrpSpPr>
              <a:grpSpLocks/>
            </p:cNvGrpSpPr>
            <p:nvPr/>
          </p:nvGrpSpPr>
          <p:grpSpPr bwMode="auto">
            <a:xfrm>
              <a:off x="657986" y="14472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nvGrpSpPr>
          <p:cNvPr id="73" name="Group 72"/>
          <p:cNvGrpSpPr/>
          <p:nvPr/>
        </p:nvGrpSpPr>
        <p:grpSpPr>
          <a:xfrm>
            <a:off x="5117167" y="954969"/>
            <a:ext cx="6207420" cy="5588628"/>
            <a:chOff x="4979976" y="1371830"/>
            <a:chExt cx="7202655" cy="5335314"/>
          </a:xfrm>
        </p:grpSpPr>
        <p:grpSp>
          <p:nvGrpSpPr>
            <p:cNvPr id="74" name="Group 73"/>
            <p:cNvGrpSpPr/>
            <p:nvPr/>
          </p:nvGrpSpPr>
          <p:grpSpPr>
            <a:xfrm>
              <a:off x="4979976" y="1377364"/>
              <a:ext cx="7202655" cy="809795"/>
              <a:chOff x="4296161" y="1524075"/>
              <a:chExt cx="7291210" cy="747395"/>
            </a:xfrm>
          </p:grpSpPr>
          <p:sp>
            <p:nvSpPr>
              <p:cNvPr id="76"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7" name="Rectangle 76"/>
              <p:cNvSpPr/>
              <p:nvPr/>
            </p:nvSpPr>
            <p:spPr bwMode="auto">
              <a:xfrm>
                <a:off x="4296161" y="1524075"/>
                <a:ext cx="7291210" cy="747395"/>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Data Analytics</a:t>
                </a:r>
                <a:endParaRPr kumimoji="0" lang="en-US" sz="3600" b="1"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75" name="Rectangle 74"/>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63" name="Right Brace 62"/>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4" name="TextBox 83"/>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5" name="TextBox 84"/>
          <p:cNvSpPr txBox="1"/>
          <p:nvPr/>
        </p:nvSpPr>
        <p:spPr>
          <a:xfrm>
            <a:off x="1423037" y="2035461"/>
            <a:ext cx="3069608" cy="926755"/>
          </a:xfrm>
          <a:prstGeom prst="rect">
            <a:avLst/>
          </a:prstGeom>
          <a:noFill/>
        </p:spPr>
        <p:txBody>
          <a:bodyPr wrap="square" tIns="143428" rIns="179285" bIns="143428" anchor="ctr">
            <a:spAutoFit/>
          </a:bodyPr>
          <a:lstStyle/>
          <a:p>
            <a:pPr lvl="0" defTabSz="914314">
              <a:lnSpc>
                <a:spcPct val="90000"/>
              </a:lnSpc>
              <a:spcAft>
                <a:spcPts val="1176"/>
              </a:spcAft>
              <a:defRPr/>
            </a:pPr>
            <a:r>
              <a:rPr lang="en-GB" sz="2300" dirty="0">
                <a:solidFill>
                  <a:srgbClr val="D2D2D2">
                    <a:lumMod val="50000"/>
                  </a:srgbClr>
                </a:solidFill>
                <a:latin typeface="Segoe UI"/>
              </a:rPr>
              <a:t>Data Integration and Modelling</a:t>
            </a:r>
            <a:endParaRPr lang="en-US" sz="2300" dirty="0">
              <a:solidFill>
                <a:srgbClr val="D2D2D2">
                  <a:lumMod val="50000"/>
                </a:srgbClr>
              </a:solidFill>
              <a:latin typeface="Segoe UI Light"/>
              <a:cs typeface="Segoe UI"/>
            </a:endParaRPr>
          </a:p>
        </p:txBody>
      </p:sp>
      <p:sp>
        <p:nvSpPr>
          <p:cNvPr id="86" name="TextBox 85"/>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43" name="Picture 42"/>
          <p:cNvPicPr>
            <a:picLocks noChangeAspect="1"/>
          </p:cNvPicPr>
          <p:nvPr/>
        </p:nvPicPr>
        <p:blipFill>
          <a:blip r:embed="rId3"/>
          <a:stretch>
            <a:fillRect/>
          </a:stretch>
        </p:blipFill>
        <p:spPr>
          <a:xfrm>
            <a:off x="5148642" y="1835926"/>
            <a:ext cx="6144469" cy="4716643"/>
          </a:xfrm>
          <a:prstGeom prst="rect">
            <a:avLst/>
          </a:prstGeom>
        </p:spPr>
      </p:pic>
      <p:sp>
        <p:nvSpPr>
          <p:cNvPr id="40" name="Title 1"/>
          <p:cNvSpPr>
            <a:spLocks noGrp="1"/>
          </p:cNvSpPr>
          <p:nvPr>
            <p:ph type="title"/>
          </p:nvPr>
        </p:nvSpPr>
        <p:spPr>
          <a:xfrm>
            <a:off x="417671" y="239463"/>
            <a:ext cx="10515600" cy="1325563"/>
          </a:xfrm>
        </p:spPr>
        <p:txBody>
          <a:bodyPr anchor="t"/>
          <a:lstStyle/>
          <a:p>
            <a:pPr lvl="0"/>
            <a:r>
              <a:rPr lang="en-US" sz="4313" dirty="0"/>
              <a:t>Module Content</a:t>
            </a:r>
          </a:p>
        </p:txBody>
      </p:sp>
    </p:spTree>
    <p:extLst>
      <p:ext uri="{BB962C8B-B14F-4D97-AF65-F5344CB8AC3E}">
        <p14:creationId xmlns:p14="http://schemas.microsoft.com/office/powerpoint/2010/main" val="163732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par>
                                <p:cTn id="8" presetID="10" presetClass="entr" presetSubtype="0" fill="hold"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17"/>
          <p:cNvGrpSpPr/>
          <p:nvPr/>
        </p:nvGrpSpPr>
        <p:grpSpPr>
          <a:xfrm>
            <a:off x="417671" y="1195216"/>
            <a:ext cx="899699" cy="4482124"/>
            <a:chOff x="426046" y="1218686"/>
            <a:chExt cx="917740" cy="4572000"/>
          </a:xfrm>
        </p:grpSpPr>
        <p:sp>
          <p:nvSpPr>
            <p:cNvPr id="19" name="Rectangle 18"/>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0" name="Group 455"/>
            <p:cNvGrpSpPr>
              <a:grpSpLocks/>
            </p:cNvGrpSpPr>
            <p:nvPr/>
          </p:nvGrpSpPr>
          <p:grpSpPr bwMode="auto">
            <a:xfrm>
              <a:off x="657986" y="23616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4"/>
            <p:cNvGrpSpPr>
              <a:grpSpLocks/>
            </p:cNvGrpSpPr>
            <p:nvPr/>
          </p:nvGrpSpPr>
          <p:grpSpPr bwMode="auto">
            <a:xfrm>
              <a:off x="657986" y="32760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4" name="Rectangle 23"/>
            <p:cNvSpPr/>
            <p:nvPr/>
          </p:nvSpPr>
          <p:spPr>
            <a:xfrm>
              <a:off x="429386" y="39618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39"/>
            <p:cNvGrpSpPr>
              <a:grpSpLocks/>
            </p:cNvGrpSpPr>
            <p:nvPr/>
          </p:nvGrpSpPr>
          <p:grpSpPr bwMode="auto">
            <a:xfrm>
              <a:off x="657986" y="41904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44"/>
            <p:cNvGrpSpPr>
              <a:grpSpLocks/>
            </p:cNvGrpSpPr>
            <p:nvPr/>
          </p:nvGrpSpPr>
          <p:grpSpPr bwMode="auto">
            <a:xfrm>
              <a:off x="657986" y="5104886"/>
              <a:ext cx="457200" cy="457200"/>
              <a:chOff x="-3781305" y="3065460"/>
              <a:chExt cx="1777999" cy="1777999"/>
            </a:xfrm>
          </p:grpSpPr>
          <p:sp>
            <p:nvSpPr>
              <p:cNvPr id="4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6" name="Rectangle 35"/>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7" name="Group 44"/>
            <p:cNvGrpSpPr>
              <a:grpSpLocks/>
            </p:cNvGrpSpPr>
            <p:nvPr/>
          </p:nvGrpSpPr>
          <p:grpSpPr bwMode="auto">
            <a:xfrm>
              <a:off x="657986" y="1447286"/>
              <a:ext cx="457200" cy="457200"/>
              <a:chOff x="-3781305" y="3065460"/>
              <a:chExt cx="1777999" cy="1777999"/>
            </a:xfrm>
          </p:grpSpPr>
          <p:sp>
            <p:nvSpPr>
              <p:cNvPr id="4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61" name="Right Brace 60"/>
          <p:cNvSpPr/>
          <p:nvPr/>
        </p:nvSpPr>
        <p:spPr>
          <a:xfrm>
            <a:off x="4129450" y="1355271"/>
            <a:ext cx="429283" cy="4322070"/>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nvGrpSpPr>
          <p:cNvPr id="68" name="Group 67"/>
          <p:cNvGrpSpPr/>
          <p:nvPr/>
        </p:nvGrpSpPr>
        <p:grpSpPr>
          <a:xfrm>
            <a:off x="4763101" y="1000128"/>
            <a:ext cx="7219671" cy="4892758"/>
            <a:chOff x="4979976" y="1371830"/>
            <a:chExt cx="7202655" cy="5335314"/>
          </a:xfrm>
        </p:grpSpPr>
        <p:grpSp>
          <p:nvGrpSpPr>
            <p:cNvPr id="69" name="Group 68"/>
            <p:cNvGrpSpPr/>
            <p:nvPr/>
          </p:nvGrpSpPr>
          <p:grpSpPr>
            <a:xfrm>
              <a:off x="4979976" y="1377364"/>
              <a:ext cx="7202655" cy="936197"/>
              <a:chOff x="4296161" y="1524076"/>
              <a:chExt cx="7291210" cy="864057"/>
            </a:xfrm>
          </p:grpSpPr>
          <p:sp>
            <p:nvSpPr>
              <p:cNvPr id="71"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2" name="Rectangle 71"/>
              <p:cNvSpPr/>
              <p:nvPr/>
            </p:nvSpPr>
            <p:spPr bwMode="auto">
              <a:xfrm>
                <a:off x="4296161" y="1524076"/>
                <a:ext cx="7291210" cy="864057"/>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Design a report</a:t>
                </a:r>
                <a:endParaRPr kumimoji="0" lang="en-US" sz="3600" b="0"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70" name="Rectangle 69"/>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9" name="TextBox 78"/>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0" name="TextBox 79"/>
          <p:cNvSpPr txBox="1"/>
          <p:nvPr/>
        </p:nvSpPr>
        <p:spPr>
          <a:xfrm>
            <a:off x="1423037" y="2035461"/>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Integration and Modelling</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1" name="TextBox 80"/>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2" name="TextBox 81"/>
          <p:cNvSpPr txBox="1"/>
          <p:nvPr/>
        </p:nvSpPr>
        <p:spPr>
          <a:xfrm>
            <a:off x="1401369" y="4046790"/>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Design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39" name="Picture 2" descr="You Want Great BI">
            <a:extLst>
              <a:ext uri="{FF2B5EF4-FFF2-40B4-BE49-F238E27FC236}">
                <a16:creationId xmlns:a16="http://schemas.microsoft.com/office/drawing/2014/main" id="{F9D7A64B-0898-42DD-A1F7-384CB5EA1F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7124" y="1730581"/>
            <a:ext cx="7171623" cy="4080166"/>
          </a:xfrm>
          <a:prstGeom prst="rect">
            <a:avLst/>
          </a:prstGeom>
          <a:noFill/>
          <a:extLst>
            <a:ext uri="{909E8E84-426E-40DD-AFC4-6F175D3DCCD1}">
              <a14:hiddenFill xmlns:a14="http://schemas.microsoft.com/office/drawing/2010/main">
                <a:solidFill>
                  <a:srgbClr val="FFFFFF"/>
                </a:solidFill>
              </a14:hiddenFill>
            </a:ext>
          </a:extLst>
        </p:spPr>
      </p:pic>
      <p:sp>
        <p:nvSpPr>
          <p:cNvPr id="40" name="Title 1"/>
          <p:cNvSpPr txBox="1">
            <a:spLocks/>
          </p:cNvSpPr>
          <p:nvPr/>
        </p:nvSpPr>
        <p:spPr>
          <a:xfrm>
            <a:off x="417671" y="239463"/>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13"/>
              <a:t>Module Content</a:t>
            </a:r>
            <a:endParaRPr lang="en-US" sz="4313" dirty="0"/>
          </a:p>
        </p:txBody>
      </p:sp>
    </p:spTree>
    <p:extLst>
      <p:ext uri="{BB962C8B-B14F-4D97-AF65-F5344CB8AC3E}">
        <p14:creationId xmlns:p14="http://schemas.microsoft.com/office/powerpoint/2010/main" val="239754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 name="Freeform 8"/>
          <p:cNvSpPr>
            <a:spLocks noEditPoints="1"/>
          </p:cNvSpPr>
          <p:nvPr/>
        </p:nvSpPr>
        <p:spPr bwMode="black">
          <a:xfrm>
            <a:off x="6847467" y="1554360"/>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grpSp>
        <p:nvGrpSpPr>
          <p:cNvPr id="17" name="Group 16"/>
          <p:cNvGrpSpPr/>
          <p:nvPr/>
        </p:nvGrpSpPr>
        <p:grpSpPr>
          <a:xfrm>
            <a:off x="417671" y="1195216"/>
            <a:ext cx="899699" cy="4482124"/>
            <a:chOff x="426046" y="1218686"/>
            <a:chExt cx="917740" cy="4572000"/>
          </a:xfrm>
        </p:grpSpPr>
        <p:sp>
          <p:nvSpPr>
            <p:cNvPr id="18" name="Rectangle 17"/>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4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4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44"/>
            <p:cNvGrpSpPr>
              <a:grpSpLocks/>
            </p:cNvGrpSpPr>
            <p:nvPr/>
          </p:nvGrpSpPr>
          <p:grpSpPr bwMode="auto">
            <a:xfrm>
              <a:off x="657986" y="1447286"/>
              <a:ext cx="457200" cy="457200"/>
              <a:chOff x="-3781305" y="3065460"/>
              <a:chExt cx="1777999" cy="1777999"/>
            </a:xfrm>
          </p:grpSpPr>
          <p:sp>
            <p:nvSpPr>
              <p:cNvPr id="4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59" name="Right Brace 58"/>
          <p:cNvSpPr/>
          <p:nvPr/>
        </p:nvSpPr>
        <p:spPr>
          <a:xfrm>
            <a:off x="4129450" y="1574877"/>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nvGrpSpPr>
          <p:cNvPr id="67" name="Group 66"/>
          <p:cNvGrpSpPr/>
          <p:nvPr/>
        </p:nvGrpSpPr>
        <p:grpSpPr>
          <a:xfrm>
            <a:off x="4776884" y="666045"/>
            <a:ext cx="7219671" cy="5538100"/>
            <a:chOff x="4979976" y="1371830"/>
            <a:chExt cx="7202655" cy="5335314"/>
          </a:xfrm>
        </p:grpSpPr>
        <p:grpSp>
          <p:nvGrpSpPr>
            <p:cNvPr id="68" name="Group 67"/>
            <p:cNvGrpSpPr/>
            <p:nvPr/>
          </p:nvGrpSpPr>
          <p:grpSpPr>
            <a:xfrm>
              <a:off x="4979976" y="1377364"/>
              <a:ext cx="7202655" cy="927729"/>
              <a:chOff x="4296161" y="1524074"/>
              <a:chExt cx="7291210" cy="856241"/>
            </a:xfrm>
          </p:grpSpPr>
          <p:sp>
            <p:nvSpPr>
              <p:cNvPr id="70"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1" name="Rectangle 70"/>
              <p:cNvSpPr/>
              <p:nvPr/>
            </p:nvSpPr>
            <p:spPr bwMode="auto">
              <a:xfrm>
                <a:off x="4296161" y="1524074"/>
                <a:ext cx="7291210" cy="856241"/>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Publish report</a:t>
                </a:r>
              </a:p>
            </p:txBody>
          </p:sp>
        </p:grpSp>
        <p:sp>
          <p:nvSpPr>
            <p:cNvPr id="69" name="Rectangle 68"/>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61" name="TextBox 60"/>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63" name="TextBox 62"/>
          <p:cNvSpPr txBox="1"/>
          <p:nvPr/>
        </p:nvSpPr>
        <p:spPr>
          <a:xfrm>
            <a:off x="1423037" y="2035461"/>
            <a:ext cx="3069608" cy="926755"/>
          </a:xfrm>
          <a:prstGeom prst="rect">
            <a:avLst/>
          </a:prstGeom>
          <a:noFill/>
        </p:spPr>
        <p:txBody>
          <a:bodyPr wrap="square" tIns="143428" rIns="179285" bIns="143428" anchor="ctr">
            <a:spAutoFit/>
          </a:bodyPr>
          <a:lstStyle/>
          <a:p>
            <a:pPr lvl="0" defTabSz="914314">
              <a:lnSpc>
                <a:spcPct val="90000"/>
              </a:lnSpc>
              <a:spcAft>
                <a:spcPts val="1176"/>
              </a:spcAft>
              <a:defRPr/>
            </a:pPr>
            <a:r>
              <a:rPr lang="en-GB" sz="2300" dirty="0">
                <a:solidFill>
                  <a:srgbClr val="D2D2D2">
                    <a:lumMod val="50000"/>
                  </a:srgbClr>
                </a:solidFill>
                <a:latin typeface="Segoe UI"/>
              </a:rPr>
              <a:t>Data Integration and Modelling</a:t>
            </a:r>
            <a:endParaRPr lang="en-US" sz="2300" dirty="0">
              <a:solidFill>
                <a:srgbClr val="D2D2D2">
                  <a:lumMod val="50000"/>
                </a:srgbClr>
              </a:solidFill>
              <a:latin typeface="Segoe UI Light"/>
              <a:cs typeface="Segoe UI"/>
            </a:endParaRPr>
          </a:p>
        </p:txBody>
      </p:sp>
      <p:sp>
        <p:nvSpPr>
          <p:cNvPr id="65" name="TextBox 64"/>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78" name="TextBox 77"/>
          <p:cNvSpPr txBox="1"/>
          <p:nvPr/>
        </p:nvSpPr>
        <p:spPr>
          <a:xfrm>
            <a:off x="1401369" y="4046790"/>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Design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79" name="TextBox 78"/>
          <p:cNvSpPr txBox="1"/>
          <p:nvPr/>
        </p:nvSpPr>
        <p:spPr>
          <a:xfrm>
            <a:off x="1443984" y="5005021"/>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Publish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41" name="Picture 40"/>
          <p:cNvPicPr>
            <a:picLocks noChangeAspect="1"/>
          </p:cNvPicPr>
          <p:nvPr/>
        </p:nvPicPr>
        <p:blipFill rotWithShape="1">
          <a:blip r:embed="rId3" cstate="screen">
            <a:extLst>
              <a:ext uri="{28A0092B-C50C-407E-A947-70E740481C1C}">
                <a14:useLocalDpi xmlns:a14="http://schemas.microsoft.com/office/drawing/2010/main"/>
              </a:ext>
            </a:extLst>
          </a:blip>
          <a:srcRect r="12557"/>
          <a:stretch/>
        </p:blipFill>
        <p:spPr>
          <a:xfrm>
            <a:off x="4798723" y="1634778"/>
            <a:ext cx="7156529" cy="4544099"/>
          </a:xfrm>
          <a:prstGeom prst="rect">
            <a:avLst/>
          </a:prstGeom>
        </p:spPr>
      </p:pic>
      <p:sp>
        <p:nvSpPr>
          <p:cNvPr id="54" name="Title 1"/>
          <p:cNvSpPr>
            <a:spLocks noGrp="1"/>
          </p:cNvSpPr>
          <p:nvPr>
            <p:ph type="title"/>
          </p:nvPr>
        </p:nvSpPr>
        <p:spPr>
          <a:xfrm>
            <a:off x="417671" y="239463"/>
            <a:ext cx="10515600" cy="1325563"/>
          </a:xfrm>
        </p:spPr>
        <p:txBody>
          <a:bodyPr anchor="t"/>
          <a:lstStyle/>
          <a:p>
            <a:pPr lvl="0"/>
            <a:r>
              <a:rPr lang="en-US" sz="4313" dirty="0"/>
              <a:t>Module Content</a:t>
            </a:r>
          </a:p>
        </p:txBody>
      </p:sp>
    </p:spTree>
    <p:extLst>
      <p:ext uri="{BB962C8B-B14F-4D97-AF65-F5344CB8AC3E}">
        <p14:creationId xmlns:p14="http://schemas.microsoft.com/office/powerpoint/2010/main" val="71447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 Indicative Content</a:t>
            </a:r>
          </a:p>
        </p:txBody>
      </p:sp>
      <p:sp>
        <p:nvSpPr>
          <p:cNvPr id="3" name="Content Placeholder 2"/>
          <p:cNvSpPr>
            <a:spLocks noGrp="1"/>
          </p:cNvSpPr>
          <p:nvPr>
            <p:ph idx="1"/>
          </p:nvPr>
        </p:nvSpPr>
        <p:spPr>
          <a:xfrm>
            <a:off x="231757" y="1690688"/>
            <a:ext cx="5421284" cy="4351338"/>
          </a:xfrm>
        </p:spPr>
        <p:txBody>
          <a:bodyPr>
            <a:normAutofit/>
          </a:bodyPr>
          <a:lstStyle/>
          <a:p>
            <a:pPr marL="0" lvl="0" indent="0">
              <a:buNone/>
            </a:pPr>
            <a:r>
              <a:rPr lang="en-GB" sz="1800" b="1" dirty="0">
                <a:latin typeface="Calibri" panose="020F0502020204030204" pitchFamily="34" charset="0"/>
                <a:cs typeface="Calibri" panose="020F0502020204030204" pitchFamily="34" charset="0"/>
              </a:rPr>
              <a:t>Business Intelligence modelling techniques.</a:t>
            </a:r>
            <a:r>
              <a:rPr lang="en-GB" sz="1800" dirty="0">
                <a:latin typeface="Calibri" panose="020F0502020204030204" pitchFamily="34" charset="0"/>
                <a:cs typeface="Calibri" panose="020F0502020204030204" pitchFamily="34" charset="0"/>
              </a:rPr>
              <a:t> </a:t>
            </a:r>
          </a:p>
          <a:p>
            <a:pPr lvl="1"/>
            <a:r>
              <a:rPr lang="en-GB" sz="1800" dirty="0">
                <a:latin typeface="Calibri" panose="020F0502020204030204" pitchFamily="34" charset="0"/>
                <a:cs typeface="Calibri" panose="020F0502020204030204" pitchFamily="34" charset="0"/>
              </a:rPr>
              <a:t>Strategies for breaking down complexity and mapping real world objects to physical data using Power BI. </a:t>
            </a:r>
          </a:p>
          <a:p>
            <a:pPr lvl="1"/>
            <a:r>
              <a:rPr lang="en-GB" sz="1800" dirty="0">
                <a:latin typeface="Calibri" panose="020F0502020204030204" pitchFamily="34" charset="0"/>
                <a:cs typeface="Calibri" panose="020F0502020204030204" pitchFamily="34" charset="0"/>
              </a:rPr>
              <a:t>Investigating the best strategies for developing a business intelligence solution.</a:t>
            </a:r>
          </a:p>
          <a:p>
            <a:pPr marL="0" lvl="0" indent="0">
              <a:buNone/>
            </a:pPr>
            <a:r>
              <a:rPr lang="en-GB" sz="1800" b="1" dirty="0">
                <a:latin typeface="Calibri" panose="020F0502020204030204" pitchFamily="34" charset="0"/>
                <a:cs typeface="Calibri" panose="020F0502020204030204" pitchFamily="34" charset="0"/>
              </a:rPr>
              <a:t>Integrating data</a:t>
            </a:r>
            <a:r>
              <a:rPr lang="en-GB" sz="1800" dirty="0">
                <a:latin typeface="Calibri" panose="020F0502020204030204" pitchFamily="34" charset="0"/>
                <a:cs typeface="Calibri" panose="020F0502020204030204" pitchFamily="34" charset="0"/>
              </a:rPr>
              <a:t>.</a:t>
            </a:r>
          </a:p>
          <a:p>
            <a:pPr lvl="1"/>
            <a:r>
              <a:rPr lang="en-GB" sz="1800" dirty="0">
                <a:latin typeface="Calibri" panose="020F0502020204030204" pitchFamily="34" charset="0"/>
                <a:cs typeface="Calibri" panose="020F0502020204030204" pitchFamily="34" charset="0"/>
              </a:rPr>
              <a:t>Connecting different data sources to merge, transform and analysing data in Power BI.</a:t>
            </a:r>
          </a:p>
          <a:p>
            <a:pPr lvl="1"/>
            <a:r>
              <a:rPr lang="en-GB" sz="1800" dirty="0">
                <a:latin typeface="Calibri" panose="020F0502020204030204" pitchFamily="34" charset="0"/>
                <a:cs typeface="Calibri" panose="020F0502020204030204" pitchFamily="34" charset="0"/>
              </a:rPr>
              <a:t>Examine how to extract, transform and load (ETL) data to support business intelligence solutions.</a:t>
            </a:r>
          </a:p>
          <a:p>
            <a:endParaRPr lang="en-GB" sz="1800" dirty="0">
              <a:latin typeface="Calibri" panose="020F0502020204030204" pitchFamily="34" charset="0"/>
              <a:cs typeface="Calibri" panose="020F0502020204030204" pitchFamily="34" charset="0"/>
            </a:endParaRPr>
          </a:p>
        </p:txBody>
      </p:sp>
      <p:sp>
        <p:nvSpPr>
          <p:cNvPr id="4" name="TextBox 3"/>
          <p:cNvSpPr txBox="1"/>
          <p:nvPr/>
        </p:nvSpPr>
        <p:spPr>
          <a:xfrm>
            <a:off x="5768452" y="1465700"/>
            <a:ext cx="6201295" cy="48013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Data Modelling and Analytics.</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Analysing real world scenarios to perform data analytics in Power BI.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Examine how data analysis tools can be used to create data models for business analytics and decision support.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Create calculated columns, measures, and Key Performance Indicators that help users analyse critical business metrics.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Design a report</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Build a Power BI dashboard using interactive visualizations and business intelligence capabilities with an interface simple enough for end-users to deploy their own reports and dashboards.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Publish report</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using Power BI Service.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Examining how data reporting is used to create, deploy, and manage mobile and paginated reports by utilising the range of ready-to-use tools and services provided in Power BI.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909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505347" cy="795461"/>
          </a:xfrm>
        </p:spPr>
        <p:txBody>
          <a:bodyPr/>
          <a:lstStyle/>
          <a:p>
            <a:r>
              <a:rPr lang="en-GB" dirty="0"/>
              <a:t>Schedule</a:t>
            </a:r>
          </a:p>
        </p:txBody>
      </p:sp>
      <p:sp>
        <p:nvSpPr>
          <p:cNvPr id="4" name="Footer Placeholder 3"/>
          <p:cNvSpPr>
            <a:spLocks noGrp="1"/>
          </p:cNvSpPr>
          <p:nvPr>
            <p:ph type="ftr" sz="quarter" idx="13"/>
          </p:nvPr>
        </p:nvSpPr>
        <p:spPr>
          <a:xfrm>
            <a:off x="383720" y="6515100"/>
            <a:ext cx="10654393"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School of Computing, Engineering &amp; Digital Technologies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EEBC-8848-48BC-9E86-2856C4334E59}" type="slidenum">
              <a:rPr kumimoji="0" lang="en-GB" sz="1100" b="0" i="0" u="none" strike="noStrike" kern="1200" cap="none" spc="0" normalizeH="0" baseline="0" noProof="0" smtClean="0">
                <a:ln>
                  <a:noFill/>
                </a:ln>
                <a:solidFill>
                  <a:srgbClr val="BFBFB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100" b="0" i="0" u="none" strike="noStrike" kern="1200" cap="none" spc="0" normalizeH="0" baseline="0" noProof="0" dirty="0">
              <a:ln>
                <a:noFill/>
              </a:ln>
              <a:solidFill>
                <a:srgbClr val="BFBFBF"/>
              </a:solidFill>
              <a:effectLst/>
              <a:uLnTx/>
              <a:uFillTx/>
              <a:latin typeface="Calibri" panose="020F0502020204030204"/>
              <a:ea typeface="+mn-ea"/>
              <a:cs typeface="+mn-cs"/>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37668133"/>
              </p:ext>
            </p:extLst>
          </p:nvPr>
        </p:nvGraphicFramePr>
        <p:xfrm>
          <a:off x="1355884" y="1308424"/>
          <a:ext cx="9823743" cy="4643476"/>
        </p:xfrm>
        <a:graphic>
          <a:graphicData uri="http://schemas.openxmlformats.org/drawingml/2006/table">
            <a:tbl>
              <a:tblPr firstRow="1" bandRow="1">
                <a:tableStyleId>{5C22544A-7EE6-4342-B048-85BDC9FD1C3A}</a:tableStyleId>
              </a:tblPr>
              <a:tblGrid>
                <a:gridCol w="1490769">
                  <a:extLst>
                    <a:ext uri="{9D8B030D-6E8A-4147-A177-3AD203B41FA5}">
                      <a16:colId xmlns:a16="http://schemas.microsoft.com/office/drawing/2014/main" val="2652734061"/>
                    </a:ext>
                  </a:extLst>
                </a:gridCol>
                <a:gridCol w="8332974">
                  <a:extLst>
                    <a:ext uri="{9D8B030D-6E8A-4147-A177-3AD203B41FA5}">
                      <a16:colId xmlns:a16="http://schemas.microsoft.com/office/drawing/2014/main" val="1559195533"/>
                    </a:ext>
                  </a:extLst>
                </a:gridCol>
              </a:tblGrid>
              <a:tr h="366684">
                <a:tc>
                  <a:txBody>
                    <a:bodyPr/>
                    <a:lstStyle/>
                    <a:p>
                      <a:pPr algn="ctr"/>
                      <a:r>
                        <a:rPr lang="en-GB" sz="1800" dirty="0"/>
                        <a:t>Week</a:t>
                      </a:r>
                    </a:p>
                  </a:txBody>
                  <a:tcPr/>
                </a:tc>
                <a:tc>
                  <a:txBody>
                    <a:bodyPr/>
                    <a:lstStyle/>
                    <a:p>
                      <a:r>
                        <a:rPr lang="en-GB" sz="1800" dirty="0"/>
                        <a:t>Lecture (1hour) – Lab</a:t>
                      </a:r>
                      <a:r>
                        <a:rPr lang="en-GB" sz="1800" baseline="0" dirty="0"/>
                        <a:t> Session</a:t>
                      </a:r>
                      <a:r>
                        <a:rPr lang="en-GB" sz="1800" dirty="0"/>
                        <a:t> (2hours)</a:t>
                      </a:r>
                    </a:p>
                  </a:txBody>
                  <a:tcPr/>
                </a:tc>
                <a:extLst>
                  <a:ext uri="{0D108BD9-81ED-4DB2-BD59-A6C34878D82A}">
                    <a16:rowId xmlns:a16="http://schemas.microsoft.com/office/drawing/2014/main" val="194741665"/>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Calibri" panose="020F0502020204030204" pitchFamily="34" charset="0"/>
                        </a:rPr>
                        <a:t>Week 1</a:t>
                      </a:r>
                      <a:endParaRPr lang="en-GB"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37465">
                        <a:lnSpc>
                          <a:spcPct val="115000"/>
                        </a:lnSpc>
                        <a:spcBef>
                          <a:spcPts val="265"/>
                        </a:spcBef>
                        <a:spcAft>
                          <a:spcPts val="0"/>
                        </a:spcAft>
                      </a:pPr>
                      <a:r>
                        <a:rPr lang="en-US" sz="1600" spc="5" baseline="0" dirty="0">
                          <a:latin typeface="+mn-lt"/>
                          <a:ea typeface="Calibri"/>
                          <a:cs typeface="Times New Roman"/>
                        </a:rPr>
                        <a:t> Introduction to Power BI and ICA Briefing</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163397615"/>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Calibri" panose="020F0502020204030204" pitchFamily="34" charset="0"/>
                        </a:rPr>
                        <a:t>Week 2</a:t>
                      </a:r>
                      <a:endParaRPr lang="en-GB"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37465">
                        <a:lnSpc>
                          <a:spcPct val="115000"/>
                        </a:lnSpc>
                        <a:spcBef>
                          <a:spcPts val="265"/>
                        </a:spcBef>
                        <a:spcAft>
                          <a:spcPts val="0"/>
                        </a:spcAft>
                        <a:tabLst>
                          <a:tab pos="1095375" algn="l"/>
                        </a:tabLst>
                      </a:pPr>
                      <a:r>
                        <a:rPr lang="en-US" sz="1600" dirty="0">
                          <a:latin typeface="+mn-lt"/>
                          <a:ea typeface="Times New Roman"/>
                          <a:cs typeface="Times New Roman"/>
                        </a:rPr>
                        <a:t> Introduction to Business Intelligence and Big Data</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1914547717"/>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Calibri" panose="020F0502020204030204" pitchFamily="34" charset="0"/>
                        </a:rPr>
                        <a:t>Week 3</a:t>
                      </a:r>
                      <a:endParaRPr lang="en-GB"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37465">
                        <a:lnSpc>
                          <a:spcPct val="115000"/>
                        </a:lnSpc>
                        <a:spcBef>
                          <a:spcPts val="265"/>
                        </a:spcBef>
                        <a:spcAft>
                          <a:spcPts val="0"/>
                        </a:spcAft>
                      </a:pPr>
                      <a:r>
                        <a:rPr lang="en-US" sz="1600" dirty="0">
                          <a:latin typeface="+mn-lt"/>
                          <a:ea typeface="Times New Roman"/>
                          <a:cs typeface="Times New Roman"/>
                        </a:rPr>
                        <a:t> Data Modelling and Relationships in Power BI</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1123543994"/>
                  </a:ext>
                </a:extLst>
              </a:tr>
              <a:tr h="328984">
                <a:tc>
                  <a:txBody>
                    <a:bodyPr/>
                    <a:lstStyle/>
                    <a:p>
                      <a:pPr marL="92075" algn="l">
                        <a:spcBef>
                          <a:spcPts val="935"/>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4</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R="290195">
                        <a:lnSpc>
                          <a:spcPct val="115000"/>
                        </a:lnSpc>
                        <a:spcBef>
                          <a:spcPts val="265"/>
                        </a:spcBef>
                        <a:spcAft>
                          <a:spcPts val="0"/>
                        </a:spcAft>
                      </a:pPr>
                      <a:r>
                        <a:rPr lang="en-US" sz="1600" dirty="0">
                          <a:latin typeface="+mn-lt"/>
                          <a:ea typeface="Times New Roman"/>
                          <a:cs typeface="Times New Roman"/>
                        </a:rPr>
                        <a:t>  Data</a:t>
                      </a:r>
                      <a:r>
                        <a:rPr lang="en-US" sz="1600" baseline="0" dirty="0">
                          <a:latin typeface="+mn-lt"/>
                          <a:ea typeface="Times New Roman"/>
                          <a:cs typeface="Times New Roman"/>
                        </a:rPr>
                        <a:t> Analytics and Big Data</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1223473748"/>
                  </a:ext>
                </a:extLst>
              </a:tr>
              <a:tr h="328984">
                <a:tc>
                  <a:txBody>
                    <a:bodyPr/>
                    <a:lstStyle/>
                    <a:p>
                      <a:pPr marL="92075" algn="l">
                        <a:spcBef>
                          <a:spcPts val="935"/>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5</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R="290195">
                        <a:lnSpc>
                          <a:spcPct val="115000"/>
                        </a:lnSpc>
                        <a:spcBef>
                          <a:spcPts val="265"/>
                        </a:spcBef>
                        <a:spcAft>
                          <a:spcPts val="0"/>
                        </a:spcAft>
                      </a:pPr>
                      <a:r>
                        <a:rPr lang="en-US" sz="1600" dirty="0">
                          <a:latin typeface="+mn-lt"/>
                          <a:ea typeface="Times New Roman"/>
                          <a:cs typeface="Times New Roman"/>
                        </a:rPr>
                        <a:t>  Business Intelligence Solutions using DAX expressions</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3082960362"/>
                  </a:ext>
                </a:extLst>
              </a:tr>
              <a:tr h="328984">
                <a:tc>
                  <a:txBody>
                    <a:bodyPr/>
                    <a:lstStyle/>
                    <a:p>
                      <a:pPr marL="92075" algn="l">
                        <a:spcBef>
                          <a:spcPts val="915"/>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6</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R="290195">
                        <a:lnSpc>
                          <a:spcPct val="115000"/>
                        </a:lnSpc>
                        <a:spcBef>
                          <a:spcPts val="265"/>
                        </a:spcBef>
                        <a:spcAft>
                          <a:spcPts val="0"/>
                        </a:spcAft>
                      </a:pPr>
                      <a:r>
                        <a:rPr lang="en-US" sz="1600" spc="10" baseline="0" dirty="0">
                          <a:latin typeface="+mn-lt"/>
                          <a:ea typeface="Times New Roman"/>
                          <a:cs typeface="Times New Roman"/>
                        </a:rPr>
                        <a:t>  </a:t>
                      </a:r>
                      <a:r>
                        <a:rPr lang="en-US" sz="1600" spc="10" dirty="0">
                          <a:latin typeface="+mn-lt"/>
                          <a:ea typeface="Times New Roman"/>
                          <a:cs typeface="Times New Roman"/>
                        </a:rPr>
                        <a:t>M-Language formula and</a:t>
                      </a:r>
                      <a:r>
                        <a:rPr lang="en-US" sz="1600" spc="10" baseline="0" dirty="0">
                          <a:latin typeface="+mn-lt"/>
                          <a:ea typeface="Times New Roman"/>
                          <a:cs typeface="Times New Roman"/>
                        </a:rPr>
                        <a:t> data analytics</a:t>
                      </a:r>
                      <a:r>
                        <a:rPr lang="en-US" sz="1600" spc="10" dirty="0">
                          <a:solidFill>
                            <a:srgbClr val="FF0000"/>
                          </a:solidFill>
                          <a:latin typeface="+mn-lt"/>
                          <a:ea typeface="Times New Roman"/>
                          <a:cs typeface="Times New Roman"/>
                        </a:rPr>
                        <a:t>		</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2045025952"/>
                  </a:ext>
                </a:extLst>
              </a:tr>
              <a:tr h="328984">
                <a:tc>
                  <a:txBody>
                    <a:bodyPr/>
                    <a:lstStyle/>
                    <a:p>
                      <a:pPr marL="92075" algn="l">
                        <a:spcBef>
                          <a:spcPts val="935"/>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7</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R="290195">
                        <a:lnSpc>
                          <a:spcPct val="115000"/>
                        </a:lnSpc>
                        <a:spcBef>
                          <a:spcPts val="265"/>
                        </a:spcBef>
                        <a:spcAft>
                          <a:spcPts val="0"/>
                        </a:spcAft>
                      </a:pPr>
                      <a:r>
                        <a:rPr lang="en-US" sz="1600" spc="10" dirty="0">
                          <a:latin typeface="+mn-lt"/>
                          <a:ea typeface="Times New Roman"/>
                          <a:cs typeface="Times New Roman"/>
                        </a:rPr>
                        <a:t>  Creating</a:t>
                      </a:r>
                      <a:r>
                        <a:rPr lang="en-US" sz="1600" spc="10" baseline="0" dirty="0">
                          <a:latin typeface="+mn-lt"/>
                          <a:ea typeface="Times New Roman"/>
                          <a:cs typeface="Times New Roman"/>
                        </a:rPr>
                        <a:t> a Business Report</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4125385033"/>
                  </a:ext>
                </a:extLst>
              </a:tr>
              <a:tr h="328984">
                <a:tc>
                  <a:txBody>
                    <a:bodyPr/>
                    <a:lstStyle/>
                    <a:p>
                      <a:pPr marL="92075" algn="l">
                        <a:spcBef>
                          <a:spcPts val="935"/>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8</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R="290195">
                        <a:lnSpc>
                          <a:spcPct val="115000"/>
                        </a:lnSpc>
                        <a:spcBef>
                          <a:spcPts val="265"/>
                        </a:spcBef>
                        <a:spcAft>
                          <a:spcPts val="0"/>
                        </a:spcAft>
                      </a:pPr>
                      <a:r>
                        <a:rPr lang="en-US" sz="1600" spc="-10" dirty="0">
                          <a:latin typeface="+mn-lt"/>
                          <a:ea typeface="Times New Roman"/>
                          <a:cs typeface="Times New Roman"/>
                        </a:rPr>
                        <a:t>  Using Infographics</a:t>
                      </a:r>
                      <a:r>
                        <a:rPr lang="en-US" sz="1600" spc="-10" baseline="0" dirty="0">
                          <a:latin typeface="+mn-lt"/>
                          <a:ea typeface="Times New Roman"/>
                          <a:cs typeface="Times New Roman"/>
                        </a:rPr>
                        <a:t> and adding data analytics tools to a BI report</a:t>
                      </a:r>
                      <a:r>
                        <a:rPr lang="en-US" sz="1600" dirty="0">
                          <a:solidFill>
                            <a:srgbClr val="FF0000"/>
                          </a:solidFill>
                          <a:latin typeface="+mn-lt"/>
                          <a:ea typeface="Times New Roman"/>
                          <a:cs typeface="Times New Roman"/>
                        </a:rPr>
                        <a:t>	</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3125727888"/>
                  </a:ext>
                </a:extLst>
              </a:tr>
              <a:tr h="328984">
                <a:tc>
                  <a:txBody>
                    <a:bodyPr/>
                    <a:lstStyle/>
                    <a:p>
                      <a:pPr marL="92075" algn="l">
                        <a:spcBef>
                          <a:spcPts val="910"/>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9</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spc="-10" dirty="0">
                          <a:latin typeface="+mn-lt"/>
                          <a:ea typeface="Times New Roman"/>
                          <a:cs typeface="Times New Roman"/>
                        </a:rPr>
                        <a:t>  Animated Charts and KPI</a:t>
                      </a:r>
                      <a:r>
                        <a:rPr lang="en-US" sz="1600" spc="10" dirty="0">
                          <a:solidFill>
                            <a:srgbClr val="FF0000"/>
                          </a:solidFill>
                          <a:latin typeface="+mn-lt"/>
                          <a:ea typeface="Times New Roman"/>
                          <a:cs typeface="Times New Roman"/>
                        </a:rPr>
                        <a:t>		</a:t>
                      </a:r>
                      <a:endParaRPr lang="en-GB" sz="1600" dirty="0">
                        <a:latin typeface="+mn-lt"/>
                        <a:ea typeface="Calibri"/>
                        <a:cs typeface="Times New Roman"/>
                      </a:endParaRPr>
                    </a:p>
                  </a:txBody>
                  <a:tcPr marL="0" marR="0" marT="0" marB="0" anchor="ctr"/>
                </a:tc>
                <a:extLst>
                  <a:ext uri="{0D108BD9-81ED-4DB2-BD59-A6C34878D82A}">
                    <a16:rowId xmlns:a16="http://schemas.microsoft.com/office/drawing/2014/main" val="2512962871"/>
                  </a:ext>
                </a:extLst>
              </a:tr>
              <a:tr h="328984">
                <a:tc>
                  <a:txBody>
                    <a:bodyPr/>
                    <a:lstStyle/>
                    <a:p>
                      <a:pPr marL="92075" algn="l">
                        <a:spcBef>
                          <a:spcPts val="940"/>
                        </a:spcBef>
                        <a:spcAft>
                          <a:spcPts val="0"/>
                        </a:spcAft>
                      </a:pPr>
                      <a:r>
                        <a:rPr lang="en-GB" sz="1600" b="0">
                          <a:solidFill>
                            <a:schemeClr val="tx1"/>
                          </a:solidFill>
                          <a:effectLst/>
                          <a:latin typeface="+mn-lt"/>
                          <a:ea typeface="Calibri" panose="020F0502020204030204" pitchFamily="34" charset="0"/>
                          <a:cs typeface="Calibri" panose="020F0502020204030204" pitchFamily="34" charset="0"/>
                        </a:rPr>
                        <a:t>Week 10</a:t>
                      </a:r>
                      <a:endParaRPr lang="en-GB" sz="1600" b="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15000"/>
                        </a:lnSpc>
                        <a:spcAft>
                          <a:spcPts val="0"/>
                        </a:spcAft>
                      </a:pPr>
                      <a:r>
                        <a:rPr lang="en-US" sz="1600" kern="1200" spc="-10" dirty="0">
                          <a:solidFill>
                            <a:schemeClr val="tx1"/>
                          </a:solidFill>
                          <a:latin typeface="+mn-lt"/>
                          <a:ea typeface="Times New Roman"/>
                          <a:cs typeface="Times New Roman"/>
                        </a:rPr>
                        <a:t>  </a:t>
                      </a:r>
                      <a:r>
                        <a:rPr lang="en-US" sz="1600" spc="-10" dirty="0">
                          <a:latin typeface="+mn-lt"/>
                          <a:ea typeface="Times New Roman"/>
                          <a:cs typeface="Times New Roman"/>
                        </a:rPr>
                        <a:t>Publishing reports to Power BI Service</a:t>
                      </a:r>
                      <a:r>
                        <a:rPr lang="en-US" sz="1600" spc="10" dirty="0">
                          <a:solidFill>
                            <a:srgbClr val="FF0000"/>
                          </a:solidFill>
                          <a:latin typeface="+mn-lt"/>
                          <a:ea typeface="Times New Roman"/>
                          <a:cs typeface="Times New Roman"/>
                        </a:rPr>
                        <a:t>	</a:t>
                      </a:r>
                      <a:endParaRPr lang="en-GB" sz="1600" kern="1200" spc="-10" dirty="0">
                        <a:solidFill>
                          <a:schemeClr val="tx1"/>
                        </a:solidFill>
                        <a:latin typeface="+mn-lt"/>
                        <a:ea typeface="Times New Roman"/>
                        <a:cs typeface="Times New Roman"/>
                      </a:endParaRPr>
                    </a:p>
                  </a:txBody>
                  <a:tcPr marL="0" marR="0" marT="0" marB="0" anchor="ctr"/>
                </a:tc>
                <a:extLst>
                  <a:ext uri="{0D108BD9-81ED-4DB2-BD59-A6C34878D82A}">
                    <a16:rowId xmlns:a16="http://schemas.microsoft.com/office/drawing/2014/main" val="3144585932"/>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Calibri" panose="020F0502020204030204" pitchFamily="34" charset="0"/>
                        </a:rPr>
                        <a:t>Week 11</a:t>
                      </a:r>
                      <a:endParaRPr lang="en-GB"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250825" lvl="0" indent="0" algn="l" defTabSz="914400" rtl="0" eaLnBrk="1" fontAlgn="auto" latinLnBrk="0" hangingPunct="1">
                        <a:lnSpc>
                          <a:spcPct val="115000"/>
                        </a:lnSpc>
                        <a:spcBef>
                          <a:spcPts val="265"/>
                        </a:spcBef>
                        <a:spcAft>
                          <a:spcPts val="0"/>
                        </a:spcAft>
                        <a:buClrTx/>
                        <a:buSzTx/>
                        <a:buFontTx/>
                        <a:buNone/>
                        <a:tabLst/>
                        <a:defRPr/>
                      </a:pPr>
                      <a:r>
                        <a:rPr lang="en-US" sz="1600" kern="1200" spc="-10" dirty="0">
                          <a:solidFill>
                            <a:schemeClr val="tx1"/>
                          </a:solidFill>
                          <a:latin typeface="+mn-lt"/>
                          <a:ea typeface="Times New Roman"/>
                          <a:cs typeface="Times New Roman"/>
                        </a:rPr>
                        <a:t>  Artificial</a:t>
                      </a:r>
                      <a:r>
                        <a:rPr lang="en-US" sz="1600" kern="1200" spc="-10" baseline="0" dirty="0">
                          <a:solidFill>
                            <a:schemeClr val="tx1"/>
                          </a:solidFill>
                          <a:latin typeface="+mn-lt"/>
                          <a:ea typeface="Times New Roman"/>
                          <a:cs typeface="Times New Roman"/>
                        </a:rPr>
                        <a:t> Intelligence and Machine Learning Applications in Power BI</a:t>
                      </a:r>
                      <a:r>
                        <a:rPr lang="en-GB" sz="1600" kern="1200" spc="-10" baseline="0" dirty="0">
                          <a:solidFill>
                            <a:schemeClr val="tx1"/>
                          </a:solidFill>
                          <a:latin typeface="+mn-lt"/>
                          <a:ea typeface="Times New Roman"/>
                          <a:cs typeface="Times New Roman"/>
                        </a:rPr>
                        <a:t> and </a:t>
                      </a:r>
                      <a:r>
                        <a:rPr lang="en-US" sz="1600" kern="1200" spc="-10" dirty="0">
                          <a:solidFill>
                            <a:schemeClr val="tx1"/>
                          </a:solidFill>
                          <a:latin typeface="+mn-lt"/>
                          <a:ea typeface="Times New Roman"/>
                          <a:cs typeface="Times New Roman"/>
                        </a:rPr>
                        <a:t>ICA Support</a:t>
                      </a:r>
                      <a:endParaRPr lang="en-GB" sz="1600" kern="1200" spc="-10" dirty="0">
                        <a:solidFill>
                          <a:schemeClr val="tx1"/>
                        </a:solidFill>
                        <a:latin typeface="+mn-lt"/>
                        <a:ea typeface="Times New Roman"/>
                        <a:cs typeface="Times New Roman"/>
                      </a:endParaRPr>
                    </a:p>
                  </a:txBody>
                  <a:tcPr marL="0" marR="0" marT="0" marB="0" anchor="ctr"/>
                </a:tc>
                <a:extLst>
                  <a:ext uri="{0D108BD9-81ED-4DB2-BD59-A6C34878D82A}">
                    <a16:rowId xmlns:a16="http://schemas.microsoft.com/office/drawing/2014/main" val="3494134003"/>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Times New Roman" panose="02020603050405020304" pitchFamily="18" charset="0"/>
                        </a:rPr>
                        <a:t>Week 12</a:t>
                      </a:r>
                    </a:p>
                  </a:txBody>
                  <a:tcPr marL="68580" marR="68580" marT="0" marB="0" anchor="ctr"/>
                </a:tc>
                <a:tc>
                  <a:txBody>
                    <a:bodyPr/>
                    <a:lstStyle/>
                    <a:p>
                      <a:pPr marL="0" marR="250825" lvl="0" indent="0" algn="l" defTabSz="914400" rtl="0" eaLnBrk="1" fontAlgn="auto" latinLnBrk="0" hangingPunct="1">
                        <a:lnSpc>
                          <a:spcPct val="115000"/>
                        </a:lnSpc>
                        <a:spcBef>
                          <a:spcPts val="265"/>
                        </a:spcBef>
                        <a:spcAft>
                          <a:spcPts val="0"/>
                        </a:spcAft>
                        <a:buClrTx/>
                        <a:buSzTx/>
                        <a:buFontTx/>
                        <a:buNone/>
                        <a:tabLst/>
                        <a:defRPr/>
                      </a:pPr>
                      <a:r>
                        <a:rPr lang="en-GB" sz="1600" kern="1200" spc="-10" baseline="0" dirty="0">
                          <a:solidFill>
                            <a:schemeClr val="tx1"/>
                          </a:solidFill>
                          <a:latin typeface="+mn-lt"/>
                          <a:ea typeface="Times New Roman"/>
                          <a:cs typeface="Times New Roman"/>
                        </a:rPr>
                        <a:t>  ICA Support</a:t>
                      </a:r>
                      <a:endParaRPr lang="en-GB" sz="1600" kern="1200" spc="-10" dirty="0">
                        <a:solidFill>
                          <a:schemeClr val="tx1"/>
                        </a:solidFill>
                        <a:latin typeface="+mn-lt"/>
                        <a:ea typeface="Times New Roman"/>
                        <a:cs typeface="Times New Roman"/>
                      </a:endParaRPr>
                    </a:p>
                  </a:txBody>
                  <a:tcPr marL="0" marR="0" marT="0" marB="0" anchor="ctr"/>
                </a:tc>
                <a:extLst>
                  <a:ext uri="{0D108BD9-81ED-4DB2-BD59-A6C34878D82A}">
                    <a16:rowId xmlns:a16="http://schemas.microsoft.com/office/drawing/2014/main" val="1485360785"/>
                  </a:ext>
                </a:extLst>
              </a:tr>
              <a:tr h="328984">
                <a:tc>
                  <a:txBody>
                    <a:bodyPr/>
                    <a:lstStyle/>
                    <a:p>
                      <a:pPr marL="92075" algn="l">
                        <a:spcBef>
                          <a:spcPts val="935"/>
                        </a:spcBef>
                        <a:spcAft>
                          <a:spcPts val="0"/>
                        </a:spcAft>
                      </a:pPr>
                      <a:r>
                        <a:rPr lang="en-GB" sz="1600" b="0" dirty="0">
                          <a:solidFill>
                            <a:schemeClr val="tx1"/>
                          </a:solidFill>
                          <a:effectLst/>
                          <a:latin typeface="+mn-lt"/>
                          <a:ea typeface="Calibri" panose="020F0502020204030204" pitchFamily="34" charset="0"/>
                          <a:cs typeface="Calibri" panose="020F0502020204030204" pitchFamily="34" charset="0"/>
                        </a:rPr>
                        <a:t>Week 13</a:t>
                      </a:r>
                      <a:endParaRPr lang="en-GB" sz="1600" b="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37465">
                        <a:lnSpc>
                          <a:spcPct val="115000"/>
                        </a:lnSpc>
                        <a:spcBef>
                          <a:spcPts val="240"/>
                        </a:spcBef>
                        <a:spcAft>
                          <a:spcPts val="0"/>
                        </a:spcAft>
                      </a:pPr>
                      <a:r>
                        <a:rPr lang="en-US" sz="1600" spc="-10" dirty="0">
                          <a:latin typeface="+mn-lt"/>
                          <a:ea typeface="Times New Roman"/>
                          <a:cs typeface="Times New Roman"/>
                        </a:rPr>
                        <a:t>ICA Submission </a:t>
                      </a:r>
                      <a:r>
                        <a:rPr lang="en-GB" sz="1600" spc="-10" dirty="0">
                          <a:latin typeface="+mn-lt"/>
                          <a:ea typeface="Times New Roman"/>
                          <a:cs typeface="Times New Roman"/>
                        </a:rPr>
                        <a:t>– Check date on Blackboard</a:t>
                      </a:r>
                      <a:endParaRPr lang="en-GB" sz="1600" dirty="0">
                        <a:latin typeface="+mn-lt"/>
                        <a:ea typeface="Calibri"/>
                        <a:cs typeface="Times New Roman"/>
                      </a:endParaRPr>
                    </a:p>
                  </a:txBody>
                  <a:tcPr marL="68580" marR="68580" marT="0" marB="0" anchor="ctr"/>
                </a:tc>
                <a:extLst>
                  <a:ext uri="{0D108BD9-81ED-4DB2-BD59-A6C34878D82A}">
                    <a16:rowId xmlns:a16="http://schemas.microsoft.com/office/drawing/2014/main" val="886238426"/>
                  </a:ext>
                </a:extLst>
              </a:tr>
            </a:tbl>
          </a:graphicData>
        </a:graphic>
      </p:graphicFrame>
      <p:sp>
        <p:nvSpPr>
          <p:cNvPr id="10" name="TextBox 9"/>
          <p:cNvSpPr txBox="1"/>
          <p:nvPr/>
        </p:nvSpPr>
        <p:spPr>
          <a:xfrm>
            <a:off x="6327528" y="6464397"/>
            <a:ext cx="47105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Calibri" panose="020F0502020204030204"/>
                <a:ea typeface="+mn-ea"/>
                <a:cs typeface="+mn-cs"/>
              </a:rPr>
              <a:t>Note: The schedule may be adjusted based on class progress.</a:t>
            </a:r>
          </a:p>
        </p:txBody>
      </p:sp>
    </p:spTree>
    <p:extLst>
      <p:ext uri="{BB962C8B-B14F-4D97-AF65-F5344CB8AC3E}">
        <p14:creationId xmlns:p14="http://schemas.microsoft.com/office/powerpoint/2010/main" val="160245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370840" indent="-358140">
              <a:lnSpc>
                <a:spcPct val="100000"/>
              </a:lnSpc>
              <a:spcBef>
                <a:spcPts val="100"/>
              </a:spcBef>
              <a:buClr>
                <a:srgbClr val="000000"/>
              </a:buClr>
              <a:tabLst>
                <a:tab pos="370840" algn="l"/>
                <a:tab pos="371475" algn="l"/>
              </a:tabLst>
            </a:pPr>
            <a:r>
              <a:rPr lang="en-GB" dirty="0">
                <a:solidFill>
                  <a:srgbClr val="FF0000"/>
                </a:solidFill>
                <a:latin typeface="Arial"/>
                <a:cs typeface="Arial"/>
              </a:rPr>
              <a:t>Ask </a:t>
            </a:r>
            <a:r>
              <a:rPr lang="en-GB" spc="-5" dirty="0">
                <a:solidFill>
                  <a:srgbClr val="FF0000"/>
                </a:solidFill>
                <a:latin typeface="Arial"/>
                <a:cs typeface="Arial"/>
              </a:rPr>
              <a:t>questions </a:t>
            </a:r>
            <a:r>
              <a:rPr lang="en-GB" dirty="0">
                <a:latin typeface="Arial"/>
                <a:cs typeface="Arial"/>
              </a:rPr>
              <a:t>(feel free to </a:t>
            </a:r>
            <a:r>
              <a:rPr lang="en-GB" spc="-5" dirty="0">
                <a:latin typeface="Arial"/>
                <a:cs typeface="Arial"/>
              </a:rPr>
              <a:t>interrupt </a:t>
            </a:r>
            <a:r>
              <a:rPr lang="en-GB" dirty="0">
                <a:latin typeface="Arial"/>
                <a:cs typeface="Arial"/>
              </a:rPr>
              <a:t>me if </a:t>
            </a:r>
            <a:r>
              <a:rPr lang="en-GB" spc="-10" dirty="0">
                <a:latin typeface="Arial"/>
                <a:cs typeface="Arial"/>
              </a:rPr>
              <a:t>you </a:t>
            </a:r>
            <a:r>
              <a:rPr lang="en-GB" dirty="0">
                <a:latin typeface="Arial"/>
                <a:cs typeface="Arial"/>
              </a:rPr>
              <a:t>need </a:t>
            </a:r>
            <a:r>
              <a:rPr lang="en-GB" spc="-5" dirty="0">
                <a:latin typeface="Arial"/>
                <a:cs typeface="Arial"/>
              </a:rPr>
              <a:t>any</a:t>
            </a:r>
            <a:r>
              <a:rPr lang="en-GB" spc="-180" dirty="0">
                <a:latin typeface="Arial"/>
                <a:cs typeface="Arial"/>
              </a:rPr>
              <a:t> </a:t>
            </a:r>
            <a:r>
              <a:rPr lang="en-GB" dirty="0">
                <a:latin typeface="Arial"/>
                <a:cs typeface="Arial"/>
              </a:rPr>
              <a:t>clarification);</a:t>
            </a:r>
          </a:p>
          <a:p>
            <a:pPr>
              <a:lnSpc>
                <a:spcPct val="100000"/>
              </a:lnSpc>
              <a:spcBef>
                <a:spcPts val="40"/>
              </a:spcBef>
              <a:buFont typeface="Arial"/>
              <a:buChar char="•"/>
            </a:pPr>
            <a:endParaRPr lang="en-GB" sz="3200" dirty="0">
              <a:latin typeface="Times New Roman"/>
              <a:cs typeface="Times New Roman"/>
            </a:endParaRPr>
          </a:p>
          <a:p>
            <a:pPr marL="370840" indent="-358140">
              <a:lnSpc>
                <a:spcPct val="100000"/>
              </a:lnSpc>
              <a:buClr>
                <a:srgbClr val="000000"/>
              </a:buClr>
              <a:tabLst>
                <a:tab pos="370840" algn="l"/>
                <a:tab pos="371475" algn="l"/>
              </a:tabLst>
            </a:pPr>
            <a:r>
              <a:rPr lang="en-GB" spc="-5" dirty="0">
                <a:solidFill>
                  <a:srgbClr val="FF0000"/>
                </a:solidFill>
                <a:latin typeface="Arial"/>
                <a:cs typeface="Arial"/>
              </a:rPr>
              <a:t>Interact </a:t>
            </a:r>
            <a:r>
              <a:rPr lang="en-GB" dirty="0">
                <a:latin typeface="Arial"/>
                <a:cs typeface="Arial"/>
              </a:rPr>
              <a:t>and </a:t>
            </a:r>
            <a:r>
              <a:rPr lang="en-GB" dirty="0">
                <a:solidFill>
                  <a:srgbClr val="FF0000"/>
                </a:solidFill>
                <a:latin typeface="Arial"/>
                <a:cs typeface="Arial"/>
              </a:rPr>
              <a:t>be </a:t>
            </a:r>
            <a:r>
              <a:rPr lang="en-GB" spc="-5" dirty="0">
                <a:solidFill>
                  <a:srgbClr val="FF0000"/>
                </a:solidFill>
                <a:latin typeface="Arial"/>
                <a:cs typeface="Arial"/>
              </a:rPr>
              <a:t>active </a:t>
            </a:r>
            <a:r>
              <a:rPr lang="en-GB" dirty="0">
                <a:latin typeface="Arial"/>
                <a:cs typeface="Arial"/>
              </a:rPr>
              <a:t>in </a:t>
            </a:r>
            <a:r>
              <a:rPr lang="en-GB" spc="-5" dirty="0">
                <a:latin typeface="Arial"/>
                <a:cs typeface="Arial"/>
              </a:rPr>
              <a:t>your </a:t>
            </a:r>
            <a:r>
              <a:rPr lang="en-GB" dirty="0">
                <a:latin typeface="Arial"/>
                <a:cs typeface="Arial"/>
              </a:rPr>
              <a:t>learning </a:t>
            </a:r>
            <a:r>
              <a:rPr lang="en-GB" spc="-5" dirty="0">
                <a:latin typeface="Arial"/>
                <a:cs typeface="Arial"/>
              </a:rPr>
              <a:t>(Learning </a:t>
            </a:r>
            <a:r>
              <a:rPr lang="en-GB" dirty="0">
                <a:latin typeface="Arial"/>
                <a:cs typeface="Arial"/>
              </a:rPr>
              <a:t>is not a spectator</a:t>
            </a:r>
            <a:r>
              <a:rPr lang="en-GB" spc="-130" dirty="0">
                <a:latin typeface="Arial"/>
                <a:cs typeface="Arial"/>
              </a:rPr>
              <a:t> </a:t>
            </a:r>
            <a:r>
              <a:rPr lang="en-GB" spc="-5" dirty="0">
                <a:latin typeface="Arial"/>
                <a:cs typeface="Arial"/>
              </a:rPr>
              <a:t>sport!);</a:t>
            </a:r>
            <a:endParaRPr lang="en-GB" dirty="0">
              <a:latin typeface="Arial"/>
              <a:cs typeface="Arial"/>
            </a:endParaRPr>
          </a:p>
          <a:p>
            <a:pPr>
              <a:lnSpc>
                <a:spcPct val="100000"/>
              </a:lnSpc>
              <a:spcBef>
                <a:spcPts val="45"/>
              </a:spcBef>
              <a:buFont typeface="Arial"/>
              <a:buChar char="•"/>
            </a:pPr>
            <a:endParaRPr lang="en-GB" sz="3200" dirty="0">
              <a:latin typeface="Times New Roman"/>
              <a:cs typeface="Times New Roman"/>
            </a:endParaRPr>
          </a:p>
          <a:p>
            <a:pPr marL="370840" indent="-358140">
              <a:lnSpc>
                <a:spcPct val="100000"/>
              </a:lnSpc>
              <a:tabLst>
                <a:tab pos="370840" algn="l"/>
                <a:tab pos="371475" algn="l"/>
              </a:tabLst>
            </a:pPr>
            <a:r>
              <a:rPr lang="en-GB" dirty="0">
                <a:latin typeface="Arial"/>
                <a:cs typeface="Arial"/>
              </a:rPr>
              <a:t>Take </a:t>
            </a:r>
            <a:r>
              <a:rPr lang="en-GB" spc="-5" dirty="0">
                <a:solidFill>
                  <a:srgbClr val="FF0000"/>
                </a:solidFill>
                <a:latin typeface="Arial"/>
                <a:cs typeface="Arial"/>
              </a:rPr>
              <a:t>responsibility </a:t>
            </a:r>
            <a:r>
              <a:rPr lang="en-GB" dirty="0">
                <a:latin typeface="Arial"/>
                <a:cs typeface="Arial"/>
              </a:rPr>
              <a:t>for </a:t>
            </a:r>
            <a:r>
              <a:rPr lang="en-GB" spc="-10" dirty="0">
                <a:latin typeface="Arial"/>
                <a:cs typeface="Arial"/>
              </a:rPr>
              <a:t>your</a:t>
            </a:r>
            <a:r>
              <a:rPr lang="en-GB" spc="-95" dirty="0">
                <a:latin typeface="Arial"/>
                <a:cs typeface="Arial"/>
              </a:rPr>
              <a:t> </a:t>
            </a:r>
            <a:r>
              <a:rPr lang="en-GB" spc="-5" dirty="0">
                <a:latin typeface="Arial"/>
                <a:cs typeface="Arial"/>
              </a:rPr>
              <a:t>learning;</a:t>
            </a:r>
            <a:endParaRPr lang="en-GB" dirty="0">
              <a:latin typeface="Arial"/>
              <a:cs typeface="Arial"/>
            </a:endParaRPr>
          </a:p>
          <a:p>
            <a:pPr>
              <a:lnSpc>
                <a:spcPct val="100000"/>
              </a:lnSpc>
              <a:spcBef>
                <a:spcPts val="45"/>
              </a:spcBef>
              <a:buFont typeface="Arial"/>
              <a:buChar char="•"/>
            </a:pPr>
            <a:endParaRPr lang="en-GB" sz="3200" dirty="0">
              <a:latin typeface="Times New Roman"/>
              <a:cs typeface="Times New Roman"/>
            </a:endParaRPr>
          </a:p>
          <a:p>
            <a:pPr marL="370840" indent="-358140">
              <a:lnSpc>
                <a:spcPct val="100000"/>
              </a:lnSpc>
              <a:tabLst>
                <a:tab pos="370840" algn="l"/>
                <a:tab pos="371475" algn="l"/>
              </a:tabLst>
            </a:pPr>
            <a:r>
              <a:rPr lang="en-GB" spc="-5" dirty="0">
                <a:latin typeface="Arial"/>
                <a:cs typeface="Arial"/>
              </a:rPr>
              <a:t>Solve </a:t>
            </a:r>
            <a:r>
              <a:rPr lang="en-GB" dirty="0">
                <a:latin typeface="Arial"/>
                <a:cs typeface="Arial"/>
              </a:rPr>
              <a:t>all </a:t>
            </a:r>
            <a:r>
              <a:rPr lang="en-GB" spc="-5" dirty="0">
                <a:latin typeface="Arial"/>
                <a:cs typeface="Arial"/>
              </a:rPr>
              <a:t>exercises (lectures and labs);</a:t>
            </a:r>
            <a:endParaRPr lang="en-GB" dirty="0">
              <a:latin typeface="Arial"/>
              <a:cs typeface="Arial"/>
            </a:endParaRPr>
          </a:p>
          <a:p>
            <a:pPr>
              <a:lnSpc>
                <a:spcPct val="100000"/>
              </a:lnSpc>
              <a:spcBef>
                <a:spcPts val="45"/>
              </a:spcBef>
              <a:buFont typeface="Arial"/>
              <a:buChar char="•"/>
            </a:pPr>
            <a:endParaRPr lang="en-GB" sz="3200" dirty="0">
              <a:latin typeface="Times New Roman"/>
              <a:cs typeface="Times New Roman"/>
            </a:endParaRPr>
          </a:p>
          <a:p>
            <a:pPr marL="370840" indent="-358140">
              <a:lnSpc>
                <a:spcPct val="100000"/>
              </a:lnSpc>
              <a:tabLst>
                <a:tab pos="370840" algn="l"/>
                <a:tab pos="371475" algn="l"/>
              </a:tabLst>
            </a:pPr>
            <a:r>
              <a:rPr lang="en-GB" spc="-5" dirty="0">
                <a:latin typeface="Arial"/>
                <a:cs typeface="Arial"/>
              </a:rPr>
              <a:t>Do </a:t>
            </a:r>
            <a:r>
              <a:rPr lang="en-GB" spc="-5" dirty="0">
                <a:solidFill>
                  <a:srgbClr val="FF0000"/>
                </a:solidFill>
                <a:latin typeface="Arial"/>
                <a:cs typeface="Arial"/>
              </a:rPr>
              <a:t>extra </a:t>
            </a:r>
            <a:r>
              <a:rPr lang="en-GB" spc="-10" dirty="0">
                <a:solidFill>
                  <a:srgbClr val="FF0000"/>
                </a:solidFill>
                <a:latin typeface="Arial"/>
                <a:cs typeface="Arial"/>
              </a:rPr>
              <a:t>work </a:t>
            </a:r>
            <a:r>
              <a:rPr lang="en-GB" spc="-5" dirty="0">
                <a:latin typeface="Arial"/>
                <a:cs typeface="Arial"/>
              </a:rPr>
              <a:t>(read recommended books,</a:t>
            </a:r>
            <a:r>
              <a:rPr lang="en-GB" spc="-45" dirty="0">
                <a:latin typeface="Arial"/>
                <a:cs typeface="Arial"/>
              </a:rPr>
              <a:t> </a:t>
            </a:r>
            <a:r>
              <a:rPr lang="en-GB" spc="-5" dirty="0" err="1">
                <a:latin typeface="Arial"/>
                <a:cs typeface="Arial"/>
              </a:rPr>
              <a:t>etc</a:t>
            </a:r>
            <a:r>
              <a:rPr lang="en-GB" spc="-5" dirty="0">
                <a:latin typeface="Arial"/>
                <a:cs typeface="Arial"/>
              </a:rPr>
              <a:t>);</a:t>
            </a:r>
            <a:endParaRPr lang="en-GB" dirty="0">
              <a:latin typeface="Arial"/>
              <a:cs typeface="Arial"/>
            </a:endParaRPr>
          </a:p>
          <a:p>
            <a:pPr>
              <a:lnSpc>
                <a:spcPct val="100000"/>
              </a:lnSpc>
              <a:spcBef>
                <a:spcPts val="45"/>
              </a:spcBef>
              <a:buFont typeface="Arial"/>
              <a:buChar char="•"/>
            </a:pPr>
            <a:endParaRPr lang="en-GB" sz="3200" dirty="0">
              <a:latin typeface="Times New Roman"/>
              <a:cs typeface="Times New Roman"/>
            </a:endParaRPr>
          </a:p>
          <a:p>
            <a:pPr marL="370840" indent="-358140">
              <a:lnSpc>
                <a:spcPct val="100000"/>
              </a:lnSpc>
              <a:buClr>
                <a:srgbClr val="000000"/>
              </a:buClr>
              <a:tabLst>
                <a:tab pos="370840" algn="l"/>
                <a:tab pos="371475" algn="l"/>
              </a:tabLst>
            </a:pPr>
            <a:r>
              <a:rPr lang="en-GB" dirty="0">
                <a:solidFill>
                  <a:srgbClr val="FF0000"/>
                </a:solidFill>
                <a:latin typeface="Arial"/>
                <a:cs typeface="Arial"/>
              </a:rPr>
              <a:t>Respect </a:t>
            </a:r>
            <a:r>
              <a:rPr lang="en-GB" spc="-10" dirty="0">
                <a:latin typeface="Arial"/>
                <a:cs typeface="Arial"/>
              </a:rPr>
              <a:t>everyone</a:t>
            </a:r>
            <a:r>
              <a:rPr lang="en-GB" spc="-30" dirty="0">
                <a:latin typeface="Arial"/>
                <a:cs typeface="Arial"/>
              </a:rPr>
              <a:t> </a:t>
            </a:r>
            <a:r>
              <a:rPr lang="en-GB" dirty="0">
                <a:latin typeface="Arial"/>
                <a:cs typeface="Arial"/>
              </a:rPr>
              <a:t>else.</a:t>
            </a:r>
          </a:p>
          <a:p>
            <a:pPr>
              <a:lnSpc>
                <a:spcPct val="100000"/>
              </a:lnSpc>
            </a:pPr>
            <a:endParaRPr lang="en-GB" sz="3200" dirty="0">
              <a:latin typeface="Times New Roman"/>
              <a:cs typeface="Times New Roman"/>
            </a:endParaRPr>
          </a:p>
          <a:p>
            <a:pPr>
              <a:lnSpc>
                <a:spcPct val="100000"/>
              </a:lnSpc>
              <a:spcBef>
                <a:spcPts val="30"/>
              </a:spcBef>
            </a:pPr>
            <a:endParaRPr lang="en-GB" dirty="0">
              <a:latin typeface="Times New Roman"/>
              <a:cs typeface="Times New Roman"/>
            </a:endParaRPr>
          </a:p>
          <a:p>
            <a:pPr marL="0" marR="355600" indent="0" algn="ctr">
              <a:lnSpc>
                <a:spcPct val="100000"/>
              </a:lnSpc>
              <a:spcBef>
                <a:spcPts val="2400"/>
              </a:spcBef>
              <a:buNone/>
            </a:pPr>
            <a:r>
              <a:rPr lang="en-GB" spc="-5" dirty="0">
                <a:solidFill>
                  <a:srgbClr val="006FC0"/>
                </a:solidFill>
                <a:latin typeface="Arial"/>
                <a:cs typeface="Arial"/>
              </a:rPr>
              <a:t>Anything bothering </a:t>
            </a:r>
            <a:r>
              <a:rPr lang="en-GB" spc="-10" dirty="0">
                <a:solidFill>
                  <a:srgbClr val="006FC0"/>
                </a:solidFill>
                <a:latin typeface="Arial"/>
                <a:cs typeface="Arial"/>
              </a:rPr>
              <a:t>you? </a:t>
            </a:r>
            <a:r>
              <a:rPr lang="en-GB" spc="-5" dirty="0">
                <a:solidFill>
                  <a:srgbClr val="006FC0"/>
                </a:solidFill>
                <a:latin typeface="Arial"/>
                <a:cs typeface="Arial"/>
              </a:rPr>
              <a:t>Struggling? </a:t>
            </a:r>
            <a:r>
              <a:rPr lang="en-GB" dirty="0">
                <a:latin typeface="Arial"/>
                <a:cs typeface="Arial"/>
              </a:rPr>
              <a:t>Get in touch </a:t>
            </a:r>
            <a:r>
              <a:rPr lang="en-GB" spc="-10" dirty="0">
                <a:latin typeface="Arial"/>
                <a:cs typeface="Arial"/>
              </a:rPr>
              <a:t>with</a:t>
            </a:r>
            <a:r>
              <a:rPr lang="en-GB" dirty="0">
                <a:latin typeface="Arial"/>
                <a:cs typeface="Arial"/>
              </a:rPr>
              <a:t> me!</a:t>
            </a:r>
          </a:p>
          <a:p>
            <a:endParaRPr lang="en-GB" dirty="0"/>
          </a:p>
        </p:txBody>
      </p:sp>
      <p:sp>
        <p:nvSpPr>
          <p:cNvPr id="3" name="Slide Number Placeholder 2"/>
          <p:cNvSpPr>
            <a:spLocks noGrp="1"/>
          </p:cNvSpPr>
          <p:nvPr>
            <p:ph type="sldNum" sz="quarter" idx="12"/>
          </p:nvPr>
        </p:nvSpPr>
        <p:spPr/>
        <p:txBody>
          <a:bodyPr/>
          <a:lstStyle/>
          <a:p>
            <a:fld id="{5BC3EEBC-8848-48BC-9E86-2856C4334E59}" type="slidenum">
              <a:rPr lang="en-GB" smtClean="0"/>
              <a:t>19</a:t>
            </a:fld>
            <a:endParaRPr lang="en-GB" dirty="0"/>
          </a:p>
        </p:txBody>
      </p:sp>
      <p:sp>
        <p:nvSpPr>
          <p:cNvPr id="4" name="Title 3"/>
          <p:cNvSpPr>
            <a:spLocks noGrp="1"/>
          </p:cNvSpPr>
          <p:nvPr>
            <p:ph type="title"/>
          </p:nvPr>
        </p:nvSpPr>
        <p:spPr/>
        <p:txBody>
          <a:bodyPr/>
          <a:lstStyle/>
          <a:p>
            <a:r>
              <a:rPr lang="en-GB" dirty="0"/>
              <a:t>What </a:t>
            </a:r>
            <a:r>
              <a:rPr lang="en-GB" spc="-10" dirty="0"/>
              <a:t>do </a:t>
            </a:r>
            <a:r>
              <a:rPr lang="en-GB" dirty="0"/>
              <a:t>you need to</a:t>
            </a:r>
            <a:r>
              <a:rPr lang="en-GB" spc="-90" dirty="0"/>
              <a:t> </a:t>
            </a:r>
            <a:r>
              <a:rPr lang="en-GB" spc="-5" dirty="0"/>
              <a:t>do?</a:t>
            </a:r>
            <a:endParaRPr lang="en-GB" dirty="0"/>
          </a:p>
        </p:txBody>
      </p:sp>
      <p:sp>
        <p:nvSpPr>
          <p:cNvPr id="5" name="Footer Placeholder 4"/>
          <p:cNvSpPr>
            <a:spLocks noGrp="1"/>
          </p:cNvSpPr>
          <p:nvPr>
            <p:ph type="ftr" sz="quarter" idx="13"/>
          </p:nvPr>
        </p:nvSpPr>
        <p:spPr/>
        <p:txBody>
          <a:bodyPr/>
          <a:lstStyle/>
          <a:p>
            <a:r>
              <a:rPr lang="en-GB"/>
              <a:t>School of Computing , Engineering and Digital Technologies</a:t>
            </a:r>
            <a:endParaRPr lang="en-GB" dirty="0"/>
          </a:p>
        </p:txBody>
      </p:sp>
    </p:spTree>
    <p:extLst>
      <p:ext uri="{BB962C8B-B14F-4D97-AF65-F5344CB8AC3E}">
        <p14:creationId xmlns:p14="http://schemas.microsoft.com/office/powerpoint/2010/main" val="107219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12700" indent="0">
              <a:lnSpc>
                <a:spcPct val="100000"/>
              </a:lnSpc>
              <a:buNone/>
              <a:tabLst>
                <a:tab pos="339725" algn="l"/>
                <a:tab pos="340360" algn="l"/>
              </a:tabLst>
            </a:pPr>
            <a:r>
              <a:rPr lang="en-GB" dirty="0"/>
              <a:t>In course Assessment (ICA)</a:t>
            </a:r>
          </a:p>
          <a:p>
            <a:pPr marL="12700" indent="0">
              <a:lnSpc>
                <a:spcPct val="100000"/>
              </a:lnSpc>
              <a:buNone/>
              <a:tabLst>
                <a:tab pos="339725" algn="l"/>
                <a:tab pos="340360" algn="l"/>
              </a:tabLst>
            </a:pPr>
            <a:endParaRPr lang="en-GB" dirty="0"/>
          </a:p>
          <a:p>
            <a:r>
              <a:rPr lang="en-GB" dirty="0"/>
              <a:t>The assessment will be in the form of an in-course assignment (ICA) that requires students to design and implement a Data Warehouse/Business Intelligence solution using an appropriate dataset.   </a:t>
            </a:r>
          </a:p>
          <a:p>
            <a:endParaRPr lang="en-GB" dirty="0"/>
          </a:p>
          <a:p>
            <a:r>
              <a:rPr lang="en-GB" dirty="0"/>
              <a:t>Along with the solution, students will prepare a technical report (approx. 1,200 words) that will include a summary of the solution (design and implementation).</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EEBC-8848-48BC-9E86-2856C4334E59}" type="slidenum">
              <a:rPr kumimoji="0" lang="en-GB" sz="1100" b="0" i="0" u="none" strike="noStrike" kern="1200" cap="none" spc="0" normalizeH="0" baseline="0" noProof="0" smtClean="0">
                <a:ln>
                  <a:noFill/>
                </a:ln>
                <a:solidFill>
                  <a:srgbClr val="BFBFB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100" b="0" i="0" u="none" strike="noStrike" kern="1200" cap="none" spc="0" normalizeH="0" baseline="0" noProof="0" dirty="0">
              <a:ln>
                <a:noFill/>
              </a:ln>
              <a:solidFill>
                <a:srgbClr val="BFBFBF"/>
              </a:solidFill>
              <a:effectLst/>
              <a:uLnTx/>
              <a:uFillTx/>
              <a:latin typeface="Calibri" panose="020F0502020204030204"/>
              <a:ea typeface="+mn-ea"/>
              <a:cs typeface="+mn-cs"/>
            </a:endParaRPr>
          </a:p>
        </p:txBody>
      </p:sp>
      <p:sp>
        <p:nvSpPr>
          <p:cNvPr id="2" name="Title 1"/>
          <p:cNvSpPr>
            <a:spLocks noGrp="1"/>
          </p:cNvSpPr>
          <p:nvPr>
            <p:ph type="title"/>
          </p:nvPr>
        </p:nvSpPr>
        <p:spPr/>
        <p:txBody>
          <a:bodyPr/>
          <a:lstStyle/>
          <a:p>
            <a:r>
              <a:rPr lang="en-GB" dirty="0">
                <a:latin typeface="Calibri"/>
                <a:cs typeface="Calibri"/>
              </a:rPr>
              <a:t>Assessme</a:t>
            </a:r>
            <a:r>
              <a:rPr lang="en-GB" spc="-35" dirty="0">
                <a:latin typeface="Calibri"/>
                <a:cs typeface="Calibri"/>
              </a:rPr>
              <a:t>n</a:t>
            </a:r>
            <a:r>
              <a:rPr lang="en-GB" dirty="0">
                <a:latin typeface="Calibri"/>
                <a:cs typeface="Calibri"/>
              </a:rPr>
              <a:t>t - ICA</a:t>
            </a:r>
            <a:endParaRPr lang="en-GB" dirty="0"/>
          </a:p>
        </p:txBody>
      </p:sp>
      <p:sp>
        <p:nvSpPr>
          <p:cNvPr id="5" name="Footer Placeholder 4"/>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School of Computing, Engineering &amp; Digital Technologies</a:t>
            </a:r>
          </a:p>
        </p:txBody>
      </p:sp>
    </p:spTree>
    <p:extLst>
      <p:ext uri="{BB962C8B-B14F-4D97-AF65-F5344CB8AC3E}">
        <p14:creationId xmlns:p14="http://schemas.microsoft.com/office/powerpoint/2010/main" val="234659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33363" y="274638"/>
            <a:ext cx="9247013" cy="725470"/>
          </a:xfrm>
        </p:spPr>
        <p:txBody>
          <a:bodyPr/>
          <a:lstStyle/>
          <a:p>
            <a:r>
              <a:rPr lang="en-GB" dirty="0"/>
              <a:t>Reading list</a:t>
            </a:r>
          </a:p>
        </p:txBody>
      </p:sp>
      <p:sp>
        <p:nvSpPr>
          <p:cNvPr id="50179" name="Rectangle 3"/>
          <p:cNvSpPr>
            <a:spLocks noGrp="1" noChangeArrowheads="1"/>
          </p:cNvSpPr>
          <p:nvPr>
            <p:ph idx="1"/>
          </p:nvPr>
        </p:nvSpPr>
        <p:spPr>
          <a:xfrm>
            <a:off x="233363" y="1142983"/>
            <a:ext cx="11958637" cy="5016050"/>
          </a:xfrm>
        </p:spPr>
        <p:txBody>
          <a:bodyPr>
            <a:noAutofit/>
          </a:bodyPr>
          <a:lstStyle/>
          <a:p>
            <a:pPr lvl="0">
              <a:buNone/>
            </a:pPr>
            <a:r>
              <a:rPr lang="en-US" sz="2000" b="1" u="sng" dirty="0">
                <a:solidFill>
                  <a:srgbClr val="FF0000"/>
                </a:solidFill>
              </a:rPr>
              <a:t>Books</a:t>
            </a:r>
            <a:r>
              <a:rPr lang="en-US" sz="2000" b="1" dirty="0">
                <a:solidFill>
                  <a:srgbClr val="FF0000"/>
                </a:solidFill>
              </a:rPr>
              <a:t>  (available online from the library’s website)</a:t>
            </a:r>
          </a:p>
          <a:p>
            <a:r>
              <a:rPr lang="en-GB" sz="2000" dirty="0" err="1"/>
              <a:t>Richterich</a:t>
            </a:r>
            <a:r>
              <a:rPr lang="en-GB" sz="2000" dirty="0"/>
              <a:t>, A., 2018. </a:t>
            </a:r>
            <a:r>
              <a:rPr lang="en-GB" sz="2000" i="1" dirty="0"/>
              <a:t>The big data agenda: Data ethics and critical data studies</a:t>
            </a:r>
            <a:r>
              <a:rPr lang="en-GB" sz="2000" dirty="0"/>
              <a:t> (p. 154). University of Westminster Press. </a:t>
            </a:r>
          </a:p>
          <a:p>
            <a:pPr marL="0" indent="0">
              <a:buNone/>
            </a:pPr>
            <a:endParaRPr lang="en-US" sz="2000" dirty="0"/>
          </a:p>
          <a:p>
            <a:pPr lvl="0">
              <a:buNone/>
            </a:pPr>
            <a:r>
              <a:rPr lang="en-US" sz="2000" b="1" u="sng" dirty="0" err="1">
                <a:solidFill>
                  <a:srgbClr val="FF0000"/>
                </a:solidFill>
              </a:rPr>
              <a:t>Eletronic</a:t>
            </a:r>
            <a:r>
              <a:rPr lang="en-US" sz="2000" b="1" u="sng" dirty="0">
                <a:solidFill>
                  <a:srgbClr val="FF0000"/>
                </a:solidFill>
              </a:rPr>
              <a:t> Resources</a:t>
            </a:r>
            <a:endParaRPr lang="en-US" sz="2000" dirty="0"/>
          </a:p>
          <a:p>
            <a:pPr lvl="8"/>
            <a:endParaRPr lang="en-GB" sz="1050" dirty="0"/>
          </a:p>
          <a:p>
            <a:r>
              <a:rPr lang="en-GB" sz="2000" dirty="0"/>
              <a:t>Power BI, Microsoft </a:t>
            </a:r>
            <a:r>
              <a:rPr lang="en-GB" sz="2000" u="sng" dirty="0">
                <a:hlinkClick r:id="rId2"/>
              </a:rPr>
              <a:t>https://powerbi.microsoft.com/en-us/</a:t>
            </a:r>
            <a:endParaRPr lang="en-GB" sz="2000" u="sng" dirty="0"/>
          </a:p>
          <a:p>
            <a:r>
              <a:rPr lang="en-GB" sz="2000" dirty="0"/>
              <a:t>Power BI, get started </a:t>
            </a:r>
            <a:r>
              <a:rPr lang="en-GB" sz="2000" dirty="0">
                <a:hlinkClick r:id="rId3"/>
              </a:rPr>
              <a:t>https://docs.microsoft.com/en-gb/learn/modules/get-started-with-power-bi/</a:t>
            </a:r>
            <a:r>
              <a:rPr lang="en-GB" sz="2000" dirty="0"/>
              <a:t> </a:t>
            </a:r>
          </a:p>
          <a:p>
            <a:r>
              <a:rPr lang="en-GB" sz="2000" dirty="0"/>
              <a:t>Power BI, guided learning </a:t>
            </a:r>
            <a:r>
              <a:rPr lang="en-GB" sz="2000" u="sng" dirty="0">
                <a:hlinkClick r:id="rId4"/>
              </a:rPr>
              <a:t>https://docs.microsoft.com/en-us/power-bi/guided-learning/</a:t>
            </a:r>
            <a:endParaRPr lang="en-GB" sz="2000" u="sng" dirty="0"/>
          </a:p>
          <a:p>
            <a:r>
              <a:rPr lang="en-GB" sz="2000" dirty="0"/>
              <a:t>Power BI, user group </a:t>
            </a:r>
            <a:r>
              <a:rPr lang="en-GB" sz="2000" u="sng" dirty="0">
                <a:hlinkClick r:id="rId5"/>
              </a:rPr>
              <a:t>https://www.pbiusergroup.com/home</a:t>
            </a:r>
            <a:endParaRPr lang="en-GB" sz="2000" dirty="0"/>
          </a:p>
          <a:p>
            <a:pPr marL="0" indent="0">
              <a:buNone/>
            </a:pPr>
            <a:endParaRPr lang="en-GB" sz="2000" dirty="0"/>
          </a:p>
          <a:p>
            <a:endParaRPr lang="en-US" sz="2000" dirty="0"/>
          </a:p>
          <a:p>
            <a:endParaRPr lang="en-US" sz="2000" dirty="0"/>
          </a:p>
          <a:p>
            <a:pPr marL="0" indent="0">
              <a:buNone/>
            </a:pPr>
            <a:endParaRPr lang="en-GB" sz="2000" dirty="0"/>
          </a:p>
        </p:txBody>
      </p:sp>
    </p:spTree>
    <p:extLst>
      <p:ext uri="{BB962C8B-B14F-4D97-AF65-F5344CB8AC3E}">
        <p14:creationId xmlns:p14="http://schemas.microsoft.com/office/powerpoint/2010/main" val="125071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7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17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9">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1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Power BI - Introduction</a:t>
            </a:r>
          </a:p>
        </p:txBody>
      </p:sp>
      <p:sp>
        <p:nvSpPr>
          <p:cNvPr id="3" name="Text Placeholder 2"/>
          <p:cNvSpPr>
            <a:spLocks noGrp="1"/>
          </p:cNvSpPr>
          <p:nvPr>
            <p:ph type="body" idx="1"/>
          </p:nvPr>
        </p:nvSpPr>
        <p:spPr/>
        <p:txBody>
          <a:bodyPr/>
          <a:lstStyle/>
          <a:p>
            <a:endParaRPr lang="en-GB"/>
          </a:p>
        </p:txBody>
      </p:sp>
      <p:sp>
        <p:nvSpPr>
          <p:cNvPr id="4" name="Footer Placeholder 3"/>
          <p:cNvSpPr>
            <a:spLocks noGrp="1"/>
          </p:cNvSpPr>
          <p:nvPr>
            <p:ph type="ftr" sz="quarter" idx="11"/>
          </p:nvPr>
        </p:nvSpPr>
        <p:spPr/>
        <p:txBody>
          <a:bodyPr/>
          <a:lstStyle/>
          <a:p>
            <a:r>
              <a:rPr lang="en-GB"/>
              <a:t>School of Computing , Engineering and Digital Technologies</a:t>
            </a:r>
            <a:endParaRPr lang="en-GB" dirty="0"/>
          </a:p>
        </p:txBody>
      </p:sp>
      <p:sp>
        <p:nvSpPr>
          <p:cNvPr id="5" name="Slide Number Placeholder 4"/>
          <p:cNvSpPr>
            <a:spLocks noGrp="1"/>
          </p:cNvSpPr>
          <p:nvPr>
            <p:ph type="sldNum" sz="quarter" idx="12"/>
          </p:nvPr>
        </p:nvSpPr>
        <p:spPr/>
        <p:txBody>
          <a:bodyPr/>
          <a:lstStyle/>
          <a:p>
            <a:fld id="{5BC3EEBC-8848-48BC-9E86-2856C4334E59}" type="slidenum">
              <a:rPr lang="en-GB" smtClean="0"/>
              <a:t>22</a:t>
            </a:fld>
            <a:endParaRPr lang="en-GB" dirty="0"/>
          </a:p>
        </p:txBody>
      </p:sp>
      <p:pic>
        <p:nvPicPr>
          <p:cNvPr id="6" name="Picture 5"/>
          <p:cNvPicPr>
            <a:picLocks noChangeAspect="1"/>
          </p:cNvPicPr>
          <p:nvPr/>
        </p:nvPicPr>
        <p:blipFill>
          <a:blip r:embed="rId2"/>
          <a:stretch>
            <a:fillRect/>
          </a:stretch>
        </p:blipFill>
        <p:spPr>
          <a:xfrm>
            <a:off x="3784600" y="826167"/>
            <a:ext cx="4464050" cy="2499868"/>
          </a:xfrm>
          <a:prstGeom prst="rect">
            <a:avLst/>
          </a:prstGeom>
        </p:spPr>
      </p:pic>
    </p:spTree>
    <p:extLst>
      <p:ext uri="{BB962C8B-B14F-4D97-AF65-F5344CB8AC3E}">
        <p14:creationId xmlns:p14="http://schemas.microsoft.com/office/powerpoint/2010/main" val="712840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Placeholder 2"/>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a:xfrm>
            <a:off x="1" y="487"/>
            <a:ext cx="12192000" cy="6857027"/>
          </a:xfrm>
          <a:prstGeom prst="rect">
            <a:avLst/>
          </a:prstGeom>
        </p:spPr>
      </p:pic>
      <p:sp>
        <p:nvSpPr>
          <p:cNvPr id="3" name="Rectangle 2"/>
          <p:cNvSpPr/>
          <p:nvPr/>
        </p:nvSpPr>
        <p:spPr bwMode="auto">
          <a:xfrm>
            <a:off x="444506" y="1608646"/>
            <a:ext cx="3469895" cy="3541718"/>
          </a:xfrm>
          <a:prstGeom prst="rect">
            <a:avLst/>
          </a:prstGeom>
          <a:solidFill>
            <a:schemeClr val="bg1">
              <a:lumMod val="6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46242" tIns="182801" rIns="45700" bIns="187148" numCol="1" rtlCol="0" anchor="t" anchorCtr="0" compatLnSpc="1">
            <a:prstTxWarp prst="textNoShape">
              <a:avLst/>
            </a:prstTxWarp>
          </a:bodyPr>
          <a:lstStyle/>
          <a:p>
            <a:pPr marL="0" marR="0" lvl="0" indent="0" algn="l" defTabSz="913225" rtl="0" eaLnBrk="1" fontAlgn="base" latinLnBrk="0" hangingPunct="1">
              <a:lnSpc>
                <a:spcPct val="95000"/>
              </a:lnSpc>
              <a:spcBef>
                <a:spcPct val="0"/>
              </a:spcBef>
              <a:spcAft>
                <a:spcPts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Unlock insights</a:t>
            </a:r>
            <a:br>
              <a:rPr kumimoji="0" lang="en-US" sz="3136" b="0" i="0" u="none" strike="noStrike" kern="1200" cap="none" spc="0" normalizeH="0" baseline="0" noProof="0" dirty="0">
                <a:ln>
                  <a:noFill/>
                </a:ln>
                <a:solidFill>
                  <a:prstClr val="white"/>
                </a:solidFill>
                <a:effectLst/>
                <a:uLnTx/>
                <a:uFillTx/>
                <a:latin typeface="Segoe UI Light"/>
                <a:ea typeface="+mn-ea"/>
                <a:cs typeface="+mn-cs"/>
              </a:rPr>
            </a:br>
            <a:r>
              <a:rPr kumimoji="0" lang="en-US" sz="3136" b="0" i="0" u="none" strike="noStrike" kern="1200" cap="none" spc="0" normalizeH="0" baseline="0" noProof="0" dirty="0">
                <a:ln>
                  <a:noFill/>
                </a:ln>
                <a:solidFill>
                  <a:prstClr val="white"/>
                </a:solidFill>
                <a:effectLst/>
                <a:uLnTx/>
                <a:uFillTx/>
                <a:latin typeface="Segoe UI Light"/>
                <a:ea typeface="+mn-ea"/>
                <a:cs typeface="+mn-cs"/>
              </a:rPr>
              <a:t>on any data</a:t>
            </a:r>
          </a:p>
          <a:p>
            <a:pPr marL="0" marR="0" lvl="0" indent="0" algn="l" defTabSz="913225" rtl="0" eaLnBrk="1" fontAlgn="base" latinLnBrk="0" hangingPunct="1">
              <a:lnSpc>
                <a:spcPct val="95000"/>
              </a:lnSpc>
              <a:spcBef>
                <a:spcPct val="0"/>
              </a:spcBef>
              <a:spcAft>
                <a:spcPts val="0"/>
              </a:spcAft>
              <a:buClrTx/>
              <a:buSzTx/>
              <a:buFontTx/>
              <a:buNone/>
              <a:tabLst/>
              <a:defRPr/>
            </a:pP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a:p>
            <a:pPr marL="0" marR="0" lvl="0" indent="0" algn="l" defTabSz="913225" rtl="0" eaLnBrk="1" fontAlgn="base" latinLnBrk="0" hangingPunct="1">
              <a:lnSpc>
                <a:spcPct val="95000"/>
              </a:lnSpc>
              <a:spcBef>
                <a:spcPct val="0"/>
              </a:spcBef>
              <a:spcAft>
                <a:spcPts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Lists become Analytical Visuals</a:t>
            </a:r>
          </a:p>
        </p:txBody>
      </p:sp>
      <p:sp>
        <p:nvSpPr>
          <p:cNvPr id="4" name="Rectangle 3"/>
          <p:cNvSpPr/>
          <p:nvPr/>
        </p:nvSpPr>
        <p:spPr bwMode="auto">
          <a:xfrm>
            <a:off x="4361053" y="1608646"/>
            <a:ext cx="3469895" cy="3541718"/>
          </a:xfrm>
          <a:prstGeom prst="rect">
            <a:avLst/>
          </a:prstGeom>
          <a:solidFill>
            <a:schemeClr val="accent4">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marL="0" marR="0" lvl="0" indent="0" algn="l" defTabSz="896094" rtl="0" eaLnBrk="1" fontAlgn="base" latinLnBrk="0" hangingPunct="1">
              <a:lnSpc>
                <a:spcPct val="90000"/>
              </a:lnSpc>
              <a:spcBef>
                <a:spcPct val="0"/>
              </a:spcBef>
              <a:spcAft>
                <a:spcPct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Power BI</a:t>
            </a:r>
            <a:br>
              <a:rPr kumimoji="0" lang="en-US" sz="3136" b="0" i="0" u="none" strike="noStrike" kern="1200" cap="none" spc="0" normalizeH="0" baseline="0" noProof="0" dirty="0">
                <a:ln>
                  <a:noFill/>
                </a:ln>
                <a:solidFill>
                  <a:prstClr val="white"/>
                </a:solidFill>
                <a:effectLst/>
                <a:uLnTx/>
                <a:uFillTx/>
                <a:latin typeface="Segoe UI Light"/>
                <a:ea typeface="+mn-ea"/>
                <a:cs typeface="+mn-cs"/>
              </a:rPr>
            </a:b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a:p>
            <a:pPr marL="0" marR="0" lvl="0" indent="0" algn="l" defTabSz="896094" rtl="0" eaLnBrk="1" fontAlgn="base" latinLnBrk="0" hangingPunct="1">
              <a:lnSpc>
                <a:spcPct val="90000"/>
              </a:lnSpc>
              <a:spcBef>
                <a:spcPct val="0"/>
              </a:spcBef>
              <a:spcAft>
                <a:spcPct val="0"/>
              </a:spcAft>
              <a:buClrTx/>
              <a:buSzTx/>
              <a:buFontTx/>
              <a:buNone/>
              <a:tabLst/>
              <a:defRPr/>
            </a:pP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a:p>
            <a:pPr marL="0" marR="0" lvl="0" indent="0" algn="l" defTabSz="896094" rtl="0" eaLnBrk="1" fontAlgn="base" latinLnBrk="0" hangingPunct="1">
              <a:lnSpc>
                <a:spcPct val="90000"/>
              </a:lnSpc>
              <a:spcBef>
                <a:spcPct val="0"/>
              </a:spcBef>
              <a:spcAft>
                <a:spcPct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Data Analytics and Data </a:t>
            </a:r>
            <a:r>
              <a:rPr kumimoji="0" lang="en-US" sz="3136" b="0" i="0" u="none" strike="noStrike" kern="1200" cap="none" spc="0" normalizeH="0" baseline="0" noProof="0" dirty="0" err="1">
                <a:ln>
                  <a:noFill/>
                </a:ln>
                <a:solidFill>
                  <a:prstClr val="white"/>
                </a:solidFill>
                <a:effectLst/>
                <a:uLnTx/>
                <a:uFillTx/>
                <a:latin typeface="Segoe UI Light"/>
                <a:ea typeface="+mn-ea"/>
                <a:cs typeface="+mn-cs"/>
              </a:rPr>
              <a:t>Visualisation</a:t>
            </a: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a:p>
            <a:pPr marL="0" marR="0" lvl="0" indent="0" algn="l" defTabSz="896094" rtl="0" eaLnBrk="1" fontAlgn="base" latinLnBrk="0" hangingPunct="1">
              <a:lnSpc>
                <a:spcPct val="90000"/>
              </a:lnSpc>
              <a:spcBef>
                <a:spcPct val="0"/>
              </a:spcBef>
              <a:spcAft>
                <a:spcPct val="0"/>
              </a:spcAft>
              <a:buClrTx/>
              <a:buSzTx/>
              <a:buFontTx/>
              <a:buNone/>
              <a:tabLst/>
              <a:defRPr/>
            </a:pP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p:txBody>
      </p:sp>
      <p:sp>
        <p:nvSpPr>
          <p:cNvPr id="5" name="Rectangle 4"/>
          <p:cNvSpPr/>
          <p:nvPr/>
        </p:nvSpPr>
        <p:spPr bwMode="auto">
          <a:xfrm>
            <a:off x="8253832" y="1608646"/>
            <a:ext cx="3469895" cy="3541718"/>
          </a:xfrm>
          <a:prstGeom prst="rect">
            <a:avLst/>
          </a:prstGeom>
          <a:solidFill>
            <a:schemeClr val="bg1">
              <a:lumMod val="65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46242" tIns="182801" rIns="45700" bIns="187148" numCol="1" rtlCol="0" anchor="t" anchorCtr="0" compatLnSpc="1">
            <a:prstTxWarp prst="textNoShape">
              <a:avLst/>
            </a:prstTxWarp>
          </a:bodyPr>
          <a:lstStyle/>
          <a:p>
            <a:pPr marL="0" marR="0" lvl="0" indent="0" algn="l" defTabSz="913225" rtl="0" eaLnBrk="1" fontAlgn="base" latinLnBrk="0" hangingPunct="1">
              <a:lnSpc>
                <a:spcPct val="95000"/>
              </a:lnSpc>
              <a:spcBef>
                <a:spcPct val="0"/>
              </a:spcBef>
              <a:spcAft>
                <a:spcPts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Turning data</a:t>
            </a:r>
            <a:br>
              <a:rPr kumimoji="0" lang="en-US" sz="3136" b="0" i="0" u="none" strike="noStrike" kern="1200" cap="none" spc="0" normalizeH="0" baseline="0" noProof="0" dirty="0">
                <a:ln>
                  <a:noFill/>
                </a:ln>
                <a:solidFill>
                  <a:prstClr val="white"/>
                </a:solidFill>
                <a:effectLst/>
                <a:uLnTx/>
                <a:uFillTx/>
                <a:latin typeface="Segoe UI Light"/>
                <a:ea typeface="+mn-ea"/>
                <a:cs typeface="+mn-cs"/>
              </a:rPr>
            </a:br>
            <a:r>
              <a:rPr kumimoji="0" lang="en-US" sz="3136" b="0" i="0" u="none" strike="noStrike" kern="1200" cap="none" spc="0" normalizeH="0" baseline="0" noProof="0" dirty="0">
                <a:ln>
                  <a:noFill/>
                </a:ln>
                <a:solidFill>
                  <a:prstClr val="white"/>
                </a:solidFill>
                <a:effectLst/>
                <a:uLnTx/>
                <a:uFillTx/>
                <a:latin typeface="Segoe UI Light"/>
                <a:ea typeface="+mn-ea"/>
                <a:cs typeface="+mn-cs"/>
              </a:rPr>
              <a:t>into a business advantage</a:t>
            </a:r>
          </a:p>
          <a:p>
            <a:pPr marL="0" marR="0" lvl="0" indent="0" algn="l" defTabSz="913225" rtl="0" eaLnBrk="1" fontAlgn="base" latinLnBrk="0" hangingPunct="1">
              <a:lnSpc>
                <a:spcPct val="95000"/>
              </a:lnSpc>
              <a:spcBef>
                <a:spcPct val="0"/>
              </a:spcBef>
              <a:spcAft>
                <a:spcPts val="0"/>
              </a:spcAft>
              <a:buClrTx/>
              <a:buSzTx/>
              <a:buFontTx/>
              <a:buNone/>
              <a:tabLst/>
              <a:defRPr/>
            </a:pPr>
            <a:endParaRPr kumimoji="0" lang="en-US" sz="3136" b="0" i="0" u="none" strike="noStrike" kern="1200" cap="none" spc="0" normalizeH="0" baseline="0" noProof="0" dirty="0">
              <a:ln>
                <a:noFill/>
              </a:ln>
              <a:solidFill>
                <a:prstClr val="white"/>
              </a:solidFill>
              <a:effectLst/>
              <a:uLnTx/>
              <a:uFillTx/>
              <a:latin typeface="Segoe UI Light"/>
              <a:ea typeface="+mn-ea"/>
              <a:cs typeface="+mn-cs"/>
            </a:endParaRPr>
          </a:p>
          <a:p>
            <a:pPr marL="0" marR="0" lvl="0" indent="0" algn="l" defTabSz="913225" rtl="0" eaLnBrk="1" fontAlgn="base" latinLnBrk="0" hangingPunct="1">
              <a:lnSpc>
                <a:spcPct val="95000"/>
              </a:lnSpc>
              <a:spcBef>
                <a:spcPct val="0"/>
              </a:spcBef>
              <a:spcAft>
                <a:spcPts val="0"/>
              </a:spcAft>
              <a:buClrTx/>
              <a:buSzTx/>
              <a:buFontTx/>
              <a:buNone/>
              <a:tabLst/>
              <a:defRPr/>
            </a:pPr>
            <a:r>
              <a:rPr kumimoji="0" lang="en-US" sz="3136" b="0" i="0" u="none" strike="noStrike" kern="1200" cap="none" spc="0" normalizeH="0" baseline="0" noProof="0" dirty="0">
                <a:ln>
                  <a:noFill/>
                </a:ln>
                <a:solidFill>
                  <a:prstClr val="white"/>
                </a:solidFill>
                <a:effectLst/>
                <a:uLnTx/>
                <a:uFillTx/>
                <a:latin typeface="Segoe UI Light"/>
                <a:ea typeface="+mn-ea"/>
                <a:cs typeface="+mn-cs"/>
              </a:rPr>
              <a:t>KPIs for BI</a:t>
            </a:r>
          </a:p>
        </p:txBody>
      </p:sp>
    </p:spTree>
    <p:extLst>
      <p:ext uri="{BB962C8B-B14F-4D97-AF65-F5344CB8AC3E}">
        <p14:creationId xmlns:p14="http://schemas.microsoft.com/office/powerpoint/2010/main" val="2573114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313" dirty="0"/>
              <a:t>Power BI: connectivity to SAP BusinessObjects BI</a:t>
            </a:r>
            <a:br>
              <a:rPr lang="en-US" sz="4705" dirty="0"/>
            </a:br>
            <a:r>
              <a:rPr lang="en-US" sz="3137" dirty="0">
                <a:gradFill>
                  <a:gsLst>
                    <a:gs pos="1250">
                      <a:schemeClr val="tx2"/>
                    </a:gs>
                    <a:gs pos="99000">
                      <a:schemeClr val="tx2"/>
                    </a:gs>
                  </a:gsLst>
                  <a:lin ang="5400000" scaled="0"/>
                </a:gradFill>
              </a:rPr>
              <a:t>Where </a:t>
            </a:r>
            <a:r>
              <a:rPr lang="en-US" sz="3137" dirty="0" err="1">
                <a:gradFill>
                  <a:gsLst>
                    <a:gs pos="1250">
                      <a:schemeClr val="tx2"/>
                    </a:gs>
                    <a:gs pos="99000">
                      <a:schemeClr val="tx2"/>
                    </a:gs>
                  </a:gsLst>
                  <a:lin ang="5400000" scaled="0"/>
                </a:gradFill>
              </a:rPr>
              <a:t>PowerBI</a:t>
            </a:r>
            <a:r>
              <a:rPr lang="en-US" sz="3137" dirty="0">
                <a:gradFill>
                  <a:gsLst>
                    <a:gs pos="1250">
                      <a:schemeClr val="tx2"/>
                    </a:gs>
                    <a:gs pos="99000">
                      <a:schemeClr val="tx2"/>
                    </a:gs>
                  </a:gsLst>
                  <a:lin ang="5400000" scaled="0"/>
                </a:gradFill>
              </a:rPr>
              <a:t> tools meet trusted ‘enterprise data’ from Databases or Data Warehouse. </a:t>
            </a:r>
            <a:endParaRPr lang="en-US" sz="3529" dirty="0">
              <a:gradFill>
                <a:gsLst>
                  <a:gs pos="1250">
                    <a:schemeClr val="tx2"/>
                  </a:gs>
                  <a:gs pos="99000">
                    <a:schemeClr val="tx2"/>
                  </a:gs>
                </a:gsLst>
                <a:lin ang="5400000" scaled="0"/>
              </a:gradFill>
            </a:endParaRPr>
          </a:p>
        </p:txBody>
      </p:sp>
      <p:sp>
        <p:nvSpPr>
          <p:cNvPr id="4" name="Rectangle 3"/>
          <p:cNvSpPr/>
          <p:nvPr/>
        </p:nvSpPr>
        <p:spPr bwMode="auto">
          <a:xfrm>
            <a:off x="451230" y="2046708"/>
            <a:ext cx="6962562" cy="186303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marL="0" marR="0" lvl="0" indent="0" algn="l" defTabSz="896094"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Rectangle 4"/>
          <p:cNvSpPr/>
          <p:nvPr/>
        </p:nvSpPr>
        <p:spPr bwMode="auto">
          <a:xfrm>
            <a:off x="443540" y="4253527"/>
            <a:ext cx="6970252" cy="1863036"/>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marL="0" marR="0" lvl="0" indent="0" algn="l" defTabSz="896094" rtl="0" eaLnBrk="1" fontAlgn="base" latinLnBrk="0" hangingPunct="1">
              <a:lnSpc>
                <a:spcPct val="90000"/>
              </a:lnSpc>
              <a:spcBef>
                <a:spcPct val="0"/>
              </a:spcBef>
              <a:spcAft>
                <a:spcPct val="0"/>
              </a:spcAft>
              <a:buClrTx/>
              <a:buSzTx/>
              <a:buFontTx/>
              <a:buNone/>
              <a:tabLst/>
              <a:defRPr/>
            </a:pPr>
            <a:endParaRPr kumimoji="0" lang="en-US" sz="2304"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Rectangle 5"/>
          <p:cNvSpPr/>
          <p:nvPr/>
        </p:nvSpPr>
        <p:spPr bwMode="auto">
          <a:xfrm>
            <a:off x="443542" y="3909740"/>
            <a:ext cx="6970250" cy="343786"/>
          </a:xfrm>
          <a:prstGeom prst="rect">
            <a:avLst/>
          </a:prstGeom>
          <a:solidFill>
            <a:srgbClr val="92929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ctr" anchorCtr="0" forceAA="0" compatLnSpc="1">
            <a:prstTxWarp prst="textNoShape">
              <a:avLst/>
            </a:prstTxWarp>
            <a:noAutofit/>
          </a:bodyPr>
          <a:lstStyle/>
          <a:p>
            <a:pPr marL="0" marR="0" lvl="0" indent="0" algn="ctr" defTabSz="896094" rtl="0" eaLnBrk="1" fontAlgn="base" latinLnBrk="0" hangingPunct="1">
              <a:lnSpc>
                <a:spcPct val="90000"/>
              </a:lnSpc>
              <a:spcBef>
                <a:spcPct val="0"/>
              </a:spcBef>
              <a:spcAft>
                <a:spcPct val="0"/>
              </a:spcAft>
              <a:buClrTx/>
              <a:buSzTx/>
              <a:buFontTx/>
              <a:buNone/>
              <a:tabLst/>
              <a:defRPr/>
            </a:pPr>
            <a:endParaRPr kumimoji="0" lang="en-US" sz="274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7" name="Group 6"/>
          <p:cNvGrpSpPr/>
          <p:nvPr/>
        </p:nvGrpSpPr>
        <p:grpSpPr>
          <a:xfrm>
            <a:off x="3005840" y="2297669"/>
            <a:ext cx="2277198" cy="838610"/>
            <a:chOff x="0" y="0"/>
            <a:chExt cx="3155926" cy="1179837"/>
          </a:xfrm>
        </p:grpSpPr>
        <p:sp>
          <p:nvSpPr>
            <p:cNvPr id="8" name="Circular Arrow 7"/>
            <p:cNvSpPr/>
            <p:nvPr/>
          </p:nvSpPr>
          <p:spPr bwMode="auto">
            <a:xfrm rot="2744773">
              <a:off x="621853" y="11463"/>
              <a:ext cx="1168375" cy="1168374"/>
            </a:xfrm>
            <a:prstGeom prst="circularArrow">
              <a:avLst/>
            </a:prstGeom>
            <a:gradFill rotWithShape="1">
              <a:gsLst>
                <a:gs pos="0">
                  <a:schemeClr val="bg1"/>
                </a:gs>
                <a:gs pos="88000">
                  <a:srgbClr val="217346"/>
                </a:gs>
              </a:gsLst>
              <a:lin ang="21000000" scaled="0"/>
            </a:gradFill>
            <a:ln w="9525" cap="flat" cmpd="sng" algn="ctr">
              <a:noFill/>
              <a:prstDash val="solid"/>
              <a:headEnd type="none" w="med" len="med"/>
              <a:tailEnd type="none" w="med" len="med"/>
            </a:ln>
            <a:effectLst/>
          </p:spPr>
          <p:txBody>
            <a:bodyPr vert="horz" wrap="square" lIns="91399" tIns="45700" rIns="91399" bIns="45700" numCol="1" rtlCol="0" anchor="ctr"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4" b="0" i="0" u="none" strike="noStrike" kern="1200" cap="none" spc="0" normalizeH="0" baseline="0" noProof="0">
                <a:ln>
                  <a:noFill/>
                </a:ln>
                <a:solidFill>
                  <a:srgbClr val="505050"/>
                </a:solidFill>
                <a:effectLst/>
                <a:uLnTx/>
                <a:uFillTx/>
                <a:latin typeface="Segoe UI"/>
                <a:ea typeface="+mn-ea"/>
                <a:cs typeface="+mn-cs"/>
              </a:endParaRPr>
            </a:p>
          </p:txBody>
        </p:sp>
        <p:sp>
          <p:nvSpPr>
            <p:cNvPr id="9" name="Circular Arrow 8"/>
            <p:cNvSpPr/>
            <p:nvPr/>
          </p:nvSpPr>
          <p:spPr bwMode="auto">
            <a:xfrm rot="14535608">
              <a:off x="637143" y="1"/>
              <a:ext cx="1168375" cy="1168373"/>
            </a:xfrm>
            <a:prstGeom prst="circularArrow">
              <a:avLst>
                <a:gd name="adj1" fmla="val 12500"/>
                <a:gd name="adj2" fmla="val 1142319"/>
                <a:gd name="adj3" fmla="val 20457681"/>
                <a:gd name="adj4" fmla="val 9032373"/>
                <a:gd name="adj5" fmla="val 12500"/>
              </a:avLst>
            </a:prstGeom>
            <a:gradFill rotWithShape="1">
              <a:gsLst>
                <a:gs pos="0">
                  <a:srgbClr val="FFFFFF">
                    <a:lumMod val="75000"/>
                    <a:alpha val="0"/>
                  </a:srgbClr>
                </a:gs>
                <a:gs pos="88000">
                  <a:srgbClr val="217346"/>
                </a:gs>
              </a:gsLst>
              <a:lin ang="21000000" scaled="0"/>
            </a:gradFill>
            <a:ln w="9525" cap="flat" cmpd="sng" algn="ctr">
              <a:noFill/>
              <a:prstDash val="solid"/>
              <a:headEnd type="none" w="med" len="med"/>
              <a:tailEnd type="none" w="med" len="med"/>
            </a:ln>
            <a:effectLst/>
          </p:spPr>
          <p:txBody>
            <a:bodyPr vert="horz" wrap="square" lIns="91399" tIns="45700" rIns="91399" bIns="45700" numCol="1" rtlCol="0" anchor="ctr"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4" b="0" i="0" u="none" strike="noStrike" kern="1200" cap="none" spc="0" normalizeH="0" baseline="0" noProof="0">
                <a:ln>
                  <a:noFill/>
                </a:ln>
                <a:solidFill>
                  <a:srgbClr val="505050"/>
                </a:solidFill>
                <a:effectLst/>
                <a:uLnTx/>
                <a:uFillTx/>
                <a:latin typeface="Segoe UI"/>
                <a:ea typeface="+mn-ea"/>
                <a:cs typeface="+mn-cs"/>
              </a:endParaRPr>
            </a:p>
          </p:txBody>
        </p:sp>
        <p:grpSp>
          <p:nvGrpSpPr>
            <p:cNvPr id="10" name="Group 9"/>
            <p:cNvGrpSpPr/>
            <p:nvPr/>
          </p:nvGrpSpPr>
          <p:grpSpPr>
            <a:xfrm>
              <a:off x="0" y="127444"/>
              <a:ext cx="3155926" cy="937640"/>
              <a:chOff x="0" y="127444"/>
              <a:chExt cx="3155926" cy="937640"/>
            </a:xfrm>
          </p:grpSpPr>
          <p:pic>
            <p:nvPicPr>
              <p:cNvPr id="11" name="Picture 10" descr="image001"/>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0" y="128049"/>
                <a:ext cx="557759"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851110" y="127444"/>
                <a:ext cx="548640" cy="548640"/>
              </a:xfrm>
              <a:prstGeom prst="rect">
                <a:avLst/>
              </a:prstGeom>
            </p:spPr>
          </p:pic>
          <p:sp>
            <p:nvSpPr>
              <p:cNvPr id="13" name="TextBox 51"/>
              <p:cNvSpPr txBox="1"/>
              <p:nvPr/>
            </p:nvSpPr>
            <p:spPr>
              <a:xfrm>
                <a:off x="74305" y="683036"/>
                <a:ext cx="1558925" cy="382048"/>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69" normalizeH="0" baseline="0" noProof="0" dirty="0">
                    <a:ln>
                      <a:noFill/>
                    </a:ln>
                    <a:solidFill>
                      <a:srgbClr val="217346"/>
                    </a:solidFill>
                    <a:effectLst/>
                    <a:uLnTx/>
                    <a:uFillTx/>
                    <a:latin typeface="Segoe UI"/>
                    <a:ea typeface="SimSun" panose="02010600030101010101" pitchFamily="2" charset="-122"/>
                    <a:cs typeface="Times New Roman" panose="02020603050405020304" pitchFamily="18" charset="0"/>
                  </a:rPr>
                  <a:t>Excel</a:t>
                </a:r>
                <a:endParaRPr kumimoji="0" lang="en-US" sz="1372" b="0" i="0" u="none" strike="noStrike" kern="1200" cap="none" spc="0" normalizeH="0" baseline="0" noProof="0" dirty="0">
                  <a:ln>
                    <a:noFill/>
                  </a:ln>
                  <a:solidFill>
                    <a:srgbClr val="505050"/>
                  </a:solidFill>
                  <a:effectLst/>
                  <a:uLnTx/>
                  <a:uFillTx/>
                  <a:latin typeface="Times New Roman" panose="02020603050405020304" pitchFamily="18" charset="0"/>
                  <a:ea typeface="SimSun" panose="02010600030101010101" pitchFamily="2" charset="-122"/>
                  <a:cs typeface="+mn-cs"/>
                </a:endParaRPr>
              </a:p>
            </p:txBody>
          </p:sp>
          <p:sp>
            <p:nvSpPr>
              <p:cNvPr id="14" name="TextBox 52"/>
              <p:cNvSpPr txBox="1"/>
              <p:nvPr/>
            </p:nvSpPr>
            <p:spPr>
              <a:xfrm>
                <a:off x="1810955" y="675619"/>
                <a:ext cx="1344971" cy="382048"/>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765" b="0" i="0" u="none" strike="noStrike" kern="1200" cap="none" spc="-69" normalizeH="0" baseline="0" noProof="0" dirty="0">
                    <a:ln>
                      <a:noFill/>
                    </a:ln>
                    <a:solidFill>
                      <a:srgbClr val="217346"/>
                    </a:solidFill>
                    <a:effectLst/>
                    <a:uLnTx/>
                    <a:uFillTx/>
                    <a:latin typeface="Segoe UI"/>
                    <a:ea typeface="SimSun" panose="02010600030101010101" pitchFamily="2" charset="-122"/>
                    <a:cs typeface="Times New Roman" panose="02020603050405020304" pitchFamily="18" charset="0"/>
                  </a:rPr>
                  <a:t>Power BI</a:t>
                </a:r>
                <a:endParaRPr kumimoji="0" lang="en-US" sz="1372" b="0" i="0" u="none" strike="noStrike" kern="1200" cap="none" spc="0" normalizeH="0" baseline="0" noProof="0" dirty="0">
                  <a:ln>
                    <a:noFill/>
                  </a:ln>
                  <a:solidFill>
                    <a:srgbClr val="505050"/>
                  </a:solidFill>
                  <a:effectLst/>
                  <a:uLnTx/>
                  <a:uFillTx/>
                  <a:latin typeface="Times New Roman" panose="02020603050405020304" pitchFamily="18" charset="0"/>
                  <a:ea typeface="SimSun" panose="02010600030101010101" pitchFamily="2" charset="-122"/>
                  <a:cs typeface="+mn-cs"/>
                </a:endParaRPr>
              </a:p>
            </p:txBody>
          </p:sp>
        </p:grpSp>
      </p:grpSp>
      <p:sp>
        <p:nvSpPr>
          <p:cNvPr id="15" name="TextBox 14"/>
          <p:cNvSpPr txBox="1"/>
          <p:nvPr/>
        </p:nvSpPr>
        <p:spPr>
          <a:xfrm>
            <a:off x="3099415" y="5105963"/>
            <a:ext cx="2670593" cy="534056"/>
          </a:xfrm>
          <a:prstGeom prst="rect">
            <a:avLst/>
          </a:prstGeom>
          <a:noFill/>
        </p:spPr>
        <p:txBody>
          <a:bodyPr wrap="none" lIns="179285" tIns="143428" rIns="179285" bIns="143428"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SAP BusinessObjects BI</a:t>
            </a:r>
          </a:p>
        </p:txBody>
      </p:sp>
      <p:sp>
        <p:nvSpPr>
          <p:cNvPr id="16" name="Freeform 15"/>
          <p:cNvSpPr/>
          <p:nvPr/>
        </p:nvSpPr>
        <p:spPr>
          <a:xfrm>
            <a:off x="2914103" y="5213525"/>
            <a:ext cx="207862" cy="145042"/>
          </a:xfrm>
          <a:custGeom>
            <a:avLst/>
            <a:gdLst>
              <a:gd name="connsiteX0" fmla="*/ 316344 w 316458"/>
              <a:gd name="connsiteY0" fmla="*/ 0 h 199428"/>
              <a:gd name="connsiteX1" fmla="*/ 210972 w 316458"/>
              <a:gd name="connsiteY1" fmla="*/ 45389 h 199428"/>
              <a:gd name="connsiteX2" fmla="*/ 210972 w 316458"/>
              <a:gd name="connsiteY2" fmla="*/ 0 h 199428"/>
              <a:gd name="connsiteX3" fmla="*/ 210845 w 316458"/>
              <a:gd name="connsiteY3" fmla="*/ 0 h 199428"/>
              <a:gd name="connsiteX4" fmla="*/ 105486 w 316458"/>
              <a:gd name="connsiteY4" fmla="*/ 45389 h 199428"/>
              <a:gd name="connsiteX5" fmla="*/ 105486 w 316458"/>
              <a:gd name="connsiteY5" fmla="*/ 0 h 199428"/>
              <a:gd name="connsiteX6" fmla="*/ 105371 w 316458"/>
              <a:gd name="connsiteY6" fmla="*/ 0 h 199428"/>
              <a:gd name="connsiteX7" fmla="*/ 0 w 316458"/>
              <a:gd name="connsiteY7" fmla="*/ 45389 h 199428"/>
              <a:gd name="connsiteX8" fmla="*/ 0 w 316458"/>
              <a:gd name="connsiteY8" fmla="*/ 199428 h 199428"/>
              <a:gd name="connsiteX9" fmla="*/ 316458 w 316458"/>
              <a:gd name="connsiteY9" fmla="*/ 199428 h 199428"/>
              <a:gd name="connsiteX10" fmla="*/ 316458 w 316458"/>
              <a:gd name="connsiteY10" fmla="*/ 45389 h 199428"/>
              <a:gd name="connsiteX11" fmla="*/ 316458 w 316458"/>
              <a:gd name="connsiteY11" fmla="*/ 0 h 199428"/>
              <a:gd name="connsiteX12" fmla="*/ 316344 w 316458"/>
              <a:gd name="connsiteY12" fmla="*/ 0 h 19942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Lst>
            <a:rect l="l" t="t" r="r" b="b"/>
            <a:pathLst>
              <a:path w="316458" h="199428">
                <a:moveTo>
                  <a:pt x="316344" y="0"/>
                </a:moveTo>
                <a:lnTo>
                  <a:pt x="210972" y="45389"/>
                </a:lnTo>
                <a:lnTo>
                  <a:pt x="210972" y="0"/>
                </a:lnTo>
                <a:lnTo>
                  <a:pt x="210845" y="0"/>
                </a:lnTo>
                <a:lnTo>
                  <a:pt x="105486" y="45389"/>
                </a:lnTo>
                <a:lnTo>
                  <a:pt x="105486" y="0"/>
                </a:lnTo>
                <a:lnTo>
                  <a:pt x="105371" y="0"/>
                </a:lnTo>
                <a:lnTo>
                  <a:pt x="0" y="45389"/>
                </a:lnTo>
                <a:lnTo>
                  <a:pt x="0" y="199428"/>
                </a:lnTo>
                <a:lnTo>
                  <a:pt x="316458" y="199428"/>
                </a:lnTo>
                <a:lnTo>
                  <a:pt x="316458" y="45389"/>
                </a:lnTo>
                <a:lnTo>
                  <a:pt x="316458" y="0"/>
                </a:lnTo>
                <a:lnTo>
                  <a:pt x="316344" y="0"/>
                </a:ln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zh-CN" altLang="en-US" sz="1372" b="0" i="0" u="none" strike="noStrike" kern="1200" cap="none" spc="0" normalizeH="0" baseline="0" noProof="0">
              <a:ln>
                <a:noFill/>
              </a:ln>
              <a:solidFill>
                <a:srgbClr val="FFFFFF"/>
              </a:solidFill>
              <a:effectLst/>
              <a:uLnTx/>
              <a:uFillTx/>
              <a:latin typeface="Segoe UI"/>
              <a:cs typeface="+mn-cs"/>
            </a:endParaRPr>
          </a:p>
        </p:txBody>
      </p:sp>
      <p:sp>
        <p:nvSpPr>
          <p:cNvPr id="17" name="Freeform 3"/>
          <p:cNvSpPr/>
          <p:nvPr/>
        </p:nvSpPr>
        <p:spPr>
          <a:xfrm>
            <a:off x="2659228" y="5384315"/>
            <a:ext cx="177372" cy="144505"/>
          </a:xfrm>
          <a:custGeom>
            <a:avLst/>
            <a:gdLst>
              <a:gd name="connsiteX0" fmla="*/ 72935 w 270040"/>
              <a:gd name="connsiteY0" fmla="*/ 98805 h 198691"/>
              <a:gd name="connsiteX1" fmla="*/ 787 w 270040"/>
              <a:gd name="connsiteY1" fmla="*/ 0 h 198691"/>
              <a:gd name="connsiteX2" fmla="*/ 197904 w 270040"/>
              <a:gd name="connsiteY2" fmla="*/ 0 h 198691"/>
              <a:gd name="connsiteX3" fmla="*/ 270040 w 270040"/>
              <a:gd name="connsiteY3" fmla="*/ 98805 h 198691"/>
              <a:gd name="connsiteX4" fmla="*/ 197116 w 270040"/>
              <a:gd name="connsiteY4" fmla="*/ 198691 h 198691"/>
              <a:gd name="connsiteX5" fmla="*/ 0 w 270040"/>
              <a:gd name="connsiteY5" fmla="*/ 198691 h 198691"/>
              <a:gd name="connsiteX6" fmla="*/ 72935 w 270040"/>
              <a:gd name="connsiteY6" fmla="*/ 98805 h 19869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270040" h="198691">
                <a:moveTo>
                  <a:pt x="72935" y="98805"/>
                </a:moveTo>
                <a:lnTo>
                  <a:pt x="787" y="0"/>
                </a:lnTo>
                <a:lnTo>
                  <a:pt x="197904" y="0"/>
                </a:lnTo>
                <a:lnTo>
                  <a:pt x="270040" y="98805"/>
                </a:lnTo>
                <a:lnTo>
                  <a:pt x="197116" y="198691"/>
                </a:lnTo>
                <a:lnTo>
                  <a:pt x="0" y="198691"/>
                </a:lnTo>
                <a:lnTo>
                  <a:pt x="72935" y="98805"/>
                </a:ln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zh-CN" altLang="en-US" sz="1372" b="0" i="0" u="none" strike="noStrike" kern="1200" cap="none" spc="0" normalizeH="0" baseline="0" noProof="0">
              <a:ln>
                <a:noFill/>
              </a:ln>
              <a:solidFill>
                <a:srgbClr val="FFFFFF"/>
              </a:solidFill>
              <a:effectLst/>
              <a:uLnTx/>
              <a:uFillTx/>
              <a:latin typeface="Segoe UI"/>
              <a:cs typeface="+mn-cs"/>
            </a:endParaRPr>
          </a:p>
        </p:txBody>
      </p:sp>
      <p:sp>
        <p:nvSpPr>
          <p:cNvPr id="18" name="Freeform 3"/>
          <p:cNvSpPr/>
          <p:nvPr/>
        </p:nvSpPr>
        <p:spPr>
          <a:xfrm>
            <a:off x="2993774" y="5384315"/>
            <a:ext cx="177363" cy="144505"/>
          </a:xfrm>
          <a:custGeom>
            <a:avLst/>
            <a:gdLst>
              <a:gd name="connsiteX0" fmla="*/ 72923 w 270027"/>
              <a:gd name="connsiteY0" fmla="*/ 98805 h 198691"/>
              <a:gd name="connsiteX1" fmla="*/ 761 w 270027"/>
              <a:gd name="connsiteY1" fmla="*/ 0 h 198691"/>
              <a:gd name="connsiteX2" fmla="*/ 197866 w 270027"/>
              <a:gd name="connsiteY2" fmla="*/ 0 h 198691"/>
              <a:gd name="connsiteX3" fmla="*/ 270027 w 270027"/>
              <a:gd name="connsiteY3" fmla="*/ 98805 h 198691"/>
              <a:gd name="connsiteX4" fmla="*/ 197091 w 270027"/>
              <a:gd name="connsiteY4" fmla="*/ 198691 h 198691"/>
              <a:gd name="connsiteX5" fmla="*/ 0 w 270027"/>
              <a:gd name="connsiteY5" fmla="*/ 198691 h 198691"/>
              <a:gd name="connsiteX6" fmla="*/ 72923 w 270027"/>
              <a:gd name="connsiteY6" fmla="*/ 98805 h 19869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270027" h="198691">
                <a:moveTo>
                  <a:pt x="72923" y="98805"/>
                </a:moveTo>
                <a:lnTo>
                  <a:pt x="761" y="0"/>
                </a:lnTo>
                <a:lnTo>
                  <a:pt x="197866" y="0"/>
                </a:lnTo>
                <a:lnTo>
                  <a:pt x="270027" y="98805"/>
                </a:lnTo>
                <a:lnTo>
                  <a:pt x="197091" y="198691"/>
                </a:lnTo>
                <a:lnTo>
                  <a:pt x="0" y="198691"/>
                </a:lnTo>
                <a:lnTo>
                  <a:pt x="72923" y="98805"/>
                </a:ln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zh-CN" altLang="en-US" sz="1372" b="0" i="0" u="none" strike="noStrike" kern="1200" cap="none" spc="0" normalizeH="0" baseline="0" noProof="0">
              <a:ln>
                <a:noFill/>
              </a:ln>
              <a:solidFill>
                <a:srgbClr val="FFFFFF"/>
              </a:solidFill>
              <a:effectLst/>
              <a:uLnTx/>
              <a:uFillTx/>
              <a:latin typeface="Segoe UI"/>
              <a:cs typeface="+mn-cs"/>
            </a:endParaRPr>
          </a:p>
        </p:txBody>
      </p:sp>
      <p:sp>
        <p:nvSpPr>
          <p:cNvPr id="19" name="Freeform 3"/>
          <p:cNvSpPr/>
          <p:nvPr/>
        </p:nvSpPr>
        <p:spPr>
          <a:xfrm>
            <a:off x="2826497" y="5384315"/>
            <a:ext cx="177372" cy="144505"/>
          </a:xfrm>
          <a:custGeom>
            <a:avLst/>
            <a:gdLst>
              <a:gd name="connsiteX0" fmla="*/ 72923 w 270040"/>
              <a:gd name="connsiteY0" fmla="*/ 98805 h 198691"/>
              <a:gd name="connsiteX1" fmla="*/ 787 w 270040"/>
              <a:gd name="connsiteY1" fmla="*/ 0 h 198691"/>
              <a:gd name="connsiteX2" fmla="*/ 197891 w 270040"/>
              <a:gd name="connsiteY2" fmla="*/ 0 h 198691"/>
              <a:gd name="connsiteX3" fmla="*/ 270040 w 270040"/>
              <a:gd name="connsiteY3" fmla="*/ 98805 h 198691"/>
              <a:gd name="connsiteX4" fmla="*/ 197116 w 270040"/>
              <a:gd name="connsiteY4" fmla="*/ 198691 h 198691"/>
              <a:gd name="connsiteX5" fmla="*/ 0 w 270040"/>
              <a:gd name="connsiteY5" fmla="*/ 198691 h 198691"/>
              <a:gd name="connsiteX6" fmla="*/ 72923 w 270040"/>
              <a:gd name="connsiteY6" fmla="*/ 98805 h 198691"/>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270040" h="198691">
                <a:moveTo>
                  <a:pt x="72923" y="98805"/>
                </a:moveTo>
                <a:lnTo>
                  <a:pt x="787" y="0"/>
                </a:lnTo>
                <a:lnTo>
                  <a:pt x="197891" y="0"/>
                </a:lnTo>
                <a:lnTo>
                  <a:pt x="270040" y="98805"/>
                </a:lnTo>
                <a:lnTo>
                  <a:pt x="197116" y="198691"/>
                </a:lnTo>
                <a:lnTo>
                  <a:pt x="0" y="198691"/>
                </a:lnTo>
                <a:lnTo>
                  <a:pt x="72923" y="98805"/>
                </a:ln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zh-CN" altLang="en-US" sz="1372" b="0" i="0" u="none" strike="noStrike" kern="1200" cap="none" spc="0" normalizeH="0" baseline="0" noProof="0">
              <a:ln>
                <a:noFill/>
              </a:ln>
              <a:solidFill>
                <a:srgbClr val="FFFFFF"/>
              </a:solidFill>
              <a:effectLst/>
              <a:uLnTx/>
              <a:uFillTx/>
              <a:latin typeface="Segoe UI"/>
              <a:cs typeface="+mn-cs"/>
            </a:endParaRPr>
          </a:p>
        </p:txBody>
      </p:sp>
      <p:sp>
        <p:nvSpPr>
          <p:cNvPr id="20" name="Freeform 3"/>
          <p:cNvSpPr/>
          <p:nvPr/>
        </p:nvSpPr>
        <p:spPr>
          <a:xfrm>
            <a:off x="2655015" y="5143314"/>
            <a:ext cx="231519" cy="215257"/>
          </a:xfrm>
          <a:custGeom>
            <a:avLst/>
            <a:gdLst>
              <a:gd name="connsiteX0" fmla="*/ 0 w 352475"/>
              <a:gd name="connsiteY0" fmla="*/ 0 h 295973"/>
              <a:gd name="connsiteX1" fmla="*/ 0 w 352475"/>
              <a:gd name="connsiteY1" fmla="*/ 295973 h 295973"/>
              <a:gd name="connsiteX2" fmla="*/ 133896 w 352475"/>
              <a:gd name="connsiteY2" fmla="*/ 295973 h 295973"/>
              <a:gd name="connsiteX3" fmla="*/ 133896 w 352475"/>
              <a:gd name="connsiteY3" fmla="*/ 250418 h 295973"/>
              <a:gd name="connsiteX4" fmla="*/ 220205 w 352475"/>
              <a:gd name="connsiteY4" fmla="*/ 250418 h 295973"/>
              <a:gd name="connsiteX5" fmla="*/ 220205 w 352475"/>
              <a:gd name="connsiteY5" fmla="*/ 295973 h 295973"/>
              <a:gd name="connsiteX6" fmla="*/ 352475 w 352475"/>
              <a:gd name="connsiteY6" fmla="*/ 295973 h 295973"/>
              <a:gd name="connsiteX7" fmla="*/ 352475 w 352475"/>
              <a:gd name="connsiteY7" fmla="*/ 0 h 295973"/>
              <a:gd name="connsiteX8" fmla="*/ 0 w 352475"/>
              <a:gd name="connsiteY8" fmla="*/ 0 h 2959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352475" h="295973">
                <a:moveTo>
                  <a:pt x="0" y="0"/>
                </a:moveTo>
                <a:lnTo>
                  <a:pt x="0" y="295973"/>
                </a:lnTo>
                <a:lnTo>
                  <a:pt x="133896" y="295973"/>
                </a:lnTo>
                <a:lnTo>
                  <a:pt x="133896" y="250418"/>
                </a:lnTo>
                <a:lnTo>
                  <a:pt x="220205" y="250418"/>
                </a:lnTo>
                <a:lnTo>
                  <a:pt x="220205" y="295973"/>
                </a:lnTo>
                <a:lnTo>
                  <a:pt x="352475" y="295973"/>
                </a:lnTo>
                <a:lnTo>
                  <a:pt x="352475" y="0"/>
                </a:lnTo>
                <a:lnTo>
                  <a:pt x="0" y="0"/>
                </a:ln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zh-CN" altLang="en-US" sz="1372" b="0" i="0" u="none" strike="noStrike" kern="1200" cap="none" spc="0" normalizeH="0" baseline="0" noProof="0">
              <a:ln>
                <a:noFill/>
              </a:ln>
              <a:solidFill>
                <a:srgbClr val="FFFFFF"/>
              </a:solidFill>
              <a:effectLst/>
              <a:uLnTx/>
              <a:uFillTx/>
              <a:latin typeface="Segoe UI"/>
              <a:cs typeface="+mn-cs"/>
            </a:endParaRPr>
          </a:p>
        </p:txBody>
      </p:sp>
      <p:sp>
        <p:nvSpPr>
          <p:cNvPr id="22" name="Chevron 21"/>
          <p:cNvSpPr/>
          <p:nvPr/>
        </p:nvSpPr>
        <p:spPr bwMode="auto">
          <a:xfrm rot="16200000">
            <a:off x="3649553" y="3238900"/>
            <a:ext cx="475105" cy="475105"/>
          </a:xfrm>
          <a:prstGeom prst="chevron">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4821" rIns="0" bIns="44821" numCol="1" rtlCol="0" anchor="ctr" anchorCtr="0" compatLnSpc="1">
            <a:prstTxWarp prst="textNoShape">
              <a:avLst/>
            </a:prstTxWarp>
          </a:bodyPr>
          <a:lstStyle/>
          <a:p>
            <a:pPr marL="0" marR="0" lvl="0" indent="0" algn="ctr" defTabSz="896094" rtl="0" eaLnBrk="1" fontAlgn="base" latinLnBrk="0" hangingPunct="1">
              <a:lnSpc>
                <a:spcPct val="100000"/>
              </a:lnSpc>
              <a:spcBef>
                <a:spcPct val="0"/>
              </a:spcBef>
              <a:spcAft>
                <a:spcPct val="0"/>
              </a:spcAft>
              <a:buClrTx/>
              <a:buSzTx/>
              <a:buFontTx/>
              <a:buNone/>
              <a:tabLst/>
              <a:defRPr/>
            </a:pPr>
            <a:endParaRPr kumimoji="0" lang="en-US" sz="192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mn-ea"/>
              <a:cs typeface="+mn-cs"/>
            </a:endParaRPr>
          </a:p>
        </p:txBody>
      </p:sp>
      <p:pic>
        <p:nvPicPr>
          <p:cNvPr id="24" name="Picture 2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604676" y="2180364"/>
            <a:ext cx="1325384" cy="317168"/>
          </a:xfrm>
          <a:prstGeom prst="rect">
            <a:avLst/>
          </a:prstGeom>
        </p:spPr>
      </p:pic>
      <p:pic>
        <p:nvPicPr>
          <p:cNvPr id="25" name="Picture 24"/>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04676" y="4360565"/>
            <a:ext cx="711612" cy="392673"/>
          </a:xfrm>
          <a:prstGeom prst="rect">
            <a:avLst/>
          </a:prstGeom>
        </p:spPr>
      </p:pic>
      <p:sp>
        <p:nvSpPr>
          <p:cNvPr id="26" name="Freeform 81"/>
          <p:cNvSpPr>
            <a:spLocks noEditPoints="1"/>
          </p:cNvSpPr>
          <p:nvPr/>
        </p:nvSpPr>
        <p:spPr bwMode="black">
          <a:xfrm>
            <a:off x="3418465" y="3820849"/>
            <a:ext cx="1035778" cy="597282"/>
          </a:xfrm>
          <a:custGeom>
            <a:avLst/>
            <a:gdLst>
              <a:gd name="T0" fmla="*/ 1588 w 3451"/>
              <a:gd name="T1" fmla="*/ 2110 h 2110"/>
              <a:gd name="T2" fmla="*/ 2100 w 3451"/>
              <a:gd name="T3" fmla="*/ 1951 h 2110"/>
              <a:gd name="T4" fmla="*/ 1141 w 3451"/>
              <a:gd name="T5" fmla="*/ 1911 h 2110"/>
              <a:gd name="T6" fmla="*/ 1215 w 3451"/>
              <a:gd name="T7" fmla="*/ 1929 h 2110"/>
              <a:gd name="T8" fmla="*/ 1799 w 3451"/>
              <a:gd name="T9" fmla="*/ 2021 h 2110"/>
              <a:gd name="T10" fmla="*/ 2036 w 3451"/>
              <a:gd name="T11" fmla="*/ 1911 h 2110"/>
              <a:gd name="T12" fmla="*/ 1121 w 3451"/>
              <a:gd name="T13" fmla="*/ 1193 h 2110"/>
              <a:gd name="T14" fmla="*/ 1992 w 3451"/>
              <a:gd name="T15" fmla="*/ 1211 h 2110"/>
              <a:gd name="T16" fmla="*/ 2497 w 3451"/>
              <a:gd name="T17" fmla="*/ 803 h 2110"/>
              <a:gd name="T18" fmla="*/ 975 w 3451"/>
              <a:gd name="T19" fmla="*/ 240 h 2110"/>
              <a:gd name="T20" fmla="*/ 1616 w 3451"/>
              <a:gd name="T21" fmla="*/ 736 h 2110"/>
              <a:gd name="T22" fmla="*/ 2006 w 3451"/>
              <a:gd name="T23" fmla="*/ 508 h 2110"/>
              <a:gd name="T24" fmla="*/ 1990 w 3451"/>
              <a:gd name="T25" fmla="*/ 320 h 2110"/>
              <a:gd name="T26" fmla="*/ 2004 w 3451"/>
              <a:gd name="T27" fmla="*/ 426 h 2110"/>
              <a:gd name="T28" fmla="*/ 2038 w 3451"/>
              <a:gd name="T29" fmla="*/ 1120 h 2110"/>
              <a:gd name="T30" fmla="*/ 2304 w 3451"/>
              <a:gd name="T31" fmla="*/ 985 h 2110"/>
              <a:gd name="T32" fmla="*/ 2225 w 3451"/>
              <a:gd name="T33" fmla="*/ 465 h 2110"/>
              <a:gd name="T34" fmla="*/ 2219 w 3451"/>
              <a:gd name="T35" fmla="*/ 477 h 2110"/>
              <a:gd name="T36" fmla="*/ 1844 w 3451"/>
              <a:gd name="T37" fmla="*/ 192 h 2110"/>
              <a:gd name="T38" fmla="*/ 1818 w 3451"/>
              <a:gd name="T39" fmla="*/ 109 h 2110"/>
              <a:gd name="T40" fmla="*/ 1133 w 3451"/>
              <a:gd name="T41" fmla="*/ 1121 h 2110"/>
              <a:gd name="T42" fmla="*/ 1171 w 3451"/>
              <a:gd name="T43" fmla="*/ 951 h 2110"/>
              <a:gd name="T44" fmla="*/ 1115 w 3451"/>
              <a:gd name="T45" fmla="*/ 350 h 2110"/>
              <a:gd name="T46" fmla="*/ 1155 w 3451"/>
              <a:gd name="T47" fmla="*/ 517 h 2110"/>
              <a:gd name="T48" fmla="*/ 1265 w 3451"/>
              <a:gd name="T49" fmla="*/ 843 h 2110"/>
              <a:gd name="T50" fmla="*/ 1555 w 3451"/>
              <a:gd name="T51" fmla="*/ 284 h 2110"/>
              <a:gd name="T52" fmla="*/ 1353 w 3451"/>
              <a:gd name="T53" fmla="*/ 109 h 2110"/>
              <a:gd name="T54" fmla="*/ 1221 w 3451"/>
              <a:gd name="T55" fmla="*/ 201 h 2110"/>
              <a:gd name="T56" fmla="*/ 923 w 3451"/>
              <a:gd name="T57" fmla="*/ 379 h 2110"/>
              <a:gd name="T58" fmla="*/ 945 w 3451"/>
              <a:gd name="T59" fmla="*/ 466 h 2110"/>
              <a:gd name="T60" fmla="*/ 447 w 3451"/>
              <a:gd name="T61" fmla="*/ 993 h 2110"/>
              <a:gd name="T62" fmla="*/ 2737 w 3451"/>
              <a:gd name="T63" fmla="*/ 1157 h 2110"/>
              <a:gd name="T64" fmla="*/ 1748 w 3451"/>
              <a:gd name="T65" fmla="*/ 1552 h 2110"/>
              <a:gd name="T66" fmla="*/ 2015 w 3451"/>
              <a:gd name="T67" fmla="*/ 1319 h 2110"/>
              <a:gd name="T68" fmla="*/ 581 w 3451"/>
              <a:gd name="T69" fmla="*/ 1265 h 2110"/>
              <a:gd name="T70" fmla="*/ 1557 w 3451"/>
              <a:gd name="T71" fmla="*/ 1799 h 2110"/>
              <a:gd name="T72" fmla="*/ 2476 w 3451"/>
              <a:gd name="T73" fmla="*/ 1476 h 2110"/>
              <a:gd name="T74" fmla="*/ 123 w 3451"/>
              <a:gd name="T75" fmla="*/ 1195 h 2110"/>
              <a:gd name="T76" fmla="*/ 231 w 3451"/>
              <a:gd name="T77" fmla="*/ 956 h 2110"/>
              <a:gd name="T78" fmla="*/ 530 w 3451"/>
              <a:gd name="T79" fmla="*/ 1074 h 2110"/>
              <a:gd name="T80" fmla="*/ 658 w 3451"/>
              <a:gd name="T81" fmla="*/ 1255 h 2110"/>
              <a:gd name="T82" fmla="*/ 628 w 3451"/>
              <a:gd name="T83" fmla="*/ 1016 h 2110"/>
              <a:gd name="T84" fmla="*/ 724 w 3451"/>
              <a:gd name="T85" fmla="*/ 1343 h 2110"/>
              <a:gd name="T86" fmla="*/ 824 w 3451"/>
              <a:gd name="T87" fmla="*/ 1434 h 2110"/>
              <a:gd name="T88" fmla="*/ 767 w 3451"/>
              <a:gd name="T89" fmla="*/ 1212 h 2110"/>
              <a:gd name="T90" fmla="*/ 927 w 3451"/>
              <a:gd name="T91" fmla="*/ 1501 h 2110"/>
              <a:gd name="T92" fmla="*/ 988 w 3451"/>
              <a:gd name="T93" fmla="*/ 1427 h 2110"/>
              <a:gd name="T94" fmla="*/ 1270 w 3451"/>
              <a:gd name="T95" fmla="*/ 1671 h 2110"/>
              <a:gd name="T96" fmla="*/ 1264 w 3451"/>
              <a:gd name="T97" fmla="*/ 1444 h 2110"/>
              <a:gd name="T98" fmla="*/ 1501 w 3451"/>
              <a:gd name="T99" fmla="*/ 1703 h 2110"/>
              <a:gd name="T100" fmla="*/ 1695 w 3451"/>
              <a:gd name="T101" fmla="*/ 1440 h 2110"/>
              <a:gd name="T102" fmla="*/ 2020 w 3451"/>
              <a:gd name="T103" fmla="*/ 1654 h 2110"/>
              <a:gd name="T104" fmla="*/ 1901 w 3451"/>
              <a:gd name="T105" fmla="*/ 1457 h 2110"/>
              <a:gd name="T106" fmla="*/ 2053 w 3451"/>
              <a:gd name="T107" fmla="*/ 1600 h 2110"/>
              <a:gd name="T108" fmla="*/ 2208 w 3451"/>
              <a:gd name="T109" fmla="*/ 1543 h 2110"/>
              <a:gd name="T110" fmla="*/ 2294 w 3451"/>
              <a:gd name="T111" fmla="*/ 1280 h 2110"/>
              <a:gd name="T112" fmla="*/ 2386 w 3451"/>
              <a:gd name="T113" fmla="*/ 1486 h 2110"/>
              <a:gd name="T114" fmla="*/ 2473 w 3451"/>
              <a:gd name="T115" fmla="*/ 1155 h 2110"/>
              <a:gd name="T116" fmla="*/ 2654 w 3451"/>
              <a:gd name="T117" fmla="*/ 1074 h 2110"/>
              <a:gd name="T118" fmla="*/ 2954 w 3451"/>
              <a:gd name="T119" fmla="*/ 1154 h 2110"/>
              <a:gd name="T120" fmla="*/ 3062 w 3451"/>
              <a:gd name="T121" fmla="*/ 1154 h 2110"/>
              <a:gd name="T122" fmla="*/ 1038 w 3451"/>
              <a:gd name="T123" fmla="*/ 1498 h 2110"/>
              <a:gd name="T124" fmla="*/ 2472 w 3451"/>
              <a:gd name="T125" fmla="*/ 1231 h 2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51" h="2110">
                <a:moveTo>
                  <a:pt x="1585" y="1902"/>
                </a:moveTo>
                <a:cubicBezTo>
                  <a:pt x="1383" y="1902"/>
                  <a:pt x="1184" y="1867"/>
                  <a:pt x="1012" y="1802"/>
                </a:cubicBezTo>
                <a:cubicBezTo>
                  <a:pt x="945" y="1776"/>
                  <a:pt x="884" y="1747"/>
                  <a:pt x="828" y="1714"/>
                </a:cubicBezTo>
                <a:cubicBezTo>
                  <a:pt x="896" y="1807"/>
                  <a:pt x="980" y="1887"/>
                  <a:pt x="1077" y="1951"/>
                </a:cubicBezTo>
                <a:cubicBezTo>
                  <a:pt x="1119" y="1979"/>
                  <a:pt x="1165" y="2004"/>
                  <a:pt x="1212" y="2026"/>
                </a:cubicBezTo>
                <a:cubicBezTo>
                  <a:pt x="1264" y="2049"/>
                  <a:pt x="1318" y="2068"/>
                  <a:pt x="1375" y="2082"/>
                </a:cubicBezTo>
                <a:cubicBezTo>
                  <a:pt x="1443" y="2099"/>
                  <a:pt x="1515" y="2108"/>
                  <a:pt x="1588" y="2110"/>
                </a:cubicBezTo>
                <a:cubicBezTo>
                  <a:pt x="1588" y="2110"/>
                  <a:pt x="1588" y="2110"/>
                  <a:pt x="1588" y="2110"/>
                </a:cubicBezTo>
                <a:cubicBezTo>
                  <a:pt x="1588" y="2110"/>
                  <a:pt x="1588" y="2110"/>
                  <a:pt x="1588" y="2110"/>
                </a:cubicBezTo>
                <a:cubicBezTo>
                  <a:pt x="1588" y="2110"/>
                  <a:pt x="1588" y="2110"/>
                  <a:pt x="1588" y="2110"/>
                </a:cubicBezTo>
                <a:cubicBezTo>
                  <a:pt x="1588" y="2110"/>
                  <a:pt x="1588" y="2110"/>
                  <a:pt x="1588" y="2110"/>
                </a:cubicBezTo>
                <a:cubicBezTo>
                  <a:pt x="1662" y="2108"/>
                  <a:pt x="1733" y="2099"/>
                  <a:pt x="1802" y="2082"/>
                </a:cubicBezTo>
                <a:cubicBezTo>
                  <a:pt x="1858" y="2068"/>
                  <a:pt x="1913" y="2049"/>
                  <a:pt x="1965" y="2026"/>
                </a:cubicBezTo>
                <a:cubicBezTo>
                  <a:pt x="2012" y="2004"/>
                  <a:pt x="2057" y="1979"/>
                  <a:pt x="2100" y="1951"/>
                </a:cubicBezTo>
                <a:cubicBezTo>
                  <a:pt x="2199" y="1886"/>
                  <a:pt x="2285" y="1802"/>
                  <a:pt x="2354" y="1706"/>
                </a:cubicBezTo>
                <a:cubicBezTo>
                  <a:pt x="2264" y="1761"/>
                  <a:pt x="2159" y="1806"/>
                  <a:pt x="2045" y="1839"/>
                </a:cubicBezTo>
                <a:cubicBezTo>
                  <a:pt x="1899" y="1881"/>
                  <a:pt x="1744" y="1902"/>
                  <a:pt x="1585" y="1902"/>
                </a:cubicBezTo>
                <a:close/>
                <a:moveTo>
                  <a:pt x="1104" y="1897"/>
                </a:moveTo>
                <a:cubicBezTo>
                  <a:pt x="1087" y="1886"/>
                  <a:pt x="1071" y="1874"/>
                  <a:pt x="1054" y="1861"/>
                </a:cubicBezTo>
                <a:cubicBezTo>
                  <a:pt x="1080" y="1873"/>
                  <a:pt x="1107" y="1883"/>
                  <a:pt x="1134" y="1893"/>
                </a:cubicBezTo>
                <a:cubicBezTo>
                  <a:pt x="1136" y="1899"/>
                  <a:pt x="1138" y="1905"/>
                  <a:pt x="1141" y="1911"/>
                </a:cubicBezTo>
                <a:cubicBezTo>
                  <a:pt x="1128" y="1907"/>
                  <a:pt x="1116" y="1902"/>
                  <a:pt x="1104" y="1897"/>
                </a:cubicBezTo>
                <a:close/>
                <a:moveTo>
                  <a:pt x="1557" y="2049"/>
                </a:moveTo>
                <a:cubicBezTo>
                  <a:pt x="1532" y="2048"/>
                  <a:pt x="1513" y="2045"/>
                  <a:pt x="1488" y="2042"/>
                </a:cubicBezTo>
                <a:cubicBezTo>
                  <a:pt x="1451" y="2037"/>
                  <a:pt x="1414" y="2030"/>
                  <a:pt x="1378" y="2021"/>
                </a:cubicBezTo>
                <a:cubicBezTo>
                  <a:pt x="1353" y="2014"/>
                  <a:pt x="1328" y="2007"/>
                  <a:pt x="1304" y="1998"/>
                </a:cubicBezTo>
                <a:cubicBezTo>
                  <a:pt x="1284" y="1991"/>
                  <a:pt x="1265" y="1983"/>
                  <a:pt x="1247" y="1975"/>
                </a:cubicBezTo>
                <a:cubicBezTo>
                  <a:pt x="1235" y="1962"/>
                  <a:pt x="1224" y="1947"/>
                  <a:pt x="1215" y="1929"/>
                </a:cubicBezTo>
                <a:cubicBezTo>
                  <a:pt x="1213" y="1925"/>
                  <a:pt x="1211" y="1921"/>
                  <a:pt x="1209" y="1917"/>
                </a:cubicBezTo>
                <a:cubicBezTo>
                  <a:pt x="1329" y="1952"/>
                  <a:pt x="1449" y="1971"/>
                  <a:pt x="1557" y="1973"/>
                </a:cubicBezTo>
                <a:lnTo>
                  <a:pt x="1557" y="2049"/>
                </a:lnTo>
                <a:close/>
                <a:moveTo>
                  <a:pt x="1962" y="1929"/>
                </a:moveTo>
                <a:cubicBezTo>
                  <a:pt x="1952" y="1947"/>
                  <a:pt x="1942" y="1962"/>
                  <a:pt x="1930" y="1975"/>
                </a:cubicBezTo>
                <a:cubicBezTo>
                  <a:pt x="1911" y="1983"/>
                  <a:pt x="1892" y="1991"/>
                  <a:pt x="1873" y="1998"/>
                </a:cubicBezTo>
                <a:cubicBezTo>
                  <a:pt x="1849" y="2007"/>
                  <a:pt x="1824" y="2014"/>
                  <a:pt x="1799" y="2021"/>
                </a:cubicBezTo>
                <a:cubicBezTo>
                  <a:pt x="1763" y="2030"/>
                  <a:pt x="1726" y="2037"/>
                  <a:pt x="1689" y="2042"/>
                </a:cubicBezTo>
                <a:cubicBezTo>
                  <a:pt x="1664" y="2045"/>
                  <a:pt x="1645" y="2048"/>
                  <a:pt x="1620" y="2049"/>
                </a:cubicBezTo>
                <a:cubicBezTo>
                  <a:pt x="1620" y="1973"/>
                  <a:pt x="1620" y="1973"/>
                  <a:pt x="1620" y="1973"/>
                </a:cubicBezTo>
                <a:cubicBezTo>
                  <a:pt x="1728" y="1971"/>
                  <a:pt x="1848" y="1952"/>
                  <a:pt x="1968" y="1917"/>
                </a:cubicBezTo>
                <a:cubicBezTo>
                  <a:pt x="1966" y="1921"/>
                  <a:pt x="1964" y="1925"/>
                  <a:pt x="1962" y="1929"/>
                </a:cubicBezTo>
                <a:close/>
                <a:moveTo>
                  <a:pt x="2072" y="1897"/>
                </a:moveTo>
                <a:cubicBezTo>
                  <a:pt x="2060" y="1902"/>
                  <a:pt x="2048" y="1907"/>
                  <a:pt x="2036" y="1911"/>
                </a:cubicBezTo>
                <a:cubicBezTo>
                  <a:pt x="2038" y="1905"/>
                  <a:pt x="2040" y="1899"/>
                  <a:pt x="2043" y="1893"/>
                </a:cubicBezTo>
                <a:cubicBezTo>
                  <a:pt x="2070" y="1883"/>
                  <a:pt x="2097" y="1872"/>
                  <a:pt x="2123" y="1860"/>
                </a:cubicBezTo>
                <a:cubicBezTo>
                  <a:pt x="2107" y="1873"/>
                  <a:pt x="2090" y="1886"/>
                  <a:pt x="2072" y="1897"/>
                </a:cubicBezTo>
                <a:close/>
                <a:moveTo>
                  <a:pt x="699" y="879"/>
                </a:moveTo>
                <a:cubicBezTo>
                  <a:pt x="783" y="1007"/>
                  <a:pt x="903" y="1100"/>
                  <a:pt x="1046" y="1163"/>
                </a:cubicBezTo>
                <a:cubicBezTo>
                  <a:pt x="1070" y="1173"/>
                  <a:pt x="1095" y="1182"/>
                  <a:pt x="1121" y="1191"/>
                </a:cubicBezTo>
                <a:cubicBezTo>
                  <a:pt x="1121" y="1191"/>
                  <a:pt x="1121" y="1192"/>
                  <a:pt x="1121" y="1193"/>
                </a:cubicBezTo>
                <a:cubicBezTo>
                  <a:pt x="1140" y="1199"/>
                  <a:pt x="1159" y="1205"/>
                  <a:pt x="1178" y="1211"/>
                </a:cubicBezTo>
                <a:cubicBezTo>
                  <a:pt x="1178" y="1210"/>
                  <a:pt x="1178" y="1209"/>
                  <a:pt x="1178" y="1208"/>
                </a:cubicBezTo>
                <a:cubicBezTo>
                  <a:pt x="1237" y="1225"/>
                  <a:pt x="1296" y="1239"/>
                  <a:pt x="1355" y="1249"/>
                </a:cubicBezTo>
                <a:cubicBezTo>
                  <a:pt x="1429" y="1259"/>
                  <a:pt x="1506" y="1264"/>
                  <a:pt x="1585" y="1264"/>
                </a:cubicBezTo>
                <a:cubicBezTo>
                  <a:pt x="1663" y="1264"/>
                  <a:pt x="1739" y="1259"/>
                  <a:pt x="1812" y="1249"/>
                </a:cubicBezTo>
                <a:cubicBezTo>
                  <a:pt x="1872" y="1239"/>
                  <a:pt x="1932" y="1225"/>
                  <a:pt x="1992" y="1208"/>
                </a:cubicBezTo>
                <a:cubicBezTo>
                  <a:pt x="1992" y="1209"/>
                  <a:pt x="1992" y="1210"/>
                  <a:pt x="1992" y="1211"/>
                </a:cubicBezTo>
                <a:cubicBezTo>
                  <a:pt x="2012" y="1205"/>
                  <a:pt x="2031" y="1199"/>
                  <a:pt x="2049" y="1193"/>
                </a:cubicBezTo>
                <a:cubicBezTo>
                  <a:pt x="2049" y="1192"/>
                  <a:pt x="2049" y="1191"/>
                  <a:pt x="2049" y="1190"/>
                </a:cubicBezTo>
                <a:cubicBezTo>
                  <a:pt x="2077" y="1181"/>
                  <a:pt x="2104" y="1171"/>
                  <a:pt x="2130" y="1161"/>
                </a:cubicBezTo>
                <a:cubicBezTo>
                  <a:pt x="2267" y="1099"/>
                  <a:pt x="2382" y="1010"/>
                  <a:pt x="2465" y="888"/>
                </a:cubicBezTo>
                <a:cubicBezTo>
                  <a:pt x="2466" y="887"/>
                  <a:pt x="2467" y="885"/>
                  <a:pt x="2467" y="883"/>
                </a:cubicBezTo>
                <a:cubicBezTo>
                  <a:pt x="2472" y="873"/>
                  <a:pt x="2476" y="863"/>
                  <a:pt x="2480" y="852"/>
                </a:cubicBezTo>
                <a:cubicBezTo>
                  <a:pt x="2497" y="803"/>
                  <a:pt x="2497" y="803"/>
                  <a:pt x="2497" y="803"/>
                </a:cubicBezTo>
                <a:cubicBezTo>
                  <a:pt x="2495" y="788"/>
                  <a:pt x="2491" y="763"/>
                  <a:pt x="2490" y="756"/>
                </a:cubicBezTo>
                <a:cubicBezTo>
                  <a:pt x="2458" y="596"/>
                  <a:pt x="2386" y="451"/>
                  <a:pt x="2285" y="332"/>
                </a:cubicBezTo>
                <a:cubicBezTo>
                  <a:pt x="2272" y="316"/>
                  <a:pt x="2259" y="301"/>
                  <a:pt x="2245" y="287"/>
                </a:cubicBezTo>
                <a:cubicBezTo>
                  <a:pt x="2241" y="283"/>
                  <a:pt x="2195" y="240"/>
                  <a:pt x="2195" y="240"/>
                </a:cubicBezTo>
                <a:cubicBezTo>
                  <a:pt x="2033" y="94"/>
                  <a:pt x="1819" y="4"/>
                  <a:pt x="1585" y="0"/>
                </a:cubicBezTo>
                <a:cubicBezTo>
                  <a:pt x="1585" y="0"/>
                  <a:pt x="1585" y="0"/>
                  <a:pt x="1585" y="0"/>
                </a:cubicBezTo>
                <a:cubicBezTo>
                  <a:pt x="1351" y="4"/>
                  <a:pt x="1137" y="94"/>
                  <a:pt x="975" y="240"/>
                </a:cubicBezTo>
                <a:cubicBezTo>
                  <a:pt x="975" y="240"/>
                  <a:pt x="925" y="283"/>
                  <a:pt x="886" y="332"/>
                </a:cubicBezTo>
                <a:cubicBezTo>
                  <a:pt x="784" y="451"/>
                  <a:pt x="712" y="596"/>
                  <a:pt x="681" y="756"/>
                </a:cubicBezTo>
                <a:cubicBezTo>
                  <a:pt x="680" y="759"/>
                  <a:pt x="677" y="779"/>
                  <a:pt x="673" y="806"/>
                </a:cubicBezTo>
                <a:cubicBezTo>
                  <a:pt x="689" y="853"/>
                  <a:pt x="689" y="853"/>
                  <a:pt x="689" y="853"/>
                </a:cubicBezTo>
                <a:cubicBezTo>
                  <a:pt x="692" y="861"/>
                  <a:pt x="695" y="870"/>
                  <a:pt x="699" y="879"/>
                </a:cubicBezTo>
                <a:close/>
                <a:moveTo>
                  <a:pt x="1616" y="1197"/>
                </a:moveTo>
                <a:cubicBezTo>
                  <a:pt x="1616" y="736"/>
                  <a:pt x="1616" y="736"/>
                  <a:pt x="1616" y="736"/>
                </a:cubicBezTo>
                <a:cubicBezTo>
                  <a:pt x="1687" y="734"/>
                  <a:pt x="1767" y="723"/>
                  <a:pt x="1852" y="700"/>
                </a:cubicBezTo>
                <a:cubicBezTo>
                  <a:pt x="1871" y="747"/>
                  <a:pt x="1889" y="794"/>
                  <a:pt x="1905" y="843"/>
                </a:cubicBezTo>
                <a:cubicBezTo>
                  <a:pt x="1918" y="879"/>
                  <a:pt x="1928" y="916"/>
                  <a:pt x="1938" y="951"/>
                </a:cubicBezTo>
                <a:cubicBezTo>
                  <a:pt x="1949" y="989"/>
                  <a:pt x="1958" y="1026"/>
                  <a:pt x="1966" y="1063"/>
                </a:cubicBezTo>
                <a:cubicBezTo>
                  <a:pt x="1972" y="1088"/>
                  <a:pt x="1977" y="1113"/>
                  <a:pt x="1981" y="1138"/>
                </a:cubicBezTo>
                <a:cubicBezTo>
                  <a:pt x="1857" y="1175"/>
                  <a:pt x="1731" y="1195"/>
                  <a:pt x="1616" y="1197"/>
                </a:cubicBezTo>
                <a:close/>
                <a:moveTo>
                  <a:pt x="2006" y="508"/>
                </a:moveTo>
                <a:cubicBezTo>
                  <a:pt x="2009" y="511"/>
                  <a:pt x="2012" y="514"/>
                  <a:pt x="2015" y="517"/>
                </a:cubicBezTo>
                <a:cubicBezTo>
                  <a:pt x="2026" y="527"/>
                  <a:pt x="2035" y="538"/>
                  <a:pt x="2045" y="548"/>
                </a:cubicBezTo>
                <a:cubicBezTo>
                  <a:pt x="1998" y="577"/>
                  <a:pt x="1942" y="601"/>
                  <a:pt x="1882" y="620"/>
                </a:cubicBezTo>
                <a:cubicBezTo>
                  <a:pt x="1823" y="488"/>
                  <a:pt x="1755" y="373"/>
                  <a:pt x="1684" y="281"/>
                </a:cubicBezTo>
                <a:cubicBezTo>
                  <a:pt x="1798" y="335"/>
                  <a:pt x="1909" y="413"/>
                  <a:pt x="2006" y="508"/>
                </a:cubicBezTo>
                <a:close/>
                <a:moveTo>
                  <a:pt x="1755" y="251"/>
                </a:moveTo>
                <a:cubicBezTo>
                  <a:pt x="1838" y="265"/>
                  <a:pt x="1917" y="288"/>
                  <a:pt x="1990" y="320"/>
                </a:cubicBezTo>
                <a:cubicBezTo>
                  <a:pt x="2013" y="329"/>
                  <a:pt x="2034" y="339"/>
                  <a:pt x="2055" y="350"/>
                </a:cubicBezTo>
                <a:cubicBezTo>
                  <a:pt x="2095" y="371"/>
                  <a:pt x="2133" y="394"/>
                  <a:pt x="2168" y="420"/>
                </a:cubicBezTo>
                <a:cubicBezTo>
                  <a:pt x="2165" y="427"/>
                  <a:pt x="2162" y="435"/>
                  <a:pt x="2158" y="443"/>
                </a:cubicBezTo>
                <a:cubicBezTo>
                  <a:pt x="2143" y="468"/>
                  <a:pt x="2121" y="492"/>
                  <a:pt x="2094" y="515"/>
                </a:cubicBezTo>
                <a:cubicBezTo>
                  <a:pt x="2085" y="504"/>
                  <a:pt x="2075" y="494"/>
                  <a:pt x="2065" y="484"/>
                </a:cubicBezTo>
                <a:cubicBezTo>
                  <a:pt x="2062" y="481"/>
                  <a:pt x="2060" y="479"/>
                  <a:pt x="2057" y="476"/>
                </a:cubicBezTo>
                <a:cubicBezTo>
                  <a:pt x="2040" y="459"/>
                  <a:pt x="2022" y="442"/>
                  <a:pt x="2004" y="426"/>
                </a:cubicBezTo>
                <a:cubicBezTo>
                  <a:pt x="1926" y="356"/>
                  <a:pt x="1842" y="298"/>
                  <a:pt x="1755" y="251"/>
                </a:cubicBezTo>
                <a:close/>
                <a:moveTo>
                  <a:pt x="1824" y="636"/>
                </a:moveTo>
                <a:cubicBezTo>
                  <a:pt x="1753" y="654"/>
                  <a:pt x="1684" y="664"/>
                  <a:pt x="1616" y="666"/>
                </a:cubicBezTo>
                <a:cubicBezTo>
                  <a:pt x="1616" y="284"/>
                  <a:pt x="1616" y="284"/>
                  <a:pt x="1616" y="284"/>
                </a:cubicBezTo>
                <a:cubicBezTo>
                  <a:pt x="1623" y="292"/>
                  <a:pt x="1625" y="302"/>
                  <a:pt x="1632" y="311"/>
                </a:cubicBezTo>
                <a:cubicBezTo>
                  <a:pt x="1702" y="400"/>
                  <a:pt x="1768" y="512"/>
                  <a:pt x="1824" y="636"/>
                </a:cubicBezTo>
                <a:close/>
                <a:moveTo>
                  <a:pt x="2038" y="1120"/>
                </a:moveTo>
                <a:cubicBezTo>
                  <a:pt x="2028" y="1066"/>
                  <a:pt x="2015" y="1009"/>
                  <a:pt x="1999" y="951"/>
                </a:cubicBezTo>
                <a:cubicBezTo>
                  <a:pt x="1989" y="915"/>
                  <a:pt x="1978" y="878"/>
                  <a:pt x="1966" y="840"/>
                </a:cubicBezTo>
                <a:cubicBezTo>
                  <a:pt x="1964" y="835"/>
                  <a:pt x="1963" y="830"/>
                  <a:pt x="1961" y="825"/>
                </a:cubicBezTo>
                <a:cubicBezTo>
                  <a:pt x="1945" y="776"/>
                  <a:pt x="1927" y="729"/>
                  <a:pt x="1909" y="684"/>
                </a:cubicBezTo>
                <a:cubicBezTo>
                  <a:pt x="1975" y="663"/>
                  <a:pt x="2038" y="636"/>
                  <a:pt x="2092" y="602"/>
                </a:cubicBezTo>
                <a:cubicBezTo>
                  <a:pt x="2183" y="710"/>
                  <a:pt x="2251" y="829"/>
                  <a:pt x="2293" y="951"/>
                </a:cubicBezTo>
                <a:cubicBezTo>
                  <a:pt x="2297" y="962"/>
                  <a:pt x="2300" y="974"/>
                  <a:pt x="2304" y="985"/>
                </a:cubicBezTo>
                <a:cubicBezTo>
                  <a:pt x="2234" y="1040"/>
                  <a:pt x="2140" y="1086"/>
                  <a:pt x="2038" y="1120"/>
                </a:cubicBezTo>
                <a:close/>
                <a:moveTo>
                  <a:pt x="2246" y="379"/>
                </a:moveTo>
                <a:cubicBezTo>
                  <a:pt x="2261" y="398"/>
                  <a:pt x="2273" y="418"/>
                  <a:pt x="2284" y="440"/>
                </a:cubicBezTo>
                <a:cubicBezTo>
                  <a:pt x="2271" y="428"/>
                  <a:pt x="2258" y="416"/>
                  <a:pt x="2244" y="405"/>
                </a:cubicBezTo>
                <a:cubicBezTo>
                  <a:pt x="2245" y="397"/>
                  <a:pt x="2246" y="388"/>
                  <a:pt x="2246" y="379"/>
                </a:cubicBezTo>
                <a:close/>
                <a:moveTo>
                  <a:pt x="2219" y="477"/>
                </a:moveTo>
                <a:cubicBezTo>
                  <a:pt x="2221" y="473"/>
                  <a:pt x="2223" y="469"/>
                  <a:pt x="2225" y="465"/>
                </a:cubicBezTo>
                <a:cubicBezTo>
                  <a:pt x="2264" y="499"/>
                  <a:pt x="2299" y="537"/>
                  <a:pt x="2330" y="576"/>
                </a:cubicBezTo>
                <a:cubicBezTo>
                  <a:pt x="2357" y="611"/>
                  <a:pt x="2380" y="648"/>
                  <a:pt x="2399" y="686"/>
                </a:cubicBezTo>
                <a:cubicBezTo>
                  <a:pt x="2412" y="713"/>
                  <a:pt x="2423" y="741"/>
                  <a:pt x="2433" y="769"/>
                </a:cubicBezTo>
                <a:cubicBezTo>
                  <a:pt x="2433" y="773"/>
                  <a:pt x="2453" y="840"/>
                  <a:pt x="2352" y="942"/>
                </a:cubicBezTo>
                <a:cubicBezTo>
                  <a:pt x="2342" y="914"/>
                  <a:pt x="2332" y="886"/>
                  <a:pt x="2320" y="858"/>
                </a:cubicBezTo>
                <a:cubicBezTo>
                  <a:pt x="2276" y="757"/>
                  <a:pt x="2216" y="658"/>
                  <a:pt x="2140" y="567"/>
                </a:cubicBezTo>
                <a:cubicBezTo>
                  <a:pt x="2173" y="541"/>
                  <a:pt x="2201" y="510"/>
                  <a:pt x="2219" y="477"/>
                </a:cubicBezTo>
                <a:close/>
                <a:moveTo>
                  <a:pt x="2022" y="219"/>
                </a:moveTo>
                <a:cubicBezTo>
                  <a:pt x="2069" y="234"/>
                  <a:pt x="2111" y="255"/>
                  <a:pt x="2149" y="283"/>
                </a:cubicBezTo>
                <a:cubicBezTo>
                  <a:pt x="2163" y="307"/>
                  <a:pt x="2172" y="331"/>
                  <a:pt x="2175" y="353"/>
                </a:cubicBezTo>
                <a:cubicBezTo>
                  <a:pt x="2133" y="325"/>
                  <a:pt x="2088" y="300"/>
                  <a:pt x="2041" y="278"/>
                </a:cubicBezTo>
                <a:cubicBezTo>
                  <a:pt x="2018" y="267"/>
                  <a:pt x="1995" y="258"/>
                  <a:pt x="1971" y="249"/>
                </a:cubicBezTo>
                <a:cubicBezTo>
                  <a:pt x="1909" y="225"/>
                  <a:pt x="1844" y="208"/>
                  <a:pt x="1776" y="196"/>
                </a:cubicBezTo>
                <a:cubicBezTo>
                  <a:pt x="1799" y="193"/>
                  <a:pt x="1822" y="192"/>
                  <a:pt x="1844" y="192"/>
                </a:cubicBezTo>
                <a:cubicBezTo>
                  <a:pt x="1881" y="192"/>
                  <a:pt x="1916" y="195"/>
                  <a:pt x="1950" y="201"/>
                </a:cubicBezTo>
                <a:cubicBezTo>
                  <a:pt x="1975" y="206"/>
                  <a:pt x="1999" y="211"/>
                  <a:pt x="2022" y="219"/>
                </a:cubicBezTo>
                <a:close/>
                <a:moveTo>
                  <a:pt x="1859" y="116"/>
                </a:moveTo>
                <a:cubicBezTo>
                  <a:pt x="1872" y="120"/>
                  <a:pt x="1885" y="127"/>
                  <a:pt x="1897" y="136"/>
                </a:cubicBezTo>
                <a:cubicBezTo>
                  <a:pt x="1879" y="134"/>
                  <a:pt x="1862" y="134"/>
                  <a:pt x="1844" y="134"/>
                </a:cubicBezTo>
                <a:cubicBezTo>
                  <a:pt x="1798" y="134"/>
                  <a:pt x="1750" y="138"/>
                  <a:pt x="1703" y="147"/>
                </a:cubicBezTo>
                <a:cubicBezTo>
                  <a:pt x="1744" y="122"/>
                  <a:pt x="1782" y="109"/>
                  <a:pt x="1818" y="109"/>
                </a:cubicBezTo>
                <a:cubicBezTo>
                  <a:pt x="1832" y="109"/>
                  <a:pt x="1846" y="111"/>
                  <a:pt x="1859" y="116"/>
                </a:cubicBezTo>
                <a:close/>
                <a:moveTo>
                  <a:pt x="1610" y="59"/>
                </a:moveTo>
                <a:cubicBezTo>
                  <a:pt x="1648" y="61"/>
                  <a:pt x="1686" y="65"/>
                  <a:pt x="1722" y="71"/>
                </a:cubicBezTo>
                <a:cubicBezTo>
                  <a:pt x="1685" y="87"/>
                  <a:pt x="1648" y="111"/>
                  <a:pt x="1610" y="142"/>
                </a:cubicBezTo>
                <a:lnTo>
                  <a:pt x="1610" y="59"/>
                </a:lnTo>
                <a:close/>
                <a:moveTo>
                  <a:pt x="1171" y="951"/>
                </a:moveTo>
                <a:cubicBezTo>
                  <a:pt x="1155" y="1009"/>
                  <a:pt x="1143" y="1066"/>
                  <a:pt x="1133" y="1121"/>
                </a:cubicBezTo>
                <a:cubicBezTo>
                  <a:pt x="1030" y="1086"/>
                  <a:pt x="937" y="1040"/>
                  <a:pt x="867" y="985"/>
                </a:cubicBezTo>
                <a:cubicBezTo>
                  <a:pt x="870" y="974"/>
                  <a:pt x="873" y="963"/>
                  <a:pt x="877" y="951"/>
                </a:cubicBezTo>
                <a:cubicBezTo>
                  <a:pt x="919" y="830"/>
                  <a:pt x="987" y="710"/>
                  <a:pt x="1078" y="602"/>
                </a:cubicBezTo>
                <a:cubicBezTo>
                  <a:pt x="1132" y="636"/>
                  <a:pt x="1195" y="663"/>
                  <a:pt x="1261" y="684"/>
                </a:cubicBezTo>
                <a:cubicBezTo>
                  <a:pt x="1243" y="729"/>
                  <a:pt x="1225" y="776"/>
                  <a:pt x="1209" y="825"/>
                </a:cubicBezTo>
                <a:cubicBezTo>
                  <a:pt x="1208" y="830"/>
                  <a:pt x="1206" y="835"/>
                  <a:pt x="1204" y="840"/>
                </a:cubicBezTo>
                <a:cubicBezTo>
                  <a:pt x="1192" y="878"/>
                  <a:pt x="1181" y="915"/>
                  <a:pt x="1171" y="951"/>
                </a:cubicBezTo>
                <a:close/>
                <a:moveTo>
                  <a:pt x="1166" y="426"/>
                </a:moveTo>
                <a:cubicBezTo>
                  <a:pt x="1148" y="442"/>
                  <a:pt x="1131" y="459"/>
                  <a:pt x="1114" y="476"/>
                </a:cubicBezTo>
                <a:cubicBezTo>
                  <a:pt x="1111" y="479"/>
                  <a:pt x="1108" y="481"/>
                  <a:pt x="1105" y="484"/>
                </a:cubicBezTo>
                <a:cubicBezTo>
                  <a:pt x="1095" y="494"/>
                  <a:pt x="1086" y="505"/>
                  <a:pt x="1076" y="515"/>
                </a:cubicBezTo>
                <a:cubicBezTo>
                  <a:pt x="1049" y="493"/>
                  <a:pt x="1026" y="468"/>
                  <a:pt x="1012" y="443"/>
                </a:cubicBezTo>
                <a:cubicBezTo>
                  <a:pt x="1008" y="435"/>
                  <a:pt x="1005" y="428"/>
                  <a:pt x="1002" y="420"/>
                </a:cubicBezTo>
                <a:cubicBezTo>
                  <a:pt x="1037" y="394"/>
                  <a:pt x="1075" y="371"/>
                  <a:pt x="1115" y="350"/>
                </a:cubicBezTo>
                <a:cubicBezTo>
                  <a:pt x="1136" y="339"/>
                  <a:pt x="1158" y="329"/>
                  <a:pt x="1180" y="320"/>
                </a:cubicBezTo>
                <a:cubicBezTo>
                  <a:pt x="1253" y="288"/>
                  <a:pt x="1332" y="265"/>
                  <a:pt x="1416" y="251"/>
                </a:cubicBezTo>
                <a:cubicBezTo>
                  <a:pt x="1328" y="298"/>
                  <a:pt x="1244" y="356"/>
                  <a:pt x="1166" y="426"/>
                </a:cubicBezTo>
                <a:close/>
                <a:moveTo>
                  <a:pt x="1487" y="281"/>
                </a:moveTo>
                <a:cubicBezTo>
                  <a:pt x="1415" y="373"/>
                  <a:pt x="1348" y="488"/>
                  <a:pt x="1289" y="620"/>
                </a:cubicBezTo>
                <a:cubicBezTo>
                  <a:pt x="1228" y="601"/>
                  <a:pt x="1172" y="577"/>
                  <a:pt x="1125" y="549"/>
                </a:cubicBezTo>
                <a:cubicBezTo>
                  <a:pt x="1135" y="538"/>
                  <a:pt x="1145" y="527"/>
                  <a:pt x="1155" y="517"/>
                </a:cubicBezTo>
                <a:cubicBezTo>
                  <a:pt x="1158" y="514"/>
                  <a:pt x="1161" y="511"/>
                  <a:pt x="1164" y="508"/>
                </a:cubicBezTo>
                <a:cubicBezTo>
                  <a:pt x="1262" y="413"/>
                  <a:pt x="1372" y="335"/>
                  <a:pt x="1487" y="281"/>
                </a:cubicBezTo>
                <a:close/>
                <a:moveTo>
                  <a:pt x="1555" y="1197"/>
                </a:moveTo>
                <a:cubicBezTo>
                  <a:pt x="1439" y="1195"/>
                  <a:pt x="1313" y="1175"/>
                  <a:pt x="1189" y="1139"/>
                </a:cubicBezTo>
                <a:cubicBezTo>
                  <a:pt x="1194" y="1114"/>
                  <a:pt x="1199" y="1088"/>
                  <a:pt x="1204" y="1063"/>
                </a:cubicBezTo>
                <a:cubicBezTo>
                  <a:pt x="1212" y="1026"/>
                  <a:pt x="1222" y="989"/>
                  <a:pt x="1232" y="951"/>
                </a:cubicBezTo>
                <a:cubicBezTo>
                  <a:pt x="1242" y="916"/>
                  <a:pt x="1253" y="879"/>
                  <a:pt x="1265" y="843"/>
                </a:cubicBezTo>
                <a:cubicBezTo>
                  <a:pt x="1281" y="794"/>
                  <a:pt x="1299" y="747"/>
                  <a:pt x="1318" y="700"/>
                </a:cubicBezTo>
                <a:cubicBezTo>
                  <a:pt x="1404" y="723"/>
                  <a:pt x="1484" y="734"/>
                  <a:pt x="1555" y="736"/>
                </a:cubicBezTo>
                <a:lnTo>
                  <a:pt x="1555" y="1197"/>
                </a:lnTo>
                <a:close/>
                <a:moveTo>
                  <a:pt x="1555" y="666"/>
                </a:moveTo>
                <a:cubicBezTo>
                  <a:pt x="1486" y="664"/>
                  <a:pt x="1418" y="654"/>
                  <a:pt x="1346" y="636"/>
                </a:cubicBezTo>
                <a:cubicBezTo>
                  <a:pt x="1402" y="512"/>
                  <a:pt x="1468" y="400"/>
                  <a:pt x="1538" y="311"/>
                </a:cubicBezTo>
                <a:cubicBezTo>
                  <a:pt x="1545" y="302"/>
                  <a:pt x="1547" y="292"/>
                  <a:pt x="1555" y="284"/>
                </a:cubicBezTo>
                <a:lnTo>
                  <a:pt x="1555" y="666"/>
                </a:lnTo>
                <a:close/>
                <a:moveTo>
                  <a:pt x="1560" y="59"/>
                </a:moveTo>
                <a:cubicBezTo>
                  <a:pt x="1560" y="142"/>
                  <a:pt x="1560" y="142"/>
                  <a:pt x="1560" y="142"/>
                </a:cubicBezTo>
                <a:cubicBezTo>
                  <a:pt x="1523" y="111"/>
                  <a:pt x="1485" y="87"/>
                  <a:pt x="1448" y="71"/>
                </a:cubicBezTo>
                <a:cubicBezTo>
                  <a:pt x="1485" y="65"/>
                  <a:pt x="1522" y="61"/>
                  <a:pt x="1560" y="59"/>
                </a:cubicBezTo>
                <a:close/>
                <a:moveTo>
                  <a:pt x="1311" y="116"/>
                </a:moveTo>
                <a:cubicBezTo>
                  <a:pt x="1324" y="111"/>
                  <a:pt x="1338" y="109"/>
                  <a:pt x="1353" y="109"/>
                </a:cubicBezTo>
                <a:cubicBezTo>
                  <a:pt x="1388" y="109"/>
                  <a:pt x="1427" y="122"/>
                  <a:pt x="1468" y="147"/>
                </a:cubicBezTo>
                <a:cubicBezTo>
                  <a:pt x="1420" y="138"/>
                  <a:pt x="1373" y="134"/>
                  <a:pt x="1326" y="134"/>
                </a:cubicBezTo>
                <a:cubicBezTo>
                  <a:pt x="1309" y="134"/>
                  <a:pt x="1291" y="134"/>
                  <a:pt x="1274" y="136"/>
                </a:cubicBezTo>
                <a:cubicBezTo>
                  <a:pt x="1286" y="127"/>
                  <a:pt x="1298" y="120"/>
                  <a:pt x="1311" y="116"/>
                </a:cubicBezTo>
                <a:close/>
                <a:moveTo>
                  <a:pt x="1020" y="283"/>
                </a:moveTo>
                <a:cubicBezTo>
                  <a:pt x="1059" y="256"/>
                  <a:pt x="1101" y="234"/>
                  <a:pt x="1148" y="219"/>
                </a:cubicBezTo>
                <a:cubicBezTo>
                  <a:pt x="1172" y="211"/>
                  <a:pt x="1196" y="206"/>
                  <a:pt x="1221" y="201"/>
                </a:cubicBezTo>
                <a:cubicBezTo>
                  <a:pt x="1254" y="195"/>
                  <a:pt x="1290" y="192"/>
                  <a:pt x="1326" y="192"/>
                </a:cubicBezTo>
                <a:cubicBezTo>
                  <a:pt x="1349" y="192"/>
                  <a:pt x="1371" y="193"/>
                  <a:pt x="1394" y="196"/>
                </a:cubicBezTo>
                <a:cubicBezTo>
                  <a:pt x="1326" y="208"/>
                  <a:pt x="1261" y="225"/>
                  <a:pt x="1200" y="249"/>
                </a:cubicBezTo>
                <a:cubicBezTo>
                  <a:pt x="1176" y="258"/>
                  <a:pt x="1152" y="267"/>
                  <a:pt x="1130" y="278"/>
                </a:cubicBezTo>
                <a:cubicBezTo>
                  <a:pt x="1082" y="300"/>
                  <a:pt x="1037" y="326"/>
                  <a:pt x="995" y="354"/>
                </a:cubicBezTo>
                <a:cubicBezTo>
                  <a:pt x="998" y="331"/>
                  <a:pt x="1006" y="308"/>
                  <a:pt x="1020" y="283"/>
                </a:cubicBezTo>
                <a:close/>
                <a:moveTo>
                  <a:pt x="923" y="379"/>
                </a:moveTo>
                <a:cubicBezTo>
                  <a:pt x="924" y="388"/>
                  <a:pt x="925" y="397"/>
                  <a:pt x="926" y="406"/>
                </a:cubicBezTo>
                <a:cubicBezTo>
                  <a:pt x="912" y="417"/>
                  <a:pt x="899" y="428"/>
                  <a:pt x="886" y="440"/>
                </a:cubicBezTo>
                <a:cubicBezTo>
                  <a:pt x="897" y="419"/>
                  <a:pt x="909" y="399"/>
                  <a:pt x="923" y="379"/>
                </a:cubicBezTo>
                <a:close/>
                <a:moveTo>
                  <a:pt x="742" y="759"/>
                </a:moveTo>
                <a:cubicBezTo>
                  <a:pt x="751" y="731"/>
                  <a:pt x="758" y="713"/>
                  <a:pt x="772" y="686"/>
                </a:cubicBezTo>
                <a:cubicBezTo>
                  <a:pt x="791" y="648"/>
                  <a:pt x="814" y="611"/>
                  <a:pt x="840" y="576"/>
                </a:cubicBezTo>
                <a:cubicBezTo>
                  <a:pt x="871" y="537"/>
                  <a:pt x="906" y="500"/>
                  <a:pt x="945" y="466"/>
                </a:cubicBezTo>
                <a:cubicBezTo>
                  <a:pt x="947" y="469"/>
                  <a:pt x="949" y="473"/>
                  <a:pt x="951" y="477"/>
                </a:cubicBezTo>
                <a:cubicBezTo>
                  <a:pt x="969" y="510"/>
                  <a:pt x="997" y="541"/>
                  <a:pt x="1030" y="568"/>
                </a:cubicBezTo>
                <a:cubicBezTo>
                  <a:pt x="955" y="659"/>
                  <a:pt x="894" y="757"/>
                  <a:pt x="851" y="858"/>
                </a:cubicBezTo>
                <a:cubicBezTo>
                  <a:pt x="839" y="886"/>
                  <a:pt x="828" y="914"/>
                  <a:pt x="819" y="942"/>
                </a:cubicBezTo>
                <a:cubicBezTo>
                  <a:pt x="772" y="894"/>
                  <a:pt x="743" y="839"/>
                  <a:pt x="741" y="780"/>
                </a:cubicBezTo>
                <a:cubicBezTo>
                  <a:pt x="741" y="780"/>
                  <a:pt x="741" y="763"/>
                  <a:pt x="742" y="759"/>
                </a:cubicBezTo>
                <a:close/>
                <a:moveTo>
                  <a:pt x="447" y="993"/>
                </a:moveTo>
                <a:cubicBezTo>
                  <a:pt x="411" y="993"/>
                  <a:pt x="409" y="1049"/>
                  <a:pt x="409" y="1074"/>
                </a:cubicBezTo>
                <a:cubicBezTo>
                  <a:pt x="409" y="1153"/>
                  <a:pt x="437" y="1157"/>
                  <a:pt x="447" y="1157"/>
                </a:cubicBezTo>
                <a:cubicBezTo>
                  <a:pt x="458" y="1157"/>
                  <a:pt x="486" y="1153"/>
                  <a:pt x="486" y="1074"/>
                </a:cubicBezTo>
                <a:cubicBezTo>
                  <a:pt x="486" y="1049"/>
                  <a:pt x="483" y="993"/>
                  <a:pt x="447" y="993"/>
                </a:cubicBezTo>
                <a:close/>
                <a:moveTo>
                  <a:pt x="2737" y="993"/>
                </a:moveTo>
                <a:cubicBezTo>
                  <a:pt x="2701" y="993"/>
                  <a:pt x="2698" y="1049"/>
                  <a:pt x="2698" y="1074"/>
                </a:cubicBezTo>
                <a:cubicBezTo>
                  <a:pt x="2698" y="1153"/>
                  <a:pt x="2726" y="1157"/>
                  <a:pt x="2737" y="1157"/>
                </a:cubicBezTo>
                <a:cubicBezTo>
                  <a:pt x="2747" y="1157"/>
                  <a:pt x="2776" y="1153"/>
                  <a:pt x="2776" y="1074"/>
                </a:cubicBezTo>
                <a:cubicBezTo>
                  <a:pt x="2776" y="1049"/>
                  <a:pt x="2773" y="993"/>
                  <a:pt x="2737" y="993"/>
                </a:cubicBezTo>
                <a:close/>
                <a:moveTo>
                  <a:pt x="1746" y="1536"/>
                </a:moveTo>
                <a:cubicBezTo>
                  <a:pt x="1733" y="1465"/>
                  <a:pt x="1677" y="1481"/>
                  <a:pt x="1660" y="1501"/>
                </a:cubicBezTo>
                <a:cubicBezTo>
                  <a:pt x="1653" y="1509"/>
                  <a:pt x="1648" y="1524"/>
                  <a:pt x="1644" y="1541"/>
                </a:cubicBezTo>
                <a:cubicBezTo>
                  <a:pt x="1634" y="1593"/>
                  <a:pt x="1642" y="1668"/>
                  <a:pt x="1695" y="1667"/>
                </a:cubicBezTo>
                <a:cubicBezTo>
                  <a:pt x="1741" y="1664"/>
                  <a:pt x="1753" y="1606"/>
                  <a:pt x="1748" y="1552"/>
                </a:cubicBezTo>
                <a:cubicBezTo>
                  <a:pt x="1748" y="1546"/>
                  <a:pt x="1747" y="1541"/>
                  <a:pt x="1746" y="1536"/>
                </a:cubicBezTo>
                <a:close/>
                <a:moveTo>
                  <a:pt x="3451" y="1075"/>
                </a:moveTo>
                <a:cubicBezTo>
                  <a:pt x="3118" y="753"/>
                  <a:pt x="3118" y="753"/>
                  <a:pt x="3118" y="753"/>
                </a:cubicBezTo>
                <a:cubicBezTo>
                  <a:pt x="3118" y="886"/>
                  <a:pt x="3118" y="886"/>
                  <a:pt x="3118" y="886"/>
                </a:cubicBezTo>
                <a:cubicBezTo>
                  <a:pt x="2577" y="886"/>
                  <a:pt x="2577" y="886"/>
                  <a:pt x="2577" y="886"/>
                </a:cubicBezTo>
                <a:cubicBezTo>
                  <a:pt x="2572" y="900"/>
                  <a:pt x="2567" y="913"/>
                  <a:pt x="2560" y="927"/>
                </a:cubicBezTo>
                <a:cubicBezTo>
                  <a:pt x="2483" y="1094"/>
                  <a:pt x="2292" y="1240"/>
                  <a:pt x="2015" y="1319"/>
                </a:cubicBezTo>
                <a:cubicBezTo>
                  <a:pt x="1876" y="1360"/>
                  <a:pt x="1728" y="1379"/>
                  <a:pt x="1584" y="1379"/>
                </a:cubicBezTo>
                <a:cubicBezTo>
                  <a:pt x="1203" y="1379"/>
                  <a:pt x="839" y="1247"/>
                  <a:pt x="667" y="1023"/>
                </a:cubicBezTo>
                <a:cubicBezTo>
                  <a:pt x="650" y="1001"/>
                  <a:pt x="635" y="979"/>
                  <a:pt x="623" y="957"/>
                </a:cubicBezTo>
                <a:cubicBezTo>
                  <a:pt x="610" y="933"/>
                  <a:pt x="600" y="910"/>
                  <a:pt x="592" y="886"/>
                </a:cubicBezTo>
                <a:cubicBezTo>
                  <a:pt x="0" y="886"/>
                  <a:pt x="0" y="886"/>
                  <a:pt x="0" y="886"/>
                </a:cubicBezTo>
                <a:cubicBezTo>
                  <a:pt x="0" y="1265"/>
                  <a:pt x="0" y="1265"/>
                  <a:pt x="0" y="1265"/>
                </a:cubicBezTo>
                <a:cubicBezTo>
                  <a:pt x="581" y="1265"/>
                  <a:pt x="581" y="1265"/>
                  <a:pt x="581" y="1265"/>
                </a:cubicBezTo>
                <a:cubicBezTo>
                  <a:pt x="585" y="1281"/>
                  <a:pt x="590" y="1298"/>
                  <a:pt x="596" y="1315"/>
                </a:cubicBezTo>
                <a:cubicBezTo>
                  <a:pt x="612" y="1358"/>
                  <a:pt x="635" y="1401"/>
                  <a:pt x="668" y="1443"/>
                </a:cubicBezTo>
                <a:cubicBezTo>
                  <a:pt x="679" y="1459"/>
                  <a:pt x="692" y="1474"/>
                  <a:pt x="706" y="1488"/>
                </a:cubicBezTo>
                <a:cubicBezTo>
                  <a:pt x="744" y="1530"/>
                  <a:pt x="790" y="1568"/>
                  <a:pt x="841" y="1601"/>
                </a:cubicBezTo>
                <a:cubicBezTo>
                  <a:pt x="917" y="1651"/>
                  <a:pt x="1005" y="1693"/>
                  <a:pt x="1101" y="1724"/>
                </a:cubicBezTo>
                <a:cubicBezTo>
                  <a:pt x="1121" y="1731"/>
                  <a:pt x="1142" y="1737"/>
                  <a:pt x="1163" y="1743"/>
                </a:cubicBezTo>
                <a:cubicBezTo>
                  <a:pt x="1286" y="1778"/>
                  <a:pt x="1420" y="1797"/>
                  <a:pt x="1557" y="1799"/>
                </a:cubicBezTo>
                <a:cubicBezTo>
                  <a:pt x="1566" y="1799"/>
                  <a:pt x="1575" y="1800"/>
                  <a:pt x="1585" y="1800"/>
                </a:cubicBezTo>
                <a:cubicBezTo>
                  <a:pt x="1596" y="1800"/>
                  <a:pt x="1608" y="1799"/>
                  <a:pt x="1620" y="1799"/>
                </a:cubicBezTo>
                <a:cubicBezTo>
                  <a:pt x="1752" y="1796"/>
                  <a:pt x="1886" y="1777"/>
                  <a:pt x="2014" y="1741"/>
                </a:cubicBezTo>
                <a:cubicBezTo>
                  <a:pt x="2015" y="1741"/>
                  <a:pt x="2016" y="1740"/>
                  <a:pt x="2016" y="1740"/>
                </a:cubicBezTo>
                <a:cubicBezTo>
                  <a:pt x="2037" y="1734"/>
                  <a:pt x="2057" y="1728"/>
                  <a:pt x="2076" y="1721"/>
                </a:cubicBezTo>
                <a:cubicBezTo>
                  <a:pt x="2177" y="1687"/>
                  <a:pt x="2265" y="1644"/>
                  <a:pt x="2338" y="1594"/>
                </a:cubicBezTo>
                <a:cubicBezTo>
                  <a:pt x="2392" y="1558"/>
                  <a:pt x="2438" y="1518"/>
                  <a:pt x="2476" y="1476"/>
                </a:cubicBezTo>
                <a:cubicBezTo>
                  <a:pt x="2521" y="1425"/>
                  <a:pt x="2554" y="1371"/>
                  <a:pt x="2575" y="1316"/>
                </a:cubicBezTo>
                <a:cubicBezTo>
                  <a:pt x="2581" y="1299"/>
                  <a:pt x="2586" y="1282"/>
                  <a:pt x="2590" y="1265"/>
                </a:cubicBezTo>
                <a:cubicBezTo>
                  <a:pt x="3118" y="1265"/>
                  <a:pt x="3118" y="1265"/>
                  <a:pt x="3118" y="1265"/>
                </a:cubicBezTo>
                <a:cubicBezTo>
                  <a:pt x="3118" y="1397"/>
                  <a:pt x="3118" y="1397"/>
                  <a:pt x="3118" y="1397"/>
                </a:cubicBezTo>
                <a:lnTo>
                  <a:pt x="3451" y="1075"/>
                </a:lnTo>
                <a:close/>
                <a:moveTo>
                  <a:pt x="296" y="1195"/>
                </a:moveTo>
                <a:cubicBezTo>
                  <a:pt x="123" y="1195"/>
                  <a:pt x="123" y="1195"/>
                  <a:pt x="123" y="1195"/>
                </a:cubicBezTo>
                <a:cubicBezTo>
                  <a:pt x="123" y="1154"/>
                  <a:pt x="123" y="1154"/>
                  <a:pt x="123" y="1154"/>
                </a:cubicBezTo>
                <a:cubicBezTo>
                  <a:pt x="188" y="1154"/>
                  <a:pt x="188" y="1154"/>
                  <a:pt x="188" y="1154"/>
                </a:cubicBezTo>
                <a:cubicBezTo>
                  <a:pt x="188" y="1005"/>
                  <a:pt x="188" y="1005"/>
                  <a:pt x="188" y="1005"/>
                </a:cubicBezTo>
                <a:cubicBezTo>
                  <a:pt x="135" y="1028"/>
                  <a:pt x="135" y="1028"/>
                  <a:pt x="135" y="1028"/>
                </a:cubicBezTo>
                <a:cubicBezTo>
                  <a:pt x="118" y="991"/>
                  <a:pt x="118" y="991"/>
                  <a:pt x="118" y="991"/>
                </a:cubicBezTo>
                <a:cubicBezTo>
                  <a:pt x="201" y="956"/>
                  <a:pt x="201" y="956"/>
                  <a:pt x="201" y="956"/>
                </a:cubicBezTo>
                <a:cubicBezTo>
                  <a:pt x="231" y="956"/>
                  <a:pt x="231" y="956"/>
                  <a:pt x="231" y="956"/>
                </a:cubicBezTo>
                <a:cubicBezTo>
                  <a:pt x="231" y="1154"/>
                  <a:pt x="231" y="1154"/>
                  <a:pt x="231" y="1154"/>
                </a:cubicBezTo>
                <a:cubicBezTo>
                  <a:pt x="296" y="1154"/>
                  <a:pt x="296" y="1154"/>
                  <a:pt x="296" y="1154"/>
                </a:cubicBezTo>
                <a:lnTo>
                  <a:pt x="296" y="1195"/>
                </a:lnTo>
                <a:close/>
                <a:moveTo>
                  <a:pt x="447" y="1197"/>
                </a:moveTo>
                <a:cubicBezTo>
                  <a:pt x="377" y="1197"/>
                  <a:pt x="365" y="1127"/>
                  <a:pt x="365" y="1074"/>
                </a:cubicBezTo>
                <a:cubicBezTo>
                  <a:pt x="365" y="1022"/>
                  <a:pt x="378" y="953"/>
                  <a:pt x="447" y="953"/>
                </a:cubicBezTo>
                <a:cubicBezTo>
                  <a:pt x="517" y="953"/>
                  <a:pt x="530" y="1022"/>
                  <a:pt x="530" y="1074"/>
                </a:cubicBezTo>
                <a:cubicBezTo>
                  <a:pt x="530" y="1127"/>
                  <a:pt x="517" y="1197"/>
                  <a:pt x="447" y="1197"/>
                </a:cubicBezTo>
                <a:close/>
                <a:moveTo>
                  <a:pt x="693" y="1351"/>
                </a:moveTo>
                <a:cubicBezTo>
                  <a:pt x="678" y="1332"/>
                  <a:pt x="666" y="1313"/>
                  <a:pt x="655" y="1294"/>
                </a:cubicBezTo>
                <a:cubicBezTo>
                  <a:pt x="645" y="1278"/>
                  <a:pt x="637" y="1261"/>
                  <a:pt x="630" y="1245"/>
                </a:cubicBezTo>
                <a:cubicBezTo>
                  <a:pt x="630" y="1201"/>
                  <a:pt x="630" y="1201"/>
                  <a:pt x="630" y="1201"/>
                </a:cubicBezTo>
                <a:cubicBezTo>
                  <a:pt x="635" y="1213"/>
                  <a:pt x="641" y="1225"/>
                  <a:pt x="648" y="1237"/>
                </a:cubicBezTo>
                <a:cubicBezTo>
                  <a:pt x="651" y="1243"/>
                  <a:pt x="654" y="1249"/>
                  <a:pt x="658" y="1255"/>
                </a:cubicBezTo>
                <a:cubicBezTo>
                  <a:pt x="658" y="1177"/>
                  <a:pt x="658" y="1177"/>
                  <a:pt x="658" y="1177"/>
                </a:cubicBezTo>
                <a:cubicBezTo>
                  <a:pt x="658" y="1090"/>
                  <a:pt x="658" y="1090"/>
                  <a:pt x="658" y="1090"/>
                </a:cubicBezTo>
                <a:cubicBezTo>
                  <a:pt x="654" y="1087"/>
                  <a:pt x="650" y="1084"/>
                  <a:pt x="646" y="1080"/>
                </a:cubicBezTo>
                <a:cubicBezTo>
                  <a:pt x="646" y="1080"/>
                  <a:pt x="646" y="1080"/>
                  <a:pt x="646" y="1080"/>
                </a:cubicBezTo>
                <a:cubicBezTo>
                  <a:pt x="642" y="1077"/>
                  <a:pt x="638" y="1073"/>
                  <a:pt x="634" y="1070"/>
                </a:cubicBezTo>
                <a:cubicBezTo>
                  <a:pt x="630" y="1032"/>
                  <a:pt x="630" y="1032"/>
                  <a:pt x="630" y="1032"/>
                </a:cubicBezTo>
                <a:cubicBezTo>
                  <a:pt x="628" y="1016"/>
                  <a:pt x="628" y="1016"/>
                  <a:pt x="628" y="1016"/>
                </a:cubicBezTo>
                <a:cubicBezTo>
                  <a:pt x="638" y="1025"/>
                  <a:pt x="653" y="1037"/>
                  <a:pt x="664" y="1046"/>
                </a:cubicBezTo>
                <a:cubicBezTo>
                  <a:pt x="670" y="1054"/>
                  <a:pt x="675" y="1062"/>
                  <a:pt x="681" y="1070"/>
                </a:cubicBezTo>
                <a:cubicBezTo>
                  <a:pt x="681" y="1113"/>
                  <a:pt x="681" y="1113"/>
                  <a:pt x="681" y="1113"/>
                </a:cubicBezTo>
                <a:cubicBezTo>
                  <a:pt x="681" y="1205"/>
                  <a:pt x="681" y="1205"/>
                  <a:pt x="681" y="1205"/>
                </a:cubicBezTo>
                <a:cubicBezTo>
                  <a:pt x="681" y="1291"/>
                  <a:pt x="681" y="1291"/>
                  <a:pt x="681" y="1291"/>
                </a:cubicBezTo>
                <a:cubicBezTo>
                  <a:pt x="685" y="1296"/>
                  <a:pt x="689" y="1301"/>
                  <a:pt x="693" y="1306"/>
                </a:cubicBezTo>
                <a:cubicBezTo>
                  <a:pt x="703" y="1319"/>
                  <a:pt x="713" y="1331"/>
                  <a:pt x="724" y="1343"/>
                </a:cubicBezTo>
                <a:cubicBezTo>
                  <a:pt x="724" y="1388"/>
                  <a:pt x="724" y="1388"/>
                  <a:pt x="724" y="1388"/>
                </a:cubicBezTo>
                <a:cubicBezTo>
                  <a:pt x="713" y="1376"/>
                  <a:pt x="703" y="1364"/>
                  <a:pt x="693" y="1351"/>
                </a:cubicBezTo>
                <a:close/>
                <a:moveTo>
                  <a:pt x="816" y="1473"/>
                </a:moveTo>
                <a:cubicBezTo>
                  <a:pt x="800" y="1460"/>
                  <a:pt x="784" y="1447"/>
                  <a:pt x="769" y="1433"/>
                </a:cubicBezTo>
                <a:cubicBezTo>
                  <a:pt x="768" y="1388"/>
                  <a:pt x="768" y="1388"/>
                  <a:pt x="768" y="1388"/>
                </a:cubicBezTo>
                <a:cubicBezTo>
                  <a:pt x="783" y="1402"/>
                  <a:pt x="799" y="1415"/>
                  <a:pt x="815" y="1427"/>
                </a:cubicBezTo>
                <a:cubicBezTo>
                  <a:pt x="818" y="1430"/>
                  <a:pt x="821" y="1432"/>
                  <a:pt x="824" y="1434"/>
                </a:cubicBezTo>
                <a:cubicBezTo>
                  <a:pt x="823" y="1333"/>
                  <a:pt x="823" y="1333"/>
                  <a:pt x="823" y="1333"/>
                </a:cubicBezTo>
                <a:cubicBezTo>
                  <a:pt x="823" y="1322"/>
                  <a:pt x="823" y="1322"/>
                  <a:pt x="823" y="1322"/>
                </a:cubicBezTo>
                <a:cubicBezTo>
                  <a:pt x="823" y="1268"/>
                  <a:pt x="823" y="1268"/>
                  <a:pt x="823" y="1268"/>
                </a:cubicBezTo>
                <a:cubicBezTo>
                  <a:pt x="810" y="1265"/>
                  <a:pt x="792" y="1260"/>
                  <a:pt x="778" y="1257"/>
                </a:cubicBezTo>
                <a:cubicBezTo>
                  <a:pt x="776" y="1248"/>
                  <a:pt x="776" y="1248"/>
                  <a:pt x="776" y="1248"/>
                </a:cubicBezTo>
                <a:cubicBezTo>
                  <a:pt x="768" y="1218"/>
                  <a:pt x="768" y="1218"/>
                  <a:pt x="768" y="1218"/>
                </a:cubicBezTo>
                <a:cubicBezTo>
                  <a:pt x="767" y="1212"/>
                  <a:pt x="767" y="1212"/>
                  <a:pt x="767" y="1212"/>
                </a:cubicBezTo>
                <a:cubicBezTo>
                  <a:pt x="764" y="1204"/>
                  <a:pt x="764" y="1204"/>
                  <a:pt x="764" y="1204"/>
                </a:cubicBezTo>
                <a:cubicBezTo>
                  <a:pt x="785" y="1210"/>
                  <a:pt x="814" y="1217"/>
                  <a:pt x="835" y="1222"/>
                </a:cubicBezTo>
                <a:cubicBezTo>
                  <a:pt x="844" y="1229"/>
                  <a:pt x="853" y="1235"/>
                  <a:pt x="862" y="1241"/>
                </a:cubicBezTo>
                <a:cubicBezTo>
                  <a:pt x="862" y="1291"/>
                  <a:pt x="862" y="1291"/>
                  <a:pt x="862" y="1291"/>
                </a:cubicBezTo>
                <a:cubicBezTo>
                  <a:pt x="863" y="1360"/>
                  <a:pt x="863" y="1360"/>
                  <a:pt x="863" y="1360"/>
                </a:cubicBezTo>
                <a:cubicBezTo>
                  <a:pt x="863" y="1462"/>
                  <a:pt x="863" y="1462"/>
                  <a:pt x="863" y="1462"/>
                </a:cubicBezTo>
                <a:cubicBezTo>
                  <a:pt x="883" y="1475"/>
                  <a:pt x="905" y="1489"/>
                  <a:pt x="927" y="1501"/>
                </a:cubicBezTo>
                <a:cubicBezTo>
                  <a:pt x="927" y="1546"/>
                  <a:pt x="927" y="1546"/>
                  <a:pt x="927" y="1546"/>
                </a:cubicBezTo>
                <a:cubicBezTo>
                  <a:pt x="888" y="1523"/>
                  <a:pt x="850" y="1499"/>
                  <a:pt x="816" y="1473"/>
                </a:cubicBezTo>
                <a:close/>
                <a:moveTo>
                  <a:pt x="1172" y="1585"/>
                </a:moveTo>
                <a:cubicBezTo>
                  <a:pt x="1168" y="1596"/>
                  <a:pt x="1163" y="1604"/>
                  <a:pt x="1157" y="1611"/>
                </a:cubicBezTo>
                <a:cubicBezTo>
                  <a:pt x="1141" y="1628"/>
                  <a:pt x="1119" y="1632"/>
                  <a:pt x="1096" y="1627"/>
                </a:cubicBezTo>
                <a:cubicBezTo>
                  <a:pt x="1063" y="1619"/>
                  <a:pt x="1028" y="1592"/>
                  <a:pt x="1010" y="1557"/>
                </a:cubicBezTo>
                <a:cubicBezTo>
                  <a:pt x="1006" y="1548"/>
                  <a:pt x="987" y="1483"/>
                  <a:pt x="988" y="1427"/>
                </a:cubicBezTo>
                <a:cubicBezTo>
                  <a:pt x="989" y="1406"/>
                  <a:pt x="992" y="1385"/>
                  <a:pt x="1001" y="1371"/>
                </a:cubicBezTo>
                <a:cubicBezTo>
                  <a:pt x="1014" y="1348"/>
                  <a:pt x="1039" y="1338"/>
                  <a:pt x="1082" y="1351"/>
                </a:cubicBezTo>
                <a:cubicBezTo>
                  <a:pt x="1127" y="1368"/>
                  <a:pt x="1152" y="1398"/>
                  <a:pt x="1166" y="1431"/>
                </a:cubicBezTo>
                <a:cubicBezTo>
                  <a:pt x="1167" y="1434"/>
                  <a:pt x="1168" y="1437"/>
                  <a:pt x="1169" y="1439"/>
                </a:cubicBezTo>
                <a:cubicBezTo>
                  <a:pt x="1176" y="1458"/>
                  <a:pt x="1179" y="1476"/>
                  <a:pt x="1181" y="1494"/>
                </a:cubicBezTo>
                <a:cubicBezTo>
                  <a:pt x="1184" y="1543"/>
                  <a:pt x="1173" y="1584"/>
                  <a:pt x="1172" y="1585"/>
                </a:cubicBezTo>
                <a:close/>
                <a:moveTo>
                  <a:pt x="1270" y="1671"/>
                </a:moveTo>
                <a:cubicBezTo>
                  <a:pt x="1270" y="1627"/>
                  <a:pt x="1270" y="1627"/>
                  <a:pt x="1270" y="1627"/>
                </a:cubicBezTo>
                <a:cubicBezTo>
                  <a:pt x="1298" y="1633"/>
                  <a:pt x="1327" y="1638"/>
                  <a:pt x="1356" y="1643"/>
                </a:cubicBezTo>
                <a:cubicBezTo>
                  <a:pt x="1356" y="1528"/>
                  <a:pt x="1356" y="1528"/>
                  <a:pt x="1356" y="1528"/>
                </a:cubicBezTo>
                <a:cubicBezTo>
                  <a:pt x="1355" y="1477"/>
                  <a:pt x="1355" y="1477"/>
                  <a:pt x="1355" y="1477"/>
                </a:cubicBezTo>
                <a:cubicBezTo>
                  <a:pt x="1335" y="1481"/>
                  <a:pt x="1307" y="1486"/>
                  <a:pt x="1286" y="1489"/>
                </a:cubicBezTo>
                <a:cubicBezTo>
                  <a:pt x="1270" y="1456"/>
                  <a:pt x="1270" y="1456"/>
                  <a:pt x="1270" y="1456"/>
                </a:cubicBezTo>
                <a:cubicBezTo>
                  <a:pt x="1264" y="1444"/>
                  <a:pt x="1264" y="1444"/>
                  <a:pt x="1264" y="1444"/>
                </a:cubicBezTo>
                <a:cubicBezTo>
                  <a:pt x="1297" y="1439"/>
                  <a:pt x="1340" y="1431"/>
                  <a:pt x="1373" y="1425"/>
                </a:cubicBezTo>
                <a:cubicBezTo>
                  <a:pt x="1386" y="1427"/>
                  <a:pt x="1399" y="1429"/>
                  <a:pt x="1412" y="1430"/>
                </a:cubicBezTo>
                <a:cubicBezTo>
                  <a:pt x="1413" y="1477"/>
                  <a:pt x="1413" y="1477"/>
                  <a:pt x="1413" y="1477"/>
                </a:cubicBezTo>
                <a:cubicBezTo>
                  <a:pt x="1413" y="1534"/>
                  <a:pt x="1413" y="1534"/>
                  <a:pt x="1413" y="1534"/>
                </a:cubicBezTo>
                <a:cubicBezTo>
                  <a:pt x="1413" y="1651"/>
                  <a:pt x="1413" y="1651"/>
                  <a:pt x="1413" y="1651"/>
                </a:cubicBezTo>
                <a:cubicBezTo>
                  <a:pt x="1442" y="1654"/>
                  <a:pt x="1472" y="1657"/>
                  <a:pt x="1501" y="1659"/>
                </a:cubicBezTo>
                <a:cubicBezTo>
                  <a:pt x="1501" y="1703"/>
                  <a:pt x="1501" y="1703"/>
                  <a:pt x="1501" y="1703"/>
                </a:cubicBezTo>
                <a:cubicBezTo>
                  <a:pt x="1422" y="1698"/>
                  <a:pt x="1345" y="1687"/>
                  <a:pt x="1270" y="1671"/>
                </a:cubicBezTo>
                <a:close/>
                <a:moveTo>
                  <a:pt x="1625" y="1693"/>
                </a:moveTo>
                <a:cubicBezTo>
                  <a:pt x="1623" y="1692"/>
                  <a:pt x="1622" y="1691"/>
                  <a:pt x="1620" y="1689"/>
                </a:cubicBezTo>
                <a:cubicBezTo>
                  <a:pt x="1580" y="1654"/>
                  <a:pt x="1577" y="1586"/>
                  <a:pt x="1583" y="1542"/>
                </a:cubicBezTo>
                <a:cubicBezTo>
                  <a:pt x="1584" y="1534"/>
                  <a:pt x="1586" y="1526"/>
                  <a:pt x="1587" y="1519"/>
                </a:cubicBezTo>
                <a:cubicBezTo>
                  <a:pt x="1591" y="1506"/>
                  <a:pt x="1596" y="1495"/>
                  <a:pt x="1602" y="1485"/>
                </a:cubicBezTo>
                <a:cubicBezTo>
                  <a:pt x="1628" y="1446"/>
                  <a:pt x="1672" y="1442"/>
                  <a:pt x="1695" y="1440"/>
                </a:cubicBezTo>
                <a:cubicBezTo>
                  <a:pt x="1737" y="1438"/>
                  <a:pt x="1768" y="1449"/>
                  <a:pt x="1786" y="1475"/>
                </a:cubicBezTo>
                <a:cubicBezTo>
                  <a:pt x="1797" y="1489"/>
                  <a:pt x="1804" y="1507"/>
                  <a:pt x="1807" y="1530"/>
                </a:cubicBezTo>
                <a:cubicBezTo>
                  <a:pt x="1807" y="1530"/>
                  <a:pt x="1808" y="1530"/>
                  <a:pt x="1808" y="1531"/>
                </a:cubicBezTo>
                <a:cubicBezTo>
                  <a:pt x="1834" y="1705"/>
                  <a:pt x="1690" y="1741"/>
                  <a:pt x="1625" y="1693"/>
                </a:cubicBezTo>
                <a:close/>
                <a:moveTo>
                  <a:pt x="2080" y="1636"/>
                </a:moveTo>
                <a:cubicBezTo>
                  <a:pt x="2068" y="1640"/>
                  <a:pt x="2055" y="1644"/>
                  <a:pt x="2042" y="1648"/>
                </a:cubicBezTo>
                <a:cubicBezTo>
                  <a:pt x="2034" y="1650"/>
                  <a:pt x="2027" y="1652"/>
                  <a:pt x="2020" y="1654"/>
                </a:cubicBezTo>
                <a:cubicBezTo>
                  <a:pt x="1982" y="1664"/>
                  <a:pt x="1945" y="1673"/>
                  <a:pt x="1907" y="1680"/>
                </a:cubicBezTo>
                <a:cubicBezTo>
                  <a:pt x="1907" y="1635"/>
                  <a:pt x="1907" y="1635"/>
                  <a:pt x="1907" y="1635"/>
                </a:cubicBezTo>
                <a:cubicBezTo>
                  <a:pt x="1936" y="1629"/>
                  <a:pt x="1966" y="1623"/>
                  <a:pt x="1996" y="1616"/>
                </a:cubicBezTo>
                <a:cubicBezTo>
                  <a:pt x="1995" y="1495"/>
                  <a:pt x="1995" y="1495"/>
                  <a:pt x="1995" y="1495"/>
                </a:cubicBezTo>
                <a:cubicBezTo>
                  <a:pt x="1995" y="1450"/>
                  <a:pt x="1995" y="1450"/>
                  <a:pt x="1995" y="1450"/>
                </a:cubicBezTo>
                <a:cubicBezTo>
                  <a:pt x="1974" y="1463"/>
                  <a:pt x="1945" y="1479"/>
                  <a:pt x="1923" y="1491"/>
                </a:cubicBezTo>
                <a:cubicBezTo>
                  <a:pt x="1901" y="1457"/>
                  <a:pt x="1901" y="1457"/>
                  <a:pt x="1901" y="1457"/>
                </a:cubicBezTo>
                <a:cubicBezTo>
                  <a:pt x="1900" y="1455"/>
                  <a:pt x="1900" y="1455"/>
                  <a:pt x="1900" y="1455"/>
                </a:cubicBezTo>
                <a:cubicBezTo>
                  <a:pt x="1934" y="1436"/>
                  <a:pt x="1979" y="1410"/>
                  <a:pt x="2013" y="1391"/>
                </a:cubicBezTo>
                <a:cubicBezTo>
                  <a:pt x="2022" y="1388"/>
                  <a:pt x="2032" y="1386"/>
                  <a:pt x="2041" y="1383"/>
                </a:cubicBezTo>
                <a:cubicBezTo>
                  <a:pt x="2045" y="1382"/>
                  <a:pt x="2049" y="1381"/>
                  <a:pt x="2053" y="1380"/>
                </a:cubicBezTo>
                <a:cubicBezTo>
                  <a:pt x="2053" y="1419"/>
                  <a:pt x="2053" y="1419"/>
                  <a:pt x="2053" y="1419"/>
                </a:cubicBezTo>
                <a:cubicBezTo>
                  <a:pt x="2053" y="1478"/>
                  <a:pt x="2053" y="1478"/>
                  <a:pt x="2053" y="1478"/>
                </a:cubicBezTo>
                <a:cubicBezTo>
                  <a:pt x="2053" y="1600"/>
                  <a:pt x="2053" y="1600"/>
                  <a:pt x="2053" y="1600"/>
                </a:cubicBezTo>
                <a:cubicBezTo>
                  <a:pt x="2062" y="1597"/>
                  <a:pt x="2071" y="1594"/>
                  <a:pt x="2080" y="1591"/>
                </a:cubicBezTo>
                <a:cubicBezTo>
                  <a:pt x="2099" y="1585"/>
                  <a:pt x="2118" y="1579"/>
                  <a:pt x="2137" y="1572"/>
                </a:cubicBezTo>
                <a:cubicBezTo>
                  <a:pt x="2137" y="1617"/>
                  <a:pt x="2137" y="1617"/>
                  <a:pt x="2137" y="1617"/>
                </a:cubicBezTo>
                <a:cubicBezTo>
                  <a:pt x="2118" y="1623"/>
                  <a:pt x="2100" y="1630"/>
                  <a:pt x="2080" y="1636"/>
                </a:cubicBezTo>
                <a:close/>
                <a:moveTo>
                  <a:pt x="2357" y="1506"/>
                </a:moveTo>
                <a:cubicBezTo>
                  <a:pt x="2313" y="1536"/>
                  <a:pt x="2263" y="1563"/>
                  <a:pt x="2208" y="1588"/>
                </a:cubicBezTo>
                <a:cubicBezTo>
                  <a:pt x="2208" y="1543"/>
                  <a:pt x="2208" y="1543"/>
                  <a:pt x="2208" y="1543"/>
                </a:cubicBezTo>
                <a:cubicBezTo>
                  <a:pt x="2233" y="1532"/>
                  <a:pt x="2257" y="1520"/>
                  <a:pt x="2280" y="1508"/>
                </a:cubicBezTo>
                <a:cubicBezTo>
                  <a:pt x="2280" y="1380"/>
                  <a:pt x="2280" y="1380"/>
                  <a:pt x="2280" y="1380"/>
                </a:cubicBezTo>
                <a:cubicBezTo>
                  <a:pt x="2280" y="1342"/>
                  <a:pt x="2280" y="1342"/>
                  <a:pt x="2280" y="1342"/>
                </a:cubicBezTo>
                <a:cubicBezTo>
                  <a:pt x="2263" y="1359"/>
                  <a:pt x="2239" y="1380"/>
                  <a:pt x="2222" y="1396"/>
                </a:cubicBezTo>
                <a:cubicBezTo>
                  <a:pt x="2202" y="1364"/>
                  <a:pt x="2202" y="1364"/>
                  <a:pt x="2202" y="1364"/>
                </a:cubicBezTo>
                <a:cubicBezTo>
                  <a:pt x="2208" y="1359"/>
                  <a:pt x="2214" y="1354"/>
                  <a:pt x="2220" y="1349"/>
                </a:cubicBezTo>
                <a:cubicBezTo>
                  <a:pt x="2244" y="1327"/>
                  <a:pt x="2272" y="1301"/>
                  <a:pt x="2294" y="1280"/>
                </a:cubicBezTo>
                <a:cubicBezTo>
                  <a:pt x="2304" y="1274"/>
                  <a:pt x="2314" y="1268"/>
                  <a:pt x="2324" y="1262"/>
                </a:cubicBezTo>
                <a:cubicBezTo>
                  <a:pt x="2324" y="1284"/>
                  <a:pt x="2324" y="1284"/>
                  <a:pt x="2324" y="1284"/>
                </a:cubicBezTo>
                <a:cubicBezTo>
                  <a:pt x="2324" y="1353"/>
                  <a:pt x="2324" y="1353"/>
                  <a:pt x="2324" y="1353"/>
                </a:cubicBezTo>
                <a:cubicBezTo>
                  <a:pt x="2324" y="1483"/>
                  <a:pt x="2324" y="1483"/>
                  <a:pt x="2324" y="1483"/>
                </a:cubicBezTo>
                <a:cubicBezTo>
                  <a:pt x="2337" y="1475"/>
                  <a:pt x="2349" y="1467"/>
                  <a:pt x="2361" y="1459"/>
                </a:cubicBezTo>
                <a:cubicBezTo>
                  <a:pt x="2369" y="1453"/>
                  <a:pt x="2378" y="1448"/>
                  <a:pt x="2386" y="1442"/>
                </a:cubicBezTo>
                <a:cubicBezTo>
                  <a:pt x="2386" y="1486"/>
                  <a:pt x="2386" y="1486"/>
                  <a:pt x="2386" y="1486"/>
                </a:cubicBezTo>
                <a:cubicBezTo>
                  <a:pt x="2376" y="1493"/>
                  <a:pt x="2367" y="1500"/>
                  <a:pt x="2357" y="1506"/>
                </a:cubicBezTo>
                <a:close/>
                <a:moveTo>
                  <a:pt x="2534" y="1312"/>
                </a:moveTo>
                <a:cubicBezTo>
                  <a:pt x="2527" y="1345"/>
                  <a:pt x="2516" y="1369"/>
                  <a:pt x="2503" y="1386"/>
                </a:cubicBezTo>
                <a:cubicBezTo>
                  <a:pt x="2490" y="1405"/>
                  <a:pt x="2476" y="1414"/>
                  <a:pt x="2465" y="1413"/>
                </a:cubicBezTo>
                <a:cubicBezTo>
                  <a:pt x="2456" y="1413"/>
                  <a:pt x="2447" y="1403"/>
                  <a:pt x="2441" y="1386"/>
                </a:cubicBezTo>
                <a:cubicBezTo>
                  <a:pt x="2432" y="1358"/>
                  <a:pt x="2429" y="1314"/>
                  <a:pt x="2436" y="1266"/>
                </a:cubicBezTo>
                <a:cubicBezTo>
                  <a:pt x="2441" y="1228"/>
                  <a:pt x="2453" y="1189"/>
                  <a:pt x="2473" y="1155"/>
                </a:cubicBezTo>
                <a:cubicBezTo>
                  <a:pt x="2480" y="1144"/>
                  <a:pt x="2487" y="1134"/>
                  <a:pt x="2495" y="1124"/>
                </a:cubicBezTo>
                <a:cubicBezTo>
                  <a:pt x="2512" y="1107"/>
                  <a:pt x="2523" y="1102"/>
                  <a:pt x="2531" y="1109"/>
                </a:cubicBezTo>
                <a:cubicBezTo>
                  <a:pt x="2531" y="1110"/>
                  <a:pt x="2532" y="1111"/>
                  <a:pt x="2532" y="1111"/>
                </a:cubicBezTo>
                <a:cubicBezTo>
                  <a:pt x="2532" y="1111"/>
                  <a:pt x="2532" y="1111"/>
                  <a:pt x="2532" y="1111"/>
                </a:cubicBezTo>
                <a:cubicBezTo>
                  <a:pt x="2549" y="1135"/>
                  <a:pt x="2549" y="1246"/>
                  <a:pt x="2534" y="1312"/>
                </a:cubicBezTo>
                <a:close/>
                <a:moveTo>
                  <a:pt x="2737" y="1197"/>
                </a:moveTo>
                <a:cubicBezTo>
                  <a:pt x="2667" y="1197"/>
                  <a:pt x="2654" y="1127"/>
                  <a:pt x="2654" y="1074"/>
                </a:cubicBezTo>
                <a:cubicBezTo>
                  <a:pt x="2654" y="1022"/>
                  <a:pt x="2668" y="953"/>
                  <a:pt x="2737" y="953"/>
                </a:cubicBezTo>
                <a:cubicBezTo>
                  <a:pt x="2806" y="953"/>
                  <a:pt x="2819" y="1022"/>
                  <a:pt x="2819" y="1074"/>
                </a:cubicBezTo>
                <a:cubicBezTo>
                  <a:pt x="2819" y="1127"/>
                  <a:pt x="2807" y="1197"/>
                  <a:pt x="2737" y="1197"/>
                </a:cubicBezTo>
                <a:close/>
                <a:moveTo>
                  <a:pt x="3062" y="1195"/>
                </a:moveTo>
                <a:cubicBezTo>
                  <a:pt x="2889" y="1195"/>
                  <a:pt x="2889" y="1195"/>
                  <a:pt x="2889" y="1195"/>
                </a:cubicBezTo>
                <a:cubicBezTo>
                  <a:pt x="2889" y="1154"/>
                  <a:pt x="2889" y="1154"/>
                  <a:pt x="2889" y="1154"/>
                </a:cubicBezTo>
                <a:cubicBezTo>
                  <a:pt x="2954" y="1154"/>
                  <a:pt x="2954" y="1154"/>
                  <a:pt x="2954" y="1154"/>
                </a:cubicBezTo>
                <a:cubicBezTo>
                  <a:pt x="2954" y="1005"/>
                  <a:pt x="2954" y="1005"/>
                  <a:pt x="2954" y="1005"/>
                </a:cubicBezTo>
                <a:cubicBezTo>
                  <a:pt x="2902" y="1028"/>
                  <a:pt x="2902" y="1028"/>
                  <a:pt x="2902" y="1028"/>
                </a:cubicBezTo>
                <a:cubicBezTo>
                  <a:pt x="2885" y="991"/>
                  <a:pt x="2885" y="991"/>
                  <a:pt x="2885" y="991"/>
                </a:cubicBezTo>
                <a:cubicBezTo>
                  <a:pt x="2967" y="956"/>
                  <a:pt x="2967" y="956"/>
                  <a:pt x="2967" y="956"/>
                </a:cubicBezTo>
                <a:cubicBezTo>
                  <a:pt x="2997" y="956"/>
                  <a:pt x="2997" y="956"/>
                  <a:pt x="2997" y="956"/>
                </a:cubicBezTo>
                <a:cubicBezTo>
                  <a:pt x="2997" y="1154"/>
                  <a:pt x="2997" y="1154"/>
                  <a:pt x="2997" y="1154"/>
                </a:cubicBezTo>
                <a:cubicBezTo>
                  <a:pt x="3062" y="1154"/>
                  <a:pt x="3062" y="1154"/>
                  <a:pt x="3062" y="1154"/>
                </a:cubicBezTo>
                <a:lnTo>
                  <a:pt x="3062" y="1195"/>
                </a:lnTo>
                <a:close/>
                <a:moveTo>
                  <a:pt x="1111" y="1423"/>
                </a:moveTo>
                <a:cubicBezTo>
                  <a:pt x="1108" y="1419"/>
                  <a:pt x="1106" y="1415"/>
                  <a:pt x="1103" y="1412"/>
                </a:cubicBezTo>
                <a:cubicBezTo>
                  <a:pt x="1092" y="1397"/>
                  <a:pt x="1078" y="1390"/>
                  <a:pt x="1062" y="1395"/>
                </a:cubicBezTo>
                <a:cubicBezTo>
                  <a:pt x="1061" y="1395"/>
                  <a:pt x="1060" y="1395"/>
                  <a:pt x="1059" y="1396"/>
                </a:cubicBezTo>
                <a:cubicBezTo>
                  <a:pt x="1045" y="1402"/>
                  <a:pt x="1039" y="1425"/>
                  <a:pt x="1038" y="1448"/>
                </a:cubicBezTo>
                <a:cubicBezTo>
                  <a:pt x="1036" y="1472"/>
                  <a:pt x="1038" y="1496"/>
                  <a:pt x="1038" y="1498"/>
                </a:cubicBezTo>
                <a:cubicBezTo>
                  <a:pt x="1046" y="1564"/>
                  <a:pt x="1073" y="1575"/>
                  <a:pt x="1082" y="1578"/>
                </a:cubicBezTo>
                <a:cubicBezTo>
                  <a:pt x="1087" y="1580"/>
                  <a:pt x="1092" y="1581"/>
                  <a:pt x="1097" y="1580"/>
                </a:cubicBezTo>
                <a:cubicBezTo>
                  <a:pt x="1105" y="1579"/>
                  <a:pt x="1112" y="1575"/>
                  <a:pt x="1117" y="1566"/>
                </a:cubicBezTo>
                <a:cubicBezTo>
                  <a:pt x="1129" y="1544"/>
                  <a:pt x="1132" y="1511"/>
                  <a:pt x="1128" y="1480"/>
                </a:cubicBezTo>
                <a:cubicBezTo>
                  <a:pt x="1125" y="1459"/>
                  <a:pt x="1119" y="1439"/>
                  <a:pt x="1111" y="1423"/>
                </a:cubicBezTo>
                <a:close/>
                <a:moveTo>
                  <a:pt x="2509" y="1164"/>
                </a:moveTo>
                <a:cubicBezTo>
                  <a:pt x="2502" y="1159"/>
                  <a:pt x="2480" y="1174"/>
                  <a:pt x="2472" y="1231"/>
                </a:cubicBezTo>
                <a:cubicBezTo>
                  <a:pt x="2469" y="1250"/>
                  <a:pt x="2467" y="1273"/>
                  <a:pt x="2468" y="1302"/>
                </a:cubicBezTo>
                <a:cubicBezTo>
                  <a:pt x="2469" y="1330"/>
                  <a:pt x="2474" y="1373"/>
                  <a:pt x="2495" y="1351"/>
                </a:cubicBezTo>
                <a:cubicBezTo>
                  <a:pt x="2521" y="1323"/>
                  <a:pt x="2525" y="1221"/>
                  <a:pt x="2516" y="1180"/>
                </a:cubicBezTo>
                <a:cubicBezTo>
                  <a:pt x="2514" y="1171"/>
                  <a:pt x="2512" y="1165"/>
                  <a:pt x="2509" y="1164"/>
                </a:cubicBezTo>
                <a:close/>
              </a:path>
            </a:pathLst>
          </a:custGeom>
          <a:solidFill>
            <a:schemeClr val="bg1"/>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solidFill>
                  <a:srgbClr val="FFFFFF">
                    <a:alpha val="0"/>
                  </a:srgbClr>
                </a:solidFill>
              </a:ln>
              <a:solidFill>
                <a:srgbClr val="505050"/>
              </a:solidFill>
              <a:effectLst/>
              <a:uLnTx/>
              <a:uFillTx/>
              <a:latin typeface="Segoe UI"/>
              <a:ea typeface="+mn-ea"/>
              <a:cs typeface="+mn-cs"/>
            </a:endParaRPr>
          </a:p>
        </p:txBody>
      </p:sp>
      <p:sp>
        <p:nvSpPr>
          <p:cNvPr id="29" name="Rectangle 28"/>
          <p:cNvSpPr/>
          <p:nvPr/>
        </p:nvSpPr>
        <p:spPr bwMode="auto">
          <a:xfrm>
            <a:off x="7537322" y="2023934"/>
            <a:ext cx="3869457" cy="1229226"/>
          </a:xfrm>
          <a:prstGeom prst="rect">
            <a:avLst/>
          </a:prstGeom>
          <a:solidFill>
            <a:srgbClr val="FFC000"/>
          </a:solidFill>
          <a:ln w="25400" cap="flat" cmpd="sng" algn="ctr">
            <a:noFill/>
            <a:prstDash val="solid"/>
            <a:headEnd type="none" w="med" len="med"/>
            <a:tailEnd type="none" w="med" len="med"/>
          </a:ln>
          <a:effectLst/>
        </p:spPr>
        <p:txBody>
          <a:bodyPr rot="0" spcFirstLastPara="0" vertOverflow="overflow" horzOverflow="overflow" vert="horz" wrap="square" lIns="159302" tIns="0" rIns="159302" bIns="31862" numCol="1" spcCol="0" rtlCol="0" fromWordArt="0" anchor="ctr" anchorCtr="0" forceAA="0" compatLnSpc="1">
            <a:prstTxWarp prst="textNoShape">
              <a:avLst/>
            </a:prstTxWarp>
            <a:noAutofit/>
          </a:bodyPr>
          <a:lstStyle/>
          <a:p>
            <a:pPr marL="0" marR="0" lvl="0" indent="0" algn="l" defTabSz="1592431" rtl="0" eaLnBrk="1" fontAlgn="base" latinLnBrk="0" hangingPunct="1">
              <a:lnSpc>
                <a:spcPct val="90000"/>
              </a:lnSpc>
              <a:spcBef>
                <a:spcPct val="0"/>
              </a:spcBef>
              <a:spcAft>
                <a:spcPct val="0"/>
              </a:spcAft>
              <a:buClrTx/>
              <a:buSzTx/>
              <a:buFontTx/>
              <a:buNone/>
              <a:tabLst/>
              <a:defRPr/>
            </a:pPr>
            <a:r>
              <a:rPr kumimoji="0" lang="en-US" sz="2745" b="0" i="0" u="none" strike="noStrike" kern="0" cap="none" spc="0" normalizeH="0" baseline="0" noProof="0" dirty="0">
                <a:ln>
                  <a:noFill/>
                </a:ln>
                <a:gradFill>
                  <a:gsLst>
                    <a:gs pos="0">
                      <a:sysClr val="window" lastClr="FFFFFF"/>
                    </a:gs>
                    <a:gs pos="100000">
                      <a:sysClr val="window" lastClr="FFFFFF"/>
                    </a:gs>
                  </a:gsLst>
                  <a:lin ang="16200000" scaled="0"/>
                </a:gradFill>
                <a:effectLst/>
                <a:uLnTx/>
                <a:uFillTx/>
                <a:latin typeface="Segoe UI Light"/>
                <a:ea typeface="+mn-ea"/>
                <a:cs typeface="+mn-cs"/>
              </a:rPr>
              <a:t>Single version of truth</a:t>
            </a:r>
          </a:p>
        </p:txBody>
      </p:sp>
      <p:sp>
        <p:nvSpPr>
          <p:cNvPr id="30" name="Rectangle 29"/>
          <p:cNvSpPr/>
          <p:nvPr/>
        </p:nvSpPr>
        <p:spPr bwMode="auto">
          <a:xfrm>
            <a:off x="7542046" y="3467023"/>
            <a:ext cx="3869457" cy="1229226"/>
          </a:xfrm>
          <a:prstGeom prst="rect">
            <a:avLst/>
          </a:prstGeom>
          <a:solidFill>
            <a:srgbClr val="FFC000"/>
          </a:solidFill>
          <a:ln w="25400" cap="flat" cmpd="sng" algn="ctr">
            <a:noFill/>
            <a:prstDash val="solid"/>
            <a:headEnd type="none" w="med" len="med"/>
            <a:tailEnd type="none" w="med" len="med"/>
          </a:ln>
          <a:effectLst/>
        </p:spPr>
        <p:txBody>
          <a:bodyPr rot="0" spcFirstLastPara="0" vertOverflow="overflow" horzOverflow="overflow" vert="horz" wrap="square" lIns="159302" tIns="0" rIns="159302" bIns="31862" numCol="1" spcCol="0" rtlCol="0" fromWordArt="0" anchor="ctr" anchorCtr="0" forceAA="0" compatLnSpc="1">
            <a:prstTxWarp prst="textNoShape">
              <a:avLst/>
            </a:prstTxWarp>
            <a:noAutofit/>
          </a:bodyPr>
          <a:lstStyle/>
          <a:p>
            <a:pPr marL="0" marR="0" lvl="0" indent="0" algn="l" defTabSz="1592431" rtl="0" eaLnBrk="1" fontAlgn="base" latinLnBrk="0" hangingPunct="1">
              <a:lnSpc>
                <a:spcPct val="90000"/>
              </a:lnSpc>
              <a:spcBef>
                <a:spcPct val="0"/>
              </a:spcBef>
              <a:spcAft>
                <a:spcPct val="0"/>
              </a:spcAft>
              <a:buClrTx/>
              <a:buSzTx/>
              <a:buFontTx/>
              <a:buNone/>
              <a:tabLst/>
              <a:defRPr/>
            </a:pPr>
            <a:r>
              <a:rPr kumimoji="0" lang="en-US" sz="2745" b="0" i="0" u="none" strike="noStrike" kern="0" cap="none" spc="0" normalizeH="0" baseline="0" noProof="0" dirty="0">
                <a:ln>
                  <a:noFill/>
                </a:ln>
                <a:gradFill>
                  <a:gsLst>
                    <a:gs pos="0">
                      <a:sysClr val="window" lastClr="FFFFFF"/>
                    </a:gs>
                    <a:gs pos="100000">
                      <a:sysClr val="window" lastClr="FFFFFF"/>
                    </a:gs>
                  </a:gsLst>
                  <a:lin ang="16200000" scaled="0"/>
                </a:gradFill>
                <a:effectLst/>
                <a:uLnTx/>
                <a:uFillTx/>
                <a:latin typeface="Segoe UI Light"/>
                <a:ea typeface="+mn-ea"/>
                <a:cs typeface="+mn-cs"/>
              </a:rPr>
              <a:t>Instant productivity</a:t>
            </a:r>
          </a:p>
        </p:txBody>
      </p:sp>
      <p:sp>
        <p:nvSpPr>
          <p:cNvPr id="31" name="Rectangle 30"/>
          <p:cNvSpPr/>
          <p:nvPr/>
        </p:nvSpPr>
        <p:spPr bwMode="auto">
          <a:xfrm>
            <a:off x="7537322" y="4887337"/>
            <a:ext cx="3869457" cy="1229226"/>
          </a:xfrm>
          <a:prstGeom prst="rect">
            <a:avLst/>
          </a:prstGeom>
          <a:solidFill>
            <a:srgbClr val="FFC000"/>
          </a:solidFill>
          <a:ln w="25400" cap="flat" cmpd="sng" algn="ctr">
            <a:noFill/>
            <a:prstDash val="solid"/>
            <a:headEnd type="none" w="med" len="med"/>
            <a:tailEnd type="none" w="med" len="med"/>
          </a:ln>
          <a:effectLst/>
        </p:spPr>
        <p:txBody>
          <a:bodyPr rot="0" spcFirstLastPara="0" vertOverflow="overflow" horzOverflow="overflow" vert="horz" wrap="square" lIns="159302" tIns="0" rIns="159302" bIns="31862" numCol="1" spcCol="0" rtlCol="0" fromWordArt="0" anchor="ctr" anchorCtr="0" forceAA="0" compatLnSpc="1">
            <a:prstTxWarp prst="textNoShape">
              <a:avLst/>
            </a:prstTxWarp>
            <a:noAutofit/>
          </a:bodyPr>
          <a:lstStyle/>
          <a:p>
            <a:pPr marL="0" marR="0" lvl="0" indent="0" algn="l" defTabSz="1592431" rtl="0" eaLnBrk="1" fontAlgn="base" latinLnBrk="0" hangingPunct="1">
              <a:lnSpc>
                <a:spcPct val="90000"/>
              </a:lnSpc>
              <a:spcBef>
                <a:spcPct val="0"/>
              </a:spcBef>
              <a:spcAft>
                <a:spcPct val="0"/>
              </a:spcAft>
              <a:buClrTx/>
              <a:buSzTx/>
              <a:buFontTx/>
              <a:buNone/>
              <a:tabLst/>
              <a:defRPr/>
            </a:pPr>
            <a:r>
              <a:rPr kumimoji="0" lang="en-US" sz="2745" b="0" i="0" u="none" strike="noStrike" kern="0" cap="none" spc="0" normalizeH="0" baseline="0" noProof="0" dirty="0">
                <a:ln>
                  <a:noFill/>
                </a:ln>
                <a:gradFill>
                  <a:gsLst>
                    <a:gs pos="0">
                      <a:sysClr val="window" lastClr="FFFFFF"/>
                    </a:gs>
                    <a:gs pos="100000">
                      <a:sysClr val="window" lastClr="FFFFFF"/>
                    </a:gs>
                  </a:gsLst>
                  <a:lin ang="16200000" scaled="0"/>
                </a:gradFill>
                <a:effectLst/>
                <a:uLnTx/>
                <a:uFillTx/>
                <a:latin typeface="Segoe UI Light"/>
                <a:ea typeface="+mn-ea"/>
                <a:cs typeface="+mn-cs"/>
              </a:rPr>
              <a:t>Optimized business performance</a:t>
            </a:r>
          </a:p>
        </p:txBody>
      </p:sp>
      <p:sp>
        <p:nvSpPr>
          <p:cNvPr id="28" name="Chevron 27"/>
          <p:cNvSpPr/>
          <p:nvPr/>
        </p:nvSpPr>
        <p:spPr bwMode="auto">
          <a:xfrm rot="5400000" flipV="1">
            <a:off x="3649553" y="4556990"/>
            <a:ext cx="475105" cy="475105"/>
          </a:xfrm>
          <a:prstGeom prst="chevron">
            <a:avLst>
              <a:gd name="adj" fmla="val 44759"/>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4821" rIns="0" bIns="44821" numCol="1" rtlCol="0" anchor="ctr" anchorCtr="0" compatLnSpc="1">
            <a:prstTxWarp prst="textNoShape">
              <a:avLst/>
            </a:prstTxWarp>
          </a:bodyPr>
          <a:lstStyle/>
          <a:p>
            <a:pPr marL="0" marR="0" lvl="0" indent="0" algn="ctr" defTabSz="896094" rtl="0" eaLnBrk="1" fontAlgn="base" latinLnBrk="0" hangingPunct="1">
              <a:lnSpc>
                <a:spcPct val="100000"/>
              </a:lnSpc>
              <a:spcBef>
                <a:spcPct val="0"/>
              </a:spcBef>
              <a:spcAft>
                <a:spcPct val="0"/>
              </a:spcAft>
              <a:buClrTx/>
              <a:buSzTx/>
              <a:buFontTx/>
              <a:buNone/>
              <a:tabLst/>
              <a:defRPr/>
            </a:pPr>
            <a:endParaRPr kumimoji="0" lang="en-US" sz="1922"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mn-ea"/>
              <a:cs typeface="+mn-cs"/>
            </a:endParaRPr>
          </a:p>
        </p:txBody>
      </p:sp>
      <p:pic>
        <p:nvPicPr>
          <p:cNvPr id="42" name="Picture 6">
            <a:hlinkClick r:id="rId7" action="ppaction://hlinkfile"/>
            <a:extLst>
              <a:ext uri="{FF2B5EF4-FFF2-40B4-BE49-F238E27FC236}">
                <a16:creationId xmlns:a16="http://schemas.microsoft.com/office/drawing/2014/main" id="{AFFC4787-E32B-4778-A39A-A418F185497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7943" y="2211241"/>
            <a:ext cx="1533142" cy="126384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a:hlinkClick r:id="rId9"/>
            <a:extLst>
              <a:ext uri="{FF2B5EF4-FFF2-40B4-BE49-F238E27FC236}">
                <a16:creationId xmlns:a16="http://schemas.microsoft.com/office/drawing/2014/main" id="{463DD82C-0DB9-4871-8759-285D5FED55FF}"/>
              </a:ext>
            </a:extLst>
          </p:cNvPr>
          <p:cNvPicPr>
            <a:picLocks noChangeAspect="1" noChangeArrowheads="1"/>
          </p:cNvPicPr>
          <p:nvPr/>
        </p:nvPicPr>
        <p:blipFill>
          <a:blip r:embed="rId10" cstate="screen">
            <a:extLst>
              <a:ext uri="{28A0092B-C50C-407E-A947-70E740481C1C}">
                <a14:useLocalDpi xmlns:a14="http://schemas.microsoft.com/office/drawing/2010/main" val="0"/>
              </a:ext>
            </a:extLst>
          </a:blip>
          <a:srcRect/>
          <a:stretch>
            <a:fillRect/>
          </a:stretch>
        </p:blipFill>
        <p:spPr bwMode="auto">
          <a:xfrm>
            <a:off x="1350138" y="5378442"/>
            <a:ext cx="1018687" cy="69388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7">
            <a:hlinkClick r:id="rId11"/>
            <a:extLst>
              <a:ext uri="{FF2B5EF4-FFF2-40B4-BE49-F238E27FC236}">
                <a16:creationId xmlns:a16="http://schemas.microsoft.com/office/drawing/2014/main" id="{EE20698C-5337-42FC-9227-89D16941832C}"/>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0138" y="4794428"/>
            <a:ext cx="1018687" cy="53250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a:hlinkClick r:id="rId13"/>
            <a:extLst>
              <a:ext uri="{FF2B5EF4-FFF2-40B4-BE49-F238E27FC236}">
                <a16:creationId xmlns:a16="http://schemas.microsoft.com/office/drawing/2014/main" id="{78997C32-5F21-447B-B036-25920EA2205C}"/>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50138" y="4278132"/>
            <a:ext cx="1035778" cy="47510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 descr="9F84AAE2">
            <a:extLst>
              <a:ext uri="{FF2B5EF4-FFF2-40B4-BE49-F238E27FC236}">
                <a16:creationId xmlns:a16="http://schemas.microsoft.com/office/drawing/2014/main" id="{A9A823AC-9F34-4182-BFF8-992F154190D1}"/>
              </a:ext>
            </a:extLst>
          </p:cNvPr>
          <p:cNvPicPr>
            <a:picLocks noChangeAspect="1" noChangeArrowheads="1"/>
          </p:cNvPicPr>
          <p:nvPr/>
        </p:nvPicPr>
        <p:blipFill>
          <a:blip r:embed="rId15" cstate="screen">
            <a:extLst>
              <a:ext uri="{28A0092B-C50C-407E-A947-70E740481C1C}">
                <a14:useLocalDpi xmlns:a14="http://schemas.microsoft.com/office/drawing/2010/main" val="0"/>
              </a:ext>
            </a:extLst>
          </a:blip>
          <a:srcRect l="11873" t="23746" r="11417" b="20547"/>
          <a:stretch>
            <a:fillRect/>
          </a:stretch>
        </p:blipFill>
        <p:spPr bwMode="auto">
          <a:xfrm>
            <a:off x="5956500" y="4366461"/>
            <a:ext cx="1085273" cy="66563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5" descr="F3F73BFC">
            <a:extLst>
              <a:ext uri="{FF2B5EF4-FFF2-40B4-BE49-F238E27FC236}">
                <a16:creationId xmlns:a16="http://schemas.microsoft.com/office/drawing/2014/main" id="{66C58CD2-FAE5-4DEF-9EDE-04216BCDBA09}"/>
              </a:ext>
            </a:extLst>
          </p:cNvPr>
          <p:cNvPicPr>
            <a:picLocks noChangeAspect="1" noChangeArrowheads="1"/>
          </p:cNvPicPr>
          <p:nvPr/>
        </p:nvPicPr>
        <p:blipFill>
          <a:blip r:embed="rId16" cstate="screen">
            <a:extLst>
              <a:ext uri="{28A0092B-C50C-407E-A947-70E740481C1C}">
                <a14:useLocalDpi xmlns:a14="http://schemas.microsoft.com/office/drawing/2010/main" val="0"/>
              </a:ext>
            </a:extLst>
          </a:blip>
          <a:srcRect/>
          <a:stretch>
            <a:fillRect/>
          </a:stretch>
        </p:blipFill>
        <p:spPr bwMode="auto">
          <a:xfrm>
            <a:off x="5956500" y="5222173"/>
            <a:ext cx="1138584" cy="665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05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par>
                                <p:cTn id="31" presetID="10" presetClass="entr" presetSubtype="0" fill="hold"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par>
                                <p:cTn id="34" presetID="10"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500"/>
                                        <p:tgtEl>
                                          <p:spTgt spid="45"/>
                                        </p:tgtEl>
                                      </p:cBhvr>
                                    </p:animEffect>
                                  </p:childTnLst>
                                </p:cTn>
                              </p:par>
                              <p:par>
                                <p:cTn id="37" presetID="10"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par>
                                <p:cTn id="40" presetID="10" presetClass="entr" presetSubtype="0"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fade">
                                      <p:cBhvr>
                                        <p:cTn id="76" dur="500"/>
                                        <p:tgtEl>
                                          <p:spTgt spid="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15" grpId="0"/>
      <p:bldP spid="16" grpId="0" animBg="1"/>
      <p:bldP spid="17" grpId="0" animBg="1"/>
      <p:bldP spid="18" grpId="0" animBg="1"/>
      <p:bldP spid="19" grpId="0" animBg="1"/>
      <p:bldP spid="20" grpId="0" animBg="1"/>
      <p:bldP spid="22" grpId="0" animBg="1"/>
      <p:bldP spid="26" grpId="0" animBg="1"/>
      <p:bldP spid="29" grpId="0" animBg="1"/>
      <p:bldP spid="30" grpId="0" animBg="1"/>
      <p:bldP spid="31" grpId="0" animBg="1"/>
      <p:bldP spid="2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3"/>
          <p:cNvGrpSpPr/>
          <p:nvPr/>
        </p:nvGrpSpPr>
        <p:grpSpPr>
          <a:xfrm>
            <a:off x="6695899" y="1658100"/>
            <a:ext cx="4985891" cy="4392194"/>
            <a:chOff x="6647284" y="1690851"/>
            <a:chExt cx="5085869" cy="4480267"/>
          </a:xfrm>
        </p:grpSpPr>
        <p:pic>
          <p:nvPicPr>
            <p:cNvPr id="31" name="Picture 30"/>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659696" y="1699195"/>
              <a:ext cx="5069008" cy="2745399"/>
            </a:xfrm>
            <a:prstGeom prst="rect">
              <a:avLst/>
            </a:prstGeom>
          </p:spPr>
        </p:pic>
        <p:sp>
          <p:nvSpPr>
            <p:cNvPr id="33" name="Rectangle 32"/>
            <p:cNvSpPr/>
            <p:nvPr/>
          </p:nvSpPr>
          <p:spPr bwMode="auto">
            <a:xfrm>
              <a:off x="6647284" y="1690851"/>
              <a:ext cx="5081420" cy="960234"/>
            </a:xfrm>
            <a:prstGeom prst="rect">
              <a:avLst/>
            </a:prstGeom>
            <a:solidFill>
              <a:srgbClr val="FF8C00"/>
            </a:solidFill>
            <a:ln w="38100" cap="flat" cmpd="sng" algn="ctr">
              <a:noFill/>
              <a:prstDash val="solid"/>
              <a:headEnd type="none" w="med" len="med"/>
              <a:tailEnd type="none" w="med" len="med"/>
            </a:ln>
            <a:effectLst/>
          </p:spPr>
          <p:txBody>
            <a:bodyPr vert="horz" wrap="square" lIns="89642" tIns="89642" rIns="89642" bIns="89642" numCol="1" rtlCol="0" anchor="t" anchorCtr="0" compatLnSpc="1">
              <a:prstTxWarp prst="textNoShape">
                <a:avLst/>
              </a:prstTxWarp>
            </a:bodyPr>
            <a:lstStyle/>
            <a:p>
              <a:pPr marL="0" marR="0" lvl="0" indent="0" algn="l" defTabSz="913924" rtl="0" eaLnBrk="1" fontAlgn="base" latinLnBrk="0" hangingPunct="1">
                <a:lnSpc>
                  <a:spcPct val="100000"/>
                </a:lnSpc>
                <a:spcBef>
                  <a:spcPct val="0"/>
                </a:spcBef>
                <a:spcAft>
                  <a:spcPct val="0"/>
                </a:spcAft>
                <a:buClrTx/>
                <a:buSzTx/>
                <a:buFontTx/>
                <a:buNone/>
                <a:tabLst/>
                <a:defRPr/>
              </a:pPr>
              <a:r>
                <a:rPr kumimoji="0" lang="en-US" sz="2451"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Collaborate in Power BI for Office 365</a:t>
              </a:r>
              <a:endParaRPr kumimoji="0" lang="en-US" sz="3039"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a:p>
              <a:pPr marL="0" marR="0" lvl="0" indent="0" algn="l" defTabSz="913924" rtl="0" eaLnBrk="1" fontAlgn="base" latinLnBrk="0" hangingPunct="1">
                <a:lnSpc>
                  <a:spcPct val="150000"/>
                </a:lnSpc>
                <a:spcBef>
                  <a:spcPct val="0"/>
                </a:spcBef>
                <a:spcAft>
                  <a:spcPct val="0"/>
                </a:spcAft>
                <a:buClrTx/>
                <a:buSzTx/>
                <a:buFontTx/>
                <a:buNone/>
                <a:tabLst/>
                <a:defRPr/>
              </a:pPr>
              <a:r>
                <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1 in 4 enterprise customers on Office 365</a:t>
              </a:r>
            </a:p>
            <a:p>
              <a:pPr marL="0" marR="0" lvl="0" indent="0" algn="l" defTabSz="913924" rtl="0" eaLnBrk="1" fontAlgn="base" latinLnBrk="0" hangingPunct="1">
                <a:lnSpc>
                  <a:spcPct val="90000"/>
                </a:lnSpc>
                <a:spcBef>
                  <a:spcPct val="0"/>
                </a:spcBef>
                <a:spcAft>
                  <a:spcPct val="0"/>
                </a:spcAft>
                <a:buClrTx/>
                <a:buSzTx/>
                <a:buFontTx/>
                <a:buNone/>
                <a:tabLst/>
                <a:defRPr/>
              </a:pPr>
              <a:endPar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p:txBody>
        </p:sp>
        <p:sp>
          <p:nvSpPr>
            <p:cNvPr id="41" name="Rectangle 40"/>
            <p:cNvSpPr>
              <a:spLocks noChangeAspect="1"/>
            </p:cNvSpPr>
            <p:nvPr/>
          </p:nvSpPr>
          <p:spPr bwMode="auto">
            <a:xfrm>
              <a:off x="6657339"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Share</a:t>
              </a:r>
            </a:p>
          </p:txBody>
        </p:sp>
        <p:sp>
          <p:nvSpPr>
            <p:cNvPr id="42" name="Freeform 41"/>
            <p:cNvSpPr>
              <a:spLocks/>
            </p:cNvSpPr>
            <p:nvPr/>
          </p:nvSpPr>
          <p:spPr bwMode="auto">
            <a:xfrm>
              <a:off x="6959143" y="5065776"/>
              <a:ext cx="957756" cy="667885"/>
            </a:xfrm>
            <a:custGeom>
              <a:avLst/>
              <a:gdLst/>
              <a:ahLst/>
              <a:cxnLst/>
              <a:rect l="l" t="t" r="r" b="b"/>
              <a:pathLst>
                <a:path w="1822529" h="1109555">
                  <a:moveTo>
                    <a:pt x="341442" y="686899"/>
                  </a:moveTo>
                  <a:cubicBezTo>
                    <a:pt x="376723" y="679869"/>
                    <a:pt x="419060" y="707989"/>
                    <a:pt x="433172" y="750169"/>
                  </a:cubicBezTo>
                  <a:cubicBezTo>
                    <a:pt x="440228" y="715019"/>
                    <a:pt x="482565" y="693929"/>
                    <a:pt x="517846" y="700959"/>
                  </a:cubicBezTo>
                  <a:cubicBezTo>
                    <a:pt x="553127" y="707989"/>
                    <a:pt x="581351" y="743139"/>
                    <a:pt x="581351" y="778289"/>
                  </a:cubicBezTo>
                  <a:cubicBezTo>
                    <a:pt x="581351" y="778283"/>
                    <a:pt x="581351" y="778218"/>
                    <a:pt x="581351" y="777410"/>
                  </a:cubicBezTo>
                  <a:lnTo>
                    <a:pt x="581351" y="771259"/>
                  </a:lnTo>
                  <a:cubicBezTo>
                    <a:pt x="588407" y="729079"/>
                    <a:pt x="630744" y="707989"/>
                    <a:pt x="673081" y="715019"/>
                  </a:cubicBezTo>
                  <a:cubicBezTo>
                    <a:pt x="715418" y="722049"/>
                    <a:pt x="743643" y="764229"/>
                    <a:pt x="729530" y="806408"/>
                  </a:cubicBezTo>
                  <a:cubicBezTo>
                    <a:pt x="729528" y="806422"/>
                    <a:pt x="729410" y="807248"/>
                    <a:pt x="722474" y="855618"/>
                  </a:cubicBezTo>
                  <a:cubicBezTo>
                    <a:pt x="736586" y="827498"/>
                    <a:pt x="771867" y="813438"/>
                    <a:pt x="807148" y="820468"/>
                  </a:cubicBezTo>
                  <a:cubicBezTo>
                    <a:pt x="842429" y="827498"/>
                    <a:pt x="870653" y="869678"/>
                    <a:pt x="863597" y="911858"/>
                  </a:cubicBezTo>
                  <a:cubicBezTo>
                    <a:pt x="863595" y="911868"/>
                    <a:pt x="863334" y="912973"/>
                    <a:pt x="835372" y="1031367"/>
                  </a:cubicBezTo>
                  <a:cubicBezTo>
                    <a:pt x="821260" y="1073546"/>
                    <a:pt x="785979" y="1094636"/>
                    <a:pt x="750699" y="1094636"/>
                  </a:cubicBezTo>
                  <a:lnTo>
                    <a:pt x="744602" y="1094636"/>
                  </a:lnTo>
                  <a:cubicBezTo>
                    <a:pt x="701306" y="1080576"/>
                    <a:pt x="680137" y="1045427"/>
                    <a:pt x="680137" y="1010277"/>
                  </a:cubicBezTo>
                  <a:cubicBezTo>
                    <a:pt x="666025" y="1031367"/>
                    <a:pt x="637800" y="1045427"/>
                    <a:pt x="609576" y="1045427"/>
                  </a:cubicBezTo>
                  <a:lnTo>
                    <a:pt x="603479" y="1045427"/>
                  </a:lnTo>
                  <a:cubicBezTo>
                    <a:pt x="560183" y="1031367"/>
                    <a:pt x="531958" y="989187"/>
                    <a:pt x="539014" y="954037"/>
                  </a:cubicBezTo>
                  <a:cubicBezTo>
                    <a:pt x="539018" y="954033"/>
                    <a:pt x="539072" y="953980"/>
                    <a:pt x="539896" y="953158"/>
                  </a:cubicBezTo>
                  <a:lnTo>
                    <a:pt x="546071" y="947007"/>
                  </a:lnTo>
                  <a:cubicBezTo>
                    <a:pt x="524902" y="968097"/>
                    <a:pt x="496678" y="982157"/>
                    <a:pt x="468453" y="982157"/>
                  </a:cubicBezTo>
                  <a:cubicBezTo>
                    <a:pt x="468446" y="982157"/>
                    <a:pt x="468376" y="982157"/>
                    <a:pt x="467571" y="982157"/>
                  </a:cubicBezTo>
                  <a:lnTo>
                    <a:pt x="461397" y="982157"/>
                  </a:lnTo>
                  <a:cubicBezTo>
                    <a:pt x="433172" y="975127"/>
                    <a:pt x="412004" y="954037"/>
                    <a:pt x="404948" y="925917"/>
                  </a:cubicBezTo>
                  <a:cubicBezTo>
                    <a:pt x="397892" y="932947"/>
                    <a:pt x="397892" y="932947"/>
                    <a:pt x="390835" y="932947"/>
                  </a:cubicBezTo>
                  <a:cubicBezTo>
                    <a:pt x="383779" y="932947"/>
                    <a:pt x="376723" y="932947"/>
                    <a:pt x="369667" y="932947"/>
                  </a:cubicBezTo>
                  <a:cubicBezTo>
                    <a:pt x="334386" y="932947"/>
                    <a:pt x="306162" y="904828"/>
                    <a:pt x="299106" y="876708"/>
                  </a:cubicBezTo>
                  <a:cubicBezTo>
                    <a:pt x="299102" y="876692"/>
                    <a:pt x="298837" y="875458"/>
                    <a:pt x="277937" y="778289"/>
                  </a:cubicBezTo>
                  <a:cubicBezTo>
                    <a:pt x="270881" y="736109"/>
                    <a:pt x="299106" y="700959"/>
                    <a:pt x="341442" y="686899"/>
                  </a:cubicBezTo>
                  <a:close/>
                  <a:moveTo>
                    <a:pt x="362511" y="142762"/>
                  </a:moveTo>
                  <a:cubicBezTo>
                    <a:pt x="362554" y="142762"/>
                    <a:pt x="390795" y="142762"/>
                    <a:pt x="433141" y="142762"/>
                  </a:cubicBezTo>
                  <a:cubicBezTo>
                    <a:pt x="404889" y="170990"/>
                    <a:pt x="383700" y="206274"/>
                    <a:pt x="383700" y="241559"/>
                  </a:cubicBezTo>
                  <a:cubicBezTo>
                    <a:pt x="376637" y="276843"/>
                    <a:pt x="383700" y="305071"/>
                    <a:pt x="397826" y="333298"/>
                  </a:cubicBezTo>
                  <a:cubicBezTo>
                    <a:pt x="426078" y="382696"/>
                    <a:pt x="468457" y="410924"/>
                    <a:pt x="517898" y="410924"/>
                  </a:cubicBezTo>
                  <a:cubicBezTo>
                    <a:pt x="546150" y="417981"/>
                    <a:pt x="581465" y="410924"/>
                    <a:pt x="609717" y="396810"/>
                  </a:cubicBezTo>
                  <a:cubicBezTo>
                    <a:pt x="609726" y="396804"/>
                    <a:pt x="610149" y="396523"/>
                    <a:pt x="630907" y="382696"/>
                  </a:cubicBezTo>
                  <a:cubicBezTo>
                    <a:pt x="630927" y="382685"/>
                    <a:pt x="632883" y="381599"/>
                    <a:pt x="821609" y="276843"/>
                  </a:cubicBezTo>
                  <a:cubicBezTo>
                    <a:pt x="821623" y="276849"/>
                    <a:pt x="822935" y="277432"/>
                    <a:pt x="948744" y="333298"/>
                  </a:cubicBezTo>
                  <a:cubicBezTo>
                    <a:pt x="948758" y="333309"/>
                    <a:pt x="951606" y="335362"/>
                    <a:pt x="1506724" y="735540"/>
                  </a:cubicBezTo>
                  <a:cubicBezTo>
                    <a:pt x="1534976" y="756711"/>
                    <a:pt x="1542039" y="806109"/>
                    <a:pt x="1520850" y="841394"/>
                  </a:cubicBezTo>
                  <a:cubicBezTo>
                    <a:pt x="1506724" y="862564"/>
                    <a:pt x="1485535" y="876678"/>
                    <a:pt x="1457283" y="876678"/>
                  </a:cubicBezTo>
                  <a:cubicBezTo>
                    <a:pt x="1457268" y="876667"/>
                    <a:pt x="1455327" y="875252"/>
                    <a:pt x="1195950" y="686142"/>
                  </a:cubicBezTo>
                  <a:cubicBezTo>
                    <a:pt x="1188887" y="679085"/>
                    <a:pt x="1181824" y="686142"/>
                    <a:pt x="1174761" y="693199"/>
                  </a:cubicBezTo>
                  <a:cubicBezTo>
                    <a:pt x="1174761" y="700256"/>
                    <a:pt x="1174761" y="707313"/>
                    <a:pt x="1181824" y="714370"/>
                  </a:cubicBezTo>
                  <a:cubicBezTo>
                    <a:pt x="1181837" y="714379"/>
                    <a:pt x="1183505" y="715545"/>
                    <a:pt x="1393715" y="862564"/>
                  </a:cubicBezTo>
                  <a:cubicBezTo>
                    <a:pt x="1393715" y="883735"/>
                    <a:pt x="1393715" y="904906"/>
                    <a:pt x="1379589" y="926076"/>
                  </a:cubicBezTo>
                  <a:cubicBezTo>
                    <a:pt x="1365463" y="947247"/>
                    <a:pt x="1337211" y="961361"/>
                    <a:pt x="1316022" y="961361"/>
                  </a:cubicBezTo>
                  <a:cubicBezTo>
                    <a:pt x="1316007" y="961350"/>
                    <a:pt x="1314082" y="959908"/>
                    <a:pt x="1061752" y="770825"/>
                  </a:cubicBezTo>
                  <a:cubicBezTo>
                    <a:pt x="1054689" y="770825"/>
                    <a:pt x="1040563" y="770825"/>
                    <a:pt x="1040563" y="777882"/>
                  </a:cubicBezTo>
                  <a:cubicBezTo>
                    <a:pt x="1033500" y="784939"/>
                    <a:pt x="1033500" y="791995"/>
                    <a:pt x="1040563" y="799052"/>
                  </a:cubicBezTo>
                  <a:cubicBezTo>
                    <a:pt x="1040576" y="799061"/>
                    <a:pt x="1042204" y="800199"/>
                    <a:pt x="1252454" y="947247"/>
                  </a:cubicBezTo>
                  <a:cubicBezTo>
                    <a:pt x="1252454" y="968418"/>
                    <a:pt x="1252454" y="989588"/>
                    <a:pt x="1238328" y="1010759"/>
                  </a:cubicBezTo>
                  <a:cubicBezTo>
                    <a:pt x="1224202" y="1031930"/>
                    <a:pt x="1203013" y="1038986"/>
                    <a:pt x="1174761" y="1038986"/>
                  </a:cubicBezTo>
                  <a:cubicBezTo>
                    <a:pt x="1174742" y="1038973"/>
                    <a:pt x="1172878" y="1037684"/>
                    <a:pt x="991122" y="911962"/>
                  </a:cubicBezTo>
                  <a:cubicBezTo>
                    <a:pt x="984059" y="904906"/>
                    <a:pt x="976996" y="904906"/>
                    <a:pt x="969933" y="911962"/>
                  </a:cubicBezTo>
                  <a:cubicBezTo>
                    <a:pt x="969933" y="919019"/>
                    <a:pt x="969933" y="926076"/>
                    <a:pt x="976996" y="933133"/>
                  </a:cubicBezTo>
                  <a:cubicBezTo>
                    <a:pt x="977008" y="933143"/>
                    <a:pt x="978180" y="934021"/>
                    <a:pt x="1090004" y="1017816"/>
                  </a:cubicBezTo>
                  <a:cubicBezTo>
                    <a:pt x="1097067" y="1038986"/>
                    <a:pt x="1090004" y="1060157"/>
                    <a:pt x="1082941" y="1074271"/>
                  </a:cubicBezTo>
                  <a:cubicBezTo>
                    <a:pt x="1061752" y="1095441"/>
                    <a:pt x="1040563" y="1109555"/>
                    <a:pt x="1019374" y="1109555"/>
                  </a:cubicBezTo>
                  <a:cubicBezTo>
                    <a:pt x="1019361" y="1109546"/>
                    <a:pt x="1018089" y="1108628"/>
                    <a:pt x="892239" y="1017816"/>
                  </a:cubicBezTo>
                  <a:cubicBezTo>
                    <a:pt x="892243" y="1017797"/>
                    <a:pt x="892533" y="1016447"/>
                    <a:pt x="913428" y="919019"/>
                  </a:cubicBezTo>
                  <a:cubicBezTo>
                    <a:pt x="913428" y="918992"/>
                    <a:pt x="913428" y="911948"/>
                    <a:pt x="913428" y="904906"/>
                  </a:cubicBezTo>
                  <a:cubicBezTo>
                    <a:pt x="920491" y="841394"/>
                    <a:pt x="878113" y="784939"/>
                    <a:pt x="814546" y="770825"/>
                  </a:cubicBezTo>
                  <a:cubicBezTo>
                    <a:pt x="807483" y="763768"/>
                    <a:pt x="807483" y="763768"/>
                    <a:pt x="800420" y="763768"/>
                  </a:cubicBezTo>
                  <a:cubicBezTo>
                    <a:pt x="793357" y="763768"/>
                    <a:pt x="786294" y="763768"/>
                    <a:pt x="779230" y="763768"/>
                  </a:cubicBezTo>
                  <a:cubicBezTo>
                    <a:pt x="772167" y="714370"/>
                    <a:pt x="736852" y="679085"/>
                    <a:pt x="687411" y="664972"/>
                  </a:cubicBezTo>
                  <a:cubicBezTo>
                    <a:pt x="680357" y="664972"/>
                    <a:pt x="673304" y="664972"/>
                    <a:pt x="673285" y="664972"/>
                  </a:cubicBezTo>
                  <a:cubicBezTo>
                    <a:pt x="637970" y="657915"/>
                    <a:pt x="609717" y="664972"/>
                    <a:pt x="588528" y="679085"/>
                  </a:cubicBezTo>
                  <a:cubicBezTo>
                    <a:pt x="574402" y="664972"/>
                    <a:pt x="553213" y="650858"/>
                    <a:pt x="524961" y="650858"/>
                  </a:cubicBezTo>
                  <a:cubicBezTo>
                    <a:pt x="524931" y="650858"/>
                    <a:pt x="517917" y="650858"/>
                    <a:pt x="517898" y="650858"/>
                  </a:cubicBezTo>
                  <a:cubicBezTo>
                    <a:pt x="489646" y="643801"/>
                    <a:pt x="461394" y="650858"/>
                    <a:pt x="440204" y="664972"/>
                  </a:cubicBezTo>
                  <a:cubicBezTo>
                    <a:pt x="419015" y="650858"/>
                    <a:pt x="390763" y="636744"/>
                    <a:pt x="369574" y="636744"/>
                  </a:cubicBezTo>
                  <a:cubicBezTo>
                    <a:pt x="355448" y="636744"/>
                    <a:pt x="341322" y="636744"/>
                    <a:pt x="327196" y="636744"/>
                  </a:cubicBezTo>
                  <a:cubicBezTo>
                    <a:pt x="284817" y="650858"/>
                    <a:pt x="256565" y="672028"/>
                    <a:pt x="242439" y="707313"/>
                  </a:cubicBezTo>
                  <a:cubicBezTo>
                    <a:pt x="242430" y="707310"/>
                    <a:pt x="242003" y="707167"/>
                    <a:pt x="221250" y="700256"/>
                  </a:cubicBezTo>
                  <a:cubicBezTo>
                    <a:pt x="214188" y="425073"/>
                    <a:pt x="362473" y="142834"/>
                    <a:pt x="362511" y="142762"/>
                  </a:cubicBezTo>
                  <a:close/>
                  <a:moveTo>
                    <a:pt x="1723364" y="112687"/>
                  </a:moveTo>
                  <a:cubicBezTo>
                    <a:pt x="1743550" y="115333"/>
                    <a:pt x="1760758" y="129886"/>
                    <a:pt x="1766052" y="156347"/>
                  </a:cubicBezTo>
                  <a:cubicBezTo>
                    <a:pt x="1766054" y="156361"/>
                    <a:pt x="1766355" y="158999"/>
                    <a:pt x="1822529" y="650276"/>
                  </a:cubicBezTo>
                  <a:cubicBezTo>
                    <a:pt x="1822529" y="678501"/>
                    <a:pt x="1801350" y="706725"/>
                    <a:pt x="1766052" y="706725"/>
                  </a:cubicBezTo>
                  <a:cubicBezTo>
                    <a:pt x="1766043" y="706725"/>
                    <a:pt x="1765216" y="706725"/>
                    <a:pt x="1688397" y="706725"/>
                  </a:cubicBezTo>
                  <a:cubicBezTo>
                    <a:pt x="1709572" y="332816"/>
                    <a:pt x="1533148" y="156409"/>
                    <a:pt x="1533086" y="156347"/>
                  </a:cubicBezTo>
                  <a:cubicBezTo>
                    <a:pt x="1533096" y="156345"/>
                    <a:pt x="1534390" y="156021"/>
                    <a:pt x="1702516" y="114010"/>
                  </a:cubicBezTo>
                  <a:cubicBezTo>
                    <a:pt x="1709576" y="112246"/>
                    <a:pt x="1716635" y="111805"/>
                    <a:pt x="1723364" y="112687"/>
                  </a:cubicBezTo>
                  <a:close/>
                  <a:moveTo>
                    <a:pt x="216121" y="52882"/>
                  </a:moveTo>
                  <a:cubicBezTo>
                    <a:pt x="222948" y="53102"/>
                    <a:pt x="229996" y="54864"/>
                    <a:pt x="237043" y="58387"/>
                  </a:cubicBezTo>
                  <a:cubicBezTo>
                    <a:pt x="237043" y="58387"/>
                    <a:pt x="237043" y="58387"/>
                    <a:pt x="321609" y="107717"/>
                  </a:cubicBezTo>
                  <a:cubicBezTo>
                    <a:pt x="321609" y="107717"/>
                    <a:pt x="159524" y="410746"/>
                    <a:pt x="173618" y="706726"/>
                  </a:cubicBezTo>
                  <a:cubicBezTo>
                    <a:pt x="173618" y="706726"/>
                    <a:pt x="173618" y="706726"/>
                    <a:pt x="39721" y="678538"/>
                  </a:cubicBezTo>
                  <a:cubicBezTo>
                    <a:pt x="11533" y="678538"/>
                    <a:pt x="-9609" y="650349"/>
                    <a:pt x="4485" y="615113"/>
                  </a:cubicBezTo>
                  <a:cubicBezTo>
                    <a:pt x="4485" y="615113"/>
                    <a:pt x="4485" y="615113"/>
                    <a:pt x="166571" y="86576"/>
                  </a:cubicBezTo>
                  <a:cubicBezTo>
                    <a:pt x="177142" y="65434"/>
                    <a:pt x="195640" y="52221"/>
                    <a:pt x="216121" y="52882"/>
                  </a:cubicBezTo>
                  <a:close/>
                  <a:moveTo>
                    <a:pt x="811860" y="637"/>
                  </a:moveTo>
                  <a:cubicBezTo>
                    <a:pt x="827743" y="-1131"/>
                    <a:pt x="843626" y="637"/>
                    <a:pt x="857745" y="7709"/>
                  </a:cubicBezTo>
                  <a:cubicBezTo>
                    <a:pt x="857763" y="7717"/>
                    <a:pt x="860458" y="8948"/>
                    <a:pt x="1260115" y="191579"/>
                  </a:cubicBezTo>
                  <a:cubicBezTo>
                    <a:pt x="1281293" y="205723"/>
                    <a:pt x="1302470" y="212795"/>
                    <a:pt x="1316589" y="212795"/>
                  </a:cubicBezTo>
                  <a:cubicBezTo>
                    <a:pt x="1358938" y="226937"/>
                    <a:pt x="1507151" y="198657"/>
                    <a:pt x="1507185" y="198651"/>
                  </a:cubicBezTo>
                  <a:cubicBezTo>
                    <a:pt x="1507263" y="198732"/>
                    <a:pt x="1655423" y="354319"/>
                    <a:pt x="1641309" y="679541"/>
                  </a:cubicBezTo>
                  <a:cubicBezTo>
                    <a:pt x="1641290" y="679545"/>
                    <a:pt x="1639948" y="679833"/>
                    <a:pt x="1542481" y="700757"/>
                  </a:cubicBezTo>
                  <a:cubicBezTo>
                    <a:pt x="1542454" y="700730"/>
                    <a:pt x="1535433" y="693697"/>
                    <a:pt x="1535422" y="693685"/>
                  </a:cubicBezTo>
                  <a:cubicBezTo>
                    <a:pt x="1535404" y="693673"/>
                    <a:pt x="1532978" y="691937"/>
                    <a:pt x="1189524" y="446168"/>
                  </a:cubicBezTo>
                  <a:cubicBezTo>
                    <a:pt x="1189512" y="446159"/>
                    <a:pt x="1187911" y="444983"/>
                    <a:pt x="977750" y="290586"/>
                  </a:cubicBezTo>
                  <a:cubicBezTo>
                    <a:pt x="977733" y="290578"/>
                    <a:pt x="976153" y="289858"/>
                    <a:pt x="822449" y="219867"/>
                  </a:cubicBezTo>
                  <a:cubicBezTo>
                    <a:pt x="822435" y="219874"/>
                    <a:pt x="820645" y="220824"/>
                    <a:pt x="582438" y="347161"/>
                  </a:cubicBezTo>
                  <a:cubicBezTo>
                    <a:pt x="568320" y="361305"/>
                    <a:pt x="547143" y="361305"/>
                    <a:pt x="525965" y="361305"/>
                  </a:cubicBezTo>
                  <a:cubicBezTo>
                    <a:pt x="490669" y="361305"/>
                    <a:pt x="462433" y="340089"/>
                    <a:pt x="448315" y="311802"/>
                  </a:cubicBezTo>
                  <a:cubicBezTo>
                    <a:pt x="420078" y="262298"/>
                    <a:pt x="434196" y="198651"/>
                    <a:pt x="483610" y="170363"/>
                  </a:cubicBezTo>
                  <a:cubicBezTo>
                    <a:pt x="483624" y="170356"/>
                    <a:pt x="484873" y="169694"/>
                    <a:pt x="603616" y="106715"/>
                  </a:cubicBezTo>
                  <a:cubicBezTo>
                    <a:pt x="603633" y="106706"/>
                    <a:pt x="605286" y="105770"/>
                    <a:pt x="765976" y="14781"/>
                  </a:cubicBezTo>
                  <a:cubicBezTo>
                    <a:pt x="780094" y="7709"/>
                    <a:pt x="795977" y="2405"/>
                    <a:pt x="811860" y="637"/>
                  </a:cubicBezTo>
                  <a:close/>
                </a:path>
              </a:pathLst>
            </a:custGeom>
            <a:solidFill>
              <a:srgbClr val="FFFFFF"/>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solidFill>
                    <a:srgbClr val="505050">
                      <a:alpha val="0"/>
                    </a:srgbClr>
                  </a:solidFill>
                </a:ln>
                <a:gradFill>
                  <a:gsLst>
                    <a:gs pos="0">
                      <a:srgbClr val="FFFFFF"/>
                    </a:gs>
                    <a:gs pos="100000">
                      <a:srgbClr val="FFFFFF"/>
                    </a:gs>
                  </a:gsLst>
                  <a:lin ang="5400000" scaled="0"/>
                </a:gradFill>
                <a:effectLst/>
                <a:uLnTx/>
                <a:uFillTx/>
                <a:latin typeface="Segoe UI"/>
                <a:ea typeface="+mn-ea"/>
                <a:cs typeface="+mn-cs"/>
              </a:endParaRPr>
            </a:p>
          </p:txBody>
        </p:sp>
        <p:sp>
          <p:nvSpPr>
            <p:cNvPr id="43" name="Rectangle 42"/>
            <p:cNvSpPr>
              <a:spLocks noChangeAspect="1"/>
            </p:cNvSpPr>
            <p:nvPr/>
          </p:nvSpPr>
          <p:spPr bwMode="auto">
            <a:xfrm>
              <a:off x="8372286"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Question</a:t>
              </a:r>
            </a:p>
          </p:txBody>
        </p:sp>
        <p:grpSp>
          <p:nvGrpSpPr>
            <p:cNvPr id="44" name="Group 43"/>
            <p:cNvGrpSpPr/>
            <p:nvPr/>
          </p:nvGrpSpPr>
          <p:grpSpPr>
            <a:xfrm>
              <a:off x="8760328" y="5056648"/>
              <a:ext cx="937101" cy="785651"/>
              <a:chOff x="8852766" y="4448677"/>
              <a:chExt cx="755507" cy="633406"/>
            </a:xfrm>
          </p:grpSpPr>
          <p:grpSp>
            <p:nvGrpSpPr>
              <p:cNvPr id="45" name="Group 44"/>
              <p:cNvGrpSpPr/>
              <p:nvPr/>
            </p:nvGrpSpPr>
            <p:grpSpPr bwMode="black">
              <a:xfrm>
                <a:off x="8852766" y="4448677"/>
                <a:ext cx="735022" cy="633406"/>
                <a:chOff x="5628627" y="922419"/>
                <a:chExt cx="576936" cy="497307"/>
              </a:xfrm>
            </p:grpSpPr>
            <p:sp>
              <p:nvSpPr>
                <p:cNvPr id="47" name="Rectangle 46"/>
                <p:cNvSpPr/>
                <p:nvPr/>
              </p:nvSpPr>
              <p:spPr bwMode="black">
                <a:xfrm>
                  <a:off x="5628627" y="922419"/>
                  <a:ext cx="576936" cy="360946"/>
                </a:xfrm>
                <a:prstGeom prst="rect">
                  <a:avLst/>
                </a:prstGeom>
                <a:solidFill>
                  <a:srgbClr val="FFFFFF"/>
                </a:solidFill>
                <a:ln w="10795" cap="flat" cmpd="sng" algn="ctr">
                  <a:noFill/>
                  <a:prstDash val="solid"/>
                  <a:headEnd type="none" w="med" len="med"/>
                  <a:tailEnd type="none" w="med" len="med"/>
                </a:ln>
                <a:effectLst/>
              </p:spPr>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20" normalizeH="0" baseline="0" noProof="0" dirty="0">
                    <a:ln>
                      <a:noFill/>
                    </a:ln>
                    <a:gradFill>
                      <a:gsLst>
                        <a:gs pos="0">
                          <a:srgbClr val="FFFFFF"/>
                        </a:gs>
                        <a:gs pos="100000">
                          <a:srgbClr val="FFFFFF"/>
                        </a:gs>
                      </a:gsLst>
                      <a:lin ang="5400000" scaled="0"/>
                    </a:gradFill>
                    <a:effectLst/>
                    <a:uLnTx/>
                    <a:uFillTx/>
                    <a:latin typeface="Segoe Light" pitchFamily="34" charset="0"/>
                    <a:ea typeface="+mn-ea"/>
                    <a:cs typeface="+mn-cs"/>
                  </a:endParaRPr>
                </a:p>
              </p:txBody>
            </p:sp>
            <p:sp>
              <p:nvSpPr>
                <p:cNvPr id="48" name="Isosceles Triangle 47"/>
                <p:cNvSpPr/>
                <p:nvPr/>
              </p:nvSpPr>
              <p:spPr bwMode="black">
                <a:xfrm flipV="1">
                  <a:off x="5716871" y="1251284"/>
                  <a:ext cx="202131" cy="168442"/>
                </a:xfrm>
                <a:prstGeom prst="triangle">
                  <a:avLst>
                    <a:gd name="adj" fmla="val 20000"/>
                  </a:avLst>
                </a:prstGeom>
                <a:solidFill>
                  <a:srgbClr val="FFFFFF"/>
                </a:solidFill>
                <a:ln w="10795" cap="flat" cmpd="sng" algn="ctr">
                  <a:noFill/>
                  <a:prstDash val="solid"/>
                  <a:headEnd type="none" w="med" len="med"/>
                  <a:tailEnd type="none" w="med" len="med"/>
                </a:ln>
                <a:effectLst/>
              </p:spPr>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20" normalizeH="0" baseline="0" noProof="0" dirty="0">
                    <a:ln>
                      <a:noFill/>
                    </a:ln>
                    <a:gradFill>
                      <a:gsLst>
                        <a:gs pos="0">
                          <a:srgbClr val="FFFFFF"/>
                        </a:gs>
                        <a:gs pos="100000">
                          <a:srgbClr val="FFFFFF"/>
                        </a:gs>
                      </a:gsLst>
                      <a:lin ang="5400000" scaled="0"/>
                    </a:gradFill>
                    <a:effectLst/>
                    <a:uLnTx/>
                    <a:uFillTx/>
                    <a:latin typeface="Segoe Light" pitchFamily="34" charset="0"/>
                    <a:ea typeface="+mn-ea"/>
                    <a:cs typeface="+mn-cs"/>
                  </a:endParaRPr>
                </a:p>
              </p:txBody>
            </p:sp>
          </p:grpSp>
          <p:sp>
            <p:nvSpPr>
              <p:cNvPr id="46" name="TextBox 45"/>
              <p:cNvSpPr txBox="1"/>
              <p:nvPr/>
            </p:nvSpPr>
            <p:spPr bwMode="black">
              <a:xfrm>
                <a:off x="8986839" y="4569351"/>
                <a:ext cx="621434" cy="235763"/>
              </a:xfrm>
              <a:prstGeom prst="rect">
                <a:avLst/>
              </a:prstGeom>
              <a:noFill/>
            </p:spPr>
            <p:txBody>
              <a:bodyPr wrap="square" lIns="0" tIns="0" rIns="0" bIns="0"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863" b="1"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Q</a:t>
                </a:r>
                <a:r>
                  <a:rPr kumimoji="0" lang="en-US" sz="1863" b="0"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&amp;</a:t>
                </a:r>
                <a:r>
                  <a:rPr kumimoji="0" lang="en-US" sz="1863" b="1"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A</a:t>
                </a:r>
                <a:endParaRPr kumimoji="0" lang="en-US" sz="1863" b="0" i="0" u="none" strike="noStrike" kern="0" cap="none" spc="-132" normalizeH="0" baseline="0" noProof="0" dirty="0">
                  <a:ln>
                    <a:noFill/>
                  </a:ln>
                  <a:gradFill>
                    <a:gsLst>
                      <a:gs pos="0">
                        <a:srgbClr val="FF8C00"/>
                      </a:gs>
                      <a:gs pos="98000">
                        <a:srgbClr val="FF8C00"/>
                      </a:gs>
                    </a:gsLst>
                    <a:lin ang="5400000" scaled="0"/>
                  </a:gradFill>
                  <a:effectLst/>
                  <a:uLnTx/>
                  <a:uFillTx/>
                  <a:latin typeface="Arial Black" pitchFamily="34" charset="0"/>
                  <a:ea typeface="+mn-ea"/>
                  <a:cs typeface="Arial" pitchFamily="34" charset="0"/>
                </a:endParaRPr>
              </a:p>
            </p:txBody>
          </p:sp>
        </p:grpSp>
        <p:sp>
          <p:nvSpPr>
            <p:cNvPr id="49" name="Rectangle 48"/>
            <p:cNvSpPr>
              <a:spLocks noChangeAspect="1"/>
            </p:cNvSpPr>
            <p:nvPr/>
          </p:nvSpPr>
          <p:spPr bwMode="auto">
            <a:xfrm>
              <a:off x="10087234"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Mobility</a:t>
              </a:r>
            </a:p>
          </p:txBody>
        </p:sp>
        <p:grpSp>
          <p:nvGrpSpPr>
            <p:cNvPr id="50" name="Group 49"/>
            <p:cNvGrpSpPr/>
            <p:nvPr/>
          </p:nvGrpSpPr>
          <p:grpSpPr>
            <a:xfrm>
              <a:off x="10328269" y="5014387"/>
              <a:ext cx="824022" cy="812968"/>
              <a:chOff x="10280016" y="4544833"/>
              <a:chExt cx="728879" cy="719102"/>
            </a:xfrm>
          </p:grpSpPr>
          <p:grpSp>
            <p:nvGrpSpPr>
              <p:cNvPr id="51" name="Group 50"/>
              <p:cNvGrpSpPr/>
              <p:nvPr/>
            </p:nvGrpSpPr>
            <p:grpSpPr bwMode="black">
              <a:xfrm>
                <a:off x="10280016" y="4544833"/>
                <a:ext cx="728879" cy="719102"/>
                <a:chOff x="2916435" y="3914152"/>
                <a:chExt cx="930763" cy="918513"/>
              </a:xfrm>
            </p:grpSpPr>
            <p:pic>
              <p:nvPicPr>
                <p:cNvPr id="53" name="Picture 5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black">
                <a:xfrm rot="2614426" flipH="1">
                  <a:off x="2916435" y="4302640"/>
                  <a:ext cx="394555" cy="530025"/>
                </a:xfrm>
                <a:prstGeom prst="rect">
                  <a:avLst/>
                </a:prstGeom>
              </p:spPr>
            </p:pic>
            <p:sp>
              <p:nvSpPr>
                <p:cNvPr id="54" name="Freeform 61"/>
                <p:cNvSpPr>
                  <a:spLocks/>
                </p:cNvSpPr>
                <p:nvPr/>
              </p:nvSpPr>
              <p:spPr bwMode="black">
                <a:xfrm rot="10800000">
                  <a:off x="3279998" y="3914152"/>
                  <a:ext cx="567200" cy="820335"/>
                </a:xfrm>
                <a:custGeom>
                  <a:avLst/>
                  <a:gdLst/>
                  <a:ahLst/>
                  <a:cxnLst>
                    <a:cxn ang="0">
                      <a:pos x="251" y="363"/>
                    </a:cxn>
                    <a:cxn ang="0">
                      <a:pos x="243" y="372"/>
                    </a:cxn>
                    <a:cxn ang="0">
                      <a:pos x="35" y="372"/>
                    </a:cxn>
                    <a:cxn ang="0">
                      <a:pos x="27" y="363"/>
                    </a:cxn>
                    <a:cxn ang="0">
                      <a:pos x="27" y="36"/>
                    </a:cxn>
                    <a:cxn ang="0">
                      <a:pos x="35" y="27"/>
                    </a:cxn>
                    <a:cxn ang="0">
                      <a:pos x="243" y="27"/>
                    </a:cxn>
                    <a:cxn ang="0">
                      <a:pos x="251" y="36"/>
                    </a:cxn>
                    <a:cxn ang="0">
                      <a:pos x="251" y="108"/>
                    </a:cxn>
                    <a:cxn ang="0">
                      <a:pos x="277" y="84"/>
                    </a:cxn>
                    <a:cxn ang="0">
                      <a:pos x="277" y="10"/>
                    </a:cxn>
                    <a:cxn ang="0">
                      <a:pos x="267" y="0"/>
                    </a:cxn>
                    <a:cxn ang="0">
                      <a:pos x="11" y="0"/>
                    </a:cxn>
                    <a:cxn ang="0">
                      <a:pos x="0" y="10"/>
                    </a:cxn>
                    <a:cxn ang="0">
                      <a:pos x="0" y="389"/>
                    </a:cxn>
                    <a:cxn ang="0">
                      <a:pos x="11" y="399"/>
                    </a:cxn>
                    <a:cxn ang="0">
                      <a:pos x="267" y="399"/>
                    </a:cxn>
                    <a:cxn ang="0">
                      <a:pos x="277" y="389"/>
                    </a:cxn>
                    <a:cxn ang="0">
                      <a:pos x="277" y="168"/>
                    </a:cxn>
                    <a:cxn ang="0">
                      <a:pos x="251" y="191"/>
                    </a:cxn>
                    <a:cxn ang="0">
                      <a:pos x="251" y="363"/>
                    </a:cxn>
                  </a:cxnLst>
                  <a:rect l="0" t="0" r="r" b="b"/>
                  <a:pathLst>
                    <a:path w="277" h="399">
                      <a:moveTo>
                        <a:pt x="251" y="363"/>
                      </a:moveTo>
                      <a:cubicBezTo>
                        <a:pt x="251" y="368"/>
                        <a:pt x="247" y="372"/>
                        <a:pt x="243" y="372"/>
                      </a:cubicBezTo>
                      <a:cubicBezTo>
                        <a:pt x="35" y="372"/>
                        <a:pt x="35" y="372"/>
                        <a:pt x="35" y="372"/>
                      </a:cubicBezTo>
                      <a:cubicBezTo>
                        <a:pt x="31" y="372"/>
                        <a:pt x="27" y="368"/>
                        <a:pt x="27" y="363"/>
                      </a:cubicBezTo>
                      <a:cubicBezTo>
                        <a:pt x="27" y="36"/>
                        <a:pt x="27" y="36"/>
                        <a:pt x="27" y="36"/>
                      </a:cubicBezTo>
                      <a:cubicBezTo>
                        <a:pt x="27" y="31"/>
                        <a:pt x="31" y="27"/>
                        <a:pt x="35" y="27"/>
                      </a:cubicBezTo>
                      <a:cubicBezTo>
                        <a:pt x="243" y="27"/>
                        <a:pt x="243" y="27"/>
                        <a:pt x="243" y="27"/>
                      </a:cubicBezTo>
                      <a:cubicBezTo>
                        <a:pt x="247" y="27"/>
                        <a:pt x="251" y="31"/>
                        <a:pt x="251" y="36"/>
                      </a:cubicBezTo>
                      <a:cubicBezTo>
                        <a:pt x="251" y="108"/>
                        <a:pt x="251" y="108"/>
                        <a:pt x="251" y="108"/>
                      </a:cubicBezTo>
                      <a:cubicBezTo>
                        <a:pt x="277" y="84"/>
                        <a:pt x="277" y="84"/>
                        <a:pt x="277" y="84"/>
                      </a:cubicBezTo>
                      <a:cubicBezTo>
                        <a:pt x="277" y="10"/>
                        <a:pt x="277" y="10"/>
                        <a:pt x="277" y="10"/>
                      </a:cubicBezTo>
                      <a:cubicBezTo>
                        <a:pt x="277" y="4"/>
                        <a:pt x="273" y="0"/>
                        <a:pt x="267" y="0"/>
                      </a:cubicBezTo>
                      <a:cubicBezTo>
                        <a:pt x="11" y="0"/>
                        <a:pt x="11" y="0"/>
                        <a:pt x="11" y="0"/>
                      </a:cubicBezTo>
                      <a:cubicBezTo>
                        <a:pt x="5" y="0"/>
                        <a:pt x="0" y="4"/>
                        <a:pt x="0" y="10"/>
                      </a:cubicBezTo>
                      <a:cubicBezTo>
                        <a:pt x="0" y="389"/>
                        <a:pt x="0" y="389"/>
                        <a:pt x="0" y="389"/>
                      </a:cubicBezTo>
                      <a:cubicBezTo>
                        <a:pt x="0" y="395"/>
                        <a:pt x="5" y="399"/>
                        <a:pt x="11" y="399"/>
                      </a:cubicBezTo>
                      <a:cubicBezTo>
                        <a:pt x="267" y="399"/>
                        <a:pt x="267" y="399"/>
                        <a:pt x="267" y="399"/>
                      </a:cubicBezTo>
                      <a:cubicBezTo>
                        <a:pt x="273" y="399"/>
                        <a:pt x="277" y="395"/>
                        <a:pt x="277" y="389"/>
                      </a:cubicBezTo>
                      <a:cubicBezTo>
                        <a:pt x="277" y="168"/>
                        <a:pt x="277" y="168"/>
                        <a:pt x="277" y="168"/>
                      </a:cubicBezTo>
                      <a:cubicBezTo>
                        <a:pt x="251" y="191"/>
                        <a:pt x="251" y="191"/>
                        <a:pt x="251" y="191"/>
                      </a:cubicBezTo>
                      <a:lnTo>
                        <a:pt x="251" y="363"/>
                      </a:lnTo>
                      <a:close/>
                    </a:path>
                  </a:pathLst>
                </a:custGeom>
                <a:solidFill>
                  <a:srgbClr val="FFFFFF"/>
                </a:solidFill>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grpSp>
          <p:sp>
            <p:nvSpPr>
              <p:cNvPr id="52" name="Freeform 51"/>
              <p:cNvSpPr/>
              <p:nvPr>
                <p:custDataLst>
                  <p:tags r:id="rId2"/>
                </p:custDataLst>
              </p:nvPr>
            </p:nvSpPr>
            <p:spPr>
              <a:xfrm>
                <a:off x="10639372" y="4697518"/>
                <a:ext cx="294872" cy="297203"/>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rgbClr val="FFFFFF"/>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Arial"/>
                  <a:ea typeface="+mn-ea"/>
                  <a:cs typeface="+mn-cs"/>
                </a:endParaRPr>
              </a:p>
            </p:txBody>
          </p:sp>
        </p:grpSp>
      </p:grpSp>
      <p:grpSp>
        <p:nvGrpSpPr>
          <p:cNvPr id="3" name="Group 2"/>
          <p:cNvGrpSpPr/>
          <p:nvPr/>
        </p:nvGrpSpPr>
        <p:grpSpPr>
          <a:xfrm>
            <a:off x="436359" y="1666279"/>
            <a:ext cx="5006599" cy="4392197"/>
            <a:chOff x="274639" y="1690849"/>
            <a:chExt cx="5106992" cy="4480270"/>
          </a:xfrm>
        </p:grpSpPr>
        <p:pic>
          <p:nvPicPr>
            <p:cNvPr id="32" name="Picture 31"/>
            <p:cNvPicPr>
              <a:picLocks noChangeAspect="1"/>
            </p:cNvPicPr>
            <p:nvPr/>
          </p:nvPicPr>
          <p:blipFill rotWithShape="1">
            <a:blip r:embed="rId7" cstate="screen">
              <a:extLst>
                <a:ext uri="{28A0092B-C50C-407E-A947-70E740481C1C}">
                  <a14:useLocalDpi xmlns:a14="http://schemas.microsoft.com/office/drawing/2010/main"/>
                </a:ext>
              </a:extLst>
            </a:blip>
            <a:srcRect t="-21416"/>
            <a:stretch/>
          </p:blipFill>
          <p:spPr>
            <a:xfrm>
              <a:off x="282248" y="1690851"/>
              <a:ext cx="5076455" cy="2753743"/>
            </a:xfrm>
            <a:prstGeom prst="rect">
              <a:avLst/>
            </a:prstGeom>
          </p:spPr>
        </p:pic>
        <p:sp>
          <p:nvSpPr>
            <p:cNvPr id="34" name="Rectangle 33"/>
            <p:cNvSpPr/>
            <p:nvPr/>
          </p:nvSpPr>
          <p:spPr bwMode="auto">
            <a:xfrm>
              <a:off x="274639" y="1690849"/>
              <a:ext cx="5084064" cy="960235"/>
            </a:xfrm>
            <a:prstGeom prst="rect">
              <a:avLst/>
            </a:prstGeom>
            <a:solidFill>
              <a:srgbClr val="7FBA00"/>
            </a:solidFill>
            <a:ln w="38100" cap="flat" cmpd="sng" algn="ctr">
              <a:noFill/>
              <a:prstDash val="solid"/>
              <a:headEnd type="none" w="med" len="med"/>
              <a:tailEnd type="none" w="med" len="med"/>
            </a:ln>
            <a:effectLst/>
          </p:spPr>
          <p:txBody>
            <a:bodyPr vert="horz" wrap="square" lIns="89642" tIns="89642" rIns="89642" bIns="137141" numCol="1" rtlCol="0" anchor="t" anchorCtr="0" compatLnSpc="1">
              <a:prstTxWarp prst="textNoShape">
                <a:avLst/>
              </a:prstTxWarp>
            </a:bodyPr>
            <a:lstStyle/>
            <a:p>
              <a:pPr marL="0" marR="0" lvl="0" indent="0" algn="l" defTabSz="913924" rtl="0" eaLnBrk="1" fontAlgn="base" latinLnBrk="0" hangingPunct="1">
                <a:lnSpc>
                  <a:spcPct val="100000"/>
                </a:lnSpc>
                <a:spcBef>
                  <a:spcPts val="1176"/>
                </a:spcBef>
                <a:spcAft>
                  <a:spcPct val="0"/>
                </a:spcAft>
                <a:buClrTx/>
                <a:buSzTx/>
                <a:buFontTx/>
                <a:buNone/>
                <a:tabLst/>
                <a:defRPr/>
              </a:pPr>
              <a:r>
                <a:rPr kumimoji="0" lang="en-US" sz="2549"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Analyze in Excel</a:t>
              </a:r>
            </a:p>
            <a:p>
              <a:pPr marL="0" marR="0" lvl="0" indent="0" algn="l" defTabSz="913924" rtl="0" eaLnBrk="1" fontAlgn="base" latinLnBrk="0" hangingPunct="1">
                <a:lnSpc>
                  <a:spcPct val="100000"/>
                </a:lnSpc>
                <a:spcBef>
                  <a:spcPts val="588"/>
                </a:spcBef>
                <a:spcAft>
                  <a:spcPct val="0"/>
                </a:spcAft>
                <a:buClrTx/>
                <a:buSzTx/>
                <a:buFontTx/>
                <a:buNone/>
                <a:tabLst/>
                <a:defRPr/>
              </a:pPr>
              <a:r>
                <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1 Billion Office Users</a:t>
              </a:r>
            </a:p>
            <a:p>
              <a:pPr marL="0" marR="0" lvl="0" indent="0" algn="l" defTabSz="913924" rtl="0" eaLnBrk="1" fontAlgn="base" latinLnBrk="0" hangingPunct="1">
                <a:lnSpc>
                  <a:spcPct val="90000"/>
                </a:lnSpc>
                <a:spcBef>
                  <a:spcPct val="0"/>
                </a:spcBef>
                <a:spcAft>
                  <a:spcPct val="0"/>
                </a:spcAft>
                <a:buClrTx/>
                <a:buSzTx/>
                <a:buFontTx/>
                <a:buNone/>
                <a:tabLst/>
                <a:defRPr/>
              </a:pPr>
              <a:endPar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p:txBody>
        </p:sp>
        <p:sp>
          <p:nvSpPr>
            <p:cNvPr id="35" name="Rectangle 34"/>
            <p:cNvSpPr>
              <a:spLocks noChangeAspect="1"/>
            </p:cNvSpPr>
            <p:nvPr/>
          </p:nvSpPr>
          <p:spPr bwMode="auto">
            <a:xfrm>
              <a:off x="1996786"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Analyze</a:t>
              </a:r>
            </a:p>
          </p:txBody>
        </p:sp>
        <p:grpSp>
          <p:nvGrpSpPr>
            <p:cNvPr id="36" name="Group 35"/>
            <p:cNvGrpSpPr/>
            <p:nvPr/>
          </p:nvGrpSpPr>
          <p:grpSpPr>
            <a:xfrm flipH="1">
              <a:off x="2516817" y="5026572"/>
              <a:ext cx="598930" cy="829513"/>
              <a:chOff x="1458542" y="3645051"/>
              <a:chExt cx="800271" cy="1108369"/>
            </a:xfrm>
            <a:solidFill>
              <a:srgbClr val="FFFFFF"/>
            </a:solidFill>
          </p:grpSpPr>
          <p:sp>
            <p:nvSpPr>
              <p:cNvPr id="37" name="Rectangle 24"/>
              <p:cNvSpPr/>
              <p:nvPr/>
            </p:nvSpPr>
            <p:spPr>
              <a:xfrm>
                <a:off x="1458542" y="3645051"/>
                <a:ext cx="800271" cy="1108369"/>
              </a:xfrm>
              <a:custGeom>
                <a:avLst/>
                <a:gdLst/>
                <a:ahLst/>
                <a:cxnLst/>
                <a:rect l="l" t="t" r="r" b="b"/>
                <a:pathLst>
                  <a:path w="1518158" h="2102639">
                    <a:moveTo>
                      <a:pt x="664962" y="48"/>
                    </a:moveTo>
                    <a:cubicBezTo>
                      <a:pt x="990735" y="4734"/>
                      <a:pt x="1250103" y="195355"/>
                      <a:pt x="1311820" y="389100"/>
                    </a:cubicBezTo>
                    <a:cubicBezTo>
                      <a:pt x="1373537" y="582844"/>
                      <a:pt x="1310258" y="419568"/>
                      <a:pt x="1400880" y="656280"/>
                    </a:cubicBezTo>
                    <a:cubicBezTo>
                      <a:pt x="1411818" y="757059"/>
                      <a:pt x="1339163" y="742996"/>
                      <a:pt x="1358694" y="815651"/>
                    </a:cubicBezTo>
                    <a:cubicBezTo>
                      <a:pt x="1378225" y="888305"/>
                      <a:pt x="1514158" y="1033614"/>
                      <a:pt x="1518064" y="1092206"/>
                    </a:cubicBezTo>
                    <a:cubicBezTo>
                      <a:pt x="1521971" y="1150798"/>
                      <a:pt x="1404005" y="1135955"/>
                      <a:pt x="1382130" y="1167204"/>
                    </a:cubicBezTo>
                    <a:cubicBezTo>
                      <a:pt x="1360256" y="1198453"/>
                      <a:pt x="1390724" y="1255483"/>
                      <a:pt x="1386818" y="1279701"/>
                    </a:cubicBezTo>
                    <a:cubicBezTo>
                      <a:pt x="1382912" y="1303919"/>
                      <a:pt x="1361038" y="1303137"/>
                      <a:pt x="1358694" y="1312512"/>
                    </a:cubicBezTo>
                    <a:cubicBezTo>
                      <a:pt x="1356350" y="1321887"/>
                      <a:pt x="1382912" y="1320325"/>
                      <a:pt x="1372756" y="1335949"/>
                    </a:cubicBezTo>
                    <a:cubicBezTo>
                      <a:pt x="1362600" y="1351574"/>
                      <a:pt x="1313382" y="1359387"/>
                      <a:pt x="1297758" y="1406260"/>
                    </a:cubicBezTo>
                    <a:cubicBezTo>
                      <a:pt x="1282134" y="1453134"/>
                      <a:pt x="1409474" y="1567974"/>
                      <a:pt x="1279008" y="1617192"/>
                    </a:cubicBezTo>
                    <a:cubicBezTo>
                      <a:pt x="1148544" y="1666410"/>
                      <a:pt x="978235" y="1565631"/>
                      <a:pt x="936830" y="1645316"/>
                    </a:cubicBezTo>
                    <a:cubicBezTo>
                      <a:pt x="895425" y="1725002"/>
                      <a:pt x="843864" y="1864060"/>
                      <a:pt x="1030577" y="2095304"/>
                    </a:cubicBezTo>
                    <a:cubicBezTo>
                      <a:pt x="762616" y="2092179"/>
                      <a:pt x="244660" y="2113272"/>
                      <a:pt x="18105" y="2095304"/>
                    </a:cubicBezTo>
                    <a:cubicBezTo>
                      <a:pt x="72790" y="1927340"/>
                      <a:pt x="250130" y="1765625"/>
                      <a:pt x="247786" y="1537506"/>
                    </a:cubicBezTo>
                    <a:cubicBezTo>
                      <a:pt x="245442" y="1309387"/>
                      <a:pt x="51697" y="1118768"/>
                      <a:pt x="4042" y="726591"/>
                    </a:cubicBezTo>
                    <a:cubicBezTo>
                      <a:pt x="-20283" y="526408"/>
                      <a:pt x="67548" y="340065"/>
                      <a:pt x="203379" y="206900"/>
                    </a:cubicBezTo>
                    <a:lnTo>
                      <a:pt x="203379" y="206708"/>
                    </a:lnTo>
                    <a:lnTo>
                      <a:pt x="203605" y="206708"/>
                    </a:lnTo>
                    <a:cubicBezTo>
                      <a:pt x="332512" y="77755"/>
                      <a:pt x="505564" y="-2246"/>
                      <a:pt x="664962" y="48"/>
                    </a:cubicBezTo>
                    <a:close/>
                  </a:path>
                </a:pathLst>
              </a:custGeom>
              <a:grpFill/>
              <a:ln w="10795" cap="flat" cmpd="sng" algn="ctr">
                <a:noFill/>
                <a:prstDash val="solid"/>
              </a:ln>
              <a:effectLst/>
            </p:spPr>
            <p:txBody>
              <a:bodyPr rtlCol="0" anchor="ct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marL="0" marR="0" lvl="0" indent="0" algn="ctr"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sp>
            <p:nvSpPr>
              <p:cNvPr id="38" name="Freeform 37"/>
              <p:cNvSpPr>
                <a:spLocks noEditPoints="1"/>
              </p:cNvSpPr>
              <p:nvPr/>
            </p:nvSpPr>
            <p:spPr bwMode="black">
              <a:xfrm rot="17995606">
                <a:off x="1558537" y="3764955"/>
                <a:ext cx="429800" cy="337492"/>
              </a:xfrm>
              <a:custGeom>
                <a:avLst/>
                <a:gdLst>
                  <a:gd name="T0" fmla="*/ 1304 w 1423"/>
                  <a:gd name="T1" fmla="*/ 301 h 1114"/>
                  <a:gd name="T2" fmla="*/ 1302 w 1423"/>
                  <a:gd name="T3" fmla="*/ 297 h 1114"/>
                  <a:gd name="T4" fmla="*/ 719 w 1423"/>
                  <a:gd name="T5" fmla="*/ 113 h 1114"/>
                  <a:gd name="T6" fmla="*/ 496 w 1423"/>
                  <a:gd name="T7" fmla="*/ 416 h 1114"/>
                  <a:gd name="T8" fmla="*/ 441 w 1423"/>
                  <a:gd name="T9" fmla="*/ 482 h 1114"/>
                  <a:gd name="T10" fmla="*/ 375 w 1423"/>
                  <a:gd name="T11" fmla="*/ 536 h 1114"/>
                  <a:gd name="T12" fmla="*/ 290 w 1423"/>
                  <a:gd name="T13" fmla="*/ 648 h 1114"/>
                  <a:gd name="T14" fmla="*/ 470 w 1423"/>
                  <a:gd name="T15" fmla="*/ 973 h 1114"/>
                  <a:gd name="T16" fmla="*/ 610 w 1423"/>
                  <a:gd name="T17" fmla="*/ 960 h 1114"/>
                  <a:gd name="T18" fmla="*/ 775 w 1423"/>
                  <a:gd name="T19" fmla="*/ 921 h 1114"/>
                  <a:gd name="T20" fmla="*/ 932 w 1423"/>
                  <a:gd name="T21" fmla="*/ 927 h 1114"/>
                  <a:gd name="T22" fmla="*/ 1151 w 1423"/>
                  <a:gd name="T23" fmla="*/ 893 h 1114"/>
                  <a:gd name="T24" fmla="*/ 1304 w 1423"/>
                  <a:gd name="T25" fmla="*/ 301 h 1114"/>
                  <a:gd name="T26" fmla="*/ 1024 w 1423"/>
                  <a:gd name="T27" fmla="*/ 311 h 1114"/>
                  <a:gd name="T28" fmla="*/ 1024 w 1423"/>
                  <a:gd name="T29" fmla="*/ 311 h 1114"/>
                  <a:gd name="T30" fmla="*/ 873 w 1423"/>
                  <a:gd name="T31" fmla="*/ 299 h 1114"/>
                  <a:gd name="T32" fmla="*/ 873 w 1423"/>
                  <a:gd name="T33" fmla="*/ 299 h 1114"/>
                  <a:gd name="T34" fmla="*/ 799 w 1423"/>
                  <a:gd name="T35" fmla="*/ 278 h 1114"/>
                  <a:gd name="T36" fmla="*/ 821 w 1423"/>
                  <a:gd name="T37" fmla="*/ 203 h 1114"/>
                  <a:gd name="T38" fmla="*/ 828 w 1423"/>
                  <a:gd name="T39" fmla="*/ 200 h 1114"/>
                  <a:gd name="T40" fmla="*/ 1101 w 1423"/>
                  <a:gd name="T41" fmla="*/ 234 h 1114"/>
                  <a:gd name="T42" fmla="*/ 1108 w 1423"/>
                  <a:gd name="T43" fmla="*/ 244 h 1114"/>
                  <a:gd name="T44" fmla="*/ 1087 w 1423"/>
                  <a:gd name="T45" fmla="*/ 318 h 1114"/>
                  <a:gd name="T46" fmla="*/ 1024 w 1423"/>
                  <a:gd name="T47" fmla="*/ 311 h 1114"/>
                  <a:gd name="T48" fmla="*/ 14 w 1423"/>
                  <a:gd name="T49" fmla="*/ 967 h 1114"/>
                  <a:gd name="T50" fmla="*/ 53 w 1423"/>
                  <a:gd name="T51" fmla="*/ 1037 h 1114"/>
                  <a:gd name="T52" fmla="*/ 115 w 1423"/>
                  <a:gd name="T53" fmla="*/ 1064 h 1114"/>
                  <a:gd name="T54" fmla="*/ 24 w 1423"/>
                  <a:gd name="T55" fmla="*/ 900 h 1114"/>
                  <a:gd name="T56" fmla="*/ 14 w 1423"/>
                  <a:gd name="T57" fmla="*/ 967 h 1114"/>
                  <a:gd name="T58" fmla="*/ 400 w 1423"/>
                  <a:gd name="T59" fmla="*/ 959 h 1114"/>
                  <a:gd name="T60" fmla="*/ 265 w 1423"/>
                  <a:gd name="T61" fmla="*/ 714 h 1114"/>
                  <a:gd name="T62" fmla="*/ 190 w 1423"/>
                  <a:gd name="T63" fmla="*/ 686 h 1114"/>
                  <a:gd name="T64" fmla="*/ 175 w 1423"/>
                  <a:gd name="T65" fmla="*/ 764 h 1114"/>
                  <a:gd name="T66" fmla="*/ 310 w 1423"/>
                  <a:gd name="T67" fmla="*/ 1008 h 1114"/>
                  <a:gd name="T68" fmla="*/ 385 w 1423"/>
                  <a:gd name="T69" fmla="*/ 1037 h 1114"/>
                  <a:gd name="T70" fmla="*/ 400 w 1423"/>
                  <a:gd name="T71" fmla="*/ 959 h 1114"/>
                  <a:gd name="T72" fmla="*/ 266 w 1423"/>
                  <a:gd name="T73" fmla="*/ 1026 h 1114"/>
                  <a:gd name="T74" fmla="*/ 136 w 1423"/>
                  <a:gd name="T75" fmla="*/ 792 h 1114"/>
                  <a:gd name="T76" fmla="*/ 65 w 1423"/>
                  <a:gd name="T77" fmla="*/ 764 h 1114"/>
                  <a:gd name="T78" fmla="*/ 50 w 1423"/>
                  <a:gd name="T79" fmla="*/ 840 h 1114"/>
                  <a:gd name="T80" fmla="*/ 180 w 1423"/>
                  <a:gd name="T81" fmla="*/ 1074 h 1114"/>
                  <a:gd name="T82" fmla="*/ 251 w 1423"/>
                  <a:gd name="T83" fmla="*/ 1101 h 1114"/>
                  <a:gd name="T84" fmla="*/ 266 w 1423"/>
                  <a:gd name="T85" fmla="*/ 1026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3" h="1114">
                    <a:moveTo>
                      <a:pt x="1304" y="301"/>
                    </a:moveTo>
                    <a:cubicBezTo>
                      <a:pt x="1303" y="298"/>
                      <a:pt x="1304" y="300"/>
                      <a:pt x="1302" y="297"/>
                    </a:cubicBezTo>
                    <a:cubicBezTo>
                      <a:pt x="1184" y="83"/>
                      <a:pt x="922" y="0"/>
                      <a:pt x="719" y="113"/>
                    </a:cubicBezTo>
                    <a:cubicBezTo>
                      <a:pt x="602" y="177"/>
                      <a:pt x="570" y="311"/>
                      <a:pt x="496" y="416"/>
                    </a:cubicBezTo>
                    <a:cubicBezTo>
                      <a:pt x="476" y="444"/>
                      <a:pt x="458" y="465"/>
                      <a:pt x="441" y="482"/>
                    </a:cubicBezTo>
                    <a:cubicBezTo>
                      <a:pt x="418" y="504"/>
                      <a:pt x="397" y="520"/>
                      <a:pt x="375" y="536"/>
                    </a:cubicBezTo>
                    <a:cubicBezTo>
                      <a:pt x="334" y="566"/>
                      <a:pt x="296" y="593"/>
                      <a:pt x="290" y="648"/>
                    </a:cubicBezTo>
                    <a:cubicBezTo>
                      <a:pt x="470" y="973"/>
                      <a:pt x="470" y="973"/>
                      <a:pt x="470" y="973"/>
                    </a:cubicBezTo>
                    <a:cubicBezTo>
                      <a:pt x="519" y="997"/>
                      <a:pt x="563" y="978"/>
                      <a:pt x="610" y="960"/>
                    </a:cubicBezTo>
                    <a:cubicBezTo>
                      <a:pt x="654" y="943"/>
                      <a:pt x="697" y="925"/>
                      <a:pt x="775" y="921"/>
                    </a:cubicBezTo>
                    <a:cubicBezTo>
                      <a:pt x="827" y="918"/>
                      <a:pt x="880" y="924"/>
                      <a:pt x="932" y="927"/>
                    </a:cubicBezTo>
                    <a:cubicBezTo>
                      <a:pt x="1008" y="932"/>
                      <a:pt x="1082" y="931"/>
                      <a:pt x="1151" y="893"/>
                    </a:cubicBezTo>
                    <a:cubicBezTo>
                      <a:pt x="1354" y="780"/>
                      <a:pt x="1423" y="515"/>
                      <a:pt x="1304" y="301"/>
                    </a:cubicBezTo>
                    <a:close/>
                    <a:moveTo>
                      <a:pt x="1024" y="311"/>
                    </a:moveTo>
                    <a:cubicBezTo>
                      <a:pt x="1024" y="311"/>
                      <a:pt x="1024" y="311"/>
                      <a:pt x="1024" y="311"/>
                    </a:cubicBezTo>
                    <a:cubicBezTo>
                      <a:pt x="983" y="270"/>
                      <a:pt x="917" y="279"/>
                      <a:pt x="873" y="299"/>
                    </a:cubicBezTo>
                    <a:cubicBezTo>
                      <a:pt x="873" y="299"/>
                      <a:pt x="873" y="299"/>
                      <a:pt x="873" y="299"/>
                    </a:cubicBezTo>
                    <a:cubicBezTo>
                      <a:pt x="847" y="313"/>
                      <a:pt x="814" y="304"/>
                      <a:pt x="799" y="278"/>
                    </a:cubicBezTo>
                    <a:cubicBezTo>
                      <a:pt x="785" y="251"/>
                      <a:pt x="794" y="218"/>
                      <a:pt x="821" y="203"/>
                    </a:cubicBezTo>
                    <a:cubicBezTo>
                      <a:pt x="823" y="202"/>
                      <a:pt x="828" y="200"/>
                      <a:pt x="828" y="200"/>
                    </a:cubicBezTo>
                    <a:cubicBezTo>
                      <a:pt x="927" y="155"/>
                      <a:pt x="1035" y="168"/>
                      <a:pt x="1101" y="234"/>
                    </a:cubicBezTo>
                    <a:cubicBezTo>
                      <a:pt x="1101" y="234"/>
                      <a:pt x="1106" y="240"/>
                      <a:pt x="1108" y="244"/>
                    </a:cubicBezTo>
                    <a:cubicBezTo>
                      <a:pt x="1122" y="270"/>
                      <a:pt x="1113" y="303"/>
                      <a:pt x="1087" y="318"/>
                    </a:cubicBezTo>
                    <a:cubicBezTo>
                      <a:pt x="1066" y="329"/>
                      <a:pt x="1041" y="326"/>
                      <a:pt x="1024" y="311"/>
                    </a:cubicBezTo>
                    <a:close/>
                    <a:moveTo>
                      <a:pt x="14" y="967"/>
                    </a:moveTo>
                    <a:cubicBezTo>
                      <a:pt x="53" y="1037"/>
                      <a:pt x="53" y="1037"/>
                      <a:pt x="53" y="1037"/>
                    </a:cubicBezTo>
                    <a:cubicBezTo>
                      <a:pt x="67" y="1062"/>
                      <a:pt x="94" y="1074"/>
                      <a:pt x="115" y="1064"/>
                    </a:cubicBezTo>
                    <a:cubicBezTo>
                      <a:pt x="24" y="900"/>
                      <a:pt x="24" y="900"/>
                      <a:pt x="24" y="900"/>
                    </a:cubicBezTo>
                    <a:cubicBezTo>
                      <a:pt x="5" y="912"/>
                      <a:pt x="0" y="941"/>
                      <a:pt x="14" y="967"/>
                    </a:cubicBezTo>
                    <a:close/>
                    <a:moveTo>
                      <a:pt x="400" y="959"/>
                    </a:moveTo>
                    <a:cubicBezTo>
                      <a:pt x="265" y="714"/>
                      <a:pt x="265" y="714"/>
                      <a:pt x="265" y="714"/>
                    </a:cubicBezTo>
                    <a:cubicBezTo>
                      <a:pt x="248" y="685"/>
                      <a:pt x="215" y="672"/>
                      <a:pt x="190" y="686"/>
                    </a:cubicBezTo>
                    <a:cubicBezTo>
                      <a:pt x="166" y="699"/>
                      <a:pt x="159" y="734"/>
                      <a:pt x="175" y="764"/>
                    </a:cubicBezTo>
                    <a:cubicBezTo>
                      <a:pt x="310" y="1008"/>
                      <a:pt x="310" y="1008"/>
                      <a:pt x="310" y="1008"/>
                    </a:cubicBezTo>
                    <a:cubicBezTo>
                      <a:pt x="327" y="1038"/>
                      <a:pt x="360" y="1051"/>
                      <a:pt x="385" y="1037"/>
                    </a:cubicBezTo>
                    <a:cubicBezTo>
                      <a:pt x="410" y="1023"/>
                      <a:pt x="416" y="988"/>
                      <a:pt x="400" y="959"/>
                    </a:cubicBezTo>
                    <a:close/>
                    <a:moveTo>
                      <a:pt x="266" y="1026"/>
                    </a:moveTo>
                    <a:cubicBezTo>
                      <a:pt x="136" y="792"/>
                      <a:pt x="136" y="792"/>
                      <a:pt x="136" y="792"/>
                    </a:cubicBezTo>
                    <a:cubicBezTo>
                      <a:pt x="121" y="764"/>
                      <a:pt x="89" y="751"/>
                      <a:pt x="65" y="764"/>
                    </a:cubicBezTo>
                    <a:cubicBezTo>
                      <a:pt x="41" y="778"/>
                      <a:pt x="35" y="811"/>
                      <a:pt x="50" y="840"/>
                    </a:cubicBezTo>
                    <a:cubicBezTo>
                      <a:pt x="180" y="1074"/>
                      <a:pt x="180" y="1074"/>
                      <a:pt x="180" y="1074"/>
                    </a:cubicBezTo>
                    <a:cubicBezTo>
                      <a:pt x="196" y="1102"/>
                      <a:pt x="228" y="1114"/>
                      <a:pt x="251" y="1101"/>
                    </a:cubicBezTo>
                    <a:cubicBezTo>
                      <a:pt x="275" y="1088"/>
                      <a:pt x="282" y="1055"/>
                      <a:pt x="266" y="1026"/>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dirty="0">
                  <a:ln>
                    <a:solidFill>
                      <a:srgbClr val="505050">
                        <a:alpha val="0"/>
                      </a:srgbClr>
                    </a:solidFill>
                  </a:ln>
                  <a:gradFill>
                    <a:gsLst>
                      <a:gs pos="0">
                        <a:srgbClr val="FFFFFF"/>
                      </a:gs>
                      <a:gs pos="100000">
                        <a:srgbClr val="FFFFFF"/>
                      </a:gs>
                    </a:gsLst>
                    <a:lin ang="5400000" scaled="0"/>
                  </a:gradFill>
                  <a:effectLst/>
                  <a:uLnTx/>
                  <a:uFillTx/>
                  <a:latin typeface="Segoe UI"/>
                  <a:ea typeface="+mn-ea"/>
                  <a:cs typeface="+mn-cs"/>
                </a:endParaRPr>
              </a:p>
            </p:txBody>
          </p:sp>
        </p:grpSp>
        <p:sp>
          <p:nvSpPr>
            <p:cNvPr id="39" name="Rectangle 38"/>
            <p:cNvSpPr>
              <a:spLocks noChangeAspect="1"/>
            </p:cNvSpPr>
            <p:nvPr/>
          </p:nvSpPr>
          <p:spPr bwMode="auto">
            <a:xfrm>
              <a:off x="3735711"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Visualize</a:t>
              </a:r>
            </a:p>
          </p:txBody>
        </p:sp>
        <p:sp>
          <p:nvSpPr>
            <p:cNvPr id="40" name="Freeform 39"/>
            <p:cNvSpPr/>
            <p:nvPr>
              <p:custDataLst>
                <p:tags r:id="rId1"/>
              </p:custDataLst>
            </p:nvPr>
          </p:nvSpPr>
          <p:spPr>
            <a:xfrm>
              <a:off x="4150261" y="5016918"/>
              <a:ext cx="787338" cy="793562"/>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rgbClr val="FFFFFF"/>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Arial"/>
                <a:ea typeface="+mn-ea"/>
                <a:cs typeface="+mn-cs"/>
              </a:endParaRPr>
            </a:p>
          </p:txBody>
        </p:sp>
        <p:sp>
          <p:nvSpPr>
            <p:cNvPr id="55" name="Rectangle 54"/>
            <p:cNvSpPr>
              <a:spLocks noChangeAspect="1"/>
            </p:cNvSpPr>
            <p:nvPr/>
          </p:nvSpPr>
          <p:spPr bwMode="auto">
            <a:xfrm>
              <a:off x="282247"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Discover</a:t>
              </a:r>
            </a:p>
          </p:txBody>
        </p:sp>
        <p:sp>
          <p:nvSpPr>
            <p:cNvPr id="56" name="Freeform 8"/>
            <p:cNvSpPr>
              <a:spLocks noEditPoints="1"/>
            </p:cNvSpPr>
            <p:nvPr/>
          </p:nvSpPr>
          <p:spPr bwMode="black">
            <a:xfrm>
              <a:off x="611804" y="4988989"/>
              <a:ext cx="828137" cy="827921"/>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56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grpSp>
      <p:sp>
        <p:nvSpPr>
          <p:cNvPr id="57" name="Rectangle 56"/>
          <p:cNvSpPr/>
          <p:nvPr/>
        </p:nvSpPr>
        <p:spPr bwMode="auto">
          <a:xfrm>
            <a:off x="436359" y="6174451"/>
            <a:ext cx="11241069" cy="491640"/>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ctr" defTabSz="913924" rtl="0" eaLnBrk="1" fontAlgn="base" latinLnBrk="0" hangingPunct="1">
              <a:lnSpc>
                <a:spcPct val="90000"/>
              </a:lnSpc>
              <a:spcBef>
                <a:spcPct val="0"/>
              </a:spcBef>
              <a:spcAft>
                <a:spcPct val="0"/>
              </a:spcAft>
              <a:buClrTx/>
              <a:buSzTx/>
              <a:buFontTx/>
              <a:buNone/>
              <a:tabLst/>
              <a:defRPr/>
            </a:pPr>
            <a:r>
              <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Scalable  |  Manageable  |  Trusted  </a:t>
            </a:r>
          </a:p>
        </p:txBody>
      </p:sp>
      <p:sp>
        <p:nvSpPr>
          <p:cNvPr id="58" name="Cross 57"/>
          <p:cNvSpPr/>
          <p:nvPr/>
        </p:nvSpPr>
        <p:spPr bwMode="auto">
          <a:xfrm>
            <a:off x="5684647" y="3450837"/>
            <a:ext cx="783058" cy="782462"/>
          </a:xfrm>
          <a:prstGeom prst="plus">
            <a:avLst>
              <a:gd name="adj" fmla="val 40783"/>
            </a:avLst>
          </a:prstGeom>
          <a:solidFill>
            <a:srgbClr val="696969"/>
          </a:solidFill>
          <a:ln w="10795" cap="flat" cmpd="sng" algn="ctr">
            <a:noFill/>
            <a:prstDash val="soli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sp>
        <p:nvSpPr>
          <p:cNvPr id="9" name="Title 8"/>
          <p:cNvSpPr>
            <a:spLocks noGrp="1"/>
          </p:cNvSpPr>
          <p:nvPr>
            <p:ph type="title"/>
          </p:nvPr>
        </p:nvSpPr>
        <p:spPr>
          <a:xfrm>
            <a:off x="547007" y="365125"/>
            <a:ext cx="10806793" cy="1325563"/>
          </a:xfrm>
        </p:spPr>
        <p:txBody>
          <a:bodyPr/>
          <a:lstStyle/>
          <a:p>
            <a:r>
              <a:rPr lang="en-US" sz="3921" dirty="0"/>
              <a:t>Power BI: A powerful new way to work with data</a:t>
            </a:r>
          </a:p>
        </p:txBody>
      </p:sp>
      <p:sp>
        <p:nvSpPr>
          <p:cNvPr id="5" name="Rectangle 4"/>
          <p:cNvSpPr/>
          <p:nvPr/>
        </p:nvSpPr>
        <p:spPr>
          <a:xfrm>
            <a:off x="6695228" y="1658421"/>
            <a:ext cx="4982200" cy="4392194"/>
          </a:xfrm>
          <a:prstGeom prst="rect">
            <a:avLst/>
          </a:prstGeom>
          <a:solidFill>
            <a:schemeClr val="bg1">
              <a:alpha val="74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61" name="Text Placeholder 2"/>
          <p:cNvSpPr txBox="1">
            <a:spLocks/>
          </p:cNvSpPr>
          <p:nvPr/>
        </p:nvSpPr>
        <p:spPr>
          <a:xfrm>
            <a:off x="229840" y="1180867"/>
            <a:ext cx="11752751" cy="568664"/>
          </a:xfrm>
          <a:prstGeom prst="rect">
            <a:avLst/>
          </a:prstGeom>
          <a:noFill/>
        </p:spPr>
        <p:txBody>
          <a:bodyPr vert="horz" wrap="square" lIns="179285" tIns="0" rIns="179285" bIns="143428" rtlCol="0">
            <a:noAutofit/>
          </a:bodyPr>
          <a:lstStyle>
            <a:lvl1pPr marL="0" marR="0" indent="0" algn="l" defTabSz="932742" rtl="0" eaLnBrk="1" fontAlgn="auto" latinLnBrk="0" hangingPunct="1">
              <a:lnSpc>
                <a:spcPts val="5500"/>
              </a:lnSpc>
              <a:spcBef>
                <a:spcPts val="0"/>
              </a:spcBef>
              <a:spcAft>
                <a:spcPts val="0"/>
              </a:spcAft>
              <a:buClrTx/>
              <a:buSzPct val="90000"/>
              <a:buFontTx/>
              <a:buNone/>
              <a:tabLst/>
              <a:defRPr sz="5000" kern="1200" spc="0" baseline="0">
                <a:gradFill>
                  <a:gsLst>
                    <a:gs pos="4000">
                      <a:schemeClr val="bg1"/>
                    </a:gs>
                    <a:gs pos="93000">
                      <a:schemeClr val="bg1"/>
                    </a:gs>
                  </a:gsLst>
                  <a:lin ang="5400000" scaled="0"/>
                </a:gradFill>
                <a:latin typeface="+mj-lt"/>
                <a:ea typeface="+mn-ea"/>
                <a:cs typeface="+mn-cs"/>
              </a:defRPr>
            </a:lvl1pPr>
            <a:lvl2pPr marL="0" marR="0" indent="0" algn="l" defTabSz="932742" rtl="0" eaLnBrk="1" fontAlgn="auto" latinLnBrk="0" hangingPunct="1">
              <a:lnSpc>
                <a:spcPts val="2600"/>
              </a:lnSpc>
              <a:spcBef>
                <a:spcPts val="1800"/>
              </a:spcBef>
              <a:spcAft>
                <a:spcPts val="0"/>
              </a:spcAft>
              <a:buClrTx/>
              <a:buSzPct val="90000"/>
              <a:buFontTx/>
              <a:buNone/>
              <a:tabLst/>
              <a:defRPr sz="3000" kern="1200" spc="0" baseline="0">
                <a:gradFill>
                  <a:gsLst>
                    <a:gs pos="4000">
                      <a:schemeClr val="bg1"/>
                    </a:gs>
                    <a:gs pos="93000">
                      <a:schemeClr val="bg1"/>
                    </a:gs>
                  </a:gsLst>
                  <a:lin ang="5400000" scaled="0"/>
                </a:gradFill>
                <a:latin typeface="+mj-lt"/>
                <a:ea typeface="+mn-ea"/>
                <a:cs typeface="+mn-cs"/>
              </a:defRPr>
            </a:lvl2pPr>
            <a:lvl3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3pPr>
            <a:lvl4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4pPr>
            <a:lvl5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Pct val="90000"/>
              <a:buFontTx/>
              <a:buNone/>
              <a:tabLst/>
              <a:defRPr/>
            </a:pPr>
            <a:r>
              <a:rPr kumimoji="0" lang="en-US" sz="2549" b="0" i="0" u="none" strike="noStrike" kern="1200" cap="none" spc="0" normalizeH="0" baseline="0" noProof="0" dirty="0">
                <a:ln>
                  <a:noFill/>
                </a:ln>
                <a:solidFill>
                  <a:srgbClr val="505050"/>
                </a:solidFill>
                <a:effectLst/>
                <a:uLnTx/>
                <a:uFillTx/>
                <a:latin typeface="Segoe UI Light"/>
                <a:ea typeface="+mn-ea"/>
                <a:cs typeface="+mn-cs"/>
              </a:rPr>
              <a:t>Self-service business intelligence and analytics with Excel and the power of the cloud</a:t>
            </a:r>
          </a:p>
        </p:txBody>
      </p:sp>
    </p:spTree>
    <p:extLst>
      <p:ext uri="{BB962C8B-B14F-4D97-AF65-F5344CB8AC3E}">
        <p14:creationId xmlns:p14="http://schemas.microsoft.com/office/powerpoint/2010/main" val="98475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2" presetClass="entr" presetSubtype="8" decel="10000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1000" fill="hold"/>
                                        <p:tgtEl>
                                          <p:spTgt spid="3"/>
                                        </p:tgtEl>
                                        <p:attrNameLst>
                                          <p:attrName>ppt_x</p:attrName>
                                        </p:attrNameLst>
                                      </p:cBhvr>
                                      <p:tavLst>
                                        <p:tav tm="0">
                                          <p:val>
                                            <p:strVal val="0-#ppt_w/2"/>
                                          </p:val>
                                        </p:tav>
                                        <p:tav tm="100000">
                                          <p:val>
                                            <p:strVal val="#ppt_x"/>
                                          </p:val>
                                        </p:tav>
                                      </p:tavLst>
                                    </p:anim>
                                    <p:anim calcmode="lin" valueType="num">
                                      <p:cBhvr additive="base">
                                        <p:cTn id="11" dur="1000" fill="hold"/>
                                        <p:tgtEl>
                                          <p:spTgt spid="3"/>
                                        </p:tgtEl>
                                        <p:attrNameLst>
                                          <p:attrName>ppt_y</p:attrName>
                                        </p:attrNameLst>
                                      </p:cBhvr>
                                      <p:tavLst>
                                        <p:tav tm="0">
                                          <p:val>
                                            <p:strVal val="#ppt_y"/>
                                          </p:val>
                                        </p:tav>
                                        <p:tav tm="100000">
                                          <p:val>
                                            <p:strVal val="#ppt_y"/>
                                          </p:val>
                                        </p:tav>
                                      </p:tavLst>
                                    </p:anim>
                                  </p:childTnLst>
                                </p:cTn>
                              </p:par>
                              <p:par>
                                <p:cTn id="12" presetID="2" presetClass="entr" presetSubtype="2" decel="10000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1+#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p:cNvGrpSpPr/>
          <p:nvPr/>
        </p:nvGrpSpPr>
        <p:grpSpPr>
          <a:xfrm>
            <a:off x="420946" y="2103780"/>
            <a:ext cx="4074973" cy="3585699"/>
            <a:chOff x="429386" y="2145468"/>
            <a:chExt cx="4156685" cy="3657600"/>
          </a:xfrm>
        </p:grpSpPr>
        <p:sp>
          <p:nvSpPr>
            <p:cNvPr id="11" name="Rectangle 10"/>
            <p:cNvSpPr/>
            <p:nvPr/>
          </p:nvSpPr>
          <p:spPr>
            <a:xfrm>
              <a:off x="429386" y="2145468"/>
              <a:ext cx="914400" cy="914400"/>
            </a:xfrm>
            <a:prstGeom prst="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2" name="Group 455"/>
            <p:cNvGrpSpPr>
              <a:grpSpLocks/>
            </p:cNvGrpSpPr>
            <p:nvPr/>
          </p:nvGrpSpPr>
          <p:grpSpPr bwMode="auto">
            <a:xfrm>
              <a:off x="657986" y="2374068"/>
              <a:ext cx="457200" cy="457200"/>
              <a:chOff x="-3781305" y="3065460"/>
              <a:chExt cx="1777999" cy="1777999"/>
            </a:xfrm>
          </p:grpSpPr>
          <p:sp>
            <p:nvSpPr>
              <p:cNvPr id="1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17" name="Rectangle 16"/>
            <p:cNvSpPr/>
            <p:nvPr/>
          </p:nvSpPr>
          <p:spPr>
            <a:xfrm>
              <a:off x="429386" y="3059868"/>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8" name="Group 34"/>
            <p:cNvGrpSpPr>
              <a:grpSpLocks/>
            </p:cNvGrpSpPr>
            <p:nvPr/>
          </p:nvGrpSpPr>
          <p:grpSpPr bwMode="auto">
            <a:xfrm>
              <a:off x="657986" y="3288468"/>
              <a:ext cx="457200" cy="457200"/>
              <a:chOff x="-3781305" y="3065460"/>
              <a:chExt cx="1777999" cy="1777999"/>
            </a:xfrm>
          </p:grpSpPr>
          <p:sp>
            <p:nvSpPr>
              <p:cNvPr id="1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29386" y="3974268"/>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9"/>
            <p:cNvGrpSpPr>
              <a:grpSpLocks/>
            </p:cNvGrpSpPr>
            <p:nvPr/>
          </p:nvGrpSpPr>
          <p:grpSpPr bwMode="auto">
            <a:xfrm>
              <a:off x="657986" y="4202868"/>
              <a:ext cx="457200" cy="457200"/>
              <a:chOff x="-3781305" y="3065460"/>
              <a:chExt cx="1777999" cy="1777999"/>
            </a:xfrm>
          </p:grpSpPr>
          <p:sp>
            <p:nvSpPr>
              <p:cNvPr id="2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7" name="Rectangle 26"/>
            <p:cNvSpPr/>
            <p:nvPr/>
          </p:nvSpPr>
          <p:spPr>
            <a:xfrm>
              <a:off x="429386" y="4888668"/>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44"/>
            <p:cNvGrpSpPr>
              <a:grpSpLocks/>
            </p:cNvGrpSpPr>
            <p:nvPr/>
          </p:nvGrpSpPr>
          <p:grpSpPr bwMode="auto">
            <a:xfrm>
              <a:off x="657986" y="5117268"/>
              <a:ext cx="457200" cy="457200"/>
              <a:chOff x="-3781305" y="3065460"/>
              <a:chExt cx="1777999" cy="1777999"/>
            </a:xfrm>
          </p:grpSpPr>
          <p:sp>
            <p:nvSpPr>
              <p:cNvPr id="3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2" name="TextBox 31"/>
            <p:cNvSpPr txBox="1"/>
            <p:nvPr/>
          </p:nvSpPr>
          <p:spPr>
            <a:xfrm>
              <a:off x="1454911" y="225865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Discover</a:t>
              </a:r>
            </a:p>
          </p:txBody>
        </p:sp>
        <p:sp>
          <p:nvSpPr>
            <p:cNvPr id="33" name="TextBox 32"/>
            <p:cNvSpPr txBox="1"/>
            <p:nvPr/>
          </p:nvSpPr>
          <p:spPr>
            <a:xfrm>
              <a:off x="1454911" y="318416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Analyze</a:t>
              </a:r>
            </a:p>
          </p:txBody>
        </p:sp>
        <p:sp>
          <p:nvSpPr>
            <p:cNvPr id="34" name="TextBox 33"/>
            <p:cNvSpPr txBox="1"/>
            <p:nvPr/>
          </p:nvSpPr>
          <p:spPr>
            <a:xfrm>
              <a:off x="1454911" y="4051736"/>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Visualize</a:t>
              </a:r>
            </a:p>
          </p:txBody>
        </p:sp>
        <p:sp>
          <p:nvSpPr>
            <p:cNvPr id="35" name="TextBox 34"/>
            <p:cNvSpPr txBox="1"/>
            <p:nvPr/>
          </p:nvSpPr>
          <p:spPr>
            <a:xfrm>
              <a:off x="1454911" y="5017729"/>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Explore</a:t>
              </a:r>
            </a:p>
          </p:txBody>
        </p:sp>
      </p:grpSp>
      <p:sp useBgFill="1">
        <p:nvSpPr>
          <p:cNvPr id="7" name="Rectangle 6"/>
          <p:cNvSpPr/>
          <p:nvPr/>
        </p:nvSpPr>
        <p:spPr>
          <a:xfrm>
            <a:off x="-8964" y="487"/>
            <a:ext cx="420945" cy="68570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 name="Title 2"/>
          <p:cNvSpPr>
            <a:spLocks noGrp="1"/>
          </p:cNvSpPr>
          <p:nvPr>
            <p:ph type="title"/>
          </p:nvPr>
        </p:nvSpPr>
        <p:spPr/>
        <p:txBody>
          <a:bodyPr/>
          <a:lstStyle/>
          <a:p>
            <a:r>
              <a:rPr lang="en-US" dirty="0"/>
              <a:t>Industry Norm: Analyzing data with Excel</a:t>
            </a:r>
          </a:p>
        </p:txBody>
      </p:sp>
      <p:grpSp>
        <p:nvGrpSpPr>
          <p:cNvPr id="9" name="Group 8"/>
          <p:cNvGrpSpPr/>
          <p:nvPr/>
        </p:nvGrpSpPr>
        <p:grpSpPr>
          <a:xfrm>
            <a:off x="3751533" y="1283065"/>
            <a:ext cx="8097893" cy="5230433"/>
            <a:chOff x="3826758" y="1308297"/>
            <a:chExt cx="8260273" cy="5335314"/>
          </a:xfrm>
        </p:grpSpPr>
        <p:grpSp>
          <p:nvGrpSpPr>
            <p:cNvPr id="2" name="Group 1"/>
            <p:cNvGrpSpPr/>
            <p:nvPr/>
          </p:nvGrpSpPr>
          <p:grpSpPr>
            <a:xfrm>
              <a:off x="3826758" y="1308297"/>
              <a:ext cx="8260273" cy="5335314"/>
              <a:chOff x="4296161" y="1524072"/>
              <a:chExt cx="7291210" cy="4709396"/>
            </a:xfrm>
          </p:grpSpPr>
          <p:sp>
            <p:nvSpPr>
              <p:cNvPr id="62"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38" name="Rectangle 37"/>
              <p:cNvSpPr/>
              <p:nvPr/>
            </p:nvSpPr>
            <p:spPr bwMode="auto">
              <a:xfrm>
                <a:off x="4296161" y="1524072"/>
                <a:ext cx="7291210" cy="7315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Easily discover and access public and corporate data</a:t>
                </a:r>
                <a:endPar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3" name="Picture 12"/>
              <p:cNvPicPr>
                <a:picLocks noChangeAspect="1"/>
              </p:cNvPicPr>
              <p:nvPr/>
            </p:nvPicPr>
            <p:blipFill>
              <a:blip r:embed="rId3"/>
              <a:stretch>
                <a:fillRect/>
              </a:stretch>
            </p:blipFill>
            <p:spPr>
              <a:xfrm>
                <a:off x="4296161" y="2316552"/>
                <a:ext cx="7291210" cy="3916916"/>
              </a:xfrm>
              <a:prstGeom prst="rect">
                <a:avLst/>
              </a:prstGeom>
            </p:spPr>
          </p:pic>
        </p:grpSp>
        <p:sp>
          <p:nvSpPr>
            <p:cNvPr id="8" name="Rectangle 7"/>
            <p:cNvSpPr/>
            <p:nvPr/>
          </p:nvSpPr>
          <p:spPr>
            <a:xfrm>
              <a:off x="3826758" y="1308297"/>
              <a:ext cx="8260273" cy="5335314"/>
            </a:xfrm>
            <a:prstGeom prst="rect">
              <a:avLst/>
            </a:prstGeom>
            <a:noFill/>
            <a:ln>
              <a:solidFill>
                <a:srgbClr val="7F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43" name="Right Brace 42"/>
          <p:cNvSpPr/>
          <p:nvPr/>
        </p:nvSpPr>
        <p:spPr>
          <a:xfrm>
            <a:off x="2961115" y="1834852"/>
            <a:ext cx="441316" cy="412355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83745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0-#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1000"/>
                                        <p:tgtEl>
                                          <p:spTgt spid="43"/>
                                        </p:tgtEl>
                                      </p:cBhvr>
                                    </p:animEffect>
                                  </p:childTnLst>
                                </p:cTn>
                              </p:par>
                              <p:par>
                                <p:cTn id="12" presetID="2" presetClass="entr" presetSubtype="2" decel="9800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1+#ppt_w/2"/>
                                          </p:val>
                                        </p:tav>
                                        <p:tav tm="100000">
                                          <p:val>
                                            <p:strVal val="#ppt_x"/>
                                          </p:val>
                                        </p:tav>
                                      </p:tavLst>
                                    </p:anim>
                                    <p:anim calcmode="lin" valueType="num">
                                      <p:cBhvr additive="base">
                                        <p:cTn id="15"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 name="Freeform 8"/>
          <p:cNvSpPr>
            <a:spLocks noEditPoints="1"/>
          </p:cNvSpPr>
          <p:nvPr/>
        </p:nvSpPr>
        <p:spPr bwMode="black">
          <a:xfrm>
            <a:off x="6847467" y="1485403"/>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1" name="Title 1"/>
          <p:cNvSpPr>
            <a:spLocks noGrp="1"/>
          </p:cNvSpPr>
          <p:nvPr>
            <p:ph type="title"/>
          </p:nvPr>
        </p:nvSpPr>
        <p:spPr/>
        <p:txBody>
          <a:bodyPr/>
          <a:lstStyle/>
          <a:p>
            <a:pPr lvl="0"/>
            <a:r>
              <a:rPr lang="en-US" dirty="0"/>
              <a:t>Industry Norm: Analyzing data with Excel</a:t>
            </a:r>
          </a:p>
        </p:txBody>
      </p:sp>
      <p:pic>
        <p:nvPicPr>
          <p:cNvPr id="17" name="Picture 16"/>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3753779" y="2096035"/>
            <a:ext cx="8095646" cy="4410834"/>
          </a:xfrm>
          <a:prstGeom prst="rect">
            <a:avLst/>
          </a:prstGeom>
        </p:spPr>
      </p:pic>
      <p:grpSp>
        <p:nvGrpSpPr>
          <p:cNvPr id="16" name="Group 15"/>
          <p:cNvGrpSpPr/>
          <p:nvPr/>
        </p:nvGrpSpPr>
        <p:grpSpPr>
          <a:xfrm>
            <a:off x="420946" y="2103780"/>
            <a:ext cx="4074973" cy="3585699"/>
            <a:chOff x="471590" y="2125663"/>
            <a:chExt cx="4156685" cy="3657600"/>
          </a:xfrm>
        </p:grpSpPr>
        <p:sp>
          <p:nvSpPr>
            <p:cNvPr id="18" name="Rectangle 17"/>
            <p:cNvSpPr/>
            <p:nvPr/>
          </p:nvSpPr>
          <p:spPr>
            <a:xfrm>
              <a:off x="471590" y="2125663"/>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700190" y="2354263"/>
              <a:ext cx="457200" cy="457200"/>
              <a:chOff x="-3781305" y="3065460"/>
              <a:chExt cx="1777999" cy="1777999"/>
            </a:xfrm>
          </p:grpSpPr>
          <p:sp>
            <p:nvSpPr>
              <p:cNvPr id="3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71590" y="3040063"/>
              <a:ext cx="914400" cy="914400"/>
            </a:xfrm>
            <a:prstGeom prst="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700190" y="3268663"/>
              <a:ext cx="457200" cy="457200"/>
              <a:chOff x="-3781305" y="3065460"/>
              <a:chExt cx="1777999" cy="1777999"/>
            </a:xfrm>
          </p:grpSpPr>
          <p:sp>
            <p:nvSpPr>
              <p:cNvPr id="3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71590" y="3954463"/>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3" name="Group 39"/>
            <p:cNvGrpSpPr>
              <a:grpSpLocks/>
            </p:cNvGrpSpPr>
            <p:nvPr/>
          </p:nvGrpSpPr>
          <p:grpSpPr bwMode="auto">
            <a:xfrm>
              <a:off x="700190" y="4183063"/>
              <a:ext cx="457200" cy="457200"/>
              <a:chOff x="-3781305" y="3065460"/>
              <a:chExt cx="1777999" cy="1777999"/>
            </a:xfrm>
          </p:grpSpPr>
          <p:sp>
            <p:nvSpPr>
              <p:cNvPr id="3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4" name="Rectangle 23"/>
            <p:cNvSpPr/>
            <p:nvPr/>
          </p:nvSpPr>
          <p:spPr>
            <a:xfrm>
              <a:off x="471590" y="4868863"/>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5" name="Group 44"/>
            <p:cNvGrpSpPr>
              <a:grpSpLocks/>
            </p:cNvGrpSpPr>
            <p:nvPr/>
          </p:nvGrpSpPr>
          <p:grpSpPr bwMode="auto">
            <a:xfrm>
              <a:off x="700190" y="5097463"/>
              <a:ext cx="457200" cy="457200"/>
              <a:chOff x="-3781305" y="3065460"/>
              <a:chExt cx="1777999" cy="1777999"/>
            </a:xfrm>
          </p:grpSpPr>
          <p:sp>
            <p:nvSpPr>
              <p:cNvPr id="3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6" name="TextBox 25"/>
            <p:cNvSpPr txBox="1"/>
            <p:nvPr/>
          </p:nvSpPr>
          <p:spPr>
            <a:xfrm>
              <a:off x="1497115" y="2238850"/>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Discover</a:t>
              </a:r>
            </a:p>
          </p:txBody>
        </p:sp>
        <p:sp>
          <p:nvSpPr>
            <p:cNvPr id="27" name="TextBox 26"/>
            <p:cNvSpPr txBox="1"/>
            <p:nvPr/>
          </p:nvSpPr>
          <p:spPr>
            <a:xfrm>
              <a:off x="1497115" y="3164362"/>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Analyze</a:t>
              </a:r>
            </a:p>
          </p:txBody>
        </p:sp>
        <p:sp>
          <p:nvSpPr>
            <p:cNvPr id="28" name="TextBox 27"/>
            <p:cNvSpPr txBox="1"/>
            <p:nvPr/>
          </p:nvSpPr>
          <p:spPr>
            <a:xfrm>
              <a:off x="1497115" y="4031931"/>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Visualize</a:t>
              </a:r>
            </a:p>
          </p:txBody>
        </p:sp>
        <p:sp>
          <p:nvSpPr>
            <p:cNvPr id="29" name="TextBox 28"/>
            <p:cNvSpPr txBox="1"/>
            <p:nvPr/>
          </p:nvSpPr>
          <p:spPr>
            <a:xfrm>
              <a:off x="1497115" y="499792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Explore</a:t>
              </a:r>
            </a:p>
          </p:txBody>
        </p:sp>
      </p:grpSp>
      <p:grpSp>
        <p:nvGrpSpPr>
          <p:cNvPr id="45" name="Group 44"/>
          <p:cNvGrpSpPr/>
          <p:nvPr/>
        </p:nvGrpSpPr>
        <p:grpSpPr>
          <a:xfrm>
            <a:off x="3751533" y="1283066"/>
            <a:ext cx="8097893" cy="812454"/>
            <a:chOff x="4296161" y="1524072"/>
            <a:chExt cx="7291210" cy="731520"/>
          </a:xfrm>
        </p:grpSpPr>
        <p:sp>
          <p:nvSpPr>
            <p:cNvPr id="46"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47" name="Rectangle 46"/>
            <p:cNvSpPr/>
            <p:nvPr/>
          </p:nvSpPr>
          <p:spPr bwMode="auto">
            <a:xfrm>
              <a:off x="4296161" y="1524072"/>
              <a:ext cx="7291210" cy="7315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Model &amp; analyze 100’s of millions of rows of data</a:t>
              </a:r>
              <a:endPar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50" name="Rectangle 49"/>
          <p:cNvSpPr/>
          <p:nvPr/>
        </p:nvSpPr>
        <p:spPr>
          <a:xfrm>
            <a:off x="3751533" y="1283065"/>
            <a:ext cx="8097893" cy="5230433"/>
          </a:xfrm>
          <a:prstGeom prst="rect">
            <a:avLst/>
          </a:prstGeom>
          <a:noFill/>
          <a:ln>
            <a:solidFill>
              <a:srgbClr val="7F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52" name="Right Brace 51"/>
          <p:cNvSpPr/>
          <p:nvPr/>
        </p:nvSpPr>
        <p:spPr>
          <a:xfrm>
            <a:off x="2961115" y="1834852"/>
            <a:ext cx="441316" cy="412355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0552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srcRect t="2282" b="2628"/>
          <a:stretch/>
        </p:blipFill>
        <p:spPr>
          <a:xfrm>
            <a:off x="3753779" y="2050897"/>
            <a:ext cx="8098654" cy="4462602"/>
          </a:xfrm>
          <a:prstGeom prst="rect">
            <a:avLst/>
          </a:prstGeom>
        </p:spPr>
      </p:pic>
      <p:sp>
        <p:nvSpPr>
          <p:cNvPr id="62" name="Freeform 8"/>
          <p:cNvSpPr>
            <a:spLocks noEditPoints="1"/>
          </p:cNvSpPr>
          <p:nvPr/>
        </p:nvSpPr>
        <p:spPr bwMode="black">
          <a:xfrm>
            <a:off x="6847467" y="1485403"/>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1" name="Title 1"/>
          <p:cNvSpPr>
            <a:spLocks noGrp="1"/>
          </p:cNvSpPr>
          <p:nvPr>
            <p:ph type="title"/>
          </p:nvPr>
        </p:nvSpPr>
        <p:spPr/>
        <p:txBody>
          <a:bodyPr/>
          <a:lstStyle/>
          <a:p>
            <a:pPr lvl="0"/>
            <a:r>
              <a:rPr lang="en-US" dirty="0"/>
              <a:t>Industry Norm: Analyzing data with Excel</a:t>
            </a:r>
          </a:p>
        </p:txBody>
      </p:sp>
      <p:grpSp>
        <p:nvGrpSpPr>
          <p:cNvPr id="16" name="Group 15"/>
          <p:cNvGrpSpPr/>
          <p:nvPr/>
        </p:nvGrpSpPr>
        <p:grpSpPr>
          <a:xfrm>
            <a:off x="420946" y="2103780"/>
            <a:ext cx="4074973" cy="3585699"/>
            <a:chOff x="471590" y="2125663"/>
            <a:chExt cx="4156685" cy="3657600"/>
          </a:xfrm>
        </p:grpSpPr>
        <p:sp>
          <p:nvSpPr>
            <p:cNvPr id="17" name="Rectangle 16"/>
            <p:cNvSpPr/>
            <p:nvPr/>
          </p:nvSpPr>
          <p:spPr>
            <a:xfrm>
              <a:off x="471590" y="2125663"/>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8" name="Group 455"/>
            <p:cNvGrpSpPr>
              <a:grpSpLocks/>
            </p:cNvGrpSpPr>
            <p:nvPr/>
          </p:nvGrpSpPr>
          <p:grpSpPr bwMode="auto">
            <a:xfrm>
              <a:off x="700190" y="2354263"/>
              <a:ext cx="457200" cy="457200"/>
              <a:chOff x="-3781305" y="3065460"/>
              <a:chExt cx="1777999" cy="1777999"/>
            </a:xfrm>
          </p:grpSpPr>
          <p:sp>
            <p:nvSpPr>
              <p:cNvPr id="3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19" name="Rectangle 18"/>
            <p:cNvSpPr/>
            <p:nvPr/>
          </p:nvSpPr>
          <p:spPr>
            <a:xfrm>
              <a:off x="471590" y="3040063"/>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0" name="Group 34"/>
            <p:cNvGrpSpPr>
              <a:grpSpLocks/>
            </p:cNvGrpSpPr>
            <p:nvPr/>
          </p:nvGrpSpPr>
          <p:grpSpPr bwMode="auto">
            <a:xfrm>
              <a:off x="700190" y="3268663"/>
              <a:ext cx="457200" cy="457200"/>
              <a:chOff x="-3781305" y="3065460"/>
              <a:chExt cx="1777999" cy="1777999"/>
            </a:xfrm>
          </p:grpSpPr>
          <p:sp>
            <p:nvSpPr>
              <p:cNvPr id="3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71590" y="3954463"/>
              <a:ext cx="914400" cy="914400"/>
            </a:xfrm>
            <a:prstGeom prst="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9"/>
            <p:cNvGrpSpPr>
              <a:grpSpLocks/>
            </p:cNvGrpSpPr>
            <p:nvPr/>
          </p:nvGrpSpPr>
          <p:grpSpPr bwMode="auto">
            <a:xfrm>
              <a:off x="700190" y="4183063"/>
              <a:ext cx="457200" cy="457200"/>
              <a:chOff x="-3781305" y="3065460"/>
              <a:chExt cx="1777999" cy="1777999"/>
            </a:xfrm>
          </p:grpSpPr>
          <p:sp>
            <p:nvSpPr>
              <p:cNvPr id="3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3" name="Rectangle 22"/>
            <p:cNvSpPr/>
            <p:nvPr/>
          </p:nvSpPr>
          <p:spPr>
            <a:xfrm>
              <a:off x="471590" y="4868863"/>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44"/>
            <p:cNvGrpSpPr>
              <a:grpSpLocks/>
            </p:cNvGrpSpPr>
            <p:nvPr/>
          </p:nvGrpSpPr>
          <p:grpSpPr bwMode="auto">
            <a:xfrm>
              <a:off x="700190" y="5097463"/>
              <a:ext cx="457200" cy="457200"/>
              <a:chOff x="-3781305" y="3065460"/>
              <a:chExt cx="1777999" cy="1777999"/>
            </a:xfrm>
          </p:grpSpPr>
          <p:sp>
            <p:nvSpPr>
              <p:cNvPr id="2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5" name="TextBox 24"/>
            <p:cNvSpPr txBox="1"/>
            <p:nvPr/>
          </p:nvSpPr>
          <p:spPr>
            <a:xfrm>
              <a:off x="1497115" y="2238850"/>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Discover</a:t>
              </a:r>
            </a:p>
          </p:txBody>
        </p:sp>
        <p:sp>
          <p:nvSpPr>
            <p:cNvPr id="26" name="TextBox 25"/>
            <p:cNvSpPr txBox="1"/>
            <p:nvPr/>
          </p:nvSpPr>
          <p:spPr>
            <a:xfrm>
              <a:off x="1497115" y="3164362"/>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Analyze</a:t>
              </a:r>
            </a:p>
          </p:txBody>
        </p:sp>
        <p:sp>
          <p:nvSpPr>
            <p:cNvPr id="27" name="TextBox 26"/>
            <p:cNvSpPr txBox="1"/>
            <p:nvPr/>
          </p:nvSpPr>
          <p:spPr>
            <a:xfrm>
              <a:off x="1497115" y="4031931"/>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Visualize</a:t>
              </a:r>
            </a:p>
          </p:txBody>
        </p:sp>
        <p:sp>
          <p:nvSpPr>
            <p:cNvPr id="28" name="TextBox 27"/>
            <p:cNvSpPr txBox="1"/>
            <p:nvPr/>
          </p:nvSpPr>
          <p:spPr>
            <a:xfrm>
              <a:off x="1497115" y="499792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Explore</a:t>
              </a:r>
            </a:p>
          </p:txBody>
        </p:sp>
      </p:grpSp>
      <p:grpSp>
        <p:nvGrpSpPr>
          <p:cNvPr id="39" name="Group 38"/>
          <p:cNvGrpSpPr/>
          <p:nvPr/>
        </p:nvGrpSpPr>
        <p:grpSpPr>
          <a:xfrm>
            <a:off x="3751533" y="1283066"/>
            <a:ext cx="8097893" cy="812454"/>
            <a:chOff x="4296161" y="1524072"/>
            <a:chExt cx="7291210" cy="731520"/>
          </a:xfrm>
        </p:grpSpPr>
        <p:sp>
          <p:nvSpPr>
            <p:cNvPr id="40"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41" name="Rectangle 40"/>
            <p:cNvSpPr/>
            <p:nvPr/>
          </p:nvSpPr>
          <p:spPr bwMode="auto">
            <a:xfrm>
              <a:off x="4296161" y="1524072"/>
              <a:ext cx="7291210" cy="7315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Explore your data with interactive visualization</a:t>
              </a:r>
              <a:endPar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3" name="Rectangle 42"/>
          <p:cNvSpPr/>
          <p:nvPr/>
        </p:nvSpPr>
        <p:spPr>
          <a:xfrm>
            <a:off x="3751533" y="1283065"/>
            <a:ext cx="8097893" cy="5230433"/>
          </a:xfrm>
          <a:prstGeom prst="rect">
            <a:avLst/>
          </a:prstGeom>
          <a:noFill/>
          <a:ln>
            <a:solidFill>
              <a:srgbClr val="7F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45" name="Right Brace 44"/>
          <p:cNvSpPr/>
          <p:nvPr/>
        </p:nvSpPr>
        <p:spPr>
          <a:xfrm>
            <a:off x="2961115" y="1834852"/>
            <a:ext cx="441316" cy="412355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4226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 name="Freeform 8"/>
          <p:cNvSpPr>
            <a:spLocks noEditPoints="1"/>
          </p:cNvSpPr>
          <p:nvPr/>
        </p:nvSpPr>
        <p:spPr bwMode="black">
          <a:xfrm>
            <a:off x="6847467" y="1485403"/>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pic>
        <p:nvPicPr>
          <p:cNvPr id="10" name="Picture 9"/>
          <p:cNvPicPr>
            <a:picLocks noChangeAspect="1"/>
          </p:cNvPicPr>
          <p:nvPr/>
        </p:nvPicPr>
        <p:blipFill rotWithShape="1">
          <a:blip r:embed="rId3"/>
          <a:srcRect b="3822"/>
          <a:stretch/>
        </p:blipFill>
        <p:spPr>
          <a:xfrm>
            <a:off x="3753779" y="2091438"/>
            <a:ext cx="8090845" cy="4422060"/>
          </a:xfrm>
          <a:prstGeom prst="rect">
            <a:avLst/>
          </a:prstGeom>
        </p:spPr>
      </p:pic>
      <p:sp>
        <p:nvSpPr>
          <p:cNvPr id="12" name="Title 1"/>
          <p:cNvSpPr>
            <a:spLocks noGrp="1"/>
          </p:cNvSpPr>
          <p:nvPr>
            <p:ph type="title"/>
          </p:nvPr>
        </p:nvSpPr>
        <p:spPr/>
        <p:txBody>
          <a:bodyPr/>
          <a:lstStyle/>
          <a:p>
            <a:pPr lvl="0"/>
            <a:r>
              <a:rPr lang="en-US" dirty="0"/>
              <a:t>Industry Norm: Analyzing data with Excel</a:t>
            </a:r>
          </a:p>
        </p:txBody>
      </p:sp>
      <p:grpSp>
        <p:nvGrpSpPr>
          <p:cNvPr id="11" name="Group 10"/>
          <p:cNvGrpSpPr/>
          <p:nvPr/>
        </p:nvGrpSpPr>
        <p:grpSpPr>
          <a:xfrm>
            <a:off x="420946" y="2103780"/>
            <a:ext cx="4074973" cy="3585699"/>
            <a:chOff x="471590" y="2125663"/>
            <a:chExt cx="4156685" cy="3657600"/>
          </a:xfrm>
        </p:grpSpPr>
        <p:sp>
          <p:nvSpPr>
            <p:cNvPr id="16" name="Rectangle 15"/>
            <p:cNvSpPr/>
            <p:nvPr/>
          </p:nvSpPr>
          <p:spPr>
            <a:xfrm>
              <a:off x="471590" y="2125663"/>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8" name="Group 455"/>
            <p:cNvGrpSpPr>
              <a:grpSpLocks/>
            </p:cNvGrpSpPr>
            <p:nvPr/>
          </p:nvGrpSpPr>
          <p:grpSpPr bwMode="auto">
            <a:xfrm>
              <a:off x="700190" y="2354263"/>
              <a:ext cx="457200" cy="457200"/>
              <a:chOff x="-3781305" y="3065460"/>
              <a:chExt cx="1777999" cy="1777999"/>
            </a:xfrm>
          </p:grpSpPr>
          <p:sp>
            <p:nvSpPr>
              <p:cNvPr id="3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19" name="Rectangle 18"/>
            <p:cNvSpPr/>
            <p:nvPr/>
          </p:nvSpPr>
          <p:spPr>
            <a:xfrm>
              <a:off x="471590" y="3040063"/>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0" name="Group 34"/>
            <p:cNvGrpSpPr>
              <a:grpSpLocks/>
            </p:cNvGrpSpPr>
            <p:nvPr/>
          </p:nvGrpSpPr>
          <p:grpSpPr bwMode="auto">
            <a:xfrm>
              <a:off x="700190" y="3268663"/>
              <a:ext cx="457200" cy="457200"/>
              <a:chOff x="-3781305" y="3065460"/>
              <a:chExt cx="1777999" cy="1777999"/>
            </a:xfrm>
          </p:grpSpPr>
          <p:sp>
            <p:nvSpPr>
              <p:cNvPr id="3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71590" y="3954463"/>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9"/>
            <p:cNvGrpSpPr>
              <a:grpSpLocks/>
            </p:cNvGrpSpPr>
            <p:nvPr/>
          </p:nvGrpSpPr>
          <p:grpSpPr bwMode="auto">
            <a:xfrm>
              <a:off x="700190" y="4183063"/>
              <a:ext cx="457200" cy="457200"/>
              <a:chOff x="-3781305" y="3065460"/>
              <a:chExt cx="1777999" cy="1777999"/>
            </a:xfrm>
          </p:grpSpPr>
          <p:sp>
            <p:nvSpPr>
              <p:cNvPr id="3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3" name="Rectangle 22"/>
            <p:cNvSpPr/>
            <p:nvPr/>
          </p:nvSpPr>
          <p:spPr>
            <a:xfrm>
              <a:off x="471590" y="4868863"/>
              <a:ext cx="914400" cy="914400"/>
            </a:xfrm>
            <a:prstGeom prst="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44"/>
            <p:cNvGrpSpPr>
              <a:grpSpLocks/>
            </p:cNvGrpSpPr>
            <p:nvPr/>
          </p:nvGrpSpPr>
          <p:grpSpPr bwMode="auto">
            <a:xfrm>
              <a:off x="700190" y="5097463"/>
              <a:ext cx="457200" cy="457200"/>
              <a:chOff x="-3781305" y="3065460"/>
              <a:chExt cx="1777999" cy="1777999"/>
            </a:xfrm>
          </p:grpSpPr>
          <p:sp>
            <p:nvSpPr>
              <p:cNvPr id="2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5" name="TextBox 24"/>
            <p:cNvSpPr txBox="1"/>
            <p:nvPr/>
          </p:nvSpPr>
          <p:spPr>
            <a:xfrm>
              <a:off x="1497115" y="2238850"/>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Discover</a:t>
              </a:r>
            </a:p>
          </p:txBody>
        </p:sp>
        <p:sp>
          <p:nvSpPr>
            <p:cNvPr id="26" name="TextBox 25"/>
            <p:cNvSpPr txBox="1"/>
            <p:nvPr/>
          </p:nvSpPr>
          <p:spPr>
            <a:xfrm>
              <a:off x="1497115" y="3164362"/>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Analyze</a:t>
              </a:r>
            </a:p>
          </p:txBody>
        </p:sp>
        <p:sp>
          <p:nvSpPr>
            <p:cNvPr id="27" name="TextBox 26"/>
            <p:cNvSpPr txBox="1"/>
            <p:nvPr/>
          </p:nvSpPr>
          <p:spPr>
            <a:xfrm>
              <a:off x="1497115" y="4031931"/>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Visualize</a:t>
              </a:r>
            </a:p>
          </p:txBody>
        </p:sp>
        <p:sp>
          <p:nvSpPr>
            <p:cNvPr id="28" name="TextBox 27"/>
            <p:cNvSpPr txBox="1"/>
            <p:nvPr/>
          </p:nvSpPr>
          <p:spPr>
            <a:xfrm>
              <a:off x="1497115" y="499792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Explore</a:t>
              </a:r>
            </a:p>
          </p:txBody>
        </p:sp>
      </p:grpSp>
      <p:grpSp>
        <p:nvGrpSpPr>
          <p:cNvPr id="39" name="Group 38"/>
          <p:cNvGrpSpPr/>
          <p:nvPr/>
        </p:nvGrpSpPr>
        <p:grpSpPr>
          <a:xfrm>
            <a:off x="3751533" y="1283066"/>
            <a:ext cx="8097893" cy="812454"/>
            <a:chOff x="4296161" y="1524072"/>
            <a:chExt cx="7291210" cy="731520"/>
          </a:xfrm>
        </p:grpSpPr>
        <p:sp>
          <p:nvSpPr>
            <p:cNvPr id="40"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41" name="Rectangle 40"/>
            <p:cNvSpPr/>
            <p:nvPr/>
          </p:nvSpPr>
          <p:spPr bwMode="auto">
            <a:xfrm>
              <a:off x="4296161" y="1524072"/>
              <a:ext cx="7291210" cy="7315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Uncover new insights with 3D geospatial analysis</a:t>
              </a:r>
              <a:endPar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3" name="Rectangle 42"/>
          <p:cNvSpPr/>
          <p:nvPr/>
        </p:nvSpPr>
        <p:spPr>
          <a:xfrm>
            <a:off x="3751533" y="1283065"/>
            <a:ext cx="8097893" cy="5230433"/>
          </a:xfrm>
          <a:prstGeom prst="rect">
            <a:avLst/>
          </a:prstGeom>
          <a:noFill/>
          <a:ln>
            <a:solidFill>
              <a:srgbClr val="7F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44" name="Right Brace 43"/>
          <p:cNvSpPr/>
          <p:nvPr/>
        </p:nvSpPr>
        <p:spPr>
          <a:xfrm>
            <a:off x="2961115" y="1834852"/>
            <a:ext cx="441316" cy="412355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47542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3"/>
          <p:cNvGrpSpPr/>
          <p:nvPr/>
        </p:nvGrpSpPr>
        <p:grpSpPr>
          <a:xfrm>
            <a:off x="6695899" y="1658100"/>
            <a:ext cx="4985891" cy="4392194"/>
            <a:chOff x="6647284" y="1690851"/>
            <a:chExt cx="5085869" cy="4480267"/>
          </a:xfrm>
        </p:grpSpPr>
        <p:pic>
          <p:nvPicPr>
            <p:cNvPr id="31" name="Picture 30"/>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659696" y="1699195"/>
              <a:ext cx="5069008" cy="2745399"/>
            </a:xfrm>
            <a:prstGeom prst="rect">
              <a:avLst/>
            </a:prstGeom>
          </p:spPr>
        </p:pic>
        <p:sp>
          <p:nvSpPr>
            <p:cNvPr id="33" name="Rectangle 32"/>
            <p:cNvSpPr/>
            <p:nvPr/>
          </p:nvSpPr>
          <p:spPr bwMode="auto">
            <a:xfrm>
              <a:off x="6647284" y="1690851"/>
              <a:ext cx="5081420" cy="960234"/>
            </a:xfrm>
            <a:prstGeom prst="rect">
              <a:avLst/>
            </a:prstGeom>
            <a:solidFill>
              <a:srgbClr val="FF8C00"/>
            </a:solidFill>
            <a:ln w="38100" cap="flat" cmpd="sng" algn="ctr">
              <a:noFill/>
              <a:prstDash val="solid"/>
              <a:headEnd type="none" w="med" len="med"/>
              <a:tailEnd type="none" w="med" len="med"/>
            </a:ln>
            <a:effectLst/>
          </p:spPr>
          <p:txBody>
            <a:bodyPr vert="horz" wrap="square" lIns="89642" tIns="89642" rIns="89642" bIns="89642" numCol="1" rtlCol="0" anchor="t" anchorCtr="0" compatLnSpc="1">
              <a:prstTxWarp prst="textNoShape">
                <a:avLst/>
              </a:prstTxWarp>
            </a:bodyPr>
            <a:lstStyle/>
            <a:p>
              <a:pPr marL="0" marR="0" lvl="0" indent="0" algn="l" defTabSz="913924" rtl="0" eaLnBrk="1" fontAlgn="base" latinLnBrk="0" hangingPunct="1">
                <a:lnSpc>
                  <a:spcPct val="100000"/>
                </a:lnSpc>
                <a:spcBef>
                  <a:spcPct val="0"/>
                </a:spcBef>
                <a:spcAft>
                  <a:spcPct val="0"/>
                </a:spcAft>
                <a:buClrTx/>
                <a:buSzTx/>
                <a:buFontTx/>
                <a:buNone/>
                <a:tabLst/>
                <a:defRPr/>
              </a:pPr>
              <a:r>
                <a:rPr kumimoji="0" lang="en-US" sz="2451"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Collaborate in Power BI for Office 365</a:t>
              </a:r>
              <a:endParaRPr kumimoji="0" lang="en-US" sz="3039"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a:p>
              <a:pPr marL="0" marR="0" lvl="0" indent="0" algn="l" defTabSz="913924" rtl="0" eaLnBrk="1" fontAlgn="base" latinLnBrk="0" hangingPunct="1">
                <a:lnSpc>
                  <a:spcPct val="150000"/>
                </a:lnSpc>
                <a:spcBef>
                  <a:spcPct val="0"/>
                </a:spcBef>
                <a:spcAft>
                  <a:spcPct val="0"/>
                </a:spcAft>
                <a:buClrTx/>
                <a:buSzTx/>
                <a:buFontTx/>
                <a:buNone/>
                <a:tabLst/>
                <a:defRPr/>
              </a:pPr>
              <a:r>
                <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1 in 4 enterprise customers on Office 365</a:t>
              </a:r>
            </a:p>
            <a:p>
              <a:pPr marL="0" marR="0" lvl="0" indent="0" algn="l" defTabSz="913924" rtl="0" eaLnBrk="1" fontAlgn="base" latinLnBrk="0" hangingPunct="1">
                <a:lnSpc>
                  <a:spcPct val="90000"/>
                </a:lnSpc>
                <a:spcBef>
                  <a:spcPct val="0"/>
                </a:spcBef>
                <a:spcAft>
                  <a:spcPct val="0"/>
                </a:spcAft>
                <a:buClrTx/>
                <a:buSzTx/>
                <a:buFontTx/>
                <a:buNone/>
                <a:tabLst/>
                <a:defRPr/>
              </a:pPr>
              <a:endPar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p:txBody>
        </p:sp>
        <p:sp>
          <p:nvSpPr>
            <p:cNvPr id="41" name="Rectangle 40"/>
            <p:cNvSpPr>
              <a:spLocks noChangeAspect="1"/>
            </p:cNvSpPr>
            <p:nvPr/>
          </p:nvSpPr>
          <p:spPr bwMode="auto">
            <a:xfrm>
              <a:off x="6657339"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Share</a:t>
              </a:r>
            </a:p>
          </p:txBody>
        </p:sp>
        <p:sp>
          <p:nvSpPr>
            <p:cNvPr id="42" name="Freeform 41"/>
            <p:cNvSpPr>
              <a:spLocks/>
            </p:cNvSpPr>
            <p:nvPr/>
          </p:nvSpPr>
          <p:spPr bwMode="auto">
            <a:xfrm>
              <a:off x="6959143" y="5065776"/>
              <a:ext cx="957756" cy="667885"/>
            </a:xfrm>
            <a:custGeom>
              <a:avLst/>
              <a:gdLst/>
              <a:ahLst/>
              <a:cxnLst/>
              <a:rect l="l" t="t" r="r" b="b"/>
              <a:pathLst>
                <a:path w="1822529" h="1109555">
                  <a:moveTo>
                    <a:pt x="341442" y="686899"/>
                  </a:moveTo>
                  <a:cubicBezTo>
                    <a:pt x="376723" y="679869"/>
                    <a:pt x="419060" y="707989"/>
                    <a:pt x="433172" y="750169"/>
                  </a:cubicBezTo>
                  <a:cubicBezTo>
                    <a:pt x="440228" y="715019"/>
                    <a:pt x="482565" y="693929"/>
                    <a:pt x="517846" y="700959"/>
                  </a:cubicBezTo>
                  <a:cubicBezTo>
                    <a:pt x="553127" y="707989"/>
                    <a:pt x="581351" y="743139"/>
                    <a:pt x="581351" y="778289"/>
                  </a:cubicBezTo>
                  <a:cubicBezTo>
                    <a:pt x="581351" y="778283"/>
                    <a:pt x="581351" y="778218"/>
                    <a:pt x="581351" y="777410"/>
                  </a:cubicBezTo>
                  <a:lnTo>
                    <a:pt x="581351" y="771259"/>
                  </a:lnTo>
                  <a:cubicBezTo>
                    <a:pt x="588407" y="729079"/>
                    <a:pt x="630744" y="707989"/>
                    <a:pt x="673081" y="715019"/>
                  </a:cubicBezTo>
                  <a:cubicBezTo>
                    <a:pt x="715418" y="722049"/>
                    <a:pt x="743643" y="764229"/>
                    <a:pt x="729530" y="806408"/>
                  </a:cubicBezTo>
                  <a:cubicBezTo>
                    <a:pt x="729528" y="806422"/>
                    <a:pt x="729410" y="807248"/>
                    <a:pt x="722474" y="855618"/>
                  </a:cubicBezTo>
                  <a:cubicBezTo>
                    <a:pt x="736586" y="827498"/>
                    <a:pt x="771867" y="813438"/>
                    <a:pt x="807148" y="820468"/>
                  </a:cubicBezTo>
                  <a:cubicBezTo>
                    <a:pt x="842429" y="827498"/>
                    <a:pt x="870653" y="869678"/>
                    <a:pt x="863597" y="911858"/>
                  </a:cubicBezTo>
                  <a:cubicBezTo>
                    <a:pt x="863595" y="911868"/>
                    <a:pt x="863334" y="912973"/>
                    <a:pt x="835372" y="1031367"/>
                  </a:cubicBezTo>
                  <a:cubicBezTo>
                    <a:pt x="821260" y="1073546"/>
                    <a:pt x="785979" y="1094636"/>
                    <a:pt x="750699" y="1094636"/>
                  </a:cubicBezTo>
                  <a:lnTo>
                    <a:pt x="744602" y="1094636"/>
                  </a:lnTo>
                  <a:cubicBezTo>
                    <a:pt x="701306" y="1080576"/>
                    <a:pt x="680137" y="1045427"/>
                    <a:pt x="680137" y="1010277"/>
                  </a:cubicBezTo>
                  <a:cubicBezTo>
                    <a:pt x="666025" y="1031367"/>
                    <a:pt x="637800" y="1045427"/>
                    <a:pt x="609576" y="1045427"/>
                  </a:cubicBezTo>
                  <a:lnTo>
                    <a:pt x="603479" y="1045427"/>
                  </a:lnTo>
                  <a:cubicBezTo>
                    <a:pt x="560183" y="1031367"/>
                    <a:pt x="531958" y="989187"/>
                    <a:pt x="539014" y="954037"/>
                  </a:cubicBezTo>
                  <a:cubicBezTo>
                    <a:pt x="539018" y="954033"/>
                    <a:pt x="539072" y="953980"/>
                    <a:pt x="539896" y="953158"/>
                  </a:cubicBezTo>
                  <a:lnTo>
                    <a:pt x="546071" y="947007"/>
                  </a:lnTo>
                  <a:cubicBezTo>
                    <a:pt x="524902" y="968097"/>
                    <a:pt x="496678" y="982157"/>
                    <a:pt x="468453" y="982157"/>
                  </a:cubicBezTo>
                  <a:cubicBezTo>
                    <a:pt x="468446" y="982157"/>
                    <a:pt x="468376" y="982157"/>
                    <a:pt x="467571" y="982157"/>
                  </a:cubicBezTo>
                  <a:lnTo>
                    <a:pt x="461397" y="982157"/>
                  </a:lnTo>
                  <a:cubicBezTo>
                    <a:pt x="433172" y="975127"/>
                    <a:pt x="412004" y="954037"/>
                    <a:pt x="404948" y="925917"/>
                  </a:cubicBezTo>
                  <a:cubicBezTo>
                    <a:pt x="397892" y="932947"/>
                    <a:pt x="397892" y="932947"/>
                    <a:pt x="390835" y="932947"/>
                  </a:cubicBezTo>
                  <a:cubicBezTo>
                    <a:pt x="383779" y="932947"/>
                    <a:pt x="376723" y="932947"/>
                    <a:pt x="369667" y="932947"/>
                  </a:cubicBezTo>
                  <a:cubicBezTo>
                    <a:pt x="334386" y="932947"/>
                    <a:pt x="306162" y="904828"/>
                    <a:pt x="299106" y="876708"/>
                  </a:cubicBezTo>
                  <a:cubicBezTo>
                    <a:pt x="299102" y="876692"/>
                    <a:pt x="298837" y="875458"/>
                    <a:pt x="277937" y="778289"/>
                  </a:cubicBezTo>
                  <a:cubicBezTo>
                    <a:pt x="270881" y="736109"/>
                    <a:pt x="299106" y="700959"/>
                    <a:pt x="341442" y="686899"/>
                  </a:cubicBezTo>
                  <a:close/>
                  <a:moveTo>
                    <a:pt x="362511" y="142762"/>
                  </a:moveTo>
                  <a:cubicBezTo>
                    <a:pt x="362554" y="142762"/>
                    <a:pt x="390795" y="142762"/>
                    <a:pt x="433141" y="142762"/>
                  </a:cubicBezTo>
                  <a:cubicBezTo>
                    <a:pt x="404889" y="170990"/>
                    <a:pt x="383700" y="206274"/>
                    <a:pt x="383700" y="241559"/>
                  </a:cubicBezTo>
                  <a:cubicBezTo>
                    <a:pt x="376637" y="276843"/>
                    <a:pt x="383700" y="305071"/>
                    <a:pt x="397826" y="333298"/>
                  </a:cubicBezTo>
                  <a:cubicBezTo>
                    <a:pt x="426078" y="382696"/>
                    <a:pt x="468457" y="410924"/>
                    <a:pt x="517898" y="410924"/>
                  </a:cubicBezTo>
                  <a:cubicBezTo>
                    <a:pt x="546150" y="417981"/>
                    <a:pt x="581465" y="410924"/>
                    <a:pt x="609717" y="396810"/>
                  </a:cubicBezTo>
                  <a:cubicBezTo>
                    <a:pt x="609726" y="396804"/>
                    <a:pt x="610149" y="396523"/>
                    <a:pt x="630907" y="382696"/>
                  </a:cubicBezTo>
                  <a:cubicBezTo>
                    <a:pt x="630927" y="382685"/>
                    <a:pt x="632883" y="381599"/>
                    <a:pt x="821609" y="276843"/>
                  </a:cubicBezTo>
                  <a:cubicBezTo>
                    <a:pt x="821623" y="276849"/>
                    <a:pt x="822935" y="277432"/>
                    <a:pt x="948744" y="333298"/>
                  </a:cubicBezTo>
                  <a:cubicBezTo>
                    <a:pt x="948758" y="333309"/>
                    <a:pt x="951606" y="335362"/>
                    <a:pt x="1506724" y="735540"/>
                  </a:cubicBezTo>
                  <a:cubicBezTo>
                    <a:pt x="1534976" y="756711"/>
                    <a:pt x="1542039" y="806109"/>
                    <a:pt x="1520850" y="841394"/>
                  </a:cubicBezTo>
                  <a:cubicBezTo>
                    <a:pt x="1506724" y="862564"/>
                    <a:pt x="1485535" y="876678"/>
                    <a:pt x="1457283" y="876678"/>
                  </a:cubicBezTo>
                  <a:cubicBezTo>
                    <a:pt x="1457268" y="876667"/>
                    <a:pt x="1455327" y="875252"/>
                    <a:pt x="1195950" y="686142"/>
                  </a:cubicBezTo>
                  <a:cubicBezTo>
                    <a:pt x="1188887" y="679085"/>
                    <a:pt x="1181824" y="686142"/>
                    <a:pt x="1174761" y="693199"/>
                  </a:cubicBezTo>
                  <a:cubicBezTo>
                    <a:pt x="1174761" y="700256"/>
                    <a:pt x="1174761" y="707313"/>
                    <a:pt x="1181824" y="714370"/>
                  </a:cubicBezTo>
                  <a:cubicBezTo>
                    <a:pt x="1181837" y="714379"/>
                    <a:pt x="1183505" y="715545"/>
                    <a:pt x="1393715" y="862564"/>
                  </a:cubicBezTo>
                  <a:cubicBezTo>
                    <a:pt x="1393715" y="883735"/>
                    <a:pt x="1393715" y="904906"/>
                    <a:pt x="1379589" y="926076"/>
                  </a:cubicBezTo>
                  <a:cubicBezTo>
                    <a:pt x="1365463" y="947247"/>
                    <a:pt x="1337211" y="961361"/>
                    <a:pt x="1316022" y="961361"/>
                  </a:cubicBezTo>
                  <a:cubicBezTo>
                    <a:pt x="1316007" y="961350"/>
                    <a:pt x="1314082" y="959908"/>
                    <a:pt x="1061752" y="770825"/>
                  </a:cubicBezTo>
                  <a:cubicBezTo>
                    <a:pt x="1054689" y="770825"/>
                    <a:pt x="1040563" y="770825"/>
                    <a:pt x="1040563" y="777882"/>
                  </a:cubicBezTo>
                  <a:cubicBezTo>
                    <a:pt x="1033500" y="784939"/>
                    <a:pt x="1033500" y="791995"/>
                    <a:pt x="1040563" y="799052"/>
                  </a:cubicBezTo>
                  <a:cubicBezTo>
                    <a:pt x="1040576" y="799061"/>
                    <a:pt x="1042204" y="800199"/>
                    <a:pt x="1252454" y="947247"/>
                  </a:cubicBezTo>
                  <a:cubicBezTo>
                    <a:pt x="1252454" y="968418"/>
                    <a:pt x="1252454" y="989588"/>
                    <a:pt x="1238328" y="1010759"/>
                  </a:cubicBezTo>
                  <a:cubicBezTo>
                    <a:pt x="1224202" y="1031930"/>
                    <a:pt x="1203013" y="1038986"/>
                    <a:pt x="1174761" y="1038986"/>
                  </a:cubicBezTo>
                  <a:cubicBezTo>
                    <a:pt x="1174742" y="1038973"/>
                    <a:pt x="1172878" y="1037684"/>
                    <a:pt x="991122" y="911962"/>
                  </a:cubicBezTo>
                  <a:cubicBezTo>
                    <a:pt x="984059" y="904906"/>
                    <a:pt x="976996" y="904906"/>
                    <a:pt x="969933" y="911962"/>
                  </a:cubicBezTo>
                  <a:cubicBezTo>
                    <a:pt x="969933" y="919019"/>
                    <a:pt x="969933" y="926076"/>
                    <a:pt x="976996" y="933133"/>
                  </a:cubicBezTo>
                  <a:cubicBezTo>
                    <a:pt x="977008" y="933143"/>
                    <a:pt x="978180" y="934021"/>
                    <a:pt x="1090004" y="1017816"/>
                  </a:cubicBezTo>
                  <a:cubicBezTo>
                    <a:pt x="1097067" y="1038986"/>
                    <a:pt x="1090004" y="1060157"/>
                    <a:pt x="1082941" y="1074271"/>
                  </a:cubicBezTo>
                  <a:cubicBezTo>
                    <a:pt x="1061752" y="1095441"/>
                    <a:pt x="1040563" y="1109555"/>
                    <a:pt x="1019374" y="1109555"/>
                  </a:cubicBezTo>
                  <a:cubicBezTo>
                    <a:pt x="1019361" y="1109546"/>
                    <a:pt x="1018089" y="1108628"/>
                    <a:pt x="892239" y="1017816"/>
                  </a:cubicBezTo>
                  <a:cubicBezTo>
                    <a:pt x="892243" y="1017797"/>
                    <a:pt x="892533" y="1016447"/>
                    <a:pt x="913428" y="919019"/>
                  </a:cubicBezTo>
                  <a:cubicBezTo>
                    <a:pt x="913428" y="918992"/>
                    <a:pt x="913428" y="911948"/>
                    <a:pt x="913428" y="904906"/>
                  </a:cubicBezTo>
                  <a:cubicBezTo>
                    <a:pt x="920491" y="841394"/>
                    <a:pt x="878113" y="784939"/>
                    <a:pt x="814546" y="770825"/>
                  </a:cubicBezTo>
                  <a:cubicBezTo>
                    <a:pt x="807483" y="763768"/>
                    <a:pt x="807483" y="763768"/>
                    <a:pt x="800420" y="763768"/>
                  </a:cubicBezTo>
                  <a:cubicBezTo>
                    <a:pt x="793357" y="763768"/>
                    <a:pt x="786294" y="763768"/>
                    <a:pt x="779230" y="763768"/>
                  </a:cubicBezTo>
                  <a:cubicBezTo>
                    <a:pt x="772167" y="714370"/>
                    <a:pt x="736852" y="679085"/>
                    <a:pt x="687411" y="664972"/>
                  </a:cubicBezTo>
                  <a:cubicBezTo>
                    <a:pt x="680357" y="664972"/>
                    <a:pt x="673304" y="664972"/>
                    <a:pt x="673285" y="664972"/>
                  </a:cubicBezTo>
                  <a:cubicBezTo>
                    <a:pt x="637970" y="657915"/>
                    <a:pt x="609717" y="664972"/>
                    <a:pt x="588528" y="679085"/>
                  </a:cubicBezTo>
                  <a:cubicBezTo>
                    <a:pt x="574402" y="664972"/>
                    <a:pt x="553213" y="650858"/>
                    <a:pt x="524961" y="650858"/>
                  </a:cubicBezTo>
                  <a:cubicBezTo>
                    <a:pt x="524931" y="650858"/>
                    <a:pt x="517917" y="650858"/>
                    <a:pt x="517898" y="650858"/>
                  </a:cubicBezTo>
                  <a:cubicBezTo>
                    <a:pt x="489646" y="643801"/>
                    <a:pt x="461394" y="650858"/>
                    <a:pt x="440204" y="664972"/>
                  </a:cubicBezTo>
                  <a:cubicBezTo>
                    <a:pt x="419015" y="650858"/>
                    <a:pt x="390763" y="636744"/>
                    <a:pt x="369574" y="636744"/>
                  </a:cubicBezTo>
                  <a:cubicBezTo>
                    <a:pt x="355448" y="636744"/>
                    <a:pt x="341322" y="636744"/>
                    <a:pt x="327196" y="636744"/>
                  </a:cubicBezTo>
                  <a:cubicBezTo>
                    <a:pt x="284817" y="650858"/>
                    <a:pt x="256565" y="672028"/>
                    <a:pt x="242439" y="707313"/>
                  </a:cubicBezTo>
                  <a:cubicBezTo>
                    <a:pt x="242430" y="707310"/>
                    <a:pt x="242003" y="707167"/>
                    <a:pt x="221250" y="700256"/>
                  </a:cubicBezTo>
                  <a:cubicBezTo>
                    <a:pt x="214188" y="425073"/>
                    <a:pt x="362473" y="142834"/>
                    <a:pt x="362511" y="142762"/>
                  </a:cubicBezTo>
                  <a:close/>
                  <a:moveTo>
                    <a:pt x="1723364" y="112687"/>
                  </a:moveTo>
                  <a:cubicBezTo>
                    <a:pt x="1743550" y="115333"/>
                    <a:pt x="1760758" y="129886"/>
                    <a:pt x="1766052" y="156347"/>
                  </a:cubicBezTo>
                  <a:cubicBezTo>
                    <a:pt x="1766054" y="156361"/>
                    <a:pt x="1766355" y="158999"/>
                    <a:pt x="1822529" y="650276"/>
                  </a:cubicBezTo>
                  <a:cubicBezTo>
                    <a:pt x="1822529" y="678501"/>
                    <a:pt x="1801350" y="706725"/>
                    <a:pt x="1766052" y="706725"/>
                  </a:cubicBezTo>
                  <a:cubicBezTo>
                    <a:pt x="1766043" y="706725"/>
                    <a:pt x="1765216" y="706725"/>
                    <a:pt x="1688397" y="706725"/>
                  </a:cubicBezTo>
                  <a:cubicBezTo>
                    <a:pt x="1709572" y="332816"/>
                    <a:pt x="1533148" y="156409"/>
                    <a:pt x="1533086" y="156347"/>
                  </a:cubicBezTo>
                  <a:cubicBezTo>
                    <a:pt x="1533096" y="156345"/>
                    <a:pt x="1534390" y="156021"/>
                    <a:pt x="1702516" y="114010"/>
                  </a:cubicBezTo>
                  <a:cubicBezTo>
                    <a:pt x="1709576" y="112246"/>
                    <a:pt x="1716635" y="111805"/>
                    <a:pt x="1723364" y="112687"/>
                  </a:cubicBezTo>
                  <a:close/>
                  <a:moveTo>
                    <a:pt x="216121" y="52882"/>
                  </a:moveTo>
                  <a:cubicBezTo>
                    <a:pt x="222948" y="53102"/>
                    <a:pt x="229996" y="54864"/>
                    <a:pt x="237043" y="58387"/>
                  </a:cubicBezTo>
                  <a:cubicBezTo>
                    <a:pt x="237043" y="58387"/>
                    <a:pt x="237043" y="58387"/>
                    <a:pt x="321609" y="107717"/>
                  </a:cubicBezTo>
                  <a:cubicBezTo>
                    <a:pt x="321609" y="107717"/>
                    <a:pt x="159524" y="410746"/>
                    <a:pt x="173618" y="706726"/>
                  </a:cubicBezTo>
                  <a:cubicBezTo>
                    <a:pt x="173618" y="706726"/>
                    <a:pt x="173618" y="706726"/>
                    <a:pt x="39721" y="678538"/>
                  </a:cubicBezTo>
                  <a:cubicBezTo>
                    <a:pt x="11533" y="678538"/>
                    <a:pt x="-9609" y="650349"/>
                    <a:pt x="4485" y="615113"/>
                  </a:cubicBezTo>
                  <a:cubicBezTo>
                    <a:pt x="4485" y="615113"/>
                    <a:pt x="4485" y="615113"/>
                    <a:pt x="166571" y="86576"/>
                  </a:cubicBezTo>
                  <a:cubicBezTo>
                    <a:pt x="177142" y="65434"/>
                    <a:pt x="195640" y="52221"/>
                    <a:pt x="216121" y="52882"/>
                  </a:cubicBezTo>
                  <a:close/>
                  <a:moveTo>
                    <a:pt x="811860" y="637"/>
                  </a:moveTo>
                  <a:cubicBezTo>
                    <a:pt x="827743" y="-1131"/>
                    <a:pt x="843626" y="637"/>
                    <a:pt x="857745" y="7709"/>
                  </a:cubicBezTo>
                  <a:cubicBezTo>
                    <a:pt x="857763" y="7717"/>
                    <a:pt x="860458" y="8948"/>
                    <a:pt x="1260115" y="191579"/>
                  </a:cubicBezTo>
                  <a:cubicBezTo>
                    <a:pt x="1281293" y="205723"/>
                    <a:pt x="1302470" y="212795"/>
                    <a:pt x="1316589" y="212795"/>
                  </a:cubicBezTo>
                  <a:cubicBezTo>
                    <a:pt x="1358938" y="226937"/>
                    <a:pt x="1507151" y="198657"/>
                    <a:pt x="1507185" y="198651"/>
                  </a:cubicBezTo>
                  <a:cubicBezTo>
                    <a:pt x="1507263" y="198732"/>
                    <a:pt x="1655423" y="354319"/>
                    <a:pt x="1641309" y="679541"/>
                  </a:cubicBezTo>
                  <a:cubicBezTo>
                    <a:pt x="1641290" y="679545"/>
                    <a:pt x="1639948" y="679833"/>
                    <a:pt x="1542481" y="700757"/>
                  </a:cubicBezTo>
                  <a:cubicBezTo>
                    <a:pt x="1542454" y="700730"/>
                    <a:pt x="1535433" y="693697"/>
                    <a:pt x="1535422" y="693685"/>
                  </a:cubicBezTo>
                  <a:cubicBezTo>
                    <a:pt x="1535404" y="693673"/>
                    <a:pt x="1532978" y="691937"/>
                    <a:pt x="1189524" y="446168"/>
                  </a:cubicBezTo>
                  <a:cubicBezTo>
                    <a:pt x="1189512" y="446159"/>
                    <a:pt x="1187911" y="444983"/>
                    <a:pt x="977750" y="290586"/>
                  </a:cubicBezTo>
                  <a:cubicBezTo>
                    <a:pt x="977733" y="290578"/>
                    <a:pt x="976153" y="289858"/>
                    <a:pt x="822449" y="219867"/>
                  </a:cubicBezTo>
                  <a:cubicBezTo>
                    <a:pt x="822435" y="219874"/>
                    <a:pt x="820645" y="220824"/>
                    <a:pt x="582438" y="347161"/>
                  </a:cubicBezTo>
                  <a:cubicBezTo>
                    <a:pt x="568320" y="361305"/>
                    <a:pt x="547143" y="361305"/>
                    <a:pt x="525965" y="361305"/>
                  </a:cubicBezTo>
                  <a:cubicBezTo>
                    <a:pt x="490669" y="361305"/>
                    <a:pt x="462433" y="340089"/>
                    <a:pt x="448315" y="311802"/>
                  </a:cubicBezTo>
                  <a:cubicBezTo>
                    <a:pt x="420078" y="262298"/>
                    <a:pt x="434196" y="198651"/>
                    <a:pt x="483610" y="170363"/>
                  </a:cubicBezTo>
                  <a:cubicBezTo>
                    <a:pt x="483624" y="170356"/>
                    <a:pt x="484873" y="169694"/>
                    <a:pt x="603616" y="106715"/>
                  </a:cubicBezTo>
                  <a:cubicBezTo>
                    <a:pt x="603633" y="106706"/>
                    <a:pt x="605286" y="105770"/>
                    <a:pt x="765976" y="14781"/>
                  </a:cubicBezTo>
                  <a:cubicBezTo>
                    <a:pt x="780094" y="7709"/>
                    <a:pt x="795977" y="2405"/>
                    <a:pt x="811860" y="637"/>
                  </a:cubicBezTo>
                  <a:close/>
                </a:path>
              </a:pathLst>
            </a:custGeom>
            <a:solidFill>
              <a:srgbClr val="FFFFFF"/>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solidFill>
                    <a:srgbClr val="505050">
                      <a:alpha val="0"/>
                    </a:srgbClr>
                  </a:solidFill>
                </a:ln>
                <a:gradFill>
                  <a:gsLst>
                    <a:gs pos="0">
                      <a:srgbClr val="FFFFFF"/>
                    </a:gs>
                    <a:gs pos="100000">
                      <a:srgbClr val="FFFFFF"/>
                    </a:gs>
                  </a:gsLst>
                  <a:lin ang="5400000" scaled="0"/>
                </a:gradFill>
                <a:effectLst/>
                <a:uLnTx/>
                <a:uFillTx/>
                <a:latin typeface="Segoe UI"/>
                <a:ea typeface="+mn-ea"/>
                <a:cs typeface="+mn-cs"/>
              </a:endParaRPr>
            </a:p>
          </p:txBody>
        </p:sp>
        <p:sp>
          <p:nvSpPr>
            <p:cNvPr id="43" name="Rectangle 42"/>
            <p:cNvSpPr>
              <a:spLocks noChangeAspect="1"/>
            </p:cNvSpPr>
            <p:nvPr/>
          </p:nvSpPr>
          <p:spPr bwMode="auto">
            <a:xfrm>
              <a:off x="8372286"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Question</a:t>
              </a:r>
            </a:p>
          </p:txBody>
        </p:sp>
        <p:grpSp>
          <p:nvGrpSpPr>
            <p:cNvPr id="44" name="Group 43"/>
            <p:cNvGrpSpPr/>
            <p:nvPr/>
          </p:nvGrpSpPr>
          <p:grpSpPr>
            <a:xfrm>
              <a:off x="8760328" y="5056648"/>
              <a:ext cx="937101" cy="785651"/>
              <a:chOff x="8852766" y="4448677"/>
              <a:chExt cx="755507" cy="633406"/>
            </a:xfrm>
          </p:grpSpPr>
          <p:grpSp>
            <p:nvGrpSpPr>
              <p:cNvPr id="45" name="Group 44"/>
              <p:cNvGrpSpPr/>
              <p:nvPr/>
            </p:nvGrpSpPr>
            <p:grpSpPr bwMode="black">
              <a:xfrm>
                <a:off x="8852766" y="4448677"/>
                <a:ext cx="735022" cy="633406"/>
                <a:chOff x="5628627" y="922419"/>
                <a:chExt cx="576936" cy="497307"/>
              </a:xfrm>
            </p:grpSpPr>
            <p:sp>
              <p:nvSpPr>
                <p:cNvPr id="47" name="Rectangle 46"/>
                <p:cNvSpPr/>
                <p:nvPr/>
              </p:nvSpPr>
              <p:spPr bwMode="black">
                <a:xfrm>
                  <a:off x="5628627" y="922419"/>
                  <a:ext cx="576936" cy="360946"/>
                </a:xfrm>
                <a:prstGeom prst="rect">
                  <a:avLst/>
                </a:prstGeom>
                <a:solidFill>
                  <a:srgbClr val="FFFFFF"/>
                </a:solidFill>
                <a:ln w="10795" cap="flat" cmpd="sng" algn="ctr">
                  <a:noFill/>
                  <a:prstDash val="solid"/>
                  <a:headEnd type="none" w="med" len="med"/>
                  <a:tailEnd type="none" w="med" len="med"/>
                </a:ln>
                <a:effectLst/>
              </p:spPr>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20" normalizeH="0" baseline="0" noProof="0" dirty="0">
                    <a:ln>
                      <a:noFill/>
                    </a:ln>
                    <a:gradFill>
                      <a:gsLst>
                        <a:gs pos="0">
                          <a:srgbClr val="FFFFFF"/>
                        </a:gs>
                        <a:gs pos="100000">
                          <a:srgbClr val="FFFFFF"/>
                        </a:gs>
                      </a:gsLst>
                      <a:lin ang="5400000" scaled="0"/>
                    </a:gradFill>
                    <a:effectLst/>
                    <a:uLnTx/>
                    <a:uFillTx/>
                    <a:latin typeface="Segoe Light" pitchFamily="34" charset="0"/>
                    <a:ea typeface="+mn-ea"/>
                    <a:cs typeface="+mn-cs"/>
                  </a:endParaRPr>
                </a:p>
              </p:txBody>
            </p:sp>
            <p:sp>
              <p:nvSpPr>
                <p:cNvPr id="48" name="Isosceles Triangle 47"/>
                <p:cNvSpPr/>
                <p:nvPr/>
              </p:nvSpPr>
              <p:spPr bwMode="black">
                <a:xfrm flipV="1">
                  <a:off x="5716871" y="1251284"/>
                  <a:ext cx="202131" cy="168442"/>
                </a:xfrm>
                <a:prstGeom prst="triangle">
                  <a:avLst>
                    <a:gd name="adj" fmla="val 20000"/>
                  </a:avLst>
                </a:prstGeom>
                <a:solidFill>
                  <a:srgbClr val="FFFFFF"/>
                </a:solidFill>
                <a:ln w="10795" cap="flat" cmpd="sng" algn="ctr">
                  <a:noFill/>
                  <a:prstDash val="solid"/>
                  <a:headEnd type="none" w="med" len="med"/>
                  <a:tailEnd type="none" w="med" len="med"/>
                </a:ln>
                <a:effectLst/>
              </p:spPr>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20" normalizeH="0" baseline="0" noProof="0" dirty="0">
                    <a:ln>
                      <a:noFill/>
                    </a:ln>
                    <a:gradFill>
                      <a:gsLst>
                        <a:gs pos="0">
                          <a:srgbClr val="FFFFFF"/>
                        </a:gs>
                        <a:gs pos="100000">
                          <a:srgbClr val="FFFFFF"/>
                        </a:gs>
                      </a:gsLst>
                      <a:lin ang="5400000" scaled="0"/>
                    </a:gradFill>
                    <a:effectLst/>
                    <a:uLnTx/>
                    <a:uFillTx/>
                    <a:latin typeface="Segoe Light" pitchFamily="34" charset="0"/>
                    <a:ea typeface="+mn-ea"/>
                    <a:cs typeface="+mn-cs"/>
                  </a:endParaRPr>
                </a:p>
              </p:txBody>
            </p:sp>
          </p:grpSp>
          <p:sp>
            <p:nvSpPr>
              <p:cNvPr id="46" name="TextBox 45"/>
              <p:cNvSpPr txBox="1"/>
              <p:nvPr/>
            </p:nvSpPr>
            <p:spPr bwMode="black">
              <a:xfrm>
                <a:off x="8986839" y="4569351"/>
                <a:ext cx="621434" cy="235763"/>
              </a:xfrm>
              <a:prstGeom prst="rect">
                <a:avLst/>
              </a:prstGeom>
              <a:noFill/>
            </p:spPr>
            <p:txBody>
              <a:bodyPr wrap="square" lIns="0" tIns="0" rIns="0" bIns="0"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863" b="1"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Q</a:t>
                </a:r>
                <a:r>
                  <a:rPr kumimoji="0" lang="en-US" sz="1863" b="0"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&amp;</a:t>
                </a:r>
                <a:r>
                  <a:rPr kumimoji="0" lang="en-US" sz="1863" b="1" i="0" u="none" strike="noStrike" kern="0" cap="none" spc="0" normalizeH="0" baseline="0" noProof="0" dirty="0">
                    <a:ln>
                      <a:noFill/>
                    </a:ln>
                    <a:gradFill>
                      <a:gsLst>
                        <a:gs pos="0">
                          <a:srgbClr val="FF8C00"/>
                        </a:gs>
                        <a:gs pos="98000">
                          <a:srgbClr val="FF8C00"/>
                        </a:gs>
                      </a:gsLst>
                      <a:lin ang="5400000" scaled="0"/>
                    </a:gradFill>
                    <a:effectLst/>
                    <a:uLnTx/>
                    <a:uFillTx/>
                    <a:latin typeface="Segoe UI"/>
                    <a:ea typeface="+mn-ea"/>
                    <a:cs typeface="+mn-cs"/>
                  </a:rPr>
                  <a:t>A</a:t>
                </a:r>
                <a:endParaRPr kumimoji="0" lang="en-US" sz="1863" b="0" i="0" u="none" strike="noStrike" kern="0" cap="none" spc="-132" normalizeH="0" baseline="0" noProof="0" dirty="0">
                  <a:ln>
                    <a:noFill/>
                  </a:ln>
                  <a:gradFill>
                    <a:gsLst>
                      <a:gs pos="0">
                        <a:srgbClr val="FF8C00"/>
                      </a:gs>
                      <a:gs pos="98000">
                        <a:srgbClr val="FF8C00"/>
                      </a:gs>
                    </a:gsLst>
                    <a:lin ang="5400000" scaled="0"/>
                  </a:gradFill>
                  <a:effectLst/>
                  <a:uLnTx/>
                  <a:uFillTx/>
                  <a:latin typeface="Arial Black" pitchFamily="34" charset="0"/>
                  <a:ea typeface="+mn-ea"/>
                  <a:cs typeface="Arial" pitchFamily="34" charset="0"/>
                </a:endParaRPr>
              </a:p>
            </p:txBody>
          </p:sp>
        </p:grpSp>
        <p:sp>
          <p:nvSpPr>
            <p:cNvPr id="49" name="Rectangle 48"/>
            <p:cNvSpPr>
              <a:spLocks noChangeAspect="1"/>
            </p:cNvSpPr>
            <p:nvPr/>
          </p:nvSpPr>
          <p:spPr bwMode="auto">
            <a:xfrm>
              <a:off x="10087234" y="4525198"/>
              <a:ext cx="1645919" cy="16459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Mobility</a:t>
              </a:r>
            </a:p>
          </p:txBody>
        </p:sp>
        <p:grpSp>
          <p:nvGrpSpPr>
            <p:cNvPr id="50" name="Group 49"/>
            <p:cNvGrpSpPr/>
            <p:nvPr/>
          </p:nvGrpSpPr>
          <p:grpSpPr>
            <a:xfrm>
              <a:off x="10328269" y="5014387"/>
              <a:ext cx="824022" cy="812968"/>
              <a:chOff x="10280016" y="4544833"/>
              <a:chExt cx="728879" cy="719102"/>
            </a:xfrm>
          </p:grpSpPr>
          <p:grpSp>
            <p:nvGrpSpPr>
              <p:cNvPr id="51" name="Group 50"/>
              <p:cNvGrpSpPr/>
              <p:nvPr/>
            </p:nvGrpSpPr>
            <p:grpSpPr bwMode="black">
              <a:xfrm>
                <a:off x="10280016" y="4544833"/>
                <a:ext cx="728879" cy="719102"/>
                <a:chOff x="2916435" y="3914152"/>
                <a:chExt cx="930763" cy="918513"/>
              </a:xfrm>
            </p:grpSpPr>
            <p:pic>
              <p:nvPicPr>
                <p:cNvPr id="53" name="Picture 5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black">
                <a:xfrm rot="2614426" flipH="1">
                  <a:off x="2916435" y="4302640"/>
                  <a:ext cx="394555" cy="530025"/>
                </a:xfrm>
                <a:prstGeom prst="rect">
                  <a:avLst/>
                </a:prstGeom>
              </p:spPr>
            </p:pic>
            <p:sp>
              <p:nvSpPr>
                <p:cNvPr id="54" name="Freeform 61"/>
                <p:cNvSpPr>
                  <a:spLocks/>
                </p:cNvSpPr>
                <p:nvPr/>
              </p:nvSpPr>
              <p:spPr bwMode="black">
                <a:xfrm rot="10800000">
                  <a:off x="3279998" y="3914152"/>
                  <a:ext cx="567200" cy="820335"/>
                </a:xfrm>
                <a:custGeom>
                  <a:avLst/>
                  <a:gdLst/>
                  <a:ahLst/>
                  <a:cxnLst>
                    <a:cxn ang="0">
                      <a:pos x="251" y="363"/>
                    </a:cxn>
                    <a:cxn ang="0">
                      <a:pos x="243" y="372"/>
                    </a:cxn>
                    <a:cxn ang="0">
                      <a:pos x="35" y="372"/>
                    </a:cxn>
                    <a:cxn ang="0">
                      <a:pos x="27" y="363"/>
                    </a:cxn>
                    <a:cxn ang="0">
                      <a:pos x="27" y="36"/>
                    </a:cxn>
                    <a:cxn ang="0">
                      <a:pos x="35" y="27"/>
                    </a:cxn>
                    <a:cxn ang="0">
                      <a:pos x="243" y="27"/>
                    </a:cxn>
                    <a:cxn ang="0">
                      <a:pos x="251" y="36"/>
                    </a:cxn>
                    <a:cxn ang="0">
                      <a:pos x="251" y="108"/>
                    </a:cxn>
                    <a:cxn ang="0">
                      <a:pos x="277" y="84"/>
                    </a:cxn>
                    <a:cxn ang="0">
                      <a:pos x="277" y="10"/>
                    </a:cxn>
                    <a:cxn ang="0">
                      <a:pos x="267" y="0"/>
                    </a:cxn>
                    <a:cxn ang="0">
                      <a:pos x="11" y="0"/>
                    </a:cxn>
                    <a:cxn ang="0">
                      <a:pos x="0" y="10"/>
                    </a:cxn>
                    <a:cxn ang="0">
                      <a:pos x="0" y="389"/>
                    </a:cxn>
                    <a:cxn ang="0">
                      <a:pos x="11" y="399"/>
                    </a:cxn>
                    <a:cxn ang="0">
                      <a:pos x="267" y="399"/>
                    </a:cxn>
                    <a:cxn ang="0">
                      <a:pos x="277" y="389"/>
                    </a:cxn>
                    <a:cxn ang="0">
                      <a:pos x="277" y="168"/>
                    </a:cxn>
                    <a:cxn ang="0">
                      <a:pos x="251" y="191"/>
                    </a:cxn>
                    <a:cxn ang="0">
                      <a:pos x="251" y="363"/>
                    </a:cxn>
                  </a:cxnLst>
                  <a:rect l="0" t="0" r="r" b="b"/>
                  <a:pathLst>
                    <a:path w="277" h="399">
                      <a:moveTo>
                        <a:pt x="251" y="363"/>
                      </a:moveTo>
                      <a:cubicBezTo>
                        <a:pt x="251" y="368"/>
                        <a:pt x="247" y="372"/>
                        <a:pt x="243" y="372"/>
                      </a:cubicBezTo>
                      <a:cubicBezTo>
                        <a:pt x="35" y="372"/>
                        <a:pt x="35" y="372"/>
                        <a:pt x="35" y="372"/>
                      </a:cubicBezTo>
                      <a:cubicBezTo>
                        <a:pt x="31" y="372"/>
                        <a:pt x="27" y="368"/>
                        <a:pt x="27" y="363"/>
                      </a:cubicBezTo>
                      <a:cubicBezTo>
                        <a:pt x="27" y="36"/>
                        <a:pt x="27" y="36"/>
                        <a:pt x="27" y="36"/>
                      </a:cubicBezTo>
                      <a:cubicBezTo>
                        <a:pt x="27" y="31"/>
                        <a:pt x="31" y="27"/>
                        <a:pt x="35" y="27"/>
                      </a:cubicBezTo>
                      <a:cubicBezTo>
                        <a:pt x="243" y="27"/>
                        <a:pt x="243" y="27"/>
                        <a:pt x="243" y="27"/>
                      </a:cubicBezTo>
                      <a:cubicBezTo>
                        <a:pt x="247" y="27"/>
                        <a:pt x="251" y="31"/>
                        <a:pt x="251" y="36"/>
                      </a:cubicBezTo>
                      <a:cubicBezTo>
                        <a:pt x="251" y="108"/>
                        <a:pt x="251" y="108"/>
                        <a:pt x="251" y="108"/>
                      </a:cubicBezTo>
                      <a:cubicBezTo>
                        <a:pt x="277" y="84"/>
                        <a:pt x="277" y="84"/>
                        <a:pt x="277" y="84"/>
                      </a:cubicBezTo>
                      <a:cubicBezTo>
                        <a:pt x="277" y="10"/>
                        <a:pt x="277" y="10"/>
                        <a:pt x="277" y="10"/>
                      </a:cubicBezTo>
                      <a:cubicBezTo>
                        <a:pt x="277" y="4"/>
                        <a:pt x="273" y="0"/>
                        <a:pt x="267" y="0"/>
                      </a:cubicBezTo>
                      <a:cubicBezTo>
                        <a:pt x="11" y="0"/>
                        <a:pt x="11" y="0"/>
                        <a:pt x="11" y="0"/>
                      </a:cubicBezTo>
                      <a:cubicBezTo>
                        <a:pt x="5" y="0"/>
                        <a:pt x="0" y="4"/>
                        <a:pt x="0" y="10"/>
                      </a:cubicBezTo>
                      <a:cubicBezTo>
                        <a:pt x="0" y="389"/>
                        <a:pt x="0" y="389"/>
                        <a:pt x="0" y="389"/>
                      </a:cubicBezTo>
                      <a:cubicBezTo>
                        <a:pt x="0" y="395"/>
                        <a:pt x="5" y="399"/>
                        <a:pt x="11" y="399"/>
                      </a:cubicBezTo>
                      <a:cubicBezTo>
                        <a:pt x="267" y="399"/>
                        <a:pt x="267" y="399"/>
                        <a:pt x="267" y="399"/>
                      </a:cubicBezTo>
                      <a:cubicBezTo>
                        <a:pt x="273" y="399"/>
                        <a:pt x="277" y="395"/>
                        <a:pt x="277" y="389"/>
                      </a:cubicBezTo>
                      <a:cubicBezTo>
                        <a:pt x="277" y="168"/>
                        <a:pt x="277" y="168"/>
                        <a:pt x="277" y="168"/>
                      </a:cubicBezTo>
                      <a:cubicBezTo>
                        <a:pt x="251" y="191"/>
                        <a:pt x="251" y="191"/>
                        <a:pt x="251" y="191"/>
                      </a:cubicBezTo>
                      <a:lnTo>
                        <a:pt x="251" y="363"/>
                      </a:lnTo>
                      <a:close/>
                    </a:path>
                  </a:pathLst>
                </a:custGeom>
                <a:solidFill>
                  <a:srgbClr val="FFFFFF"/>
                </a:solidFill>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grpSp>
          <p:sp>
            <p:nvSpPr>
              <p:cNvPr id="52" name="Freeform 51"/>
              <p:cNvSpPr/>
              <p:nvPr>
                <p:custDataLst>
                  <p:tags r:id="rId2"/>
                </p:custDataLst>
              </p:nvPr>
            </p:nvSpPr>
            <p:spPr>
              <a:xfrm>
                <a:off x="10639372" y="4697518"/>
                <a:ext cx="294872" cy="297203"/>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rgbClr val="FFFFFF"/>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Arial"/>
                  <a:ea typeface="+mn-ea"/>
                  <a:cs typeface="+mn-cs"/>
                </a:endParaRPr>
              </a:p>
            </p:txBody>
          </p:sp>
        </p:grpSp>
      </p:grpSp>
      <p:grpSp>
        <p:nvGrpSpPr>
          <p:cNvPr id="3" name="Group 2"/>
          <p:cNvGrpSpPr/>
          <p:nvPr/>
        </p:nvGrpSpPr>
        <p:grpSpPr>
          <a:xfrm>
            <a:off x="436359" y="1666279"/>
            <a:ext cx="5006599" cy="4392197"/>
            <a:chOff x="274639" y="1690849"/>
            <a:chExt cx="5106992" cy="4480270"/>
          </a:xfrm>
        </p:grpSpPr>
        <p:pic>
          <p:nvPicPr>
            <p:cNvPr id="32" name="Picture 31"/>
            <p:cNvPicPr>
              <a:picLocks noChangeAspect="1"/>
            </p:cNvPicPr>
            <p:nvPr/>
          </p:nvPicPr>
          <p:blipFill rotWithShape="1">
            <a:blip r:embed="rId7" cstate="screen">
              <a:extLst>
                <a:ext uri="{28A0092B-C50C-407E-A947-70E740481C1C}">
                  <a14:useLocalDpi xmlns:a14="http://schemas.microsoft.com/office/drawing/2010/main"/>
                </a:ext>
              </a:extLst>
            </a:blip>
            <a:srcRect t="-21416"/>
            <a:stretch/>
          </p:blipFill>
          <p:spPr>
            <a:xfrm>
              <a:off x="282248" y="1690851"/>
              <a:ext cx="5076455" cy="2753743"/>
            </a:xfrm>
            <a:prstGeom prst="rect">
              <a:avLst/>
            </a:prstGeom>
          </p:spPr>
        </p:pic>
        <p:sp>
          <p:nvSpPr>
            <p:cNvPr id="34" name="Rectangle 33"/>
            <p:cNvSpPr/>
            <p:nvPr/>
          </p:nvSpPr>
          <p:spPr bwMode="auto">
            <a:xfrm>
              <a:off x="274639" y="1690849"/>
              <a:ext cx="5084064" cy="960235"/>
            </a:xfrm>
            <a:prstGeom prst="rect">
              <a:avLst/>
            </a:prstGeom>
            <a:solidFill>
              <a:srgbClr val="7FBA00"/>
            </a:solidFill>
            <a:ln w="38100" cap="flat" cmpd="sng" algn="ctr">
              <a:noFill/>
              <a:prstDash val="solid"/>
              <a:headEnd type="none" w="med" len="med"/>
              <a:tailEnd type="none" w="med" len="med"/>
            </a:ln>
            <a:effectLst/>
          </p:spPr>
          <p:txBody>
            <a:bodyPr vert="horz" wrap="square" lIns="89642" tIns="89642" rIns="89642" bIns="137141" numCol="1" rtlCol="0" anchor="t" anchorCtr="0" compatLnSpc="1">
              <a:prstTxWarp prst="textNoShape">
                <a:avLst/>
              </a:prstTxWarp>
            </a:bodyPr>
            <a:lstStyle/>
            <a:p>
              <a:pPr marL="0" marR="0" lvl="0" indent="0" algn="l" defTabSz="913924" rtl="0" eaLnBrk="1" fontAlgn="base" latinLnBrk="0" hangingPunct="1">
                <a:lnSpc>
                  <a:spcPct val="100000"/>
                </a:lnSpc>
                <a:spcBef>
                  <a:spcPts val="1176"/>
                </a:spcBef>
                <a:spcAft>
                  <a:spcPct val="0"/>
                </a:spcAft>
                <a:buClrTx/>
                <a:buSzTx/>
                <a:buFontTx/>
                <a:buNone/>
                <a:tabLst/>
                <a:defRPr/>
              </a:pPr>
              <a:r>
                <a:rPr kumimoji="0" lang="en-US" sz="2549" b="1"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Analyze in Excel</a:t>
              </a:r>
            </a:p>
            <a:p>
              <a:pPr marL="0" marR="0" lvl="0" indent="0" algn="l" defTabSz="913924" rtl="0" eaLnBrk="1" fontAlgn="base" latinLnBrk="0" hangingPunct="1">
                <a:lnSpc>
                  <a:spcPct val="100000"/>
                </a:lnSpc>
                <a:spcBef>
                  <a:spcPts val="588"/>
                </a:spcBef>
                <a:spcAft>
                  <a:spcPct val="0"/>
                </a:spcAft>
                <a:buClrTx/>
                <a:buSzTx/>
                <a:buFontTx/>
                <a:buNone/>
                <a:tabLst/>
                <a:defRPr/>
              </a:pPr>
              <a:r>
                <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1 Billion Office Users</a:t>
              </a:r>
            </a:p>
            <a:p>
              <a:pPr marL="0" marR="0" lvl="0" indent="0" algn="l" defTabSz="913924" rtl="0" eaLnBrk="1" fontAlgn="base" latinLnBrk="0" hangingPunct="1">
                <a:lnSpc>
                  <a:spcPct val="90000"/>
                </a:lnSpc>
                <a:spcBef>
                  <a:spcPct val="0"/>
                </a:spcBef>
                <a:spcAft>
                  <a:spcPct val="0"/>
                </a:spcAft>
                <a:buClrTx/>
                <a:buSzTx/>
                <a:buFontTx/>
                <a:buNone/>
                <a:tabLst/>
                <a:defRPr/>
              </a:pPr>
              <a:endPar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p:txBody>
        </p:sp>
        <p:sp>
          <p:nvSpPr>
            <p:cNvPr id="35" name="Rectangle 34"/>
            <p:cNvSpPr>
              <a:spLocks noChangeAspect="1"/>
            </p:cNvSpPr>
            <p:nvPr/>
          </p:nvSpPr>
          <p:spPr bwMode="auto">
            <a:xfrm>
              <a:off x="1996786"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Analyze</a:t>
              </a:r>
            </a:p>
          </p:txBody>
        </p:sp>
        <p:grpSp>
          <p:nvGrpSpPr>
            <p:cNvPr id="36" name="Group 35"/>
            <p:cNvGrpSpPr/>
            <p:nvPr/>
          </p:nvGrpSpPr>
          <p:grpSpPr>
            <a:xfrm flipH="1">
              <a:off x="2516817" y="5026572"/>
              <a:ext cx="598930" cy="829513"/>
              <a:chOff x="1458542" y="3645051"/>
              <a:chExt cx="800271" cy="1108369"/>
            </a:xfrm>
            <a:solidFill>
              <a:srgbClr val="FFFFFF"/>
            </a:solidFill>
          </p:grpSpPr>
          <p:sp>
            <p:nvSpPr>
              <p:cNvPr id="37" name="Rectangle 24"/>
              <p:cNvSpPr/>
              <p:nvPr/>
            </p:nvSpPr>
            <p:spPr>
              <a:xfrm>
                <a:off x="1458542" y="3645051"/>
                <a:ext cx="800271" cy="1108369"/>
              </a:xfrm>
              <a:custGeom>
                <a:avLst/>
                <a:gdLst/>
                <a:ahLst/>
                <a:cxnLst/>
                <a:rect l="l" t="t" r="r" b="b"/>
                <a:pathLst>
                  <a:path w="1518158" h="2102639">
                    <a:moveTo>
                      <a:pt x="664962" y="48"/>
                    </a:moveTo>
                    <a:cubicBezTo>
                      <a:pt x="990735" y="4734"/>
                      <a:pt x="1250103" y="195355"/>
                      <a:pt x="1311820" y="389100"/>
                    </a:cubicBezTo>
                    <a:cubicBezTo>
                      <a:pt x="1373537" y="582844"/>
                      <a:pt x="1310258" y="419568"/>
                      <a:pt x="1400880" y="656280"/>
                    </a:cubicBezTo>
                    <a:cubicBezTo>
                      <a:pt x="1411818" y="757059"/>
                      <a:pt x="1339163" y="742996"/>
                      <a:pt x="1358694" y="815651"/>
                    </a:cubicBezTo>
                    <a:cubicBezTo>
                      <a:pt x="1378225" y="888305"/>
                      <a:pt x="1514158" y="1033614"/>
                      <a:pt x="1518064" y="1092206"/>
                    </a:cubicBezTo>
                    <a:cubicBezTo>
                      <a:pt x="1521971" y="1150798"/>
                      <a:pt x="1404005" y="1135955"/>
                      <a:pt x="1382130" y="1167204"/>
                    </a:cubicBezTo>
                    <a:cubicBezTo>
                      <a:pt x="1360256" y="1198453"/>
                      <a:pt x="1390724" y="1255483"/>
                      <a:pt x="1386818" y="1279701"/>
                    </a:cubicBezTo>
                    <a:cubicBezTo>
                      <a:pt x="1382912" y="1303919"/>
                      <a:pt x="1361038" y="1303137"/>
                      <a:pt x="1358694" y="1312512"/>
                    </a:cubicBezTo>
                    <a:cubicBezTo>
                      <a:pt x="1356350" y="1321887"/>
                      <a:pt x="1382912" y="1320325"/>
                      <a:pt x="1372756" y="1335949"/>
                    </a:cubicBezTo>
                    <a:cubicBezTo>
                      <a:pt x="1362600" y="1351574"/>
                      <a:pt x="1313382" y="1359387"/>
                      <a:pt x="1297758" y="1406260"/>
                    </a:cubicBezTo>
                    <a:cubicBezTo>
                      <a:pt x="1282134" y="1453134"/>
                      <a:pt x="1409474" y="1567974"/>
                      <a:pt x="1279008" y="1617192"/>
                    </a:cubicBezTo>
                    <a:cubicBezTo>
                      <a:pt x="1148544" y="1666410"/>
                      <a:pt x="978235" y="1565631"/>
                      <a:pt x="936830" y="1645316"/>
                    </a:cubicBezTo>
                    <a:cubicBezTo>
                      <a:pt x="895425" y="1725002"/>
                      <a:pt x="843864" y="1864060"/>
                      <a:pt x="1030577" y="2095304"/>
                    </a:cubicBezTo>
                    <a:cubicBezTo>
                      <a:pt x="762616" y="2092179"/>
                      <a:pt x="244660" y="2113272"/>
                      <a:pt x="18105" y="2095304"/>
                    </a:cubicBezTo>
                    <a:cubicBezTo>
                      <a:pt x="72790" y="1927340"/>
                      <a:pt x="250130" y="1765625"/>
                      <a:pt x="247786" y="1537506"/>
                    </a:cubicBezTo>
                    <a:cubicBezTo>
                      <a:pt x="245442" y="1309387"/>
                      <a:pt x="51697" y="1118768"/>
                      <a:pt x="4042" y="726591"/>
                    </a:cubicBezTo>
                    <a:cubicBezTo>
                      <a:pt x="-20283" y="526408"/>
                      <a:pt x="67548" y="340065"/>
                      <a:pt x="203379" y="206900"/>
                    </a:cubicBezTo>
                    <a:lnTo>
                      <a:pt x="203379" y="206708"/>
                    </a:lnTo>
                    <a:lnTo>
                      <a:pt x="203605" y="206708"/>
                    </a:lnTo>
                    <a:cubicBezTo>
                      <a:pt x="332512" y="77755"/>
                      <a:pt x="505564" y="-2246"/>
                      <a:pt x="664962" y="48"/>
                    </a:cubicBezTo>
                    <a:close/>
                  </a:path>
                </a:pathLst>
              </a:custGeom>
              <a:grpFill/>
              <a:ln w="10795" cap="flat" cmpd="sng" algn="ctr">
                <a:noFill/>
                <a:prstDash val="solid"/>
              </a:ln>
              <a:effectLst/>
            </p:spPr>
            <p:txBody>
              <a:bodyPr rtlCol="0" anchor="ct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marL="0" marR="0" lvl="0" indent="0" algn="ctr"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sp>
            <p:nvSpPr>
              <p:cNvPr id="38" name="Freeform 37"/>
              <p:cNvSpPr>
                <a:spLocks noEditPoints="1"/>
              </p:cNvSpPr>
              <p:nvPr/>
            </p:nvSpPr>
            <p:spPr bwMode="black">
              <a:xfrm rot="17995606">
                <a:off x="1558537" y="3764955"/>
                <a:ext cx="429800" cy="337492"/>
              </a:xfrm>
              <a:custGeom>
                <a:avLst/>
                <a:gdLst>
                  <a:gd name="T0" fmla="*/ 1304 w 1423"/>
                  <a:gd name="T1" fmla="*/ 301 h 1114"/>
                  <a:gd name="T2" fmla="*/ 1302 w 1423"/>
                  <a:gd name="T3" fmla="*/ 297 h 1114"/>
                  <a:gd name="T4" fmla="*/ 719 w 1423"/>
                  <a:gd name="T5" fmla="*/ 113 h 1114"/>
                  <a:gd name="T6" fmla="*/ 496 w 1423"/>
                  <a:gd name="T7" fmla="*/ 416 h 1114"/>
                  <a:gd name="T8" fmla="*/ 441 w 1423"/>
                  <a:gd name="T9" fmla="*/ 482 h 1114"/>
                  <a:gd name="T10" fmla="*/ 375 w 1423"/>
                  <a:gd name="T11" fmla="*/ 536 h 1114"/>
                  <a:gd name="T12" fmla="*/ 290 w 1423"/>
                  <a:gd name="T13" fmla="*/ 648 h 1114"/>
                  <a:gd name="T14" fmla="*/ 470 w 1423"/>
                  <a:gd name="T15" fmla="*/ 973 h 1114"/>
                  <a:gd name="T16" fmla="*/ 610 w 1423"/>
                  <a:gd name="T17" fmla="*/ 960 h 1114"/>
                  <a:gd name="T18" fmla="*/ 775 w 1423"/>
                  <a:gd name="T19" fmla="*/ 921 h 1114"/>
                  <a:gd name="T20" fmla="*/ 932 w 1423"/>
                  <a:gd name="T21" fmla="*/ 927 h 1114"/>
                  <a:gd name="T22" fmla="*/ 1151 w 1423"/>
                  <a:gd name="T23" fmla="*/ 893 h 1114"/>
                  <a:gd name="T24" fmla="*/ 1304 w 1423"/>
                  <a:gd name="T25" fmla="*/ 301 h 1114"/>
                  <a:gd name="T26" fmla="*/ 1024 w 1423"/>
                  <a:gd name="T27" fmla="*/ 311 h 1114"/>
                  <a:gd name="T28" fmla="*/ 1024 w 1423"/>
                  <a:gd name="T29" fmla="*/ 311 h 1114"/>
                  <a:gd name="T30" fmla="*/ 873 w 1423"/>
                  <a:gd name="T31" fmla="*/ 299 h 1114"/>
                  <a:gd name="T32" fmla="*/ 873 w 1423"/>
                  <a:gd name="T33" fmla="*/ 299 h 1114"/>
                  <a:gd name="T34" fmla="*/ 799 w 1423"/>
                  <a:gd name="T35" fmla="*/ 278 h 1114"/>
                  <a:gd name="T36" fmla="*/ 821 w 1423"/>
                  <a:gd name="T37" fmla="*/ 203 h 1114"/>
                  <a:gd name="T38" fmla="*/ 828 w 1423"/>
                  <a:gd name="T39" fmla="*/ 200 h 1114"/>
                  <a:gd name="T40" fmla="*/ 1101 w 1423"/>
                  <a:gd name="T41" fmla="*/ 234 h 1114"/>
                  <a:gd name="T42" fmla="*/ 1108 w 1423"/>
                  <a:gd name="T43" fmla="*/ 244 h 1114"/>
                  <a:gd name="T44" fmla="*/ 1087 w 1423"/>
                  <a:gd name="T45" fmla="*/ 318 h 1114"/>
                  <a:gd name="T46" fmla="*/ 1024 w 1423"/>
                  <a:gd name="T47" fmla="*/ 311 h 1114"/>
                  <a:gd name="T48" fmla="*/ 14 w 1423"/>
                  <a:gd name="T49" fmla="*/ 967 h 1114"/>
                  <a:gd name="T50" fmla="*/ 53 w 1423"/>
                  <a:gd name="T51" fmla="*/ 1037 h 1114"/>
                  <a:gd name="T52" fmla="*/ 115 w 1423"/>
                  <a:gd name="T53" fmla="*/ 1064 h 1114"/>
                  <a:gd name="T54" fmla="*/ 24 w 1423"/>
                  <a:gd name="T55" fmla="*/ 900 h 1114"/>
                  <a:gd name="T56" fmla="*/ 14 w 1423"/>
                  <a:gd name="T57" fmla="*/ 967 h 1114"/>
                  <a:gd name="T58" fmla="*/ 400 w 1423"/>
                  <a:gd name="T59" fmla="*/ 959 h 1114"/>
                  <a:gd name="T60" fmla="*/ 265 w 1423"/>
                  <a:gd name="T61" fmla="*/ 714 h 1114"/>
                  <a:gd name="T62" fmla="*/ 190 w 1423"/>
                  <a:gd name="T63" fmla="*/ 686 h 1114"/>
                  <a:gd name="T64" fmla="*/ 175 w 1423"/>
                  <a:gd name="T65" fmla="*/ 764 h 1114"/>
                  <a:gd name="T66" fmla="*/ 310 w 1423"/>
                  <a:gd name="T67" fmla="*/ 1008 h 1114"/>
                  <a:gd name="T68" fmla="*/ 385 w 1423"/>
                  <a:gd name="T69" fmla="*/ 1037 h 1114"/>
                  <a:gd name="T70" fmla="*/ 400 w 1423"/>
                  <a:gd name="T71" fmla="*/ 959 h 1114"/>
                  <a:gd name="T72" fmla="*/ 266 w 1423"/>
                  <a:gd name="T73" fmla="*/ 1026 h 1114"/>
                  <a:gd name="T74" fmla="*/ 136 w 1423"/>
                  <a:gd name="T75" fmla="*/ 792 h 1114"/>
                  <a:gd name="T76" fmla="*/ 65 w 1423"/>
                  <a:gd name="T77" fmla="*/ 764 h 1114"/>
                  <a:gd name="T78" fmla="*/ 50 w 1423"/>
                  <a:gd name="T79" fmla="*/ 840 h 1114"/>
                  <a:gd name="T80" fmla="*/ 180 w 1423"/>
                  <a:gd name="T81" fmla="*/ 1074 h 1114"/>
                  <a:gd name="T82" fmla="*/ 251 w 1423"/>
                  <a:gd name="T83" fmla="*/ 1101 h 1114"/>
                  <a:gd name="T84" fmla="*/ 266 w 1423"/>
                  <a:gd name="T85" fmla="*/ 1026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3" h="1114">
                    <a:moveTo>
                      <a:pt x="1304" y="301"/>
                    </a:moveTo>
                    <a:cubicBezTo>
                      <a:pt x="1303" y="298"/>
                      <a:pt x="1304" y="300"/>
                      <a:pt x="1302" y="297"/>
                    </a:cubicBezTo>
                    <a:cubicBezTo>
                      <a:pt x="1184" y="83"/>
                      <a:pt x="922" y="0"/>
                      <a:pt x="719" y="113"/>
                    </a:cubicBezTo>
                    <a:cubicBezTo>
                      <a:pt x="602" y="177"/>
                      <a:pt x="570" y="311"/>
                      <a:pt x="496" y="416"/>
                    </a:cubicBezTo>
                    <a:cubicBezTo>
                      <a:pt x="476" y="444"/>
                      <a:pt x="458" y="465"/>
                      <a:pt x="441" y="482"/>
                    </a:cubicBezTo>
                    <a:cubicBezTo>
                      <a:pt x="418" y="504"/>
                      <a:pt x="397" y="520"/>
                      <a:pt x="375" y="536"/>
                    </a:cubicBezTo>
                    <a:cubicBezTo>
                      <a:pt x="334" y="566"/>
                      <a:pt x="296" y="593"/>
                      <a:pt x="290" y="648"/>
                    </a:cubicBezTo>
                    <a:cubicBezTo>
                      <a:pt x="470" y="973"/>
                      <a:pt x="470" y="973"/>
                      <a:pt x="470" y="973"/>
                    </a:cubicBezTo>
                    <a:cubicBezTo>
                      <a:pt x="519" y="997"/>
                      <a:pt x="563" y="978"/>
                      <a:pt x="610" y="960"/>
                    </a:cubicBezTo>
                    <a:cubicBezTo>
                      <a:pt x="654" y="943"/>
                      <a:pt x="697" y="925"/>
                      <a:pt x="775" y="921"/>
                    </a:cubicBezTo>
                    <a:cubicBezTo>
                      <a:pt x="827" y="918"/>
                      <a:pt x="880" y="924"/>
                      <a:pt x="932" y="927"/>
                    </a:cubicBezTo>
                    <a:cubicBezTo>
                      <a:pt x="1008" y="932"/>
                      <a:pt x="1082" y="931"/>
                      <a:pt x="1151" y="893"/>
                    </a:cubicBezTo>
                    <a:cubicBezTo>
                      <a:pt x="1354" y="780"/>
                      <a:pt x="1423" y="515"/>
                      <a:pt x="1304" y="301"/>
                    </a:cubicBezTo>
                    <a:close/>
                    <a:moveTo>
                      <a:pt x="1024" y="311"/>
                    </a:moveTo>
                    <a:cubicBezTo>
                      <a:pt x="1024" y="311"/>
                      <a:pt x="1024" y="311"/>
                      <a:pt x="1024" y="311"/>
                    </a:cubicBezTo>
                    <a:cubicBezTo>
                      <a:pt x="983" y="270"/>
                      <a:pt x="917" y="279"/>
                      <a:pt x="873" y="299"/>
                    </a:cubicBezTo>
                    <a:cubicBezTo>
                      <a:pt x="873" y="299"/>
                      <a:pt x="873" y="299"/>
                      <a:pt x="873" y="299"/>
                    </a:cubicBezTo>
                    <a:cubicBezTo>
                      <a:pt x="847" y="313"/>
                      <a:pt x="814" y="304"/>
                      <a:pt x="799" y="278"/>
                    </a:cubicBezTo>
                    <a:cubicBezTo>
                      <a:pt x="785" y="251"/>
                      <a:pt x="794" y="218"/>
                      <a:pt x="821" y="203"/>
                    </a:cubicBezTo>
                    <a:cubicBezTo>
                      <a:pt x="823" y="202"/>
                      <a:pt x="828" y="200"/>
                      <a:pt x="828" y="200"/>
                    </a:cubicBezTo>
                    <a:cubicBezTo>
                      <a:pt x="927" y="155"/>
                      <a:pt x="1035" y="168"/>
                      <a:pt x="1101" y="234"/>
                    </a:cubicBezTo>
                    <a:cubicBezTo>
                      <a:pt x="1101" y="234"/>
                      <a:pt x="1106" y="240"/>
                      <a:pt x="1108" y="244"/>
                    </a:cubicBezTo>
                    <a:cubicBezTo>
                      <a:pt x="1122" y="270"/>
                      <a:pt x="1113" y="303"/>
                      <a:pt x="1087" y="318"/>
                    </a:cubicBezTo>
                    <a:cubicBezTo>
                      <a:pt x="1066" y="329"/>
                      <a:pt x="1041" y="326"/>
                      <a:pt x="1024" y="311"/>
                    </a:cubicBezTo>
                    <a:close/>
                    <a:moveTo>
                      <a:pt x="14" y="967"/>
                    </a:moveTo>
                    <a:cubicBezTo>
                      <a:pt x="53" y="1037"/>
                      <a:pt x="53" y="1037"/>
                      <a:pt x="53" y="1037"/>
                    </a:cubicBezTo>
                    <a:cubicBezTo>
                      <a:pt x="67" y="1062"/>
                      <a:pt x="94" y="1074"/>
                      <a:pt x="115" y="1064"/>
                    </a:cubicBezTo>
                    <a:cubicBezTo>
                      <a:pt x="24" y="900"/>
                      <a:pt x="24" y="900"/>
                      <a:pt x="24" y="900"/>
                    </a:cubicBezTo>
                    <a:cubicBezTo>
                      <a:pt x="5" y="912"/>
                      <a:pt x="0" y="941"/>
                      <a:pt x="14" y="967"/>
                    </a:cubicBezTo>
                    <a:close/>
                    <a:moveTo>
                      <a:pt x="400" y="959"/>
                    </a:moveTo>
                    <a:cubicBezTo>
                      <a:pt x="265" y="714"/>
                      <a:pt x="265" y="714"/>
                      <a:pt x="265" y="714"/>
                    </a:cubicBezTo>
                    <a:cubicBezTo>
                      <a:pt x="248" y="685"/>
                      <a:pt x="215" y="672"/>
                      <a:pt x="190" y="686"/>
                    </a:cubicBezTo>
                    <a:cubicBezTo>
                      <a:pt x="166" y="699"/>
                      <a:pt x="159" y="734"/>
                      <a:pt x="175" y="764"/>
                    </a:cubicBezTo>
                    <a:cubicBezTo>
                      <a:pt x="310" y="1008"/>
                      <a:pt x="310" y="1008"/>
                      <a:pt x="310" y="1008"/>
                    </a:cubicBezTo>
                    <a:cubicBezTo>
                      <a:pt x="327" y="1038"/>
                      <a:pt x="360" y="1051"/>
                      <a:pt x="385" y="1037"/>
                    </a:cubicBezTo>
                    <a:cubicBezTo>
                      <a:pt x="410" y="1023"/>
                      <a:pt x="416" y="988"/>
                      <a:pt x="400" y="959"/>
                    </a:cubicBezTo>
                    <a:close/>
                    <a:moveTo>
                      <a:pt x="266" y="1026"/>
                    </a:moveTo>
                    <a:cubicBezTo>
                      <a:pt x="136" y="792"/>
                      <a:pt x="136" y="792"/>
                      <a:pt x="136" y="792"/>
                    </a:cubicBezTo>
                    <a:cubicBezTo>
                      <a:pt x="121" y="764"/>
                      <a:pt x="89" y="751"/>
                      <a:pt x="65" y="764"/>
                    </a:cubicBezTo>
                    <a:cubicBezTo>
                      <a:pt x="41" y="778"/>
                      <a:pt x="35" y="811"/>
                      <a:pt x="50" y="840"/>
                    </a:cubicBezTo>
                    <a:cubicBezTo>
                      <a:pt x="180" y="1074"/>
                      <a:pt x="180" y="1074"/>
                      <a:pt x="180" y="1074"/>
                    </a:cubicBezTo>
                    <a:cubicBezTo>
                      <a:pt x="196" y="1102"/>
                      <a:pt x="228" y="1114"/>
                      <a:pt x="251" y="1101"/>
                    </a:cubicBezTo>
                    <a:cubicBezTo>
                      <a:pt x="275" y="1088"/>
                      <a:pt x="282" y="1055"/>
                      <a:pt x="266" y="1026"/>
                    </a:cubicBezTo>
                    <a:close/>
                  </a:path>
                </a:pathLst>
              </a:custGeom>
              <a:solidFill>
                <a:srgbClr val="7F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dirty="0">
                  <a:ln>
                    <a:solidFill>
                      <a:srgbClr val="505050">
                        <a:alpha val="0"/>
                      </a:srgbClr>
                    </a:solidFill>
                  </a:ln>
                  <a:gradFill>
                    <a:gsLst>
                      <a:gs pos="0">
                        <a:srgbClr val="FFFFFF"/>
                      </a:gs>
                      <a:gs pos="100000">
                        <a:srgbClr val="FFFFFF"/>
                      </a:gs>
                    </a:gsLst>
                    <a:lin ang="5400000" scaled="0"/>
                  </a:gradFill>
                  <a:effectLst/>
                  <a:uLnTx/>
                  <a:uFillTx/>
                  <a:latin typeface="Segoe UI"/>
                  <a:ea typeface="+mn-ea"/>
                  <a:cs typeface="+mn-cs"/>
                </a:endParaRPr>
              </a:p>
            </p:txBody>
          </p:sp>
        </p:grpSp>
        <p:sp>
          <p:nvSpPr>
            <p:cNvPr id="39" name="Rectangle 38"/>
            <p:cNvSpPr>
              <a:spLocks noChangeAspect="1"/>
            </p:cNvSpPr>
            <p:nvPr/>
          </p:nvSpPr>
          <p:spPr bwMode="auto">
            <a:xfrm>
              <a:off x="3735711"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Visualize</a:t>
              </a:r>
            </a:p>
          </p:txBody>
        </p:sp>
        <p:sp>
          <p:nvSpPr>
            <p:cNvPr id="40" name="Freeform 39"/>
            <p:cNvSpPr/>
            <p:nvPr>
              <p:custDataLst>
                <p:tags r:id="rId1"/>
              </p:custDataLst>
            </p:nvPr>
          </p:nvSpPr>
          <p:spPr>
            <a:xfrm>
              <a:off x="4150261" y="5016918"/>
              <a:ext cx="787338" cy="793562"/>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rgbClr val="FFFFFF"/>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FFFFFF"/>
                    </a:gs>
                    <a:gs pos="100000">
                      <a:srgbClr val="FFFFFF"/>
                    </a:gs>
                  </a:gsLst>
                  <a:lin ang="5400000" scaled="0"/>
                </a:gradFill>
                <a:effectLst/>
                <a:uLnTx/>
                <a:uFillTx/>
                <a:latin typeface="Arial"/>
                <a:ea typeface="+mn-ea"/>
                <a:cs typeface="+mn-cs"/>
              </a:endParaRPr>
            </a:p>
          </p:txBody>
        </p:sp>
        <p:sp>
          <p:nvSpPr>
            <p:cNvPr id="55" name="Rectangle 54"/>
            <p:cNvSpPr>
              <a:spLocks noChangeAspect="1"/>
            </p:cNvSpPr>
            <p:nvPr/>
          </p:nvSpPr>
          <p:spPr bwMode="auto">
            <a:xfrm>
              <a:off x="282247" y="4525198"/>
              <a:ext cx="1645920" cy="1645921"/>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Discover</a:t>
              </a:r>
            </a:p>
          </p:txBody>
        </p:sp>
        <p:sp>
          <p:nvSpPr>
            <p:cNvPr id="56" name="Freeform 8"/>
            <p:cNvSpPr>
              <a:spLocks noEditPoints="1"/>
            </p:cNvSpPr>
            <p:nvPr/>
          </p:nvSpPr>
          <p:spPr bwMode="black">
            <a:xfrm>
              <a:off x="611804" y="4988989"/>
              <a:ext cx="828137" cy="827921"/>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896386" rtl="0" eaLnBrk="1" fontAlgn="auto" latinLnBrk="0" hangingPunct="1">
                <a:lnSpc>
                  <a:spcPct val="100000"/>
                </a:lnSpc>
                <a:spcBef>
                  <a:spcPts val="0"/>
                </a:spcBef>
                <a:spcAft>
                  <a:spcPts val="0"/>
                </a:spcAft>
                <a:buClrTx/>
                <a:buSzTx/>
                <a:buFontTx/>
                <a:buNone/>
                <a:tabLst/>
                <a:defRPr/>
              </a:pPr>
              <a:endParaRPr kumimoji="0" lang="en-US" sz="156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grpSp>
      <p:sp>
        <p:nvSpPr>
          <p:cNvPr id="57" name="Rectangle 56"/>
          <p:cNvSpPr/>
          <p:nvPr/>
        </p:nvSpPr>
        <p:spPr bwMode="auto">
          <a:xfrm>
            <a:off x="436359" y="6174451"/>
            <a:ext cx="11241069" cy="491640"/>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ctr" defTabSz="913924" rtl="0" eaLnBrk="1" fontAlgn="base" latinLnBrk="0" hangingPunct="1">
              <a:lnSpc>
                <a:spcPct val="90000"/>
              </a:lnSpc>
              <a:spcBef>
                <a:spcPct val="0"/>
              </a:spcBef>
              <a:spcAft>
                <a:spcPct val="0"/>
              </a:spcAft>
              <a:buClrTx/>
              <a:buSzTx/>
              <a:buFontTx/>
              <a:buNone/>
              <a:tabLst/>
              <a:defRPr/>
            </a:pPr>
            <a:r>
              <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Scalable  |  Manageable  |  Trusted  </a:t>
            </a:r>
          </a:p>
        </p:txBody>
      </p:sp>
      <p:sp>
        <p:nvSpPr>
          <p:cNvPr id="58" name="Cross 57"/>
          <p:cNvSpPr/>
          <p:nvPr/>
        </p:nvSpPr>
        <p:spPr bwMode="auto">
          <a:xfrm>
            <a:off x="5684647" y="3450837"/>
            <a:ext cx="783058" cy="782462"/>
          </a:xfrm>
          <a:prstGeom prst="plus">
            <a:avLst>
              <a:gd name="adj" fmla="val 40783"/>
            </a:avLst>
          </a:prstGeom>
          <a:solidFill>
            <a:schemeClr val="bg2">
              <a:lumMod val="50000"/>
            </a:schemeClr>
          </a:solidFill>
          <a:ln w="10795" cap="flat" cmpd="sng" algn="ctr">
            <a:noFill/>
            <a:prstDash val="soli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sp>
        <p:nvSpPr>
          <p:cNvPr id="9" name="Title 8"/>
          <p:cNvSpPr>
            <a:spLocks noGrp="1"/>
          </p:cNvSpPr>
          <p:nvPr>
            <p:ph type="title"/>
          </p:nvPr>
        </p:nvSpPr>
        <p:spPr/>
        <p:txBody>
          <a:bodyPr/>
          <a:lstStyle/>
          <a:p>
            <a:r>
              <a:rPr lang="en-US" dirty="0"/>
              <a:t>A powerful new way to work with data</a:t>
            </a:r>
          </a:p>
        </p:txBody>
      </p:sp>
      <p:sp>
        <p:nvSpPr>
          <p:cNvPr id="5" name="Rectangle 4"/>
          <p:cNvSpPr/>
          <p:nvPr/>
        </p:nvSpPr>
        <p:spPr>
          <a:xfrm>
            <a:off x="386558" y="1638857"/>
            <a:ext cx="5128945" cy="4452517"/>
          </a:xfrm>
          <a:prstGeom prst="rect">
            <a:avLst/>
          </a:prstGeom>
          <a:solidFill>
            <a:schemeClr val="bg1">
              <a:alpha val="74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61" name="Text Placeholder 2"/>
          <p:cNvSpPr txBox="1">
            <a:spLocks/>
          </p:cNvSpPr>
          <p:nvPr/>
        </p:nvSpPr>
        <p:spPr>
          <a:xfrm>
            <a:off x="229840" y="1180867"/>
            <a:ext cx="11752751" cy="568664"/>
          </a:xfrm>
          <a:prstGeom prst="rect">
            <a:avLst/>
          </a:prstGeom>
          <a:noFill/>
        </p:spPr>
        <p:txBody>
          <a:bodyPr vert="horz" wrap="square" lIns="179285" tIns="0" rIns="179285" bIns="143428" rtlCol="0">
            <a:noAutofit/>
          </a:bodyPr>
          <a:lstStyle>
            <a:lvl1pPr marL="0" marR="0" indent="0" algn="l" defTabSz="932742" rtl="0" eaLnBrk="1" fontAlgn="auto" latinLnBrk="0" hangingPunct="1">
              <a:lnSpc>
                <a:spcPts val="5500"/>
              </a:lnSpc>
              <a:spcBef>
                <a:spcPts val="0"/>
              </a:spcBef>
              <a:spcAft>
                <a:spcPts val="0"/>
              </a:spcAft>
              <a:buClrTx/>
              <a:buSzPct val="90000"/>
              <a:buFontTx/>
              <a:buNone/>
              <a:tabLst/>
              <a:defRPr sz="5000" kern="1200" spc="0" baseline="0">
                <a:gradFill>
                  <a:gsLst>
                    <a:gs pos="4000">
                      <a:schemeClr val="bg1"/>
                    </a:gs>
                    <a:gs pos="93000">
                      <a:schemeClr val="bg1"/>
                    </a:gs>
                  </a:gsLst>
                  <a:lin ang="5400000" scaled="0"/>
                </a:gradFill>
                <a:latin typeface="+mj-lt"/>
                <a:ea typeface="+mn-ea"/>
                <a:cs typeface="+mn-cs"/>
              </a:defRPr>
            </a:lvl1pPr>
            <a:lvl2pPr marL="0" marR="0" indent="0" algn="l" defTabSz="932742" rtl="0" eaLnBrk="1" fontAlgn="auto" latinLnBrk="0" hangingPunct="1">
              <a:lnSpc>
                <a:spcPts val="2600"/>
              </a:lnSpc>
              <a:spcBef>
                <a:spcPts val="1800"/>
              </a:spcBef>
              <a:spcAft>
                <a:spcPts val="0"/>
              </a:spcAft>
              <a:buClrTx/>
              <a:buSzPct val="90000"/>
              <a:buFontTx/>
              <a:buNone/>
              <a:tabLst/>
              <a:defRPr sz="3000" kern="1200" spc="0" baseline="0">
                <a:gradFill>
                  <a:gsLst>
                    <a:gs pos="4000">
                      <a:schemeClr val="bg1"/>
                    </a:gs>
                    <a:gs pos="93000">
                      <a:schemeClr val="bg1"/>
                    </a:gs>
                  </a:gsLst>
                  <a:lin ang="5400000" scaled="0"/>
                </a:gradFill>
                <a:latin typeface="+mj-lt"/>
                <a:ea typeface="+mn-ea"/>
                <a:cs typeface="+mn-cs"/>
              </a:defRPr>
            </a:lvl2pPr>
            <a:lvl3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3pPr>
            <a:lvl4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4pPr>
            <a:lvl5pPr marL="230188" marR="0" indent="-228600" algn="l" defTabSz="932742" rtl="0" eaLnBrk="1" fontAlgn="auto" latinLnBrk="0" hangingPunct="1">
              <a:lnSpc>
                <a:spcPts val="2700"/>
              </a:lnSpc>
              <a:spcBef>
                <a:spcPts val="0"/>
              </a:spcBef>
              <a:spcAft>
                <a:spcPts val="0"/>
              </a:spcAft>
              <a:buClrTx/>
              <a:buSzPct val="90000"/>
              <a:buFont typeface="Arial" pitchFamily="34" charset="0"/>
              <a:buChar char="•"/>
              <a:tabLst/>
              <a:defRPr sz="2000" kern="1200" spc="0" baseline="0">
                <a:solidFill>
                  <a:schemeClr val="bg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Pct val="90000"/>
              <a:buFontTx/>
              <a:buNone/>
              <a:tabLst/>
              <a:defRPr/>
            </a:pPr>
            <a:r>
              <a:rPr kumimoji="0" lang="en-US" sz="2549" b="0" i="0" u="none" strike="noStrike" kern="1200" cap="none" spc="0" normalizeH="0" baseline="0" noProof="0" dirty="0">
                <a:ln>
                  <a:noFill/>
                </a:ln>
                <a:solidFill>
                  <a:srgbClr val="505050"/>
                </a:solidFill>
                <a:effectLst/>
                <a:uLnTx/>
                <a:uFillTx/>
                <a:latin typeface="Segoe UI Light"/>
                <a:ea typeface="+mn-ea"/>
                <a:cs typeface="+mn-cs"/>
              </a:rPr>
              <a:t>Self-service business intelligence with familiar Excel and the power of the cloud</a:t>
            </a:r>
          </a:p>
        </p:txBody>
      </p:sp>
    </p:spTree>
    <p:extLst>
      <p:ext uri="{BB962C8B-B14F-4D97-AF65-F5344CB8AC3E}">
        <p14:creationId xmlns:p14="http://schemas.microsoft.com/office/powerpoint/2010/main" val="348733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2" presetClass="entr" presetSubtype="8" decel="10000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1000" fill="hold"/>
                                        <p:tgtEl>
                                          <p:spTgt spid="3"/>
                                        </p:tgtEl>
                                        <p:attrNameLst>
                                          <p:attrName>ppt_x</p:attrName>
                                        </p:attrNameLst>
                                      </p:cBhvr>
                                      <p:tavLst>
                                        <p:tav tm="0">
                                          <p:val>
                                            <p:strVal val="0-#ppt_w/2"/>
                                          </p:val>
                                        </p:tav>
                                        <p:tav tm="100000">
                                          <p:val>
                                            <p:strVal val="#ppt_x"/>
                                          </p:val>
                                        </p:tav>
                                      </p:tavLst>
                                    </p:anim>
                                    <p:anim calcmode="lin" valueType="num">
                                      <p:cBhvr additive="base">
                                        <p:cTn id="11" dur="1000" fill="hold"/>
                                        <p:tgtEl>
                                          <p:spTgt spid="3"/>
                                        </p:tgtEl>
                                        <p:attrNameLst>
                                          <p:attrName>ppt_y</p:attrName>
                                        </p:attrNameLst>
                                      </p:cBhvr>
                                      <p:tavLst>
                                        <p:tav tm="0">
                                          <p:val>
                                            <p:strVal val="#ppt_y"/>
                                          </p:val>
                                        </p:tav>
                                        <p:tav tm="100000">
                                          <p:val>
                                            <p:strVal val="#ppt_y"/>
                                          </p:val>
                                        </p:tav>
                                      </p:tavLst>
                                    </p:anim>
                                  </p:childTnLst>
                                </p:cTn>
                              </p:par>
                              <p:par>
                                <p:cTn id="12" presetID="2" presetClass="entr" presetSubtype="2" decel="10000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1000" fill="hold"/>
                                        <p:tgtEl>
                                          <p:spTgt spid="4"/>
                                        </p:tgtEl>
                                        <p:attrNameLst>
                                          <p:attrName>ppt_x</p:attrName>
                                        </p:attrNameLst>
                                      </p:cBhvr>
                                      <p:tavLst>
                                        <p:tav tm="0">
                                          <p:val>
                                            <p:strVal val="1+#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417671" y="1195216"/>
            <a:ext cx="4089952" cy="5460007"/>
            <a:chOff x="426046" y="1218686"/>
            <a:chExt cx="4171964" cy="5569492"/>
          </a:xfrm>
        </p:grpSpPr>
        <p:sp>
          <p:nvSpPr>
            <p:cNvPr id="18" name="Rectangle 17"/>
            <p:cNvSpPr/>
            <p:nvPr/>
          </p:nvSpPr>
          <p:spPr>
            <a:xfrm>
              <a:off x="429386" y="21330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4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4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3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3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1" name="TextBox 30"/>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32" name="TextBox 31"/>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33" name="TextBox 32"/>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34" name="TextBox 33"/>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73" name="Rectangle 72"/>
            <p:cNvSpPr/>
            <p:nvPr/>
          </p:nvSpPr>
          <p:spPr>
            <a:xfrm>
              <a:off x="426046" y="12186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74" name="Group 44"/>
            <p:cNvGrpSpPr>
              <a:grpSpLocks/>
            </p:cNvGrpSpPr>
            <p:nvPr/>
          </p:nvGrpSpPr>
          <p:grpSpPr bwMode="auto">
            <a:xfrm>
              <a:off x="657986" y="1447286"/>
              <a:ext cx="457200" cy="457200"/>
              <a:chOff x="-3781305" y="3065460"/>
              <a:chExt cx="1777999" cy="1777999"/>
            </a:xfrm>
          </p:grpSpPr>
          <p:sp>
            <p:nvSpPr>
              <p:cNvPr id="7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75" name="TextBox 74"/>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119" name="Rectangle 118"/>
            <p:cNvSpPr/>
            <p:nvPr/>
          </p:nvSpPr>
          <p:spPr>
            <a:xfrm>
              <a:off x="426046" y="5781954"/>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20" name="Group 44"/>
            <p:cNvGrpSpPr>
              <a:grpSpLocks/>
            </p:cNvGrpSpPr>
            <p:nvPr/>
          </p:nvGrpSpPr>
          <p:grpSpPr bwMode="auto">
            <a:xfrm>
              <a:off x="657986" y="6010554"/>
              <a:ext cx="457200" cy="457200"/>
              <a:chOff x="-3781305" y="3065460"/>
              <a:chExt cx="1777999" cy="1777999"/>
            </a:xfrm>
          </p:grpSpPr>
          <p:sp>
            <p:nvSpPr>
              <p:cNvPr id="12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123" name="TextBox 122"/>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sp useBgFill="1">
        <p:nvSpPr>
          <p:cNvPr id="7" name="Rectangle 6"/>
          <p:cNvSpPr/>
          <p:nvPr/>
        </p:nvSpPr>
        <p:spPr>
          <a:xfrm>
            <a:off x="1" y="487"/>
            <a:ext cx="419843" cy="68570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 name="Title 1"/>
          <p:cNvSpPr>
            <a:spLocks noGrp="1"/>
          </p:cNvSpPr>
          <p:nvPr>
            <p:ph type="title"/>
          </p:nvPr>
        </p:nvSpPr>
        <p:spPr/>
        <p:txBody>
          <a:bodyPr/>
          <a:lstStyle/>
          <a:p>
            <a:pPr lvl="0"/>
            <a:r>
              <a:rPr lang="en-US" sz="4313" dirty="0"/>
              <a:t>Share &amp; collaborate with Power BI</a:t>
            </a:r>
          </a:p>
        </p:txBody>
      </p:sp>
      <p:grpSp>
        <p:nvGrpSpPr>
          <p:cNvPr id="9" name="Group 8"/>
          <p:cNvGrpSpPr/>
          <p:nvPr/>
        </p:nvGrpSpPr>
        <p:grpSpPr>
          <a:xfrm>
            <a:off x="4786372" y="1217287"/>
            <a:ext cx="7225872" cy="5347918"/>
            <a:chOff x="4973789" y="1371830"/>
            <a:chExt cx="7208842" cy="5335314"/>
          </a:xfrm>
        </p:grpSpPr>
        <p:pic>
          <p:nvPicPr>
            <p:cNvPr id="4" name="Picture 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973789" y="2166284"/>
              <a:ext cx="7208842" cy="4324766"/>
            </a:xfrm>
            <a:prstGeom prst="rect">
              <a:avLst/>
            </a:prstGeom>
          </p:spPr>
        </p:pic>
        <p:grpSp>
          <p:nvGrpSpPr>
            <p:cNvPr id="112" name="Group 111"/>
            <p:cNvGrpSpPr/>
            <p:nvPr/>
          </p:nvGrpSpPr>
          <p:grpSpPr>
            <a:xfrm>
              <a:off x="4979976" y="1377360"/>
              <a:ext cx="7202655" cy="792594"/>
              <a:chOff x="4296161" y="1524072"/>
              <a:chExt cx="7291210" cy="731520"/>
            </a:xfrm>
          </p:grpSpPr>
          <p:sp>
            <p:nvSpPr>
              <p:cNvPr id="113"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14" name="Rectangle 113"/>
              <p:cNvSpPr/>
              <p:nvPr/>
            </p:nvSpPr>
            <p:spPr bwMode="auto">
              <a:xfrm>
                <a:off x="4296161" y="1524072"/>
                <a:ext cx="7291210" cy="73152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Quickly create collaborative BI sites</a:t>
                </a:r>
                <a:endPar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16" name="Rectangle 11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118" name="Right Brace 117"/>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7644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0-#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118"/>
                                        </p:tgtEl>
                                        <p:attrNameLst>
                                          <p:attrName>style.visibility</p:attrName>
                                        </p:attrNameLst>
                                      </p:cBhvr>
                                      <p:to>
                                        <p:strVal val="visible"/>
                                      </p:to>
                                    </p:set>
                                    <p:animEffect transition="in" filter="fade">
                                      <p:cBhvr>
                                        <p:cTn id="11" dur="1000"/>
                                        <p:tgtEl>
                                          <p:spTgt spid="118"/>
                                        </p:tgtEl>
                                      </p:cBhvr>
                                    </p:animEffect>
                                  </p:childTnLst>
                                </p:cTn>
                              </p:par>
                              <p:par>
                                <p:cTn id="12" presetID="2" presetClass="entr" presetSubtype="2" decel="98000" fill="hold" nodeType="withEffect">
                                  <p:stCondLst>
                                    <p:cond delay="25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1+#ppt_w/2"/>
                                          </p:val>
                                        </p:tav>
                                        <p:tav tm="100000">
                                          <p:val>
                                            <p:strVal val="#ppt_x"/>
                                          </p:val>
                                        </p:tav>
                                      </p:tavLst>
                                    </p:anim>
                                    <p:anim calcmode="lin" valueType="num">
                                      <p:cBhvr additive="base">
                                        <p:cTn id="15"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p:cNvGrpSpPr/>
          <p:nvPr/>
        </p:nvGrpSpPr>
        <p:grpSpPr>
          <a:xfrm>
            <a:off x="417671" y="1195216"/>
            <a:ext cx="4089952" cy="5460007"/>
            <a:chOff x="426046" y="1218686"/>
            <a:chExt cx="4171964" cy="5569492"/>
          </a:xfrm>
        </p:grpSpPr>
        <p:sp>
          <p:nvSpPr>
            <p:cNvPr id="31" name="Rectangle 30"/>
            <p:cNvSpPr/>
            <p:nvPr/>
          </p:nvSpPr>
          <p:spPr>
            <a:xfrm>
              <a:off x="429386" y="21330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2" name="Group 455"/>
            <p:cNvGrpSpPr>
              <a:grpSpLocks/>
            </p:cNvGrpSpPr>
            <p:nvPr/>
          </p:nvGrpSpPr>
          <p:grpSpPr bwMode="auto">
            <a:xfrm>
              <a:off x="657986" y="2361686"/>
              <a:ext cx="457200" cy="457200"/>
              <a:chOff x="-3781305" y="3065460"/>
              <a:chExt cx="1777999" cy="1777999"/>
            </a:xfrm>
          </p:grpSpPr>
          <p:sp>
            <p:nvSpPr>
              <p:cNvPr id="6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3" name="Rectangle 32"/>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4" name="Group 34"/>
            <p:cNvGrpSpPr>
              <a:grpSpLocks/>
            </p:cNvGrpSpPr>
            <p:nvPr/>
          </p:nvGrpSpPr>
          <p:grpSpPr bwMode="auto">
            <a:xfrm>
              <a:off x="657986" y="3276086"/>
              <a:ext cx="457200" cy="457200"/>
              <a:chOff x="-3781305" y="3065460"/>
              <a:chExt cx="1777999" cy="1777999"/>
            </a:xfrm>
          </p:grpSpPr>
          <p:sp>
            <p:nvSpPr>
              <p:cNvPr id="5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39"/>
            <p:cNvGrpSpPr>
              <a:grpSpLocks/>
            </p:cNvGrpSpPr>
            <p:nvPr/>
          </p:nvGrpSpPr>
          <p:grpSpPr bwMode="auto">
            <a:xfrm>
              <a:off x="657986" y="4190486"/>
              <a:ext cx="457200" cy="457200"/>
              <a:chOff x="-3781305" y="3065460"/>
              <a:chExt cx="1777999" cy="1777999"/>
            </a:xfrm>
          </p:grpSpPr>
          <p:sp>
            <p:nvSpPr>
              <p:cNvPr id="5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Rectangle 36"/>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9" name="Group 44"/>
            <p:cNvGrpSpPr>
              <a:grpSpLocks/>
            </p:cNvGrpSpPr>
            <p:nvPr/>
          </p:nvGrpSpPr>
          <p:grpSpPr bwMode="auto">
            <a:xfrm>
              <a:off x="657986" y="5104886"/>
              <a:ext cx="457200" cy="457200"/>
              <a:chOff x="-3781305" y="3065460"/>
              <a:chExt cx="1777999" cy="1777999"/>
            </a:xfrm>
          </p:grpSpPr>
          <p:sp>
            <p:nvSpPr>
              <p:cNvPr id="5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0" name="TextBox 39"/>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41" name="TextBox 40"/>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42" name="TextBox 41"/>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43" name="TextBox 42"/>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44" name="Rectangle 43"/>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5" name="Group 44"/>
            <p:cNvGrpSpPr>
              <a:grpSpLocks/>
            </p:cNvGrpSpPr>
            <p:nvPr/>
          </p:nvGrpSpPr>
          <p:grpSpPr bwMode="auto">
            <a:xfrm>
              <a:off x="657986" y="14472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6" name="TextBox 45"/>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47" name="Rectangle 46"/>
            <p:cNvSpPr/>
            <p:nvPr/>
          </p:nvSpPr>
          <p:spPr>
            <a:xfrm>
              <a:off x="426046" y="5781954"/>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8" name="Group 44"/>
            <p:cNvGrpSpPr>
              <a:grpSpLocks/>
            </p:cNvGrpSpPr>
            <p:nvPr/>
          </p:nvGrpSpPr>
          <p:grpSpPr bwMode="auto">
            <a:xfrm>
              <a:off x="657986" y="6010554"/>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9" name="TextBox 48"/>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pic>
        <p:nvPicPr>
          <p:cNvPr id="15" name="Picture 14"/>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4830992" y="1988019"/>
            <a:ext cx="7181252" cy="4564380"/>
          </a:xfrm>
          <a:prstGeom prst="rect">
            <a:avLst/>
          </a:prstGeom>
        </p:spPr>
      </p:pic>
      <p:sp>
        <p:nvSpPr>
          <p:cNvPr id="2" name="Title 1"/>
          <p:cNvSpPr>
            <a:spLocks noGrp="1"/>
          </p:cNvSpPr>
          <p:nvPr>
            <p:ph type="title"/>
          </p:nvPr>
        </p:nvSpPr>
        <p:spPr/>
        <p:txBody>
          <a:bodyPr/>
          <a:lstStyle/>
          <a:p>
            <a:r>
              <a:rPr lang="en-US" sz="4313" dirty="0"/>
              <a:t>Share &amp; collaborate with Power BI</a:t>
            </a:r>
            <a:br>
              <a:rPr lang="en-US" dirty="0"/>
            </a:br>
            <a:endParaRPr lang="en-US" dirty="0"/>
          </a:p>
        </p:txBody>
      </p:sp>
      <p:grpSp>
        <p:nvGrpSpPr>
          <p:cNvPr id="63" name="Group 62"/>
          <p:cNvGrpSpPr/>
          <p:nvPr/>
        </p:nvGrpSpPr>
        <p:grpSpPr>
          <a:xfrm>
            <a:off x="4792573" y="1217287"/>
            <a:ext cx="7219671" cy="5347918"/>
            <a:chOff x="4979976" y="1371830"/>
            <a:chExt cx="7202655" cy="5335314"/>
          </a:xfrm>
        </p:grpSpPr>
        <p:grpSp>
          <p:nvGrpSpPr>
            <p:cNvPr id="65" name="Group 64"/>
            <p:cNvGrpSpPr/>
            <p:nvPr/>
          </p:nvGrpSpPr>
          <p:grpSpPr>
            <a:xfrm>
              <a:off x="4979976" y="1377360"/>
              <a:ext cx="7202655" cy="792594"/>
              <a:chOff x="4296161" y="1524072"/>
              <a:chExt cx="7291210" cy="731520"/>
            </a:xfrm>
          </p:grpSpPr>
          <p:sp>
            <p:nvSpPr>
              <p:cNvPr id="6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8" name="Rectangle 67"/>
              <p:cNvSpPr/>
              <p:nvPr/>
            </p:nvSpPr>
            <p:spPr bwMode="auto">
              <a:xfrm>
                <a:off x="4296161" y="1524072"/>
                <a:ext cx="7291210" cy="73152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Manage data queries for the team</a:t>
                </a:r>
              </a:p>
            </p:txBody>
          </p:sp>
        </p:grpSp>
        <p:sp>
          <p:nvSpPr>
            <p:cNvPr id="66" name="Rectangle 6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0" name="Right Brace 69"/>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3511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5109621" y="2289788"/>
            <a:ext cx="6864205" cy="3673580"/>
            <a:chOff x="3558716" y="2452953"/>
            <a:chExt cx="6621402" cy="3543639"/>
          </a:xfrm>
        </p:grpSpPr>
        <p:grpSp>
          <p:nvGrpSpPr>
            <p:cNvPr id="4" name="Group 3"/>
            <p:cNvGrpSpPr/>
            <p:nvPr/>
          </p:nvGrpSpPr>
          <p:grpSpPr>
            <a:xfrm>
              <a:off x="3558716" y="2452953"/>
              <a:ext cx="6621402" cy="3543639"/>
              <a:chOff x="4022012" y="2465145"/>
              <a:chExt cx="6621402" cy="3543639"/>
            </a:xfrm>
          </p:grpSpPr>
          <p:pic>
            <p:nvPicPr>
              <p:cNvPr id="195586" name="Picture 2" descr="1"/>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a:stretch/>
            </p:blipFill>
            <p:spPr bwMode="auto">
              <a:xfrm>
                <a:off x="4022012" y="2465145"/>
                <a:ext cx="6621401" cy="354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9209921" y="4118063"/>
                <a:ext cx="1433493" cy="365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6" name="TextBox 5"/>
            <p:cNvSpPr txBox="1"/>
            <p:nvPr/>
          </p:nvSpPr>
          <p:spPr>
            <a:xfrm>
              <a:off x="7331202" y="4007687"/>
              <a:ext cx="1520190" cy="553002"/>
            </a:xfrm>
            <a:prstGeom prst="rect">
              <a:avLst/>
            </a:prstGeom>
            <a:solidFill>
              <a:schemeClr val="bg1"/>
            </a:solidFill>
          </p:spPr>
          <p:txBody>
            <a:bodyPr wrap="squar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t>Power BI</a:t>
              </a:r>
              <a:b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br>
              <a: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t>for Office 365</a:t>
              </a:r>
            </a:p>
          </p:txBody>
        </p:sp>
        <p:sp>
          <p:nvSpPr>
            <p:cNvPr id="18" name="TextBox 17"/>
            <p:cNvSpPr txBox="1"/>
            <p:nvPr/>
          </p:nvSpPr>
          <p:spPr>
            <a:xfrm>
              <a:off x="7569988" y="5319111"/>
              <a:ext cx="2610129" cy="553002"/>
            </a:xfrm>
            <a:prstGeom prst="rect">
              <a:avLst/>
            </a:prstGeom>
            <a:solidFill>
              <a:schemeClr val="bg1"/>
            </a:solidFill>
          </p:spPr>
          <p:txBody>
            <a:bodyPr wrap="squar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t>Data Management Gateway</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t>Installed on-premises</a:t>
              </a:r>
            </a:p>
          </p:txBody>
        </p:sp>
        <p:sp>
          <p:nvSpPr>
            <p:cNvPr id="19" name="TextBox 18"/>
            <p:cNvSpPr txBox="1"/>
            <p:nvPr/>
          </p:nvSpPr>
          <p:spPr>
            <a:xfrm>
              <a:off x="8746625" y="4128672"/>
              <a:ext cx="1235700" cy="320159"/>
            </a:xfrm>
            <a:prstGeom prst="rect">
              <a:avLst/>
            </a:prstGeom>
            <a:solidFill>
              <a:schemeClr val="bg1"/>
            </a:solidFill>
          </p:spPr>
          <p:txBody>
            <a:bodyPr wrap="squar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FFFFFF">
                      <a:lumMod val="50000"/>
                    </a:srgbClr>
                  </a:solidFill>
                  <a:effectLst/>
                  <a:uLnTx/>
                  <a:uFillTx/>
                  <a:latin typeface="Segoe UI"/>
                  <a:ea typeface="+mn-ea"/>
                  <a:cs typeface="+mn-cs"/>
                </a:rPr>
                <a:t>Workbook</a:t>
              </a:r>
            </a:p>
          </p:txBody>
        </p:sp>
        <p:sp>
          <p:nvSpPr>
            <p:cNvPr id="65" name="TextBox 64"/>
            <p:cNvSpPr txBox="1"/>
            <p:nvPr/>
          </p:nvSpPr>
          <p:spPr>
            <a:xfrm>
              <a:off x="3682249" y="4513507"/>
              <a:ext cx="1520190" cy="320159"/>
            </a:xfrm>
            <a:prstGeom prst="rect">
              <a:avLst/>
            </a:prstGeom>
            <a:solidFill>
              <a:schemeClr val="bg1"/>
            </a:solidFill>
          </p:spPr>
          <p:txBody>
            <a:bodyPr wrap="squar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D2D2D2">
                      <a:lumMod val="90000"/>
                    </a:srgbClr>
                  </a:solidFill>
                  <a:effectLst/>
                  <a:uLnTx/>
                  <a:uFillTx/>
                  <a:latin typeface="Segoe UI"/>
                  <a:ea typeface="+mn-ea"/>
                  <a:cs typeface="+mn-cs"/>
                </a:rPr>
                <a:t>Cloud</a:t>
              </a:r>
            </a:p>
          </p:txBody>
        </p:sp>
        <p:sp>
          <p:nvSpPr>
            <p:cNvPr id="66" name="TextBox 65"/>
            <p:cNvSpPr txBox="1"/>
            <p:nvPr/>
          </p:nvSpPr>
          <p:spPr>
            <a:xfrm>
              <a:off x="3682249" y="5038716"/>
              <a:ext cx="1520190" cy="320159"/>
            </a:xfrm>
            <a:prstGeom prst="rect">
              <a:avLst/>
            </a:prstGeom>
            <a:solidFill>
              <a:schemeClr val="bg1"/>
            </a:solidFill>
          </p:spPr>
          <p:txBody>
            <a:bodyPr wrap="squar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568" b="0" i="0" u="none" strike="noStrike" kern="1200" cap="none" spc="0" normalizeH="0" baseline="0" noProof="0" dirty="0">
                  <a:ln>
                    <a:noFill/>
                  </a:ln>
                  <a:solidFill>
                    <a:srgbClr val="D2D2D2">
                      <a:lumMod val="90000"/>
                    </a:srgbClr>
                  </a:solidFill>
                  <a:effectLst/>
                  <a:uLnTx/>
                  <a:uFillTx/>
                  <a:latin typeface="Segoe UI"/>
                  <a:ea typeface="+mn-ea"/>
                  <a:cs typeface="+mn-cs"/>
                </a:rPr>
                <a:t>On Premise</a:t>
              </a:r>
            </a:p>
          </p:txBody>
        </p:sp>
      </p:grpSp>
      <p:sp>
        <p:nvSpPr>
          <p:cNvPr id="21" name="Title 1"/>
          <p:cNvSpPr>
            <a:spLocks noGrp="1"/>
          </p:cNvSpPr>
          <p:nvPr>
            <p:ph type="title"/>
          </p:nvPr>
        </p:nvSpPr>
        <p:spPr/>
        <p:txBody>
          <a:bodyPr/>
          <a:lstStyle/>
          <a:p>
            <a:r>
              <a:rPr lang="en-US" sz="4313" dirty="0"/>
              <a:t>Share &amp; collaborate with Power BI</a:t>
            </a:r>
            <a:br>
              <a:rPr lang="en-US" dirty="0"/>
            </a:br>
            <a:endParaRPr lang="en-US" dirty="0"/>
          </a:p>
        </p:txBody>
      </p:sp>
      <p:grpSp>
        <p:nvGrpSpPr>
          <p:cNvPr id="22" name="Group 21"/>
          <p:cNvGrpSpPr/>
          <p:nvPr/>
        </p:nvGrpSpPr>
        <p:grpSpPr>
          <a:xfrm>
            <a:off x="417671" y="1195216"/>
            <a:ext cx="4089952" cy="5460007"/>
            <a:chOff x="426046" y="1218686"/>
            <a:chExt cx="4171964" cy="5569492"/>
          </a:xfrm>
        </p:grpSpPr>
        <p:sp>
          <p:nvSpPr>
            <p:cNvPr id="24" name="Rectangle 23"/>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455"/>
            <p:cNvGrpSpPr>
              <a:grpSpLocks/>
            </p:cNvGrpSpPr>
            <p:nvPr/>
          </p:nvGrpSpPr>
          <p:grpSpPr bwMode="auto">
            <a:xfrm>
              <a:off x="657986" y="2361686"/>
              <a:ext cx="457200" cy="457200"/>
              <a:chOff x="-3781305" y="3065460"/>
              <a:chExt cx="1777999" cy="1777999"/>
            </a:xfrm>
          </p:grpSpPr>
          <p:sp>
            <p:nvSpPr>
              <p:cNvPr id="5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30474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34"/>
            <p:cNvGrpSpPr>
              <a:grpSpLocks/>
            </p:cNvGrpSpPr>
            <p:nvPr/>
          </p:nvGrpSpPr>
          <p:grpSpPr bwMode="auto">
            <a:xfrm>
              <a:off x="657986" y="3276086"/>
              <a:ext cx="457200" cy="457200"/>
              <a:chOff x="-3781305" y="3065460"/>
              <a:chExt cx="1777999" cy="1777999"/>
            </a:xfrm>
          </p:grpSpPr>
          <p:sp>
            <p:nvSpPr>
              <p:cNvPr id="5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2" name="Rectangle 31"/>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3" name="Group 39"/>
            <p:cNvGrpSpPr>
              <a:grpSpLocks/>
            </p:cNvGrpSpPr>
            <p:nvPr/>
          </p:nvGrpSpPr>
          <p:grpSpPr bwMode="auto">
            <a:xfrm>
              <a:off x="657986" y="41904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4" name="Rectangle 33"/>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5" name="Group 44"/>
            <p:cNvGrpSpPr>
              <a:grpSpLocks/>
            </p:cNvGrpSpPr>
            <p:nvPr/>
          </p:nvGrpSpPr>
          <p:grpSpPr bwMode="auto">
            <a:xfrm>
              <a:off x="657986" y="51048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6" name="TextBox 35"/>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37" name="TextBox 36"/>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39" name="TextBox 38"/>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40" name="TextBox 39"/>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41" name="Rectangle 40"/>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2" name="Group 44"/>
            <p:cNvGrpSpPr>
              <a:grpSpLocks/>
            </p:cNvGrpSpPr>
            <p:nvPr/>
          </p:nvGrpSpPr>
          <p:grpSpPr bwMode="auto">
            <a:xfrm>
              <a:off x="657986" y="14472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3" name="TextBox 42"/>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44" name="Rectangle 43"/>
            <p:cNvSpPr/>
            <p:nvPr/>
          </p:nvSpPr>
          <p:spPr>
            <a:xfrm>
              <a:off x="426046" y="5781954"/>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5" name="Group 44"/>
            <p:cNvGrpSpPr>
              <a:grpSpLocks/>
            </p:cNvGrpSpPr>
            <p:nvPr/>
          </p:nvGrpSpPr>
          <p:grpSpPr bwMode="auto">
            <a:xfrm>
              <a:off x="657986" y="6010554"/>
              <a:ext cx="457200" cy="457200"/>
              <a:chOff x="-3781305" y="3065460"/>
              <a:chExt cx="1777999" cy="1777999"/>
            </a:xfrm>
          </p:grpSpPr>
          <p:sp>
            <p:nvSpPr>
              <p:cNvPr id="4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6" name="TextBox 45"/>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grpSp>
        <p:nvGrpSpPr>
          <p:cNvPr id="59" name="Group 58"/>
          <p:cNvGrpSpPr/>
          <p:nvPr/>
        </p:nvGrpSpPr>
        <p:grpSpPr>
          <a:xfrm>
            <a:off x="4792573" y="1217287"/>
            <a:ext cx="7219671" cy="5347918"/>
            <a:chOff x="4979976" y="1371830"/>
            <a:chExt cx="7202655" cy="5335314"/>
          </a:xfrm>
        </p:grpSpPr>
        <p:grpSp>
          <p:nvGrpSpPr>
            <p:cNvPr id="60" name="Group 59"/>
            <p:cNvGrpSpPr/>
            <p:nvPr/>
          </p:nvGrpSpPr>
          <p:grpSpPr>
            <a:xfrm>
              <a:off x="4979976" y="1377360"/>
              <a:ext cx="7202655" cy="792594"/>
              <a:chOff x="4296161" y="1524072"/>
              <a:chExt cx="7291210" cy="731520"/>
            </a:xfrm>
          </p:grpSpPr>
          <p:sp>
            <p:nvSpPr>
              <p:cNvPr id="63"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4" name="Rectangle 63"/>
              <p:cNvSpPr/>
              <p:nvPr/>
            </p:nvSpPr>
            <p:spPr bwMode="auto">
              <a:xfrm>
                <a:off x="4296161" y="1524072"/>
                <a:ext cx="7291210" cy="73152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Keep reports up to date with scheduled data refresh</a:t>
                </a:r>
              </a:p>
            </p:txBody>
          </p:sp>
        </p:grpSp>
        <p:sp>
          <p:nvSpPr>
            <p:cNvPr id="61" name="Rectangle 60"/>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cxnSp>
        <p:nvCxnSpPr>
          <p:cNvPr id="9" name="Straight Connector 8"/>
          <p:cNvCxnSpPr/>
          <p:nvPr/>
        </p:nvCxnSpPr>
        <p:spPr>
          <a:xfrm>
            <a:off x="4792573" y="4869021"/>
            <a:ext cx="7219671" cy="0"/>
          </a:xfrm>
          <a:prstGeom prst="lin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cxnSp>
      <p:sp>
        <p:nvSpPr>
          <p:cNvPr id="68" name="Right Brace 67"/>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05345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780124" y="1985021"/>
            <a:ext cx="7232120" cy="4580184"/>
          </a:xfrm>
          <a:prstGeom prst="rect">
            <a:avLst/>
          </a:prstGeom>
        </p:spPr>
      </p:pic>
      <p:sp>
        <p:nvSpPr>
          <p:cNvPr id="62" name="Freeform 8"/>
          <p:cNvSpPr>
            <a:spLocks noEditPoints="1"/>
          </p:cNvSpPr>
          <p:nvPr/>
        </p:nvSpPr>
        <p:spPr bwMode="black">
          <a:xfrm>
            <a:off x="6847467" y="1554360"/>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5" name="Title 1"/>
          <p:cNvSpPr>
            <a:spLocks noGrp="1"/>
          </p:cNvSpPr>
          <p:nvPr>
            <p:ph type="title"/>
          </p:nvPr>
        </p:nvSpPr>
        <p:spPr/>
        <p:txBody>
          <a:bodyPr/>
          <a:lstStyle/>
          <a:p>
            <a:r>
              <a:rPr lang="en-US" sz="4313" dirty="0"/>
              <a:t>Share &amp; collaborate with Power BI</a:t>
            </a:r>
            <a:endParaRPr lang="en-US" dirty="0"/>
          </a:p>
        </p:txBody>
      </p:sp>
      <p:grpSp>
        <p:nvGrpSpPr>
          <p:cNvPr id="18" name="Group 17"/>
          <p:cNvGrpSpPr/>
          <p:nvPr/>
        </p:nvGrpSpPr>
        <p:grpSpPr>
          <a:xfrm>
            <a:off x="417671" y="1195216"/>
            <a:ext cx="4089952" cy="5460007"/>
            <a:chOff x="426046" y="1218686"/>
            <a:chExt cx="4171964" cy="5569492"/>
          </a:xfrm>
        </p:grpSpPr>
        <p:sp>
          <p:nvSpPr>
            <p:cNvPr id="19" name="Rectangle 18"/>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0" name="Group 455"/>
            <p:cNvGrpSpPr>
              <a:grpSpLocks/>
            </p:cNvGrpSpPr>
            <p:nvPr/>
          </p:nvGrpSpPr>
          <p:grpSpPr bwMode="auto">
            <a:xfrm>
              <a:off x="657986" y="23616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4"/>
            <p:cNvGrpSpPr>
              <a:grpSpLocks/>
            </p:cNvGrpSpPr>
            <p:nvPr/>
          </p:nvGrpSpPr>
          <p:grpSpPr bwMode="auto">
            <a:xfrm>
              <a:off x="657986" y="32760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4" name="Rectangle 23"/>
            <p:cNvSpPr/>
            <p:nvPr/>
          </p:nvSpPr>
          <p:spPr>
            <a:xfrm>
              <a:off x="429386" y="39618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39"/>
            <p:cNvGrpSpPr>
              <a:grpSpLocks/>
            </p:cNvGrpSpPr>
            <p:nvPr/>
          </p:nvGrpSpPr>
          <p:grpSpPr bwMode="auto">
            <a:xfrm>
              <a:off x="657986" y="41904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44"/>
            <p:cNvGrpSpPr>
              <a:grpSpLocks/>
            </p:cNvGrpSpPr>
            <p:nvPr/>
          </p:nvGrpSpPr>
          <p:grpSpPr bwMode="auto">
            <a:xfrm>
              <a:off x="657986" y="5104886"/>
              <a:ext cx="457200" cy="457200"/>
              <a:chOff x="-3781305" y="3065460"/>
              <a:chExt cx="1777999" cy="1777999"/>
            </a:xfrm>
          </p:grpSpPr>
          <p:sp>
            <p:nvSpPr>
              <p:cNvPr id="4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2" name="TextBox 31"/>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33" name="TextBox 32"/>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34" name="TextBox 33"/>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35" name="TextBox 34"/>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36" name="Rectangle 35"/>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7" name="Group 44"/>
            <p:cNvGrpSpPr>
              <a:grpSpLocks/>
            </p:cNvGrpSpPr>
            <p:nvPr/>
          </p:nvGrpSpPr>
          <p:grpSpPr bwMode="auto">
            <a:xfrm>
              <a:off x="657986" y="1447286"/>
              <a:ext cx="457200" cy="457200"/>
              <a:chOff x="-3781305" y="3065460"/>
              <a:chExt cx="1777999" cy="1777999"/>
            </a:xfrm>
          </p:grpSpPr>
          <p:sp>
            <p:nvSpPr>
              <p:cNvPr id="4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9" name="TextBox 38"/>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40" name="Rectangle 39"/>
            <p:cNvSpPr/>
            <p:nvPr/>
          </p:nvSpPr>
          <p:spPr>
            <a:xfrm>
              <a:off x="426046" y="5781954"/>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1" name="Group 44"/>
            <p:cNvGrpSpPr>
              <a:grpSpLocks/>
            </p:cNvGrpSpPr>
            <p:nvPr/>
          </p:nvGrpSpPr>
          <p:grpSpPr bwMode="auto">
            <a:xfrm>
              <a:off x="657986" y="6010554"/>
              <a:ext cx="457200" cy="457200"/>
              <a:chOff x="-3781305" y="3065460"/>
              <a:chExt cx="1777999" cy="1777999"/>
            </a:xfrm>
          </p:grpSpPr>
          <p:sp>
            <p:nvSpPr>
              <p:cNvPr id="4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2" name="TextBox 41"/>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grpSp>
        <p:nvGrpSpPr>
          <p:cNvPr id="56" name="Group 55"/>
          <p:cNvGrpSpPr/>
          <p:nvPr/>
        </p:nvGrpSpPr>
        <p:grpSpPr>
          <a:xfrm>
            <a:off x="4792573" y="1217287"/>
            <a:ext cx="7219671" cy="5347918"/>
            <a:chOff x="4979976" y="1371830"/>
            <a:chExt cx="7202655" cy="5335314"/>
          </a:xfrm>
        </p:grpSpPr>
        <p:grpSp>
          <p:nvGrpSpPr>
            <p:cNvPr id="57" name="Group 56"/>
            <p:cNvGrpSpPr/>
            <p:nvPr/>
          </p:nvGrpSpPr>
          <p:grpSpPr>
            <a:xfrm>
              <a:off x="4979976" y="1377360"/>
              <a:ext cx="7202655" cy="792594"/>
              <a:chOff x="4296161" y="1524072"/>
              <a:chExt cx="7291210" cy="731520"/>
            </a:xfrm>
          </p:grpSpPr>
          <p:sp>
            <p:nvSpPr>
              <p:cNvPr id="59"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0" name="Rectangle 59"/>
              <p:cNvSpPr/>
              <p:nvPr/>
            </p:nvSpPr>
            <p:spPr bwMode="auto">
              <a:xfrm>
                <a:off x="4296161" y="1524072"/>
                <a:ext cx="7291210" cy="73152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Maintain a data catalog of searchable data</a:t>
                </a:r>
              </a:p>
            </p:txBody>
          </p:sp>
        </p:grpSp>
        <p:sp>
          <p:nvSpPr>
            <p:cNvPr id="58" name="Rectangle 57"/>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3" name="Rectangle 2"/>
          <p:cNvSpPr/>
          <p:nvPr/>
        </p:nvSpPr>
        <p:spPr>
          <a:xfrm>
            <a:off x="5835607" y="3660384"/>
            <a:ext cx="2023719" cy="143179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67" rtl="0" eaLnBrk="1" fontAlgn="auto" latinLnBrk="0" hangingPunct="1">
              <a:lnSpc>
                <a:spcPct val="100000"/>
              </a:lnSpc>
              <a:spcBef>
                <a:spcPts val="0"/>
              </a:spcBef>
              <a:spcAft>
                <a:spcPts val="588"/>
              </a:spcAft>
              <a:buClrTx/>
              <a:buSzTx/>
              <a:buFontTx/>
              <a:buNone/>
              <a:tabLst/>
              <a:defRPr/>
            </a:pPr>
            <a:r>
              <a:rPr kumimoji="0" lang="en-US" sz="1961" b="0" i="0" u="none" strike="noStrike" kern="1200" cap="none" spc="0" normalizeH="0" baseline="0" noProof="0" dirty="0">
                <a:ln>
                  <a:noFill/>
                </a:ln>
                <a:solidFill>
                  <a:srgbClr val="FFFFFF"/>
                </a:solidFill>
                <a:effectLst/>
                <a:uLnTx/>
                <a:uFillTx/>
                <a:latin typeface="Segoe UI"/>
                <a:ea typeface="+mn-ea"/>
                <a:cs typeface="+mn-cs"/>
              </a:rPr>
              <a:t> Search for:</a:t>
            </a:r>
          </a:p>
          <a:p>
            <a:pPr marL="280121" marR="0" lvl="0" indent="-105823" algn="l" defTabSz="914367" rtl="0" eaLnBrk="1" fontAlgn="auto" latinLnBrk="0" hangingPunct="1">
              <a:lnSpc>
                <a:spcPct val="100000"/>
              </a:lnSpc>
              <a:spcBef>
                <a:spcPts val="294"/>
              </a:spcBef>
              <a:spcAft>
                <a:spcPts val="0"/>
              </a:spcAft>
              <a:buClrTx/>
              <a:buSzTx/>
              <a:buFont typeface="Arial" panose="020B0604020202020204" pitchFamily="34" charset="0"/>
              <a:buChar char="•"/>
              <a:tabLst/>
              <a:defRPr/>
            </a:pPr>
            <a:r>
              <a:rPr kumimoji="0" lang="en-US" sz="1568" b="0" i="0" u="none" strike="noStrike" kern="1200" cap="none" spc="0" normalizeH="0" baseline="0" noProof="0" dirty="0">
                <a:ln>
                  <a:noFill/>
                </a:ln>
                <a:solidFill>
                  <a:srgbClr val="FFFFFF"/>
                </a:solidFill>
                <a:effectLst/>
                <a:uLnTx/>
                <a:uFillTx/>
                <a:latin typeface="Segoe UI"/>
                <a:ea typeface="+mn-ea"/>
                <a:cs typeface="+mn-cs"/>
              </a:rPr>
              <a:t>Public Data</a:t>
            </a:r>
          </a:p>
          <a:p>
            <a:pPr marL="280121" marR="0" lvl="0" indent="-105823" algn="l" defTabSz="914367" rtl="0" eaLnBrk="1" fontAlgn="auto" latinLnBrk="0" hangingPunct="1">
              <a:lnSpc>
                <a:spcPct val="100000"/>
              </a:lnSpc>
              <a:spcBef>
                <a:spcPts val="294"/>
              </a:spcBef>
              <a:spcAft>
                <a:spcPts val="0"/>
              </a:spcAft>
              <a:buClrTx/>
              <a:buSzTx/>
              <a:buFont typeface="Arial" panose="020B0604020202020204" pitchFamily="34" charset="0"/>
              <a:buChar char="•"/>
              <a:tabLst/>
              <a:defRPr/>
            </a:pPr>
            <a:r>
              <a:rPr kumimoji="0" lang="en-US" sz="1568" b="0" i="0" u="none" strike="noStrike" kern="1200" cap="none" spc="0" normalizeH="0" baseline="0" noProof="0" dirty="0">
                <a:ln>
                  <a:noFill/>
                </a:ln>
                <a:solidFill>
                  <a:srgbClr val="FFFFFF"/>
                </a:solidFill>
                <a:effectLst/>
                <a:uLnTx/>
                <a:uFillTx/>
                <a:latin typeface="Segoe UI"/>
                <a:ea typeface="+mn-ea"/>
                <a:cs typeface="+mn-cs"/>
              </a:rPr>
              <a:t>Corporate Data</a:t>
            </a:r>
          </a:p>
          <a:p>
            <a:pPr marL="280121" marR="0" lvl="0" indent="-105823" algn="l" defTabSz="914367" rtl="0" eaLnBrk="1" fontAlgn="auto" latinLnBrk="0" hangingPunct="1">
              <a:lnSpc>
                <a:spcPct val="100000"/>
              </a:lnSpc>
              <a:spcBef>
                <a:spcPts val="294"/>
              </a:spcBef>
              <a:spcAft>
                <a:spcPts val="0"/>
              </a:spcAft>
              <a:buClrTx/>
              <a:buSzTx/>
              <a:buFont typeface="Arial" panose="020B0604020202020204" pitchFamily="34" charset="0"/>
              <a:buChar char="•"/>
              <a:tabLst/>
              <a:defRPr/>
            </a:pPr>
            <a:r>
              <a:rPr kumimoji="0" lang="en-US" sz="1568" b="0" i="0" u="none" strike="noStrike" kern="1200" cap="none" spc="0" normalizeH="0" baseline="0" noProof="0" dirty="0">
                <a:ln>
                  <a:noFill/>
                </a:ln>
                <a:solidFill>
                  <a:srgbClr val="FFFFFF"/>
                </a:solidFill>
                <a:effectLst/>
                <a:uLnTx/>
                <a:uFillTx/>
                <a:latin typeface="Segoe UI"/>
                <a:ea typeface="+mn-ea"/>
                <a:cs typeface="+mn-cs"/>
              </a:rPr>
              <a:t>Shared Queries</a:t>
            </a:r>
          </a:p>
        </p:txBody>
      </p:sp>
      <p:sp>
        <p:nvSpPr>
          <p:cNvPr id="61" name="Right Brace 60"/>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2570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8"/>
          <p:cNvSpPr>
            <a:spLocks noEditPoints="1"/>
          </p:cNvSpPr>
          <p:nvPr/>
        </p:nvSpPr>
        <p:spPr bwMode="black">
          <a:xfrm>
            <a:off x="6847467" y="1554360"/>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pic>
        <p:nvPicPr>
          <p:cNvPr id="12" name="Picture 11"/>
          <p:cNvPicPr>
            <a:picLocks noChangeAspect="1"/>
          </p:cNvPicPr>
          <p:nvPr/>
        </p:nvPicPr>
        <p:blipFill rotWithShape="1">
          <a:blip r:embed="rId3" cstate="screen">
            <a:extLst>
              <a:ext uri="{28A0092B-C50C-407E-A947-70E740481C1C}">
                <a14:useLocalDpi xmlns:a14="http://schemas.microsoft.com/office/drawing/2010/main"/>
              </a:ext>
            </a:extLst>
          </a:blip>
          <a:srcRect r="12557"/>
          <a:stretch/>
        </p:blipFill>
        <p:spPr>
          <a:xfrm>
            <a:off x="4792573" y="1981012"/>
            <a:ext cx="7219672" cy="4584192"/>
          </a:xfrm>
          <a:prstGeom prst="rect">
            <a:avLst/>
          </a:prstGeom>
        </p:spPr>
      </p:pic>
      <p:sp>
        <p:nvSpPr>
          <p:cNvPr id="14" name="Title 1"/>
          <p:cNvSpPr>
            <a:spLocks noGrp="1"/>
          </p:cNvSpPr>
          <p:nvPr>
            <p:ph type="title"/>
          </p:nvPr>
        </p:nvSpPr>
        <p:spPr/>
        <p:txBody>
          <a:bodyPr/>
          <a:lstStyle/>
          <a:p>
            <a:r>
              <a:rPr lang="en-US" sz="4313" dirty="0"/>
              <a:t>Share &amp; collaborate with Power BI</a:t>
            </a:r>
            <a:endParaRPr lang="en-US" dirty="0"/>
          </a:p>
        </p:txBody>
      </p:sp>
      <p:grpSp>
        <p:nvGrpSpPr>
          <p:cNvPr id="17" name="Group 16"/>
          <p:cNvGrpSpPr/>
          <p:nvPr/>
        </p:nvGrpSpPr>
        <p:grpSpPr>
          <a:xfrm>
            <a:off x="417671" y="1195216"/>
            <a:ext cx="4089952" cy="5460007"/>
            <a:chOff x="426046" y="1218686"/>
            <a:chExt cx="4171964" cy="5569492"/>
          </a:xfrm>
        </p:grpSpPr>
        <p:sp>
          <p:nvSpPr>
            <p:cNvPr id="18" name="Rectangle 17"/>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4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4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1" name="TextBox 30"/>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32" name="TextBox 31"/>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33" name="TextBox 32"/>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34" name="TextBox 33"/>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35" name="Rectangle 34"/>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44"/>
            <p:cNvGrpSpPr>
              <a:grpSpLocks/>
            </p:cNvGrpSpPr>
            <p:nvPr/>
          </p:nvGrpSpPr>
          <p:grpSpPr bwMode="auto">
            <a:xfrm>
              <a:off x="657986" y="1447286"/>
              <a:ext cx="457200" cy="457200"/>
              <a:chOff x="-3781305" y="3065460"/>
              <a:chExt cx="1777999" cy="1777999"/>
            </a:xfrm>
          </p:grpSpPr>
          <p:sp>
            <p:nvSpPr>
              <p:cNvPr id="4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TextBox 36"/>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39" name="Rectangle 38"/>
            <p:cNvSpPr/>
            <p:nvPr/>
          </p:nvSpPr>
          <p:spPr>
            <a:xfrm>
              <a:off x="426046" y="5781954"/>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0" name="Group 44"/>
            <p:cNvGrpSpPr>
              <a:grpSpLocks/>
            </p:cNvGrpSpPr>
            <p:nvPr/>
          </p:nvGrpSpPr>
          <p:grpSpPr bwMode="auto">
            <a:xfrm>
              <a:off x="657986" y="6010554"/>
              <a:ext cx="457200" cy="457200"/>
              <a:chOff x="-3781305" y="3065460"/>
              <a:chExt cx="1777999" cy="1777999"/>
            </a:xfrm>
          </p:grpSpPr>
          <p:sp>
            <p:nvSpPr>
              <p:cNvPr id="4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1" name="TextBox 40"/>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grpSp>
        <p:nvGrpSpPr>
          <p:cNvPr id="54" name="Group 53"/>
          <p:cNvGrpSpPr/>
          <p:nvPr/>
        </p:nvGrpSpPr>
        <p:grpSpPr>
          <a:xfrm>
            <a:off x="4792573" y="1217287"/>
            <a:ext cx="7219671" cy="5347918"/>
            <a:chOff x="4979976" y="1371830"/>
            <a:chExt cx="7202655" cy="5335314"/>
          </a:xfrm>
        </p:grpSpPr>
        <p:grpSp>
          <p:nvGrpSpPr>
            <p:cNvPr id="55" name="Group 54"/>
            <p:cNvGrpSpPr/>
            <p:nvPr/>
          </p:nvGrpSpPr>
          <p:grpSpPr>
            <a:xfrm>
              <a:off x="4979976" y="1377360"/>
              <a:ext cx="7202655" cy="792594"/>
              <a:chOff x="4296161" y="1524072"/>
              <a:chExt cx="7291210" cy="731520"/>
            </a:xfrm>
          </p:grpSpPr>
          <p:sp>
            <p:nvSpPr>
              <p:cNvPr id="5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58" name="Rectangle 57"/>
              <p:cNvSpPr/>
              <p:nvPr/>
            </p:nvSpPr>
            <p:spPr bwMode="auto">
              <a:xfrm>
                <a:off x="4296161" y="1524072"/>
                <a:ext cx="7291210" cy="731520"/>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Stay connected with mobile access to your reports</a:t>
                </a:r>
              </a:p>
            </p:txBody>
          </p:sp>
        </p:grpSp>
        <p:sp>
          <p:nvSpPr>
            <p:cNvPr id="56" name="Rectangle 5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9" name="Right Brace 58"/>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7359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792573" y="1991572"/>
            <a:ext cx="7232859" cy="4573632"/>
          </a:xfrm>
          <a:prstGeom prst="rect">
            <a:avLst/>
          </a:prstGeom>
        </p:spPr>
      </p:pic>
      <p:sp>
        <p:nvSpPr>
          <p:cNvPr id="62" name="Freeform 8"/>
          <p:cNvSpPr>
            <a:spLocks noEditPoints="1"/>
          </p:cNvSpPr>
          <p:nvPr/>
        </p:nvSpPr>
        <p:spPr bwMode="black">
          <a:xfrm>
            <a:off x="6847467" y="1554360"/>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14" name="Title 1"/>
          <p:cNvSpPr>
            <a:spLocks noGrp="1"/>
          </p:cNvSpPr>
          <p:nvPr>
            <p:ph type="title"/>
          </p:nvPr>
        </p:nvSpPr>
        <p:spPr/>
        <p:txBody>
          <a:bodyPr/>
          <a:lstStyle/>
          <a:p>
            <a:r>
              <a:rPr lang="en-US" sz="4313" dirty="0"/>
              <a:t>Share &amp; collaborate with Power BI</a:t>
            </a:r>
            <a:endParaRPr lang="en-US" dirty="0"/>
          </a:p>
        </p:txBody>
      </p:sp>
      <p:grpSp>
        <p:nvGrpSpPr>
          <p:cNvPr id="17" name="Group 16"/>
          <p:cNvGrpSpPr/>
          <p:nvPr/>
        </p:nvGrpSpPr>
        <p:grpSpPr>
          <a:xfrm>
            <a:off x="417671" y="1195216"/>
            <a:ext cx="4089952" cy="5460007"/>
            <a:chOff x="426046" y="1218686"/>
            <a:chExt cx="4171964" cy="5569492"/>
          </a:xfrm>
        </p:grpSpPr>
        <p:sp>
          <p:nvSpPr>
            <p:cNvPr id="18" name="Rectangle 17"/>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4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4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1" name="TextBox 30"/>
            <p:cNvSpPr txBox="1"/>
            <p:nvPr/>
          </p:nvSpPr>
          <p:spPr>
            <a:xfrm>
              <a:off x="1454911" y="2246273"/>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Shared Queries</a:t>
              </a:r>
            </a:p>
          </p:txBody>
        </p:sp>
        <p:sp>
          <p:nvSpPr>
            <p:cNvPr id="32" name="TextBox 31"/>
            <p:cNvSpPr txBox="1"/>
            <p:nvPr/>
          </p:nvSpPr>
          <p:spPr>
            <a:xfrm>
              <a:off x="1454911" y="3171785"/>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Refresh</a:t>
              </a:r>
            </a:p>
          </p:txBody>
        </p:sp>
        <p:sp>
          <p:nvSpPr>
            <p:cNvPr id="33" name="TextBox 32"/>
            <p:cNvSpPr txBox="1"/>
            <p:nvPr/>
          </p:nvSpPr>
          <p:spPr>
            <a:xfrm>
              <a:off x="1454911" y="4039354"/>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Data Search</a:t>
              </a:r>
            </a:p>
          </p:txBody>
        </p:sp>
        <p:sp>
          <p:nvSpPr>
            <p:cNvPr id="34" name="TextBox 33"/>
            <p:cNvSpPr txBox="1"/>
            <p:nvPr/>
          </p:nvSpPr>
          <p:spPr>
            <a:xfrm>
              <a:off x="1454911" y="50053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Mobile Access</a:t>
              </a:r>
            </a:p>
          </p:txBody>
        </p:sp>
        <p:sp>
          <p:nvSpPr>
            <p:cNvPr id="35" name="Rectangle 34"/>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44"/>
            <p:cNvGrpSpPr>
              <a:grpSpLocks/>
            </p:cNvGrpSpPr>
            <p:nvPr/>
          </p:nvGrpSpPr>
          <p:grpSpPr bwMode="auto">
            <a:xfrm>
              <a:off x="657986" y="1447286"/>
              <a:ext cx="457200" cy="457200"/>
              <a:chOff x="-3781305" y="3065460"/>
              <a:chExt cx="1777999" cy="1777999"/>
            </a:xfrm>
          </p:grpSpPr>
          <p:sp>
            <p:nvSpPr>
              <p:cNvPr id="4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TextBox 36"/>
            <p:cNvSpPr txBox="1"/>
            <p:nvPr/>
          </p:nvSpPr>
          <p:spPr>
            <a:xfrm>
              <a:off x="1466850" y="1347747"/>
              <a:ext cx="3131160" cy="683264"/>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BI Sites</a:t>
              </a:r>
            </a:p>
          </p:txBody>
        </p:sp>
        <p:sp>
          <p:nvSpPr>
            <p:cNvPr id="39" name="Rectangle 38"/>
            <p:cNvSpPr/>
            <p:nvPr/>
          </p:nvSpPr>
          <p:spPr>
            <a:xfrm>
              <a:off x="426046" y="5781954"/>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0" name="Group 44"/>
            <p:cNvGrpSpPr>
              <a:grpSpLocks/>
            </p:cNvGrpSpPr>
            <p:nvPr/>
          </p:nvGrpSpPr>
          <p:grpSpPr bwMode="auto">
            <a:xfrm>
              <a:off x="657986" y="6010554"/>
              <a:ext cx="457200" cy="457200"/>
              <a:chOff x="-3781305" y="3065460"/>
              <a:chExt cx="1777999" cy="1777999"/>
            </a:xfrm>
          </p:grpSpPr>
          <p:sp>
            <p:nvSpPr>
              <p:cNvPr id="4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1" name="TextBox 40"/>
            <p:cNvSpPr txBox="1"/>
            <p:nvPr/>
          </p:nvSpPr>
          <p:spPr>
            <a:xfrm>
              <a:off x="1466850" y="5717116"/>
              <a:ext cx="3131160" cy="1071062"/>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US" sz="2745" b="0" i="0" u="none" strike="noStrike" kern="1200" cap="none" spc="0" normalizeH="0" baseline="0" noProof="0" dirty="0">
                  <a:ln>
                    <a:noFill/>
                  </a:ln>
                  <a:solidFill>
                    <a:srgbClr val="505050"/>
                  </a:solidFill>
                  <a:effectLst/>
                  <a:uLnTx/>
                  <a:uFillTx/>
                  <a:latin typeface="Segoe UI Light"/>
                  <a:ea typeface="+mn-ea"/>
                  <a:cs typeface="Segoe UI"/>
                </a:rPr>
                <a:t>Natural Language Questions</a:t>
              </a:r>
            </a:p>
          </p:txBody>
        </p:sp>
      </p:grpSp>
      <p:grpSp>
        <p:nvGrpSpPr>
          <p:cNvPr id="54" name="Group 53"/>
          <p:cNvGrpSpPr/>
          <p:nvPr/>
        </p:nvGrpSpPr>
        <p:grpSpPr>
          <a:xfrm>
            <a:off x="4792573" y="1217287"/>
            <a:ext cx="7219671" cy="5347918"/>
            <a:chOff x="4979976" y="1371830"/>
            <a:chExt cx="7202655" cy="5335314"/>
          </a:xfrm>
        </p:grpSpPr>
        <p:grpSp>
          <p:nvGrpSpPr>
            <p:cNvPr id="55" name="Group 54"/>
            <p:cNvGrpSpPr/>
            <p:nvPr/>
          </p:nvGrpSpPr>
          <p:grpSpPr>
            <a:xfrm>
              <a:off x="4979976" y="1377360"/>
              <a:ext cx="7202655" cy="792594"/>
              <a:chOff x="4296161" y="1524072"/>
              <a:chExt cx="7291210" cy="731520"/>
            </a:xfrm>
          </p:grpSpPr>
          <p:sp>
            <p:nvSpPr>
              <p:cNvPr id="5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58" name="Rectangle 57"/>
              <p:cNvSpPr/>
              <p:nvPr/>
            </p:nvSpPr>
            <p:spPr bwMode="auto">
              <a:xfrm>
                <a:off x="4296161" y="1524072"/>
                <a:ext cx="7291210" cy="731520"/>
              </a:xfrm>
              <a:prstGeom prst="rect">
                <a:avLst/>
              </a:prstGeom>
              <a:solidFill>
                <a:srgbClr val="FF8C00"/>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  Ask questions of your data in natural language</a:t>
                </a:r>
              </a:p>
            </p:txBody>
          </p:sp>
        </p:grpSp>
        <p:sp>
          <p:nvSpPr>
            <p:cNvPr id="56" name="Rectangle 5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9" name="Right Brace 58"/>
          <p:cNvSpPr/>
          <p:nvPr/>
        </p:nvSpPr>
        <p:spPr>
          <a:xfrm>
            <a:off x="4129450" y="1574876"/>
            <a:ext cx="441316" cy="4814507"/>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97489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Share and collaborate with Power BI</a:t>
            </a:r>
            <a:br>
              <a:rPr lang="en-US" dirty="0"/>
            </a:br>
            <a:r>
              <a:rPr lang="en-US" dirty="0"/>
              <a:t>for Office 365</a:t>
            </a:r>
          </a:p>
        </p:txBody>
      </p:sp>
      <p:sp>
        <p:nvSpPr>
          <p:cNvPr id="2" name="Text Placeholder 1"/>
          <p:cNvSpPr>
            <a:spLocks noGrp="1"/>
          </p:cNvSpPr>
          <p:nvPr>
            <p:ph type="body" sz="quarter" idx="10"/>
          </p:nvPr>
        </p:nvSpPr>
        <p:spPr>
          <a:xfrm>
            <a:off x="268929" y="2182502"/>
            <a:ext cx="4061260" cy="1464459"/>
          </a:xfrm>
        </p:spPr>
        <p:txBody>
          <a:bodyPr/>
          <a:lstStyle/>
          <a:p>
            <a:r>
              <a:rPr lang="en-US" sz="8627" dirty="0"/>
              <a:t>Demo</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9729" y="2729446"/>
            <a:ext cx="596061" cy="59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51B8EC89-9744-4225-BC4C-86C754D49548}"/>
              </a:ext>
            </a:extLst>
          </p:cNvPr>
          <p:cNvSpPr/>
          <p:nvPr/>
        </p:nvSpPr>
        <p:spPr>
          <a:xfrm>
            <a:off x="4507369" y="1896003"/>
            <a:ext cx="6477634" cy="4163824"/>
          </a:xfrm>
          <a:prstGeom prst="rect">
            <a:avLst/>
          </a:prstGeom>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br>
              <a:rPr kumimoji="0" lang="en-GB" sz="1765" b="1" i="0" u="none" strike="noStrike" kern="1200" cap="none" spc="0" normalizeH="0" baseline="0" noProof="0" dirty="0">
                <a:ln>
                  <a:noFill/>
                </a:ln>
                <a:solidFill>
                  <a:srgbClr val="000000"/>
                </a:solidFill>
                <a:effectLst/>
                <a:uLnTx/>
                <a:uFillTx/>
                <a:latin typeface="Segoe UI Condensed"/>
                <a:ea typeface="+mn-ea"/>
                <a:cs typeface="+mn-cs"/>
              </a:rPr>
            </a:br>
            <a:r>
              <a:rPr kumimoji="0" lang="en-GB" sz="1765" b="1" i="0" u="none" strike="noStrike" kern="1200" cap="none" spc="0" normalizeH="0" baseline="0" noProof="0" dirty="0">
                <a:ln>
                  <a:noFill/>
                </a:ln>
                <a:solidFill>
                  <a:srgbClr val="000000"/>
                </a:solidFill>
                <a:effectLst/>
                <a:uLnTx/>
                <a:uFillTx/>
                <a:latin typeface="Segoe UI Condensed"/>
                <a:ea typeface="+mn-ea"/>
                <a:cs typeface="+mn-cs"/>
              </a:rPr>
              <a:t>What is Power BI?</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1765" b="0" i="0" u="none" strike="noStrike" kern="1200" cap="none" spc="0" normalizeH="0" baseline="0" noProof="0" dirty="0">
                <a:ln>
                  <a:noFill/>
                </a:ln>
                <a:solidFill>
                  <a:srgbClr val="000000"/>
                </a:solidFill>
                <a:effectLst/>
                <a:uLnTx/>
                <a:uFillTx/>
                <a:latin typeface="Segoe UI Condensed"/>
                <a:ea typeface="+mn-ea"/>
                <a:cs typeface="+mn-cs"/>
              </a:rPr>
              <a:t>Power BI is a business analytics solution that lets you visualize your data and share insights across your organization, or embed them in your app or website. </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1765" b="0" i="0" u="none" strike="noStrike" kern="1200" cap="none" spc="0" normalizeH="0" baseline="0" noProof="0" dirty="0">
              <a:ln>
                <a:noFill/>
              </a:ln>
              <a:solidFill>
                <a:srgbClr val="000000"/>
              </a:solidFill>
              <a:effectLst/>
              <a:uLnTx/>
              <a:uFillTx/>
              <a:latin typeface="Segoe UI Condense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1765" b="0" i="0" u="none" strike="noStrike" kern="1200" cap="none" spc="0" normalizeH="0" baseline="0" noProof="0" dirty="0">
                <a:ln>
                  <a:noFill/>
                </a:ln>
                <a:solidFill>
                  <a:srgbClr val="000000"/>
                </a:solidFill>
                <a:effectLst/>
                <a:uLnTx/>
                <a:uFillTx/>
                <a:latin typeface="Segoe UI Condensed"/>
                <a:ea typeface="+mn-ea"/>
                <a:cs typeface="+mn-cs"/>
              </a:rPr>
              <a:t>Connect to hundreds of data sources and bring your data to life with live dashboards and reports.</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1765" b="0" i="0" u="none" strike="noStrike" kern="1200" cap="none" spc="0" normalizeH="0" baseline="0" noProof="0" dirty="0">
              <a:ln>
                <a:noFill/>
              </a:ln>
              <a:solidFill>
                <a:srgbClr val="000000"/>
              </a:solidFill>
              <a:effectLst/>
              <a:uLnTx/>
              <a:uFillTx/>
              <a:latin typeface="Segoe UI Condense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1765" b="1" i="0" u="none" strike="noStrike" kern="1200" cap="all" spc="0" normalizeH="0" baseline="0" noProof="0" dirty="0" err="1">
                <a:ln>
                  <a:noFill/>
                </a:ln>
                <a:solidFill>
                  <a:srgbClr val="000000"/>
                </a:solidFill>
                <a:effectLst/>
                <a:uLnTx/>
                <a:uFillTx/>
                <a:latin typeface="Segoe UI Condensed"/>
                <a:ea typeface="+mn-ea"/>
                <a:cs typeface="+mn-cs"/>
                <a:hlinkClick r:id="rId4"/>
              </a:rPr>
              <a:t>PowerBI</a:t>
            </a:r>
            <a:r>
              <a:rPr kumimoji="0" lang="en-GB" sz="1765" b="1" i="0" u="none" strike="noStrike" kern="1200" cap="all" spc="0" normalizeH="0" baseline="0" noProof="0" dirty="0">
                <a:ln>
                  <a:noFill/>
                </a:ln>
                <a:solidFill>
                  <a:srgbClr val="000000"/>
                </a:solidFill>
                <a:effectLst/>
                <a:uLnTx/>
                <a:uFillTx/>
                <a:latin typeface="Segoe UI Condensed"/>
                <a:ea typeface="+mn-ea"/>
                <a:cs typeface="+mn-cs"/>
                <a:hlinkClick r:id="rId4"/>
              </a:rPr>
              <a:t> - WATCH OVERVIEW </a:t>
            </a:r>
            <a:r>
              <a:rPr kumimoji="0" lang="en-GB" sz="1765" b="0" i="0" u="none" strike="noStrike" kern="1200" cap="none" spc="0" normalizeH="0" baseline="0" noProof="0" dirty="0">
                <a:ln>
                  <a:noFill/>
                </a:ln>
                <a:solidFill>
                  <a:srgbClr val="000000"/>
                </a:solidFill>
                <a:effectLst/>
                <a:uLnTx/>
                <a:uFillTx/>
                <a:latin typeface="Segoe UI Condensed"/>
                <a:ea typeface="+mn-ea"/>
                <a:cs typeface="+mn-cs"/>
              </a:rPr>
              <a:t> </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1765" b="1" i="0" u="none" strike="noStrike" kern="1200" cap="all" spc="0" normalizeH="0" baseline="0" noProof="0" dirty="0">
              <a:ln>
                <a:noFill/>
              </a:ln>
              <a:solidFill>
                <a:srgbClr val="000000"/>
              </a:solidFill>
              <a:effectLst/>
              <a:uLnTx/>
              <a:uFillTx/>
              <a:latin typeface="Segoe UI Condensed"/>
              <a:ea typeface="+mn-ea"/>
              <a:cs typeface="+mn-cs"/>
              <a:hlinkClick r:id="rId5"/>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1765" b="1" i="0" u="none" strike="noStrike" kern="1200" cap="all" spc="0" normalizeH="0" baseline="0" noProof="0" dirty="0">
                <a:ln>
                  <a:noFill/>
                </a:ln>
                <a:solidFill>
                  <a:srgbClr val="0067B8"/>
                </a:solidFill>
                <a:effectLst/>
                <a:uLnTx/>
                <a:uFillTx/>
                <a:latin typeface="Segoe UI Condensed"/>
                <a:ea typeface="+mn-ea"/>
                <a:cs typeface="+mn-cs"/>
                <a:hlinkClick r:id="rId5"/>
              </a:rPr>
              <a:t>POWERBI - WATCH DEMO </a:t>
            </a:r>
            <a:endParaRPr kumimoji="0" lang="en-GB" sz="1765" b="1" i="0" u="none" strike="noStrike" kern="1200" cap="all" spc="0" normalizeH="0" baseline="0" noProof="0" dirty="0">
              <a:ln>
                <a:noFill/>
              </a:ln>
              <a:solidFill>
                <a:srgbClr val="0067B8"/>
              </a:solidFill>
              <a:effectLst/>
              <a:uLnTx/>
              <a:uFillTx/>
              <a:latin typeface="Segoe UI Condense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1765" b="1" i="0" u="none" strike="noStrike" kern="1200" cap="all" spc="0" normalizeH="0" baseline="0" noProof="0" dirty="0">
              <a:ln>
                <a:noFill/>
              </a:ln>
              <a:solidFill>
                <a:srgbClr val="0067B8"/>
              </a:solidFill>
              <a:effectLst/>
              <a:uLnTx/>
              <a:uFillTx/>
              <a:latin typeface="Segoe UI Condense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1765" b="1" i="0" u="none" strike="noStrike" kern="1200" cap="all" spc="0" normalizeH="0" baseline="0" noProof="0" dirty="0">
                <a:ln>
                  <a:noFill/>
                </a:ln>
                <a:solidFill>
                  <a:srgbClr val="0067B8"/>
                </a:solidFill>
                <a:effectLst/>
                <a:uLnTx/>
                <a:uFillTx/>
                <a:latin typeface="Segoe UI Condensed"/>
                <a:ea typeface="+mn-ea"/>
                <a:cs typeface="+mn-cs"/>
              </a:rPr>
              <a:t>Available from: </a:t>
            </a:r>
            <a:r>
              <a:rPr kumimoji="0" lang="en-GB" sz="1765" b="0" i="0" u="none" strike="noStrike" kern="1200" cap="none" spc="0" normalizeH="0" baseline="0" noProof="0" dirty="0">
                <a:ln>
                  <a:noFill/>
                </a:ln>
                <a:solidFill>
                  <a:srgbClr val="000000"/>
                </a:solidFill>
                <a:effectLst/>
                <a:uLnTx/>
                <a:uFillTx/>
                <a:latin typeface="Segoe UI"/>
                <a:ea typeface="+mn-ea"/>
                <a:cs typeface="+mn-cs"/>
                <a:hlinkClick r:id="rId4"/>
              </a:rPr>
              <a:t>https://powerbi.microsoft.com/en-us/what-is-power-bi/</a:t>
            </a:r>
            <a:endParaRPr kumimoji="0" lang="en-GB" sz="176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4323636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a:t>A powerful new way to work with data</a:t>
            </a:r>
            <a:br>
              <a:rPr lang="en-US"/>
            </a:br>
            <a:endParaRPr lang="en-US" dirty="0"/>
          </a:p>
        </p:txBody>
      </p:sp>
      <p:grpSp>
        <p:nvGrpSpPr>
          <p:cNvPr id="4" name="Group 3"/>
          <p:cNvGrpSpPr/>
          <p:nvPr/>
        </p:nvGrpSpPr>
        <p:grpSpPr>
          <a:xfrm>
            <a:off x="485172" y="1425799"/>
            <a:ext cx="4646861" cy="4469302"/>
            <a:chOff x="494900" y="1453892"/>
            <a:chExt cx="4740040" cy="4558921"/>
          </a:xfrm>
        </p:grpSpPr>
        <p:sp>
          <p:nvSpPr>
            <p:cNvPr id="45" name="Rectangle 44"/>
            <p:cNvSpPr/>
            <p:nvPr/>
          </p:nvSpPr>
          <p:spPr bwMode="auto">
            <a:xfrm>
              <a:off x="494900" y="1453892"/>
              <a:ext cx="4740040" cy="625056"/>
            </a:xfrm>
            <a:prstGeom prst="rect">
              <a:avLst/>
            </a:prstGeom>
            <a:solidFill>
              <a:srgbClr val="7FBA00"/>
            </a:solidFill>
            <a:ln w="38100" cap="flat" cmpd="sng" algn="ctr">
              <a:noFill/>
              <a:prstDash val="solid"/>
              <a:headEnd type="none" w="med" len="med"/>
              <a:tailEnd type="none" w="med" len="med"/>
            </a:ln>
            <a:effectLst/>
          </p:spPr>
          <p:txBody>
            <a:bodyPr vert="horz" wrap="square" lIns="89642" tIns="89642" rIns="89642" bIns="137141"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Analyze in Excel</a:t>
              </a:r>
              <a:br>
                <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b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a:p>
              <a:pPr marL="0" marR="0" lvl="0" indent="0" algn="l" defTabSz="913924" rtl="0" eaLnBrk="1" fontAlgn="base" latinLnBrk="0" hangingPunct="1">
                <a:lnSpc>
                  <a:spcPct val="90000"/>
                </a:lnSpc>
                <a:spcBef>
                  <a:spcPct val="0"/>
                </a:spcBef>
                <a:spcAft>
                  <a:spcPct val="0"/>
                </a:spcAft>
                <a:buClrTx/>
                <a:buSzTx/>
                <a:buFontTx/>
                <a:buNone/>
                <a:tabLst/>
                <a:defRPr/>
              </a:pPr>
              <a:endPar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endParaRPr>
            </a:p>
          </p:txBody>
        </p:sp>
        <p:sp>
          <p:nvSpPr>
            <p:cNvPr id="37" name="Rectangle 36"/>
            <p:cNvSpPr/>
            <p:nvPr/>
          </p:nvSpPr>
          <p:spPr bwMode="auto">
            <a:xfrm>
              <a:off x="494900" y="3490404"/>
              <a:ext cx="1188720" cy="11887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Analyze</a:t>
              </a:r>
            </a:p>
          </p:txBody>
        </p:sp>
        <p:grpSp>
          <p:nvGrpSpPr>
            <p:cNvPr id="30" name="Group 29"/>
            <p:cNvGrpSpPr/>
            <p:nvPr/>
          </p:nvGrpSpPr>
          <p:grpSpPr>
            <a:xfrm flipH="1">
              <a:off x="873252" y="3933889"/>
              <a:ext cx="529777" cy="733737"/>
              <a:chOff x="1539997" y="3645051"/>
              <a:chExt cx="800271" cy="1108369"/>
            </a:xfrm>
            <a:solidFill>
              <a:schemeClr val="bg1"/>
            </a:solidFill>
          </p:grpSpPr>
          <p:sp>
            <p:nvSpPr>
              <p:cNvPr id="31" name="Rectangle 24"/>
              <p:cNvSpPr/>
              <p:nvPr/>
            </p:nvSpPr>
            <p:spPr>
              <a:xfrm>
                <a:off x="1539997" y="3645051"/>
                <a:ext cx="800271" cy="1108369"/>
              </a:xfrm>
              <a:custGeom>
                <a:avLst/>
                <a:gdLst/>
                <a:ahLst/>
                <a:cxnLst/>
                <a:rect l="l" t="t" r="r" b="b"/>
                <a:pathLst>
                  <a:path w="1518158" h="2102639">
                    <a:moveTo>
                      <a:pt x="664962" y="48"/>
                    </a:moveTo>
                    <a:cubicBezTo>
                      <a:pt x="990735" y="4734"/>
                      <a:pt x="1250103" y="195355"/>
                      <a:pt x="1311820" y="389100"/>
                    </a:cubicBezTo>
                    <a:cubicBezTo>
                      <a:pt x="1373537" y="582844"/>
                      <a:pt x="1310258" y="419568"/>
                      <a:pt x="1400880" y="656280"/>
                    </a:cubicBezTo>
                    <a:cubicBezTo>
                      <a:pt x="1411818" y="757059"/>
                      <a:pt x="1339163" y="742996"/>
                      <a:pt x="1358694" y="815651"/>
                    </a:cubicBezTo>
                    <a:cubicBezTo>
                      <a:pt x="1378225" y="888305"/>
                      <a:pt x="1514158" y="1033614"/>
                      <a:pt x="1518064" y="1092206"/>
                    </a:cubicBezTo>
                    <a:cubicBezTo>
                      <a:pt x="1521971" y="1150798"/>
                      <a:pt x="1404005" y="1135955"/>
                      <a:pt x="1382130" y="1167204"/>
                    </a:cubicBezTo>
                    <a:cubicBezTo>
                      <a:pt x="1360256" y="1198453"/>
                      <a:pt x="1390724" y="1255483"/>
                      <a:pt x="1386818" y="1279701"/>
                    </a:cubicBezTo>
                    <a:cubicBezTo>
                      <a:pt x="1382912" y="1303919"/>
                      <a:pt x="1361038" y="1303137"/>
                      <a:pt x="1358694" y="1312512"/>
                    </a:cubicBezTo>
                    <a:cubicBezTo>
                      <a:pt x="1356350" y="1321887"/>
                      <a:pt x="1382912" y="1320325"/>
                      <a:pt x="1372756" y="1335949"/>
                    </a:cubicBezTo>
                    <a:cubicBezTo>
                      <a:pt x="1362600" y="1351574"/>
                      <a:pt x="1313382" y="1359387"/>
                      <a:pt x="1297758" y="1406260"/>
                    </a:cubicBezTo>
                    <a:cubicBezTo>
                      <a:pt x="1282134" y="1453134"/>
                      <a:pt x="1409474" y="1567974"/>
                      <a:pt x="1279008" y="1617192"/>
                    </a:cubicBezTo>
                    <a:cubicBezTo>
                      <a:pt x="1148544" y="1666410"/>
                      <a:pt x="978235" y="1565631"/>
                      <a:pt x="936830" y="1645316"/>
                    </a:cubicBezTo>
                    <a:cubicBezTo>
                      <a:pt x="895425" y="1725002"/>
                      <a:pt x="843864" y="1864060"/>
                      <a:pt x="1030577" y="2095304"/>
                    </a:cubicBezTo>
                    <a:cubicBezTo>
                      <a:pt x="762616" y="2092179"/>
                      <a:pt x="244660" y="2113272"/>
                      <a:pt x="18105" y="2095304"/>
                    </a:cubicBezTo>
                    <a:cubicBezTo>
                      <a:pt x="72790" y="1927340"/>
                      <a:pt x="250130" y="1765625"/>
                      <a:pt x="247786" y="1537506"/>
                    </a:cubicBezTo>
                    <a:cubicBezTo>
                      <a:pt x="245442" y="1309387"/>
                      <a:pt x="51697" y="1118768"/>
                      <a:pt x="4042" y="726591"/>
                    </a:cubicBezTo>
                    <a:cubicBezTo>
                      <a:pt x="-20283" y="526408"/>
                      <a:pt x="67548" y="340065"/>
                      <a:pt x="203379" y="206900"/>
                    </a:cubicBezTo>
                    <a:lnTo>
                      <a:pt x="203379" y="206708"/>
                    </a:lnTo>
                    <a:lnTo>
                      <a:pt x="203605" y="206708"/>
                    </a:lnTo>
                    <a:cubicBezTo>
                      <a:pt x="332512" y="77755"/>
                      <a:pt x="505564" y="-2246"/>
                      <a:pt x="664962"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marL="0" marR="0" lvl="0" indent="0" algn="ctr"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sp>
            <p:nvSpPr>
              <p:cNvPr id="33" name="Freeform 32"/>
              <p:cNvSpPr>
                <a:spLocks noEditPoints="1"/>
              </p:cNvSpPr>
              <p:nvPr/>
            </p:nvSpPr>
            <p:spPr bwMode="black">
              <a:xfrm rot="17995606">
                <a:off x="1607408" y="3764955"/>
                <a:ext cx="429800" cy="337492"/>
              </a:xfrm>
              <a:custGeom>
                <a:avLst/>
                <a:gdLst>
                  <a:gd name="T0" fmla="*/ 1304 w 1423"/>
                  <a:gd name="T1" fmla="*/ 301 h 1114"/>
                  <a:gd name="T2" fmla="*/ 1302 w 1423"/>
                  <a:gd name="T3" fmla="*/ 297 h 1114"/>
                  <a:gd name="T4" fmla="*/ 719 w 1423"/>
                  <a:gd name="T5" fmla="*/ 113 h 1114"/>
                  <a:gd name="T6" fmla="*/ 496 w 1423"/>
                  <a:gd name="T7" fmla="*/ 416 h 1114"/>
                  <a:gd name="T8" fmla="*/ 441 w 1423"/>
                  <a:gd name="T9" fmla="*/ 482 h 1114"/>
                  <a:gd name="T10" fmla="*/ 375 w 1423"/>
                  <a:gd name="T11" fmla="*/ 536 h 1114"/>
                  <a:gd name="T12" fmla="*/ 290 w 1423"/>
                  <a:gd name="T13" fmla="*/ 648 h 1114"/>
                  <a:gd name="T14" fmla="*/ 470 w 1423"/>
                  <a:gd name="T15" fmla="*/ 973 h 1114"/>
                  <a:gd name="T16" fmla="*/ 610 w 1423"/>
                  <a:gd name="T17" fmla="*/ 960 h 1114"/>
                  <a:gd name="T18" fmla="*/ 775 w 1423"/>
                  <a:gd name="T19" fmla="*/ 921 h 1114"/>
                  <a:gd name="T20" fmla="*/ 932 w 1423"/>
                  <a:gd name="T21" fmla="*/ 927 h 1114"/>
                  <a:gd name="T22" fmla="*/ 1151 w 1423"/>
                  <a:gd name="T23" fmla="*/ 893 h 1114"/>
                  <a:gd name="T24" fmla="*/ 1304 w 1423"/>
                  <a:gd name="T25" fmla="*/ 301 h 1114"/>
                  <a:gd name="T26" fmla="*/ 1024 w 1423"/>
                  <a:gd name="T27" fmla="*/ 311 h 1114"/>
                  <a:gd name="T28" fmla="*/ 1024 w 1423"/>
                  <a:gd name="T29" fmla="*/ 311 h 1114"/>
                  <a:gd name="T30" fmla="*/ 873 w 1423"/>
                  <a:gd name="T31" fmla="*/ 299 h 1114"/>
                  <a:gd name="T32" fmla="*/ 873 w 1423"/>
                  <a:gd name="T33" fmla="*/ 299 h 1114"/>
                  <a:gd name="T34" fmla="*/ 799 w 1423"/>
                  <a:gd name="T35" fmla="*/ 278 h 1114"/>
                  <a:gd name="T36" fmla="*/ 821 w 1423"/>
                  <a:gd name="T37" fmla="*/ 203 h 1114"/>
                  <a:gd name="T38" fmla="*/ 828 w 1423"/>
                  <a:gd name="T39" fmla="*/ 200 h 1114"/>
                  <a:gd name="T40" fmla="*/ 1101 w 1423"/>
                  <a:gd name="T41" fmla="*/ 234 h 1114"/>
                  <a:gd name="T42" fmla="*/ 1108 w 1423"/>
                  <a:gd name="T43" fmla="*/ 244 h 1114"/>
                  <a:gd name="T44" fmla="*/ 1087 w 1423"/>
                  <a:gd name="T45" fmla="*/ 318 h 1114"/>
                  <a:gd name="T46" fmla="*/ 1024 w 1423"/>
                  <a:gd name="T47" fmla="*/ 311 h 1114"/>
                  <a:gd name="T48" fmla="*/ 14 w 1423"/>
                  <a:gd name="T49" fmla="*/ 967 h 1114"/>
                  <a:gd name="T50" fmla="*/ 53 w 1423"/>
                  <a:gd name="T51" fmla="*/ 1037 h 1114"/>
                  <a:gd name="T52" fmla="*/ 115 w 1423"/>
                  <a:gd name="T53" fmla="*/ 1064 h 1114"/>
                  <a:gd name="T54" fmla="*/ 24 w 1423"/>
                  <a:gd name="T55" fmla="*/ 900 h 1114"/>
                  <a:gd name="T56" fmla="*/ 14 w 1423"/>
                  <a:gd name="T57" fmla="*/ 967 h 1114"/>
                  <a:gd name="T58" fmla="*/ 400 w 1423"/>
                  <a:gd name="T59" fmla="*/ 959 h 1114"/>
                  <a:gd name="T60" fmla="*/ 265 w 1423"/>
                  <a:gd name="T61" fmla="*/ 714 h 1114"/>
                  <a:gd name="T62" fmla="*/ 190 w 1423"/>
                  <a:gd name="T63" fmla="*/ 686 h 1114"/>
                  <a:gd name="T64" fmla="*/ 175 w 1423"/>
                  <a:gd name="T65" fmla="*/ 764 h 1114"/>
                  <a:gd name="T66" fmla="*/ 310 w 1423"/>
                  <a:gd name="T67" fmla="*/ 1008 h 1114"/>
                  <a:gd name="T68" fmla="*/ 385 w 1423"/>
                  <a:gd name="T69" fmla="*/ 1037 h 1114"/>
                  <a:gd name="T70" fmla="*/ 400 w 1423"/>
                  <a:gd name="T71" fmla="*/ 959 h 1114"/>
                  <a:gd name="T72" fmla="*/ 266 w 1423"/>
                  <a:gd name="T73" fmla="*/ 1026 h 1114"/>
                  <a:gd name="T74" fmla="*/ 136 w 1423"/>
                  <a:gd name="T75" fmla="*/ 792 h 1114"/>
                  <a:gd name="T76" fmla="*/ 65 w 1423"/>
                  <a:gd name="T77" fmla="*/ 764 h 1114"/>
                  <a:gd name="T78" fmla="*/ 50 w 1423"/>
                  <a:gd name="T79" fmla="*/ 840 h 1114"/>
                  <a:gd name="T80" fmla="*/ 180 w 1423"/>
                  <a:gd name="T81" fmla="*/ 1074 h 1114"/>
                  <a:gd name="T82" fmla="*/ 251 w 1423"/>
                  <a:gd name="T83" fmla="*/ 1101 h 1114"/>
                  <a:gd name="T84" fmla="*/ 266 w 1423"/>
                  <a:gd name="T85" fmla="*/ 1026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3" h="1114">
                    <a:moveTo>
                      <a:pt x="1304" y="301"/>
                    </a:moveTo>
                    <a:cubicBezTo>
                      <a:pt x="1303" y="298"/>
                      <a:pt x="1304" y="300"/>
                      <a:pt x="1302" y="297"/>
                    </a:cubicBezTo>
                    <a:cubicBezTo>
                      <a:pt x="1184" y="83"/>
                      <a:pt x="922" y="0"/>
                      <a:pt x="719" y="113"/>
                    </a:cubicBezTo>
                    <a:cubicBezTo>
                      <a:pt x="602" y="177"/>
                      <a:pt x="570" y="311"/>
                      <a:pt x="496" y="416"/>
                    </a:cubicBezTo>
                    <a:cubicBezTo>
                      <a:pt x="476" y="444"/>
                      <a:pt x="458" y="465"/>
                      <a:pt x="441" y="482"/>
                    </a:cubicBezTo>
                    <a:cubicBezTo>
                      <a:pt x="418" y="504"/>
                      <a:pt x="397" y="520"/>
                      <a:pt x="375" y="536"/>
                    </a:cubicBezTo>
                    <a:cubicBezTo>
                      <a:pt x="334" y="566"/>
                      <a:pt x="296" y="593"/>
                      <a:pt x="290" y="648"/>
                    </a:cubicBezTo>
                    <a:cubicBezTo>
                      <a:pt x="470" y="973"/>
                      <a:pt x="470" y="973"/>
                      <a:pt x="470" y="973"/>
                    </a:cubicBezTo>
                    <a:cubicBezTo>
                      <a:pt x="519" y="997"/>
                      <a:pt x="563" y="978"/>
                      <a:pt x="610" y="960"/>
                    </a:cubicBezTo>
                    <a:cubicBezTo>
                      <a:pt x="654" y="943"/>
                      <a:pt x="697" y="925"/>
                      <a:pt x="775" y="921"/>
                    </a:cubicBezTo>
                    <a:cubicBezTo>
                      <a:pt x="827" y="918"/>
                      <a:pt x="880" y="924"/>
                      <a:pt x="932" y="927"/>
                    </a:cubicBezTo>
                    <a:cubicBezTo>
                      <a:pt x="1008" y="932"/>
                      <a:pt x="1082" y="931"/>
                      <a:pt x="1151" y="893"/>
                    </a:cubicBezTo>
                    <a:cubicBezTo>
                      <a:pt x="1354" y="780"/>
                      <a:pt x="1423" y="515"/>
                      <a:pt x="1304" y="301"/>
                    </a:cubicBezTo>
                    <a:close/>
                    <a:moveTo>
                      <a:pt x="1024" y="311"/>
                    </a:moveTo>
                    <a:cubicBezTo>
                      <a:pt x="1024" y="311"/>
                      <a:pt x="1024" y="311"/>
                      <a:pt x="1024" y="311"/>
                    </a:cubicBezTo>
                    <a:cubicBezTo>
                      <a:pt x="983" y="270"/>
                      <a:pt x="917" y="279"/>
                      <a:pt x="873" y="299"/>
                    </a:cubicBezTo>
                    <a:cubicBezTo>
                      <a:pt x="873" y="299"/>
                      <a:pt x="873" y="299"/>
                      <a:pt x="873" y="299"/>
                    </a:cubicBezTo>
                    <a:cubicBezTo>
                      <a:pt x="847" y="313"/>
                      <a:pt x="814" y="304"/>
                      <a:pt x="799" y="278"/>
                    </a:cubicBezTo>
                    <a:cubicBezTo>
                      <a:pt x="785" y="251"/>
                      <a:pt x="794" y="218"/>
                      <a:pt x="821" y="203"/>
                    </a:cubicBezTo>
                    <a:cubicBezTo>
                      <a:pt x="823" y="202"/>
                      <a:pt x="828" y="200"/>
                      <a:pt x="828" y="200"/>
                    </a:cubicBezTo>
                    <a:cubicBezTo>
                      <a:pt x="927" y="155"/>
                      <a:pt x="1035" y="168"/>
                      <a:pt x="1101" y="234"/>
                    </a:cubicBezTo>
                    <a:cubicBezTo>
                      <a:pt x="1101" y="234"/>
                      <a:pt x="1106" y="240"/>
                      <a:pt x="1108" y="244"/>
                    </a:cubicBezTo>
                    <a:cubicBezTo>
                      <a:pt x="1122" y="270"/>
                      <a:pt x="1113" y="303"/>
                      <a:pt x="1087" y="318"/>
                    </a:cubicBezTo>
                    <a:cubicBezTo>
                      <a:pt x="1066" y="329"/>
                      <a:pt x="1041" y="326"/>
                      <a:pt x="1024" y="311"/>
                    </a:cubicBezTo>
                    <a:close/>
                    <a:moveTo>
                      <a:pt x="14" y="967"/>
                    </a:moveTo>
                    <a:cubicBezTo>
                      <a:pt x="53" y="1037"/>
                      <a:pt x="53" y="1037"/>
                      <a:pt x="53" y="1037"/>
                    </a:cubicBezTo>
                    <a:cubicBezTo>
                      <a:pt x="67" y="1062"/>
                      <a:pt x="94" y="1074"/>
                      <a:pt x="115" y="1064"/>
                    </a:cubicBezTo>
                    <a:cubicBezTo>
                      <a:pt x="24" y="900"/>
                      <a:pt x="24" y="900"/>
                      <a:pt x="24" y="900"/>
                    </a:cubicBezTo>
                    <a:cubicBezTo>
                      <a:pt x="5" y="912"/>
                      <a:pt x="0" y="941"/>
                      <a:pt x="14" y="967"/>
                    </a:cubicBezTo>
                    <a:close/>
                    <a:moveTo>
                      <a:pt x="400" y="959"/>
                    </a:moveTo>
                    <a:cubicBezTo>
                      <a:pt x="265" y="714"/>
                      <a:pt x="265" y="714"/>
                      <a:pt x="265" y="714"/>
                    </a:cubicBezTo>
                    <a:cubicBezTo>
                      <a:pt x="248" y="685"/>
                      <a:pt x="215" y="672"/>
                      <a:pt x="190" y="686"/>
                    </a:cubicBezTo>
                    <a:cubicBezTo>
                      <a:pt x="166" y="699"/>
                      <a:pt x="159" y="734"/>
                      <a:pt x="175" y="764"/>
                    </a:cubicBezTo>
                    <a:cubicBezTo>
                      <a:pt x="310" y="1008"/>
                      <a:pt x="310" y="1008"/>
                      <a:pt x="310" y="1008"/>
                    </a:cubicBezTo>
                    <a:cubicBezTo>
                      <a:pt x="327" y="1038"/>
                      <a:pt x="360" y="1051"/>
                      <a:pt x="385" y="1037"/>
                    </a:cubicBezTo>
                    <a:cubicBezTo>
                      <a:pt x="410" y="1023"/>
                      <a:pt x="416" y="988"/>
                      <a:pt x="400" y="959"/>
                    </a:cubicBezTo>
                    <a:close/>
                    <a:moveTo>
                      <a:pt x="266" y="1026"/>
                    </a:moveTo>
                    <a:cubicBezTo>
                      <a:pt x="136" y="792"/>
                      <a:pt x="136" y="792"/>
                      <a:pt x="136" y="792"/>
                    </a:cubicBezTo>
                    <a:cubicBezTo>
                      <a:pt x="121" y="764"/>
                      <a:pt x="89" y="751"/>
                      <a:pt x="65" y="764"/>
                    </a:cubicBezTo>
                    <a:cubicBezTo>
                      <a:pt x="41" y="778"/>
                      <a:pt x="35" y="811"/>
                      <a:pt x="50" y="840"/>
                    </a:cubicBezTo>
                    <a:cubicBezTo>
                      <a:pt x="180" y="1074"/>
                      <a:pt x="180" y="1074"/>
                      <a:pt x="180" y="1074"/>
                    </a:cubicBezTo>
                    <a:cubicBezTo>
                      <a:pt x="196" y="1102"/>
                      <a:pt x="228" y="1114"/>
                      <a:pt x="251" y="1101"/>
                    </a:cubicBezTo>
                    <a:cubicBezTo>
                      <a:pt x="275" y="1088"/>
                      <a:pt x="282" y="1055"/>
                      <a:pt x="266" y="1026"/>
                    </a:cubicBez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dirty="0">
                  <a:ln>
                    <a:solidFill>
                      <a:srgbClr val="505050">
                        <a:alpha val="0"/>
                      </a:srgbClr>
                    </a:solidFill>
                  </a:ln>
                  <a:solidFill>
                    <a:srgbClr val="505050"/>
                  </a:solidFill>
                  <a:effectLst/>
                  <a:uLnTx/>
                  <a:uFillTx/>
                  <a:latin typeface="Segoe UI"/>
                  <a:ea typeface="+mn-ea"/>
                  <a:cs typeface="+mn-cs"/>
                </a:endParaRPr>
              </a:p>
            </p:txBody>
          </p:sp>
        </p:grpSp>
        <p:sp>
          <p:nvSpPr>
            <p:cNvPr id="44" name="Rectangle 43"/>
            <p:cNvSpPr/>
            <p:nvPr/>
          </p:nvSpPr>
          <p:spPr bwMode="auto">
            <a:xfrm>
              <a:off x="494900" y="4824093"/>
              <a:ext cx="1188720" cy="11887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Visualize</a:t>
              </a:r>
            </a:p>
          </p:txBody>
        </p:sp>
        <p:sp>
          <p:nvSpPr>
            <p:cNvPr id="34" name="Freeform 33"/>
            <p:cNvSpPr/>
            <p:nvPr>
              <p:custDataLst>
                <p:tags r:id="rId2"/>
              </p:custDataLst>
            </p:nvPr>
          </p:nvSpPr>
          <p:spPr>
            <a:xfrm>
              <a:off x="829232" y="5259039"/>
              <a:ext cx="696431" cy="701937"/>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chemeClr val="bg1"/>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ysClr val="window" lastClr="FFFFFF"/>
                </a:solidFill>
                <a:effectLst/>
                <a:uLnTx/>
                <a:uFillTx/>
                <a:latin typeface="Arial"/>
                <a:ea typeface="+mn-ea"/>
                <a:cs typeface="+mn-cs"/>
              </a:endParaRPr>
            </a:p>
          </p:txBody>
        </p:sp>
        <p:sp>
          <p:nvSpPr>
            <p:cNvPr id="71" name="Rectangle 70"/>
            <p:cNvSpPr/>
            <p:nvPr/>
          </p:nvSpPr>
          <p:spPr bwMode="auto">
            <a:xfrm>
              <a:off x="494900" y="2190316"/>
              <a:ext cx="1188720" cy="1188720"/>
            </a:xfrm>
            <a:prstGeom prst="rect">
              <a:avLst/>
            </a:prstGeom>
            <a:solidFill>
              <a:srgbClr val="7FBA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Discover</a:t>
              </a:r>
            </a:p>
          </p:txBody>
        </p:sp>
        <p:sp>
          <p:nvSpPr>
            <p:cNvPr id="62" name="Freeform 8"/>
            <p:cNvSpPr>
              <a:spLocks noEditPoints="1"/>
            </p:cNvSpPr>
            <p:nvPr/>
          </p:nvSpPr>
          <p:spPr bwMode="black">
            <a:xfrm>
              <a:off x="786405" y="2600558"/>
              <a:ext cx="732520" cy="732329"/>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38" name="Rectangle 37"/>
            <p:cNvSpPr/>
            <p:nvPr/>
          </p:nvSpPr>
          <p:spPr bwMode="auto">
            <a:xfrm>
              <a:off x="1810430" y="2204724"/>
              <a:ext cx="3424510" cy="1174312"/>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Search, access, and transform public and internal data sources with </a:t>
              </a:r>
              <a:r>
                <a:rPr kumimoji="0" lang="en-US" sz="1765" b="1" i="0" u="none" strike="noStrike" kern="1200" cap="none" spc="0" normalizeH="0" baseline="0" noProof="0" dirty="0">
                  <a:ln>
                    <a:noFill/>
                  </a:ln>
                  <a:solidFill>
                    <a:srgbClr val="FFFFFF"/>
                  </a:solidFill>
                  <a:effectLst/>
                  <a:uLnTx/>
                  <a:uFillTx/>
                  <a:latin typeface="Segoe UI"/>
                  <a:ea typeface="+mn-ea"/>
                  <a:cs typeface="+mn-cs"/>
                </a:rPr>
                <a:t>Power Query</a:t>
              </a:r>
              <a:endPar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0" name="Rectangle 39"/>
            <p:cNvSpPr/>
            <p:nvPr/>
          </p:nvSpPr>
          <p:spPr bwMode="auto">
            <a:xfrm>
              <a:off x="1810430" y="3507061"/>
              <a:ext cx="3424510" cy="1174312"/>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Easy data modeling and lightning fast in-memory analytics with </a:t>
              </a:r>
              <a:r>
                <a:rPr kumimoji="0" lang="en-US" sz="1765" b="1" i="0" u="none" strike="noStrike" kern="1200" cap="none" spc="0" normalizeH="0" baseline="0" noProof="0" dirty="0">
                  <a:ln>
                    <a:noFill/>
                  </a:ln>
                  <a:solidFill>
                    <a:srgbClr val="FFFFFF"/>
                  </a:solidFill>
                  <a:effectLst/>
                  <a:uLnTx/>
                  <a:uFillTx/>
                  <a:latin typeface="Segoe UI"/>
                  <a:ea typeface="+mn-ea"/>
                  <a:cs typeface="+mn-cs"/>
                </a:rPr>
                <a:t>Power Pivot</a:t>
              </a:r>
            </a:p>
          </p:txBody>
        </p:sp>
        <p:sp>
          <p:nvSpPr>
            <p:cNvPr id="41" name="Rectangle 40"/>
            <p:cNvSpPr/>
            <p:nvPr/>
          </p:nvSpPr>
          <p:spPr bwMode="auto">
            <a:xfrm>
              <a:off x="1810430" y="4819285"/>
              <a:ext cx="3424510" cy="1174312"/>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Bold new interactive data visualizations with </a:t>
              </a:r>
              <a:r>
                <a:rPr kumimoji="0" lang="en-US" sz="1765" b="1" i="0" u="none" strike="noStrike" kern="1200" cap="none" spc="0" normalizeH="0" baseline="0" noProof="0" dirty="0">
                  <a:ln>
                    <a:noFill/>
                  </a:ln>
                  <a:solidFill>
                    <a:srgbClr val="FFFFFF"/>
                  </a:solidFill>
                  <a:effectLst/>
                  <a:uLnTx/>
                  <a:uFillTx/>
                  <a:latin typeface="Segoe UI"/>
                  <a:ea typeface="+mn-ea"/>
                  <a:cs typeface="+mn-cs"/>
                </a:rPr>
                <a:t>Power View </a:t>
              </a:r>
              <a:r>
                <a:rPr kumimoji="0" lang="en-US" sz="1765" b="0" i="0" u="none" strike="noStrike" kern="1200" cap="none" spc="0" normalizeH="0" baseline="0" noProof="0" dirty="0">
                  <a:ln>
                    <a:noFill/>
                  </a:ln>
                  <a:solidFill>
                    <a:srgbClr val="FFFFFF"/>
                  </a:solidFill>
                  <a:effectLst/>
                  <a:uLnTx/>
                  <a:uFillTx/>
                  <a:latin typeface="Segoe UI"/>
                  <a:ea typeface="+mn-ea"/>
                  <a:cs typeface="+mn-cs"/>
                </a:rPr>
                <a:t>and </a:t>
              </a:r>
              <a:r>
                <a:rPr kumimoji="0" lang="en-US" sz="1765" b="1" i="0" u="none" strike="noStrike" kern="1200" cap="none" spc="0" normalizeH="0" baseline="0" noProof="0" dirty="0">
                  <a:ln>
                    <a:noFill/>
                  </a:ln>
                  <a:solidFill>
                    <a:srgbClr val="FFFFFF"/>
                  </a:solidFill>
                  <a:effectLst/>
                  <a:uLnTx/>
                  <a:uFillTx/>
                  <a:latin typeface="Segoe UI"/>
                  <a:ea typeface="+mn-ea"/>
                  <a:cs typeface="+mn-cs"/>
                </a:rPr>
                <a:t>Power Map</a:t>
              </a:r>
            </a:p>
          </p:txBody>
        </p:sp>
      </p:grpSp>
      <p:grpSp>
        <p:nvGrpSpPr>
          <p:cNvPr id="5" name="Group 4"/>
          <p:cNvGrpSpPr/>
          <p:nvPr/>
        </p:nvGrpSpPr>
        <p:grpSpPr>
          <a:xfrm>
            <a:off x="7072804" y="1425799"/>
            <a:ext cx="4650616" cy="4430973"/>
            <a:chOff x="7214627" y="1453892"/>
            <a:chExt cx="4743871" cy="4519823"/>
          </a:xfrm>
        </p:grpSpPr>
        <p:sp>
          <p:nvSpPr>
            <p:cNvPr id="43" name="Rectangle 42"/>
            <p:cNvSpPr/>
            <p:nvPr/>
          </p:nvSpPr>
          <p:spPr bwMode="auto">
            <a:xfrm>
              <a:off x="7220582" y="1453892"/>
              <a:ext cx="4737916" cy="596880"/>
            </a:xfrm>
            <a:prstGeom prst="rect">
              <a:avLst/>
            </a:prstGeom>
            <a:solidFill>
              <a:srgbClr val="FFC000"/>
            </a:solidFill>
            <a:ln w="38100" cap="flat" cmpd="sng" algn="ctr">
              <a:noFill/>
              <a:prstDash val="solid"/>
              <a:headEnd type="none" w="med" len="med"/>
              <a:tailEnd type="none" w="med" len="med"/>
            </a:ln>
            <a:effectLst/>
          </p:spPr>
          <p:txBody>
            <a:bodyPr vert="horz" wrap="square" lIns="89642" tIns="89642" rIns="89642"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3039" b="0" i="0" u="none" strike="noStrike" kern="0" cap="none" spc="-40" normalizeH="0" baseline="0" noProof="0" dirty="0">
                  <a:ln>
                    <a:noFill/>
                  </a:ln>
                  <a:gradFill>
                    <a:gsLst>
                      <a:gs pos="0">
                        <a:srgbClr val="FFFFFF"/>
                      </a:gs>
                      <a:gs pos="100000">
                        <a:srgbClr val="FFFFFF"/>
                      </a:gs>
                    </a:gsLst>
                    <a:lin ang="5400000" scaled="0"/>
                  </a:gradFill>
                  <a:effectLst/>
                  <a:uLnTx/>
                  <a:uFillTx/>
                  <a:latin typeface="Segoe UI Light" pitchFamily="34" charset="0"/>
                  <a:ea typeface="+mn-ea"/>
                  <a:cs typeface="+mn-cs"/>
                </a:rPr>
                <a:t>Collaborate in Power BI</a:t>
              </a:r>
            </a:p>
          </p:txBody>
        </p:sp>
        <p:sp>
          <p:nvSpPr>
            <p:cNvPr id="47" name="Rectangle 46"/>
            <p:cNvSpPr/>
            <p:nvPr/>
          </p:nvSpPr>
          <p:spPr bwMode="auto">
            <a:xfrm>
              <a:off x="7220582" y="2201344"/>
              <a:ext cx="1188720" cy="1188720"/>
            </a:xfrm>
            <a:prstGeom prst="rect">
              <a:avLst/>
            </a:prstGeom>
            <a:solidFill>
              <a:srgbClr val="FFC0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Share</a:t>
              </a:r>
            </a:p>
          </p:txBody>
        </p:sp>
        <p:sp>
          <p:nvSpPr>
            <p:cNvPr id="35" name="Freeform 34"/>
            <p:cNvSpPr>
              <a:spLocks/>
            </p:cNvSpPr>
            <p:nvPr/>
          </p:nvSpPr>
          <p:spPr bwMode="auto">
            <a:xfrm>
              <a:off x="7487539" y="2679507"/>
              <a:ext cx="847173" cy="590771"/>
            </a:xfrm>
            <a:custGeom>
              <a:avLst/>
              <a:gdLst/>
              <a:ahLst/>
              <a:cxnLst/>
              <a:rect l="l" t="t" r="r" b="b"/>
              <a:pathLst>
                <a:path w="1822529" h="1109555">
                  <a:moveTo>
                    <a:pt x="341442" y="686899"/>
                  </a:moveTo>
                  <a:cubicBezTo>
                    <a:pt x="376723" y="679869"/>
                    <a:pt x="419060" y="707989"/>
                    <a:pt x="433172" y="750169"/>
                  </a:cubicBezTo>
                  <a:cubicBezTo>
                    <a:pt x="440228" y="715019"/>
                    <a:pt x="482565" y="693929"/>
                    <a:pt x="517846" y="700959"/>
                  </a:cubicBezTo>
                  <a:cubicBezTo>
                    <a:pt x="553127" y="707989"/>
                    <a:pt x="581351" y="743139"/>
                    <a:pt x="581351" y="778289"/>
                  </a:cubicBezTo>
                  <a:cubicBezTo>
                    <a:pt x="581351" y="778283"/>
                    <a:pt x="581351" y="778218"/>
                    <a:pt x="581351" y="777410"/>
                  </a:cubicBezTo>
                  <a:lnTo>
                    <a:pt x="581351" y="771259"/>
                  </a:lnTo>
                  <a:cubicBezTo>
                    <a:pt x="588407" y="729079"/>
                    <a:pt x="630744" y="707989"/>
                    <a:pt x="673081" y="715019"/>
                  </a:cubicBezTo>
                  <a:cubicBezTo>
                    <a:pt x="715418" y="722049"/>
                    <a:pt x="743643" y="764229"/>
                    <a:pt x="729530" y="806408"/>
                  </a:cubicBezTo>
                  <a:cubicBezTo>
                    <a:pt x="729528" y="806422"/>
                    <a:pt x="729410" y="807248"/>
                    <a:pt x="722474" y="855618"/>
                  </a:cubicBezTo>
                  <a:cubicBezTo>
                    <a:pt x="736586" y="827498"/>
                    <a:pt x="771867" y="813438"/>
                    <a:pt x="807148" y="820468"/>
                  </a:cubicBezTo>
                  <a:cubicBezTo>
                    <a:pt x="842429" y="827498"/>
                    <a:pt x="870653" y="869678"/>
                    <a:pt x="863597" y="911858"/>
                  </a:cubicBezTo>
                  <a:cubicBezTo>
                    <a:pt x="863595" y="911868"/>
                    <a:pt x="863334" y="912973"/>
                    <a:pt x="835372" y="1031367"/>
                  </a:cubicBezTo>
                  <a:cubicBezTo>
                    <a:pt x="821260" y="1073546"/>
                    <a:pt x="785979" y="1094636"/>
                    <a:pt x="750699" y="1094636"/>
                  </a:cubicBezTo>
                  <a:lnTo>
                    <a:pt x="744602" y="1094636"/>
                  </a:lnTo>
                  <a:cubicBezTo>
                    <a:pt x="701306" y="1080576"/>
                    <a:pt x="680137" y="1045427"/>
                    <a:pt x="680137" y="1010277"/>
                  </a:cubicBezTo>
                  <a:cubicBezTo>
                    <a:pt x="666025" y="1031367"/>
                    <a:pt x="637800" y="1045427"/>
                    <a:pt x="609576" y="1045427"/>
                  </a:cubicBezTo>
                  <a:lnTo>
                    <a:pt x="603479" y="1045427"/>
                  </a:lnTo>
                  <a:cubicBezTo>
                    <a:pt x="560183" y="1031367"/>
                    <a:pt x="531958" y="989187"/>
                    <a:pt x="539014" y="954037"/>
                  </a:cubicBezTo>
                  <a:cubicBezTo>
                    <a:pt x="539018" y="954033"/>
                    <a:pt x="539072" y="953980"/>
                    <a:pt x="539896" y="953158"/>
                  </a:cubicBezTo>
                  <a:lnTo>
                    <a:pt x="546071" y="947007"/>
                  </a:lnTo>
                  <a:cubicBezTo>
                    <a:pt x="524902" y="968097"/>
                    <a:pt x="496678" y="982157"/>
                    <a:pt x="468453" y="982157"/>
                  </a:cubicBezTo>
                  <a:cubicBezTo>
                    <a:pt x="468446" y="982157"/>
                    <a:pt x="468376" y="982157"/>
                    <a:pt x="467571" y="982157"/>
                  </a:cubicBezTo>
                  <a:lnTo>
                    <a:pt x="461397" y="982157"/>
                  </a:lnTo>
                  <a:cubicBezTo>
                    <a:pt x="433172" y="975127"/>
                    <a:pt x="412004" y="954037"/>
                    <a:pt x="404948" y="925917"/>
                  </a:cubicBezTo>
                  <a:cubicBezTo>
                    <a:pt x="397892" y="932947"/>
                    <a:pt x="397892" y="932947"/>
                    <a:pt x="390835" y="932947"/>
                  </a:cubicBezTo>
                  <a:cubicBezTo>
                    <a:pt x="383779" y="932947"/>
                    <a:pt x="376723" y="932947"/>
                    <a:pt x="369667" y="932947"/>
                  </a:cubicBezTo>
                  <a:cubicBezTo>
                    <a:pt x="334386" y="932947"/>
                    <a:pt x="306162" y="904828"/>
                    <a:pt x="299106" y="876708"/>
                  </a:cubicBezTo>
                  <a:cubicBezTo>
                    <a:pt x="299102" y="876692"/>
                    <a:pt x="298837" y="875458"/>
                    <a:pt x="277937" y="778289"/>
                  </a:cubicBezTo>
                  <a:cubicBezTo>
                    <a:pt x="270881" y="736109"/>
                    <a:pt x="299106" y="700959"/>
                    <a:pt x="341442" y="686899"/>
                  </a:cubicBezTo>
                  <a:close/>
                  <a:moveTo>
                    <a:pt x="362511" y="142762"/>
                  </a:moveTo>
                  <a:cubicBezTo>
                    <a:pt x="362554" y="142762"/>
                    <a:pt x="390795" y="142762"/>
                    <a:pt x="433141" y="142762"/>
                  </a:cubicBezTo>
                  <a:cubicBezTo>
                    <a:pt x="404889" y="170990"/>
                    <a:pt x="383700" y="206274"/>
                    <a:pt x="383700" y="241559"/>
                  </a:cubicBezTo>
                  <a:cubicBezTo>
                    <a:pt x="376637" y="276843"/>
                    <a:pt x="383700" y="305071"/>
                    <a:pt x="397826" y="333298"/>
                  </a:cubicBezTo>
                  <a:cubicBezTo>
                    <a:pt x="426078" y="382696"/>
                    <a:pt x="468457" y="410924"/>
                    <a:pt x="517898" y="410924"/>
                  </a:cubicBezTo>
                  <a:cubicBezTo>
                    <a:pt x="546150" y="417981"/>
                    <a:pt x="581465" y="410924"/>
                    <a:pt x="609717" y="396810"/>
                  </a:cubicBezTo>
                  <a:cubicBezTo>
                    <a:pt x="609726" y="396804"/>
                    <a:pt x="610149" y="396523"/>
                    <a:pt x="630907" y="382696"/>
                  </a:cubicBezTo>
                  <a:cubicBezTo>
                    <a:pt x="630927" y="382685"/>
                    <a:pt x="632883" y="381599"/>
                    <a:pt x="821609" y="276843"/>
                  </a:cubicBezTo>
                  <a:cubicBezTo>
                    <a:pt x="821623" y="276849"/>
                    <a:pt x="822935" y="277432"/>
                    <a:pt x="948744" y="333298"/>
                  </a:cubicBezTo>
                  <a:cubicBezTo>
                    <a:pt x="948758" y="333309"/>
                    <a:pt x="951606" y="335362"/>
                    <a:pt x="1506724" y="735540"/>
                  </a:cubicBezTo>
                  <a:cubicBezTo>
                    <a:pt x="1534976" y="756711"/>
                    <a:pt x="1542039" y="806109"/>
                    <a:pt x="1520850" y="841394"/>
                  </a:cubicBezTo>
                  <a:cubicBezTo>
                    <a:pt x="1506724" y="862564"/>
                    <a:pt x="1485535" y="876678"/>
                    <a:pt x="1457283" y="876678"/>
                  </a:cubicBezTo>
                  <a:cubicBezTo>
                    <a:pt x="1457268" y="876667"/>
                    <a:pt x="1455327" y="875252"/>
                    <a:pt x="1195950" y="686142"/>
                  </a:cubicBezTo>
                  <a:cubicBezTo>
                    <a:pt x="1188887" y="679085"/>
                    <a:pt x="1181824" y="686142"/>
                    <a:pt x="1174761" y="693199"/>
                  </a:cubicBezTo>
                  <a:cubicBezTo>
                    <a:pt x="1174761" y="700256"/>
                    <a:pt x="1174761" y="707313"/>
                    <a:pt x="1181824" y="714370"/>
                  </a:cubicBezTo>
                  <a:cubicBezTo>
                    <a:pt x="1181837" y="714379"/>
                    <a:pt x="1183505" y="715545"/>
                    <a:pt x="1393715" y="862564"/>
                  </a:cubicBezTo>
                  <a:cubicBezTo>
                    <a:pt x="1393715" y="883735"/>
                    <a:pt x="1393715" y="904906"/>
                    <a:pt x="1379589" y="926076"/>
                  </a:cubicBezTo>
                  <a:cubicBezTo>
                    <a:pt x="1365463" y="947247"/>
                    <a:pt x="1337211" y="961361"/>
                    <a:pt x="1316022" y="961361"/>
                  </a:cubicBezTo>
                  <a:cubicBezTo>
                    <a:pt x="1316007" y="961350"/>
                    <a:pt x="1314082" y="959908"/>
                    <a:pt x="1061752" y="770825"/>
                  </a:cubicBezTo>
                  <a:cubicBezTo>
                    <a:pt x="1054689" y="770825"/>
                    <a:pt x="1040563" y="770825"/>
                    <a:pt x="1040563" y="777882"/>
                  </a:cubicBezTo>
                  <a:cubicBezTo>
                    <a:pt x="1033500" y="784939"/>
                    <a:pt x="1033500" y="791995"/>
                    <a:pt x="1040563" y="799052"/>
                  </a:cubicBezTo>
                  <a:cubicBezTo>
                    <a:pt x="1040576" y="799061"/>
                    <a:pt x="1042204" y="800199"/>
                    <a:pt x="1252454" y="947247"/>
                  </a:cubicBezTo>
                  <a:cubicBezTo>
                    <a:pt x="1252454" y="968418"/>
                    <a:pt x="1252454" y="989588"/>
                    <a:pt x="1238328" y="1010759"/>
                  </a:cubicBezTo>
                  <a:cubicBezTo>
                    <a:pt x="1224202" y="1031930"/>
                    <a:pt x="1203013" y="1038986"/>
                    <a:pt x="1174761" y="1038986"/>
                  </a:cubicBezTo>
                  <a:cubicBezTo>
                    <a:pt x="1174742" y="1038973"/>
                    <a:pt x="1172878" y="1037684"/>
                    <a:pt x="991122" y="911962"/>
                  </a:cubicBezTo>
                  <a:cubicBezTo>
                    <a:pt x="984059" y="904906"/>
                    <a:pt x="976996" y="904906"/>
                    <a:pt x="969933" y="911962"/>
                  </a:cubicBezTo>
                  <a:cubicBezTo>
                    <a:pt x="969933" y="919019"/>
                    <a:pt x="969933" y="926076"/>
                    <a:pt x="976996" y="933133"/>
                  </a:cubicBezTo>
                  <a:cubicBezTo>
                    <a:pt x="977008" y="933143"/>
                    <a:pt x="978180" y="934021"/>
                    <a:pt x="1090004" y="1017816"/>
                  </a:cubicBezTo>
                  <a:cubicBezTo>
                    <a:pt x="1097067" y="1038986"/>
                    <a:pt x="1090004" y="1060157"/>
                    <a:pt x="1082941" y="1074271"/>
                  </a:cubicBezTo>
                  <a:cubicBezTo>
                    <a:pt x="1061752" y="1095441"/>
                    <a:pt x="1040563" y="1109555"/>
                    <a:pt x="1019374" y="1109555"/>
                  </a:cubicBezTo>
                  <a:cubicBezTo>
                    <a:pt x="1019361" y="1109546"/>
                    <a:pt x="1018089" y="1108628"/>
                    <a:pt x="892239" y="1017816"/>
                  </a:cubicBezTo>
                  <a:cubicBezTo>
                    <a:pt x="892243" y="1017797"/>
                    <a:pt x="892533" y="1016447"/>
                    <a:pt x="913428" y="919019"/>
                  </a:cubicBezTo>
                  <a:cubicBezTo>
                    <a:pt x="913428" y="918992"/>
                    <a:pt x="913428" y="911948"/>
                    <a:pt x="913428" y="904906"/>
                  </a:cubicBezTo>
                  <a:cubicBezTo>
                    <a:pt x="920491" y="841394"/>
                    <a:pt x="878113" y="784939"/>
                    <a:pt x="814546" y="770825"/>
                  </a:cubicBezTo>
                  <a:cubicBezTo>
                    <a:pt x="807483" y="763768"/>
                    <a:pt x="807483" y="763768"/>
                    <a:pt x="800420" y="763768"/>
                  </a:cubicBezTo>
                  <a:cubicBezTo>
                    <a:pt x="793357" y="763768"/>
                    <a:pt x="786294" y="763768"/>
                    <a:pt x="779230" y="763768"/>
                  </a:cubicBezTo>
                  <a:cubicBezTo>
                    <a:pt x="772167" y="714370"/>
                    <a:pt x="736852" y="679085"/>
                    <a:pt x="687411" y="664972"/>
                  </a:cubicBezTo>
                  <a:cubicBezTo>
                    <a:pt x="680357" y="664972"/>
                    <a:pt x="673304" y="664972"/>
                    <a:pt x="673285" y="664972"/>
                  </a:cubicBezTo>
                  <a:cubicBezTo>
                    <a:pt x="637970" y="657915"/>
                    <a:pt x="609717" y="664972"/>
                    <a:pt x="588528" y="679085"/>
                  </a:cubicBezTo>
                  <a:cubicBezTo>
                    <a:pt x="574402" y="664972"/>
                    <a:pt x="553213" y="650858"/>
                    <a:pt x="524961" y="650858"/>
                  </a:cubicBezTo>
                  <a:cubicBezTo>
                    <a:pt x="524931" y="650858"/>
                    <a:pt x="517917" y="650858"/>
                    <a:pt x="517898" y="650858"/>
                  </a:cubicBezTo>
                  <a:cubicBezTo>
                    <a:pt x="489646" y="643801"/>
                    <a:pt x="461394" y="650858"/>
                    <a:pt x="440204" y="664972"/>
                  </a:cubicBezTo>
                  <a:cubicBezTo>
                    <a:pt x="419015" y="650858"/>
                    <a:pt x="390763" y="636744"/>
                    <a:pt x="369574" y="636744"/>
                  </a:cubicBezTo>
                  <a:cubicBezTo>
                    <a:pt x="355448" y="636744"/>
                    <a:pt x="341322" y="636744"/>
                    <a:pt x="327196" y="636744"/>
                  </a:cubicBezTo>
                  <a:cubicBezTo>
                    <a:pt x="284817" y="650858"/>
                    <a:pt x="256565" y="672028"/>
                    <a:pt x="242439" y="707313"/>
                  </a:cubicBezTo>
                  <a:cubicBezTo>
                    <a:pt x="242430" y="707310"/>
                    <a:pt x="242003" y="707167"/>
                    <a:pt x="221250" y="700256"/>
                  </a:cubicBezTo>
                  <a:cubicBezTo>
                    <a:pt x="214188" y="425073"/>
                    <a:pt x="362473" y="142834"/>
                    <a:pt x="362511" y="142762"/>
                  </a:cubicBezTo>
                  <a:close/>
                  <a:moveTo>
                    <a:pt x="1723364" y="112687"/>
                  </a:moveTo>
                  <a:cubicBezTo>
                    <a:pt x="1743550" y="115333"/>
                    <a:pt x="1760758" y="129886"/>
                    <a:pt x="1766052" y="156347"/>
                  </a:cubicBezTo>
                  <a:cubicBezTo>
                    <a:pt x="1766054" y="156361"/>
                    <a:pt x="1766355" y="158999"/>
                    <a:pt x="1822529" y="650276"/>
                  </a:cubicBezTo>
                  <a:cubicBezTo>
                    <a:pt x="1822529" y="678501"/>
                    <a:pt x="1801350" y="706725"/>
                    <a:pt x="1766052" y="706725"/>
                  </a:cubicBezTo>
                  <a:cubicBezTo>
                    <a:pt x="1766043" y="706725"/>
                    <a:pt x="1765216" y="706725"/>
                    <a:pt x="1688397" y="706725"/>
                  </a:cubicBezTo>
                  <a:cubicBezTo>
                    <a:pt x="1709572" y="332816"/>
                    <a:pt x="1533148" y="156409"/>
                    <a:pt x="1533086" y="156347"/>
                  </a:cubicBezTo>
                  <a:cubicBezTo>
                    <a:pt x="1533096" y="156345"/>
                    <a:pt x="1534390" y="156021"/>
                    <a:pt x="1702516" y="114010"/>
                  </a:cubicBezTo>
                  <a:cubicBezTo>
                    <a:pt x="1709576" y="112246"/>
                    <a:pt x="1716635" y="111805"/>
                    <a:pt x="1723364" y="112687"/>
                  </a:cubicBezTo>
                  <a:close/>
                  <a:moveTo>
                    <a:pt x="216121" y="52882"/>
                  </a:moveTo>
                  <a:cubicBezTo>
                    <a:pt x="222948" y="53102"/>
                    <a:pt x="229996" y="54864"/>
                    <a:pt x="237043" y="58387"/>
                  </a:cubicBezTo>
                  <a:cubicBezTo>
                    <a:pt x="237043" y="58387"/>
                    <a:pt x="237043" y="58387"/>
                    <a:pt x="321609" y="107717"/>
                  </a:cubicBezTo>
                  <a:cubicBezTo>
                    <a:pt x="321609" y="107717"/>
                    <a:pt x="159524" y="410746"/>
                    <a:pt x="173618" y="706726"/>
                  </a:cubicBezTo>
                  <a:cubicBezTo>
                    <a:pt x="173618" y="706726"/>
                    <a:pt x="173618" y="706726"/>
                    <a:pt x="39721" y="678538"/>
                  </a:cubicBezTo>
                  <a:cubicBezTo>
                    <a:pt x="11533" y="678538"/>
                    <a:pt x="-9609" y="650349"/>
                    <a:pt x="4485" y="615113"/>
                  </a:cubicBezTo>
                  <a:cubicBezTo>
                    <a:pt x="4485" y="615113"/>
                    <a:pt x="4485" y="615113"/>
                    <a:pt x="166571" y="86576"/>
                  </a:cubicBezTo>
                  <a:cubicBezTo>
                    <a:pt x="177142" y="65434"/>
                    <a:pt x="195640" y="52221"/>
                    <a:pt x="216121" y="52882"/>
                  </a:cubicBezTo>
                  <a:close/>
                  <a:moveTo>
                    <a:pt x="811860" y="637"/>
                  </a:moveTo>
                  <a:cubicBezTo>
                    <a:pt x="827743" y="-1131"/>
                    <a:pt x="843626" y="637"/>
                    <a:pt x="857745" y="7709"/>
                  </a:cubicBezTo>
                  <a:cubicBezTo>
                    <a:pt x="857763" y="7717"/>
                    <a:pt x="860458" y="8948"/>
                    <a:pt x="1260115" y="191579"/>
                  </a:cubicBezTo>
                  <a:cubicBezTo>
                    <a:pt x="1281293" y="205723"/>
                    <a:pt x="1302470" y="212795"/>
                    <a:pt x="1316589" y="212795"/>
                  </a:cubicBezTo>
                  <a:cubicBezTo>
                    <a:pt x="1358938" y="226937"/>
                    <a:pt x="1507151" y="198657"/>
                    <a:pt x="1507185" y="198651"/>
                  </a:cubicBezTo>
                  <a:cubicBezTo>
                    <a:pt x="1507263" y="198732"/>
                    <a:pt x="1655423" y="354319"/>
                    <a:pt x="1641309" y="679541"/>
                  </a:cubicBezTo>
                  <a:cubicBezTo>
                    <a:pt x="1641290" y="679545"/>
                    <a:pt x="1639948" y="679833"/>
                    <a:pt x="1542481" y="700757"/>
                  </a:cubicBezTo>
                  <a:cubicBezTo>
                    <a:pt x="1542454" y="700730"/>
                    <a:pt x="1535433" y="693697"/>
                    <a:pt x="1535422" y="693685"/>
                  </a:cubicBezTo>
                  <a:cubicBezTo>
                    <a:pt x="1535404" y="693673"/>
                    <a:pt x="1532978" y="691937"/>
                    <a:pt x="1189524" y="446168"/>
                  </a:cubicBezTo>
                  <a:cubicBezTo>
                    <a:pt x="1189512" y="446159"/>
                    <a:pt x="1187911" y="444983"/>
                    <a:pt x="977750" y="290586"/>
                  </a:cubicBezTo>
                  <a:cubicBezTo>
                    <a:pt x="977733" y="290578"/>
                    <a:pt x="976153" y="289858"/>
                    <a:pt x="822449" y="219867"/>
                  </a:cubicBezTo>
                  <a:cubicBezTo>
                    <a:pt x="822435" y="219874"/>
                    <a:pt x="820645" y="220824"/>
                    <a:pt x="582438" y="347161"/>
                  </a:cubicBezTo>
                  <a:cubicBezTo>
                    <a:pt x="568320" y="361305"/>
                    <a:pt x="547143" y="361305"/>
                    <a:pt x="525965" y="361305"/>
                  </a:cubicBezTo>
                  <a:cubicBezTo>
                    <a:pt x="490669" y="361305"/>
                    <a:pt x="462433" y="340089"/>
                    <a:pt x="448315" y="311802"/>
                  </a:cubicBezTo>
                  <a:cubicBezTo>
                    <a:pt x="420078" y="262298"/>
                    <a:pt x="434196" y="198651"/>
                    <a:pt x="483610" y="170363"/>
                  </a:cubicBezTo>
                  <a:cubicBezTo>
                    <a:pt x="483624" y="170356"/>
                    <a:pt x="484873" y="169694"/>
                    <a:pt x="603616" y="106715"/>
                  </a:cubicBezTo>
                  <a:cubicBezTo>
                    <a:pt x="603633" y="106706"/>
                    <a:pt x="605286" y="105770"/>
                    <a:pt x="765976" y="14781"/>
                  </a:cubicBezTo>
                  <a:cubicBezTo>
                    <a:pt x="780094" y="7709"/>
                    <a:pt x="795977" y="2405"/>
                    <a:pt x="811860" y="637"/>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marR="0" lvl="0" indent="0" algn="l" defTabSz="89635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solidFill>
                    <a:srgbClr val="505050">
                      <a:alpha val="0"/>
                    </a:srgbClr>
                  </a:solidFill>
                </a:ln>
                <a:solidFill>
                  <a:srgbClr val="505050"/>
                </a:solidFill>
                <a:effectLst/>
                <a:uLnTx/>
                <a:uFillTx/>
                <a:latin typeface="Segoe UI"/>
                <a:ea typeface="+mn-ea"/>
                <a:cs typeface="+mn-cs"/>
              </a:endParaRPr>
            </a:p>
          </p:txBody>
        </p:sp>
        <p:sp>
          <p:nvSpPr>
            <p:cNvPr id="48" name="Rectangle 47"/>
            <p:cNvSpPr/>
            <p:nvPr/>
          </p:nvSpPr>
          <p:spPr bwMode="auto">
            <a:xfrm>
              <a:off x="7214627" y="3497862"/>
              <a:ext cx="1188720" cy="1188720"/>
            </a:xfrm>
            <a:prstGeom prst="rect">
              <a:avLst/>
            </a:prstGeom>
            <a:solidFill>
              <a:srgbClr val="FFC0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Question</a:t>
              </a:r>
            </a:p>
          </p:txBody>
        </p:sp>
        <p:grpSp>
          <p:nvGrpSpPr>
            <p:cNvPr id="12" name="Group 11"/>
            <p:cNvGrpSpPr/>
            <p:nvPr/>
          </p:nvGrpSpPr>
          <p:grpSpPr>
            <a:xfrm>
              <a:off x="7488598" y="3967951"/>
              <a:ext cx="806431" cy="694939"/>
              <a:chOff x="8783963" y="4448677"/>
              <a:chExt cx="735026" cy="633406"/>
            </a:xfrm>
          </p:grpSpPr>
          <p:grpSp>
            <p:nvGrpSpPr>
              <p:cNvPr id="42" name="Group 41"/>
              <p:cNvGrpSpPr/>
              <p:nvPr/>
            </p:nvGrpSpPr>
            <p:grpSpPr bwMode="black">
              <a:xfrm>
                <a:off x="8783963" y="4448677"/>
                <a:ext cx="735022" cy="633406"/>
                <a:chOff x="5574622" y="922419"/>
                <a:chExt cx="576936" cy="497307"/>
              </a:xfrm>
            </p:grpSpPr>
            <p:sp>
              <p:nvSpPr>
                <p:cNvPr id="52" name="Rectangle 51"/>
                <p:cNvSpPr/>
                <p:nvPr/>
              </p:nvSpPr>
              <p:spPr bwMode="black">
                <a:xfrm>
                  <a:off x="5574622" y="922419"/>
                  <a:ext cx="576936" cy="360946"/>
                </a:xfrm>
                <a:prstGeom prst="rect">
                  <a:avLst/>
                </a:prstGeom>
                <a:solidFill>
                  <a:srgbClr val="FFFFFF"/>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120" normalizeH="0" baseline="0" noProof="0" dirty="0">
                    <a:ln>
                      <a:noFill/>
                    </a:ln>
                    <a:solidFill>
                      <a:srgbClr val="505050">
                        <a:lumMod val="50000"/>
                      </a:srgbClr>
                    </a:solidFill>
                    <a:effectLst/>
                    <a:uLnTx/>
                    <a:uFillTx/>
                    <a:latin typeface="Segoe Light" pitchFamily="34" charset="0"/>
                    <a:ea typeface="+mn-ea"/>
                    <a:cs typeface="+mn-cs"/>
                  </a:endParaRPr>
                </a:p>
              </p:txBody>
            </p:sp>
            <p:sp>
              <p:nvSpPr>
                <p:cNvPr id="53" name="Isosceles Triangle 52"/>
                <p:cNvSpPr/>
                <p:nvPr/>
              </p:nvSpPr>
              <p:spPr bwMode="black">
                <a:xfrm flipV="1">
                  <a:off x="5662862" y="1251284"/>
                  <a:ext cx="202131" cy="168442"/>
                </a:xfrm>
                <a:prstGeom prst="triangle">
                  <a:avLst>
                    <a:gd name="adj" fmla="val 20000"/>
                  </a:avLst>
                </a:prstGeom>
                <a:solidFill>
                  <a:srgbClr val="FFFFFF"/>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9639" tIns="44819" rIns="89639" bIns="44819" numCol="1" rtlCol="0" anchor="ctr" anchorCtr="0" compatLnSpc="1">
                  <a:prstTxWarp prst="textNoShape">
                    <a:avLst/>
                  </a:prstTxWarp>
                </a:bodyPr>
                <a:lstStyle/>
                <a:p>
                  <a:pPr marL="0" marR="0" lvl="0" indent="0" algn="l" defTabSz="72614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120" normalizeH="0" baseline="0" noProof="0" dirty="0">
                    <a:ln>
                      <a:noFill/>
                    </a:ln>
                    <a:solidFill>
                      <a:srgbClr val="505050">
                        <a:lumMod val="50000"/>
                      </a:srgbClr>
                    </a:solidFill>
                    <a:effectLst/>
                    <a:uLnTx/>
                    <a:uFillTx/>
                    <a:latin typeface="Segoe Light" pitchFamily="34" charset="0"/>
                    <a:ea typeface="+mn-ea"/>
                    <a:cs typeface="+mn-cs"/>
                  </a:endParaRPr>
                </a:p>
              </p:txBody>
            </p:sp>
          </p:grpSp>
          <p:sp>
            <p:nvSpPr>
              <p:cNvPr id="46" name="TextBox 45"/>
              <p:cNvSpPr txBox="1"/>
              <p:nvPr/>
            </p:nvSpPr>
            <p:spPr bwMode="black">
              <a:xfrm>
                <a:off x="8897555" y="4538634"/>
                <a:ext cx="621434" cy="266499"/>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63" b="1" i="0" u="none" strike="noStrike" kern="1200" cap="none" spc="0" normalizeH="0" baseline="0" noProof="0" dirty="0">
                    <a:ln>
                      <a:noFill/>
                    </a:ln>
                    <a:solidFill>
                      <a:srgbClr val="FF8C00"/>
                    </a:solidFill>
                    <a:effectLst/>
                    <a:uLnTx/>
                    <a:uFillTx/>
                    <a:latin typeface="Segoe UI"/>
                    <a:ea typeface="+mn-ea"/>
                    <a:cs typeface="+mn-cs"/>
                  </a:rPr>
                  <a:t>Q</a:t>
                </a:r>
                <a:r>
                  <a:rPr kumimoji="0" lang="en-US" sz="1863" b="0" i="0" u="none" strike="noStrike" kern="1200" cap="none" spc="0" normalizeH="0" baseline="0" noProof="0" dirty="0">
                    <a:ln>
                      <a:noFill/>
                    </a:ln>
                    <a:solidFill>
                      <a:srgbClr val="FF8C00"/>
                    </a:solidFill>
                    <a:effectLst/>
                    <a:uLnTx/>
                    <a:uFillTx/>
                    <a:latin typeface="Segoe UI"/>
                    <a:ea typeface="+mn-ea"/>
                    <a:cs typeface="+mn-cs"/>
                  </a:rPr>
                  <a:t>&amp;</a:t>
                </a:r>
                <a:r>
                  <a:rPr kumimoji="0" lang="en-US" sz="1863" b="1" i="0" u="none" strike="noStrike" kern="1200" cap="none" spc="0" normalizeH="0" baseline="0" noProof="0" dirty="0">
                    <a:ln>
                      <a:noFill/>
                    </a:ln>
                    <a:solidFill>
                      <a:srgbClr val="FF8C00"/>
                    </a:solidFill>
                    <a:effectLst/>
                    <a:uLnTx/>
                    <a:uFillTx/>
                    <a:latin typeface="Segoe UI"/>
                    <a:ea typeface="+mn-ea"/>
                    <a:cs typeface="+mn-cs"/>
                  </a:rPr>
                  <a:t>A</a:t>
                </a:r>
                <a:endParaRPr kumimoji="0" lang="en-US" sz="1863" b="0" i="0" u="none" strike="noStrike" kern="1200" cap="none" spc="-132" normalizeH="0" baseline="0" noProof="0" dirty="0">
                  <a:ln>
                    <a:noFill/>
                  </a:ln>
                  <a:solidFill>
                    <a:srgbClr val="FF8C00"/>
                  </a:solidFill>
                  <a:effectLst/>
                  <a:uLnTx/>
                  <a:uFillTx/>
                  <a:latin typeface="Arial Black" pitchFamily="34" charset="0"/>
                  <a:ea typeface="+mn-ea"/>
                  <a:cs typeface="Arial" pitchFamily="34" charset="0"/>
                </a:endParaRPr>
              </a:p>
            </p:txBody>
          </p:sp>
        </p:grpSp>
        <p:sp>
          <p:nvSpPr>
            <p:cNvPr id="49" name="Rectangle 48"/>
            <p:cNvSpPr/>
            <p:nvPr/>
          </p:nvSpPr>
          <p:spPr bwMode="auto">
            <a:xfrm>
              <a:off x="7214627" y="4784995"/>
              <a:ext cx="1188720" cy="1188720"/>
            </a:xfrm>
            <a:prstGeom prst="rect">
              <a:avLst/>
            </a:prstGeom>
            <a:solidFill>
              <a:srgbClr val="FFC000"/>
            </a:solidFill>
            <a:ln w="38100" cap="flat" cmpd="sng" algn="ctr">
              <a:noFill/>
              <a:prstDash val="solid"/>
              <a:headEnd type="none" w="med" len="med"/>
              <a:tailEnd type="none" w="med" len="med"/>
            </a:ln>
            <a:effectLst/>
          </p:spPr>
          <p:txBody>
            <a:bodyPr vert="horz" wrap="square" lIns="91423" tIns="89642" rIns="91423" bIns="89642" numCol="1" rtlCol="0" anchor="t"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rPr>
                <a:t>Mobility</a:t>
              </a:r>
            </a:p>
          </p:txBody>
        </p:sp>
        <p:grpSp>
          <p:nvGrpSpPr>
            <p:cNvPr id="14" name="Group 13"/>
            <p:cNvGrpSpPr/>
            <p:nvPr/>
          </p:nvGrpSpPr>
          <p:grpSpPr>
            <a:xfrm>
              <a:off x="7492538" y="5217702"/>
              <a:ext cx="728879" cy="719102"/>
              <a:chOff x="10280016" y="4544833"/>
              <a:chExt cx="728879" cy="719102"/>
            </a:xfrm>
          </p:grpSpPr>
          <p:grpSp>
            <p:nvGrpSpPr>
              <p:cNvPr id="58" name="Group 57"/>
              <p:cNvGrpSpPr/>
              <p:nvPr/>
            </p:nvGrpSpPr>
            <p:grpSpPr bwMode="black">
              <a:xfrm>
                <a:off x="10280016" y="4544833"/>
                <a:ext cx="728879" cy="719102"/>
                <a:chOff x="2916435" y="3914152"/>
                <a:chExt cx="930763" cy="918513"/>
              </a:xfrm>
            </p:grpSpPr>
            <p:pic>
              <p:nvPicPr>
                <p:cNvPr id="59" name="Picture 5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black">
                <a:xfrm rot="2614426" flipH="1">
                  <a:off x="2916435" y="4302640"/>
                  <a:ext cx="394555" cy="530025"/>
                </a:xfrm>
                <a:prstGeom prst="rect">
                  <a:avLst/>
                </a:prstGeom>
              </p:spPr>
            </p:pic>
            <p:sp>
              <p:nvSpPr>
                <p:cNvPr id="60" name="Freeform 61"/>
                <p:cNvSpPr>
                  <a:spLocks/>
                </p:cNvSpPr>
                <p:nvPr/>
              </p:nvSpPr>
              <p:spPr bwMode="black">
                <a:xfrm rot="10800000">
                  <a:off x="3279998" y="3914152"/>
                  <a:ext cx="567200" cy="820335"/>
                </a:xfrm>
                <a:custGeom>
                  <a:avLst/>
                  <a:gdLst/>
                  <a:ahLst/>
                  <a:cxnLst>
                    <a:cxn ang="0">
                      <a:pos x="251" y="363"/>
                    </a:cxn>
                    <a:cxn ang="0">
                      <a:pos x="243" y="372"/>
                    </a:cxn>
                    <a:cxn ang="0">
                      <a:pos x="35" y="372"/>
                    </a:cxn>
                    <a:cxn ang="0">
                      <a:pos x="27" y="363"/>
                    </a:cxn>
                    <a:cxn ang="0">
                      <a:pos x="27" y="36"/>
                    </a:cxn>
                    <a:cxn ang="0">
                      <a:pos x="35" y="27"/>
                    </a:cxn>
                    <a:cxn ang="0">
                      <a:pos x="243" y="27"/>
                    </a:cxn>
                    <a:cxn ang="0">
                      <a:pos x="251" y="36"/>
                    </a:cxn>
                    <a:cxn ang="0">
                      <a:pos x="251" y="108"/>
                    </a:cxn>
                    <a:cxn ang="0">
                      <a:pos x="277" y="84"/>
                    </a:cxn>
                    <a:cxn ang="0">
                      <a:pos x="277" y="10"/>
                    </a:cxn>
                    <a:cxn ang="0">
                      <a:pos x="267" y="0"/>
                    </a:cxn>
                    <a:cxn ang="0">
                      <a:pos x="11" y="0"/>
                    </a:cxn>
                    <a:cxn ang="0">
                      <a:pos x="0" y="10"/>
                    </a:cxn>
                    <a:cxn ang="0">
                      <a:pos x="0" y="389"/>
                    </a:cxn>
                    <a:cxn ang="0">
                      <a:pos x="11" y="399"/>
                    </a:cxn>
                    <a:cxn ang="0">
                      <a:pos x="267" y="399"/>
                    </a:cxn>
                    <a:cxn ang="0">
                      <a:pos x="277" y="389"/>
                    </a:cxn>
                    <a:cxn ang="0">
                      <a:pos x="277" y="168"/>
                    </a:cxn>
                    <a:cxn ang="0">
                      <a:pos x="251" y="191"/>
                    </a:cxn>
                    <a:cxn ang="0">
                      <a:pos x="251" y="363"/>
                    </a:cxn>
                  </a:cxnLst>
                  <a:rect l="0" t="0" r="r" b="b"/>
                  <a:pathLst>
                    <a:path w="277" h="399">
                      <a:moveTo>
                        <a:pt x="251" y="363"/>
                      </a:moveTo>
                      <a:cubicBezTo>
                        <a:pt x="251" y="368"/>
                        <a:pt x="247" y="372"/>
                        <a:pt x="243" y="372"/>
                      </a:cubicBezTo>
                      <a:cubicBezTo>
                        <a:pt x="35" y="372"/>
                        <a:pt x="35" y="372"/>
                        <a:pt x="35" y="372"/>
                      </a:cubicBezTo>
                      <a:cubicBezTo>
                        <a:pt x="31" y="372"/>
                        <a:pt x="27" y="368"/>
                        <a:pt x="27" y="363"/>
                      </a:cubicBezTo>
                      <a:cubicBezTo>
                        <a:pt x="27" y="36"/>
                        <a:pt x="27" y="36"/>
                        <a:pt x="27" y="36"/>
                      </a:cubicBezTo>
                      <a:cubicBezTo>
                        <a:pt x="27" y="31"/>
                        <a:pt x="31" y="27"/>
                        <a:pt x="35" y="27"/>
                      </a:cubicBezTo>
                      <a:cubicBezTo>
                        <a:pt x="243" y="27"/>
                        <a:pt x="243" y="27"/>
                        <a:pt x="243" y="27"/>
                      </a:cubicBezTo>
                      <a:cubicBezTo>
                        <a:pt x="247" y="27"/>
                        <a:pt x="251" y="31"/>
                        <a:pt x="251" y="36"/>
                      </a:cubicBezTo>
                      <a:cubicBezTo>
                        <a:pt x="251" y="108"/>
                        <a:pt x="251" y="108"/>
                        <a:pt x="251" y="108"/>
                      </a:cubicBezTo>
                      <a:cubicBezTo>
                        <a:pt x="277" y="84"/>
                        <a:pt x="277" y="84"/>
                        <a:pt x="277" y="84"/>
                      </a:cubicBezTo>
                      <a:cubicBezTo>
                        <a:pt x="277" y="10"/>
                        <a:pt x="277" y="10"/>
                        <a:pt x="277" y="10"/>
                      </a:cubicBezTo>
                      <a:cubicBezTo>
                        <a:pt x="277" y="4"/>
                        <a:pt x="273" y="0"/>
                        <a:pt x="267" y="0"/>
                      </a:cubicBezTo>
                      <a:cubicBezTo>
                        <a:pt x="11" y="0"/>
                        <a:pt x="11" y="0"/>
                        <a:pt x="11" y="0"/>
                      </a:cubicBezTo>
                      <a:cubicBezTo>
                        <a:pt x="5" y="0"/>
                        <a:pt x="0" y="4"/>
                        <a:pt x="0" y="10"/>
                      </a:cubicBezTo>
                      <a:cubicBezTo>
                        <a:pt x="0" y="389"/>
                        <a:pt x="0" y="389"/>
                        <a:pt x="0" y="389"/>
                      </a:cubicBezTo>
                      <a:cubicBezTo>
                        <a:pt x="0" y="395"/>
                        <a:pt x="5" y="399"/>
                        <a:pt x="11" y="399"/>
                      </a:cubicBezTo>
                      <a:cubicBezTo>
                        <a:pt x="267" y="399"/>
                        <a:pt x="267" y="399"/>
                        <a:pt x="267" y="399"/>
                      </a:cubicBezTo>
                      <a:cubicBezTo>
                        <a:pt x="273" y="399"/>
                        <a:pt x="277" y="395"/>
                        <a:pt x="277" y="389"/>
                      </a:cubicBezTo>
                      <a:cubicBezTo>
                        <a:pt x="277" y="168"/>
                        <a:pt x="277" y="168"/>
                        <a:pt x="277" y="168"/>
                      </a:cubicBezTo>
                      <a:cubicBezTo>
                        <a:pt x="251" y="191"/>
                        <a:pt x="251" y="191"/>
                        <a:pt x="251" y="191"/>
                      </a:cubicBezTo>
                      <a:lnTo>
                        <a:pt x="251" y="363"/>
                      </a:lnTo>
                      <a:close/>
                    </a:path>
                  </a:pathLst>
                </a:custGeom>
                <a:solidFill>
                  <a:srgbClr val="FFFFFF"/>
                </a:solidFill>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solidFill>
                      <a:srgbClr val="FFFFFF"/>
                    </a:solidFill>
                    <a:effectLst/>
                    <a:uLnTx/>
                    <a:uFillTx/>
                    <a:latin typeface="Segoe UI"/>
                    <a:ea typeface="+mn-ea"/>
                    <a:cs typeface="+mn-cs"/>
                  </a:endParaRPr>
                </a:p>
              </p:txBody>
            </p:sp>
          </p:grpSp>
          <p:sp>
            <p:nvSpPr>
              <p:cNvPr id="61" name="Freeform 60"/>
              <p:cNvSpPr/>
              <p:nvPr>
                <p:custDataLst>
                  <p:tags r:id="rId1"/>
                </p:custDataLst>
              </p:nvPr>
            </p:nvSpPr>
            <p:spPr>
              <a:xfrm>
                <a:off x="10639372" y="4697518"/>
                <a:ext cx="294872" cy="297203"/>
              </a:xfrm>
              <a:custGeom>
                <a:avLst/>
                <a:gdLst/>
                <a:ahLst/>
                <a:cxnLst/>
                <a:rect l="l" t="t" r="r" b="b"/>
                <a:pathLst>
                  <a:path w="1188720" h="1198117">
                    <a:moveTo>
                      <a:pt x="0" y="1179829"/>
                    </a:moveTo>
                    <a:lnTo>
                      <a:pt x="1188720" y="1179829"/>
                    </a:lnTo>
                    <a:lnTo>
                      <a:pt x="1188720" y="1198117"/>
                    </a:lnTo>
                    <a:lnTo>
                      <a:pt x="0" y="1198117"/>
                    </a:lnTo>
                    <a:close/>
                    <a:moveTo>
                      <a:pt x="85725" y="629228"/>
                    </a:moveTo>
                    <a:lnTo>
                      <a:pt x="228600" y="629228"/>
                    </a:lnTo>
                    <a:lnTo>
                      <a:pt x="228600" y="1174749"/>
                    </a:lnTo>
                    <a:lnTo>
                      <a:pt x="85725" y="1174749"/>
                    </a:lnTo>
                    <a:close/>
                    <a:moveTo>
                      <a:pt x="160954" y="560521"/>
                    </a:moveTo>
                    <a:lnTo>
                      <a:pt x="134893" y="565433"/>
                    </a:lnTo>
                    <a:lnTo>
                      <a:pt x="135875" y="570646"/>
                    </a:lnTo>
                    <a:lnTo>
                      <a:pt x="161936" y="565734"/>
                    </a:lnTo>
                    <a:close/>
                    <a:moveTo>
                      <a:pt x="200045" y="527408"/>
                    </a:moveTo>
                    <a:lnTo>
                      <a:pt x="95801" y="547055"/>
                    </a:lnTo>
                    <a:lnTo>
                      <a:pt x="96784" y="552268"/>
                    </a:lnTo>
                    <a:lnTo>
                      <a:pt x="201028" y="532620"/>
                    </a:lnTo>
                    <a:close/>
                    <a:moveTo>
                      <a:pt x="193530" y="502890"/>
                    </a:moveTo>
                    <a:lnTo>
                      <a:pt x="102316" y="520082"/>
                    </a:lnTo>
                    <a:lnTo>
                      <a:pt x="103299" y="525294"/>
                    </a:lnTo>
                    <a:lnTo>
                      <a:pt x="194512" y="508102"/>
                    </a:lnTo>
                    <a:close/>
                    <a:moveTo>
                      <a:pt x="180500" y="479600"/>
                    </a:moveTo>
                    <a:lnTo>
                      <a:pt x="115347" y="491880"/>
                    </a:lnTo>
                    <a:lnTo>
                      <a:pt x="116329" y="497092"/>
                    </a:lnTo>
                    <a:lnTo>
                      <a:pt x="181482" y="484813"/>
                    </a:lnTo>
                    <a:close/>
                    <a:moveTo>
                      <a:pt x="378883" y="434974"/>
                    </a:moveTo>
                    <a:lnTo>
                      <a:pt x="521758" y="434974"/>
                    </a:lnTo>
                    <a:lnTo>
                      <a:pt x="521758" y="1174749"/>
                    </a:lnTo>
                    <a:lnTo>
                      <a:pt x="378883" y="1174749"/>
                    </a:lnTo>
                    <a:close/>
                    <a:moveTo>
                      <a:pt x="672041" y="225425"/>
                    </a:moveTo>
                    <a:lnTo>
                      <a:pt x="814916" y="225425"/>
                    </a:lnTo>
                    <a:lnTo>
                      <a:pt x="814916" y="1174749"/>
                    </a:lnTo>
                    <a:lnTo>
                      <a:pt x="672041" y="1174749"/>
                    </a:lnTo>
                    <a:close/>
                    <a:moveTo>
                      <a:pt x="144046" y="189143"/>
                    </a:moveTo>
                    <a:cubicBezTo>
                      <a:pt x="151107" y="189037"/>
                      <a:pt x="156647" y="189144"/>
                      <a:pt x="164251" y="190420"/>
                    </a:cubicBezTo>
                    <a:cubicBezTo>
                      <a:pt x="171855" y="191696"/>
                      <a:pt x="181740" y="194037"/>
                      <a:pt x="189670" y="196802"/>
                    </a:cubicBezTo>
                    <a:cubicBezTo>
                      <a:pt x="197599" y="199568"/>
                      <a:pt x="204877" y="202865"/>
                      <a:pt x="211830" y="207013"/>
                    </a:cubicBezTo>
                    <a:cubicBezTo>
                      <a:pt x="218782" y="211162"/>
                      <a:pt x="225516" y="216161"/>
                      <a:pt x="231382" y="221693"/>
                    </a:cubicBezTo>
                    <a:cubicBezTo>
                      <a:pt x="237248" y="227224"/>
                      <a:pt x="242679" y="233712"/>
                      <a:pt x="247025" y="240201"/>
                    </a:cubicBezTo>
                    <a:cubicBezTo>
                      <a:pt x="251370" y="246689"/>
                      <a:pt x="254411" y="253923"/>
                      <a:pt x="257453" y="260624"/>
                    </a:cubicBezTo>
                    <a:cubicBezTo>
                      <a:pt x="260495" y="267325"/>
                      <a:pt x="263319" y="273282"/>
                      <a:pt x="265274" y="280409"/>
                    </a:cubicBezTo>
                    <a:cubicBezTo>
                      <a:pt x="267230" y="287536"/>
                      <a:pt x="268967" y="295194"/>
                      <a:pt x="269185" y="303385"/>
                    </a:cubicBezTo>
                    <a:cubicBezTo>
                      <a:pt x="269402" y="311575"/>
                      <a:pt x="268641" y="320510"/>
                      <a:pt x="266578" y="329552"/>
                    </a:cubicBezTo>
                    <a:cubicBezTo>
                      <a:pt x="264514" y="338593"/>
                      <a:pt x="261146" y="347528"/>
                      <a:pt x="256801" y="357633"/>
                    </a:cubicBezTo>
                    <a:cubicBezTo>
                      <a:pt x="252456" y="367738"/>
                      <a:pt x="246373" y="378375"/>
                      <a:pt x="240507" y="390182"/>
                    </a:cubicBezTo>
                    <a:cubicBezTo>
                      <a:pt x="234641" y="401989"/>
                      <a:pt x="226277" y="418902"/>
                      <a:pt x="221606" y="428476"/>
                    </a:cubicBezTo>
                    <a:cubicBezTo>
                      <a:pt x="216935" y="438049"/>
                      <a:pt x="213568" y="443048"/>
                      <a:pt x="212481" y="447622"/>
                    </a:cubicBezTo>
                    <a:cubicBezTo>
                      <a:pt x="211395" y="452196"/>
                      <a:pt x="215414" y="453260"/>
                      <a:pt x="215088" y="455919"/>
                    </a:cubicBezTo>
                    <a:cubicBezTo>
                      <a:pt x="214762" y="458578"/>
                      <a:pt x="210743" y="461025"/>
                      <a:pt x="210526" y="463578"/>
                    </a:cubicBezTo>
                    <a:cubicBezTo>
                      <a:pt x="210309" y="466130"/>
                      <a:pt x="214219" y="467620"/>
                      <a:pt x="213785" y="471236"/>
                    </a:cubicBezTo>
                    <a:lnTo>
                      <a:pt x="207919" y="485277"/>
                    </a:lnTo>
                    <a:cubicBezTo>
                      <a:pt x="207267" y="489213"/>
                      <a:pt x="209005" y="491766"/>
                      <a:pt x="209874" y="494850"/>
                    </a:cubicBezTo>
                    <a:cubicBezTo>
                      <a:pt x="210743" y="497935"/>
                      <a:pt x="213567" y="499743"/>
                      <a:pt x="213133" y="503785"/>
                    </a:cubicBezTo>
                    <a:cubicBezTo>
                      <a:pt x="212698" y="507827"/>
                      <a:pt x="207158" y="514954"/>
                      <a:pt x="207267" y="519102"/>
                    </a:cubicBezTo>
                    <a:cubicBezTo>
                      <a:pt x="207376" y="523251"/>
                      <a:pt x="213024" y="525166"/>
                      <a:pt x="213785" y="528676"/>
                    </a:cubicBezTo>
                    <a:lnTo>
                      <a:pt x="211830" y="540164"/>
                    </a:lnTo>
                    <a:cubicBezTo>
                      <a:pt x="210743" y="542929"/>
                      <a:pt x="207484" y="543461"/>
                      <a:pt x="207267" y="545270"/>
                    </a:cubicBezTo>
                    <a:cubicBezTo>
                      <a:pt x="207050" y="547078"/>
                      <a:pt x="209440" y="548780"/>
                      <a:pt x="210526" y="551013"/>
                    </a:cubicBezTo>
                    <a:cubicBezTo>
                      <a:pt x="211612" y="553247"/>
                      <a:pt x="213676" y="555587"/>
                      <a:pt x="213785" y="558672"/>
                    </a:cubicBezTo>
                    <a:cubicBezTo>
                      <a:pt x="213893" y="561757"/>
                      <a:pt x="213242" y="566437"/>
                      <a:pt x="211178" y="569522"/>
                    </a:cubicBezTo>
                    <a:cubicBezTo>
                      <a:pt x="209114" y="572606"/>
                      <a:pt x="207593" y="574628"/>
                      <a:pt x="201401" y="577180"/>
                    </a:cubicBezTo>
                    <a:cubicBezTo>
                      <a:pt x="195209" y="579733"/>
                      <a:pt x="179024" y="582606"/>
                      <a:pt x="174027" y="584839"/>
                    </a:cubicBezTo>
                    <a:cubicBezTo>
                      <a:pt x="169031" y="587073"/>
                      <a:pt x="172724" y="588137"/>
                      <a:pt x="171420" y="590583"/>
                    </a:cubicBezTo>
                    <a:cubicBezTo>
                      <a:pt x="170117" y="593030"/>
                      <a:pt x="169248" y="597072"/>
                      <a:pt x="166206" y="599518"/>
                    </a:cubicBezTo>
                    <a:cubicBezTo>
                      <a:pt x="163164" y="601964"/>
                      <a:pt x="157733" y="604198"/>
                      <a:pt x="153171" y="605262"/>
                    </a:cubicBezTo>
                    <a:cubicBezTo>
                      <a:pt x="148608" y="606326"/>
                      <a:pt x="142960" y="606645"/>
                      <a:pt x="138832" y="605900"/>
                    </a:cubicBezTo>
                    <a:cubicBezTo>
                      <a:pt x="134704" y="605156"/>
                      <a:pt x="131011" y="602603"/>
                      <a:pt x="128404" y="600794"/>
                    </a:cubicBezTo>
                    <a:cubicBezTo>
                      <a:pt x="125797" y="598986"/>
                      <a:pt x="124276" y="597391"/>
                      <a:pt x="123189" y="595051"/>
                    </a:cubicBezTo>
                    <a:lnTo>
                      <a:pt x="121886" y="586754"/>
                    </a:lnTo>
                    <a:cubicBezTo>
                      <a:pt x="118084" y="584626"/>
                      <a:pt x="110806" y="581648"/>
                      <a:pt x="110806" y="581648"/>
                    </a:cubicBezTo>
                    <a:cubicBezTo>
                      <a:pt x="107004" y="580052"/>
                      <a:pt x="100704" y="577712"/>
                      <a:pt x="97119" y="575904"/>
                    </a:cubicBezTo>
                    <a:cubicBezTo>
                      <a:pt x="93534" y="574096"/>
                      <a:pt x="91471" y="572713"/>
                      <a:pt x="89298" y="570798"/>
                    </a:cubicBezTo>
                    <a:cubicBezTo>
                      <a:pt x="87125" y="568883"/>
                      <a:pt x="84844" y="566756"/>
                      <a:pt x="84084" y="564416"/>
                    </a:cubicBezTo>
                    <a:cubicBezTo>
                      <a:pt x="83324" y="562076"/>
                      <a:pt x="83975" y="559417"/>
                      <a:pt x="84736" y="556757"/>
                    </a:cubicBezTo>
                    <a:lnTo>
                      <a:pt x="88646" y="548461"/>
                    </a:lnTo>
                    <a:cubicBezTo>
                      <a:pt x="88972" y="546546"/>
                      <a:pt x="87668" y="546759"/>
                      <a:pt x="86691" y="545270"/>
                    </a:cubicBezTo>
                    <a:cubicBezTo>
                      <a:pt x="85713" y="543780"/>
                      <a:pt x="83650" y="541866"/>
                      <a:pt x="82780" y="539526"/>
                    </a:cubicBezTo>
                    <a:cubicBezTo>
                      <a:pt x="81911" y="537185"/>
                      <a:pt x="81151" y="533994"/>
                      <a:pt x="81477" y="531229"/>
                    </a:cubicBezTo>
                    <a:cubicBezTo>
                      <a:pt x="81803" y="528463"/>
                      <a:pt x="83758" y="525166"/>
                      <a:pt x="84736" y="522932"/>
                    </a:cubicBezTo>
                    <a:cubicBezTo>
                      <a:pt x="85713" y="520698"/>
                      <a:pt x="87451" y="519315"/>
                      <a:pt x="87343" y="517826"/>
                    </a:cubicBezTo>
                    <a:cubicBezTo>
                      <a:pt x="87234" y="516337"/>
                      <a:pt x="85061" y="515699"/>
                      <a:pt x="84084" y="513997"/>
                    </a:cubicBezTo>
                    <a:cubicBezTo>
                      <a:pt x="83106" y="512295"/>
                      <a:pt x="81803" y="509955"/>
                      <a:pt x="81477" y="507615"/>
                    </a:cubicBezTo>
                    <a:cubicBezTo>
                      <a:pt x="81151" y="505274"/>
                      <a:pt x="81042" y="502615"/>
                      <a:pt x="82129" y="499956"/>
                    </a:cubicBezTo>
                    <a:lnTo>
                      <a:pt x="87994" y="491659"/>
                    </a:lnTo>
                    <a:cubicBezTo>
                      <a:pt x="88646" y="489319"/>
                      <a:pt x="87125" y="488681"/>
                      <a:pt x="86039" y="485915"/>
                    </a:cubicBezTo>
                    <a:cubicBezTo>
                      <a:pt x="84953" y="483150"/>
                      <a:pt x="82346" y="478469"/>
                      <a:pt x="81477" y="475065"/>
                    </a:cubicBezTo>
                    <a:cubicBezTo>
                      <a:pt x="80608" y="471662"/>
                      <a:pt x="80282" y="468790"/>
                      <a:pt x="80825" y="465492"/>
                    </a:cubicBezTo>
                    <a:cubicBezTo>
                      <a:pt x="81368" y="462195"/>
                      <a:pt x="86148" y="458259"/>
                      <a:pt x="85387" y="453366"/>
                    </a:cubicBezTo>
                    <a:cubicBezTo>
                      <a:pt x="84627" y="448473"/>
                      <a:pt x="80173" y="444005"/>
                      <a:pt x="76263" y="436134"/>
                    </a:cubicBezTo>
                    <a:cubicBezTo>
                      <a:pt x="72352" y="428263"/>
                      <a:pt x="68116" y="418583"/>
                      <a:pt x="61924" y="406138"/>
                    </a:cubicBezTo>
                    <a:cubicBezTo>
                      <a:pt x="55732" y="393693"/>
                      <a:pt x="44761" y="373695"/>
                      <a:pt x="39112" y="361463"/>
                    </a:cubicBezTo>
                    <a:cubicBezTo>
                      <a:pt x="33464" y="349230"/>
                      <a:pt x="30313" y="342635"/>
                      <a:pt x="28032" y="332743"/>
                    </a:cubicBezTo>
                    <a:cubicBezTo>
                      <a:pt x="25751" y="322850"/>
                      <a:pt x="24664" y="313064"/>
                      <a:pt x="25425" y="302108"/>
                    </a:cubicBezTo>
                    <a:cubicBezTo>
                      <a:pt x="26186" y="291152"/>
                      <a:pt x="29118" y="277324"/>
                      <a:pt x="32595" y="267006"/>
                    </a:cubicBezTo>
                    <a:cubicBezTo>
                      <a:pt x="36071" y="256688"/>
                      <a:pt x="40525" y="248498"/>
                      <a:pt x="46282" y="240201"/>
                    </a:cubicBezTo>
                    <a:cubicBezTo>
                      <a:pt x="52039" y="231904"/>
                      <a:pt x="58991" y="223820"/>
                      <a:pt x="67138" y="217225"/>
                    </a:cubicBezTo>
                    <a:cubicBezTo>
                      <a:pt x="75285" y="210630"/>
                      <a:pt x="86039" y="204992"/>
                      <a:pt x="95164" y="200631"/>
                    </a:cubicBezTo>
                    <a:cubicBezTo>
                      <a:pt x="104289" y="196270"/>
                      <a:pt x="113739" y="192973"/>
                      <a:pt x="121886" y="191058"/>
                    </a:cubicBezTo>
                    <a:cubicBezTo>
                      <a:pt x="130033" y="189143"/>
                      <a:pt x="136985" y="189250"/>
                      <a:pt x="144046" y="189143"/>
                    </a:cubicBezTo>
                    <a:close/>
                    <a:moveTo>
                      <a:pt x="965198" y="0"/>
                    </a:moveTo>
                    <a:lnTo>
                      <a:pt x="1108073" y="0"/>
                    </a:lnTo>
                    <a:lnTo>
                      <a:pt x="1108073" y="1174749"/>
                    </a:lnTo>
                    <a:lnTo>
                      <a:pt x="965198" y="1174749"/>
                    </a:lnTo>
                    <a:close/>
                  </a:path>
                </a:pathLst>
              </a:custGeom>
              <a:solidFill>
                <a:schemeClr val="bg1"/>
              </a:solidFill>
              <a:ln w="19050" cap="flat" cmpd="sng" algn="ctr">
                <a:noFill/>
                <a:prstDash val="solid"/>
              </a:ln>
              <a:effectLst/>
            </p:spPr>
            <p:txBody>
              <a:bodyPr rtlCol="0" anchor="ctr"/>
              <a:lstStyle/>
              <a:p>
                <a:pPr marL="0" marR="0" lvl="0" indent="0" algn="ctr" defTabSz="896386"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ysClr val="window" lastClr="FFFFFF"/>
                  </a:solidFill>
                  <a:effectLst/>
                  <a:uLnTx/>
                  <a:uFillTx/>
                  <a:latin typeface="Arial"/>
                  <a:ea typeface="+mn-ea"/>
                  <a:cs typeface="+mn-cs"/>
                </a:endParaRPr>
              </a:p>
            </p:txBody>
          </p:sp>
        </p:grpSp>
        <p:sp>
          <p:nvSpPr>
            <p:cNvPr id="39" name="Rectangle 38"/>
            <p:cNvSpPr/>
            <p:nvPr/>
          </p:nvSpPr>
          <p:spPr bwMode="auto">
            <a:xfrm>
              <a:off x="8533988" y="2205052"/>
              <a:ext cx="3424510" cy="1173984"/>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Share data views and workbooks refreshable from on-premises and cloud based data sources, with </a:t>
              </a:r>
              <a:r>
                <a:rPr kumimoji="0" lang="en-US" sz="1765" b="1" i="0" u="none" strike="noStrike" kern="1200" cap="none" spc="0" normalizeH="0" baseline="0" noProof="0" dirty="0">
                  <a:ln>
                    <a:noFill/>
                  </a:ln>
                  <a:solidFill>
                    <a:srgbClr val="FFFFFF"/>
                  </a:solidFill>
                  <a:effectLst/>
                  <a:uLnTx/>
                  <a:uFillTx/>
                  <a:latin typeface="Segoe UI"/>
                  <a:ea typeface="+mn-ea"/>
                  <a:cs typeface="+mn-cs"/>
                </a:rPr>
                <a:t>Power BI Sites</a:t>
              </a:r>
              <a:endParaRPr kumimoji="0" lang="en-US" sz="1765" b="1"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50" name="Rectangle 49"/>
            <p:cNvSpPr/>
            <p:nvPr/>
          </p:nvSpPr>
          <p:spPr bwMode="auto">
            <a:xfrm>
              <a:off x="8533988" y="3497772"/>
              <a:ext cx="3424510" cy="1173984"/>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Ask questions and get immediate answers with natural language query</a:t>
              </a:r>
            </a:p>
          </p:txBody>
        </p:sp>
        <p:sp>
          <p:nvSpPr>
            <p:cNvPr id="51" name="Rectangle 50"/>
            <p:cNvSpPr/>
            <p:nvPr/>
          </p:nvSpPr>
          <p:spPr bwMode="auto">
            <a:xfrm>
              <a:off x="8528681" y="4790596"/>
              <a:ext cx="3424510" cy="1173984"/>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90000"/>
                </a:lnSpc>
                <a:spcBef>
                  <a:spcPct val="0"/>
                </a:spcBef>
                <a:spcAft>
                  <a:spcPct val="0"/>
                </a:spcAft>
                <a:buClrTx/>
                <a:buSzTx/>
                <a:buFontTx/>
                <a:buNone/>
                <a:tabLst/>
                <a:defRPr/>
              </a:pPr>
              <a:r>
                <a:rPr kumimoji="0" lang="en-US" sz="1765" b="0" i="0" u="none" strike="noStrike" kern="1200" cap="none" spc="0" normalizeH="0" baseline="0" noProof="0" dirty="0">
                  <a:ln>
                    <a:noFill/>
                  </a:ln>
                  <a:solidFill>
                    <a:srgbClr val="FFFFFF"/>
                  </a:solidFill>
                  <a:effectLst/>
                  <a:uLnTx/>
                  <a:uFillTx/>
                  <a:latin typeface="Segoe UI"/>
                  <a:ea typeface="+mn-ea"/>
                  <a:cs typeface="+mn-cs"/>
                </a:rPr>
                <a:t>Mobile access through HTML5 and touch optimized apps</a:t>
              </a:r>
              <a:endParaRPr kumimoji="0" lang="en-US" sz="1765"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sp>
        <p:nvSpPr>
          <p:cNvPr id="56" name="Rectangle 55"/>
          <p:cNvSpPr/>
          <p:nvPr/>
        </p:nvSpPr>
        <p:spPr bwMode="auto">
          <a:xfrm>
            <a:off x="477148" y="6058636"/>
            <a:ext cx="11241069" cy="491640"/>
          </a:xfrm>
          <a:prstGeom prst="rect">
            <a:avLst/>
          </a:prstGeom>
          <a:solidFill>
            <a:srgbClr val="696969"/>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ctr" defTabSz="913924" rtl="0" eaLnBrk="1" fontAlgn="base" latinLnBrk="0" hangingPunct="1">
              <a:lnSpc>
                <a:spcPct val="90000"/>
              </a:lnSpc>
              <a:spcBef>
                <a:spcPct val="0"/>
              </a:spcBef>
              <a:spcAft>
                <a:spcPct val="0"/>
              </a:spcAft>
              <a:buClrTx/>
              <a:buSzTx/>
              <a:buFontTx/>
              <a:buNone/>
              <a:tabLst/>
              <a:defRPr/>
            </a:pPr>
            <a:r>
              <a:rPr kumimoji="0" lang="en-US" sz="2353"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Scalable  |  Manageable  |  Trusted  </a:t>
            </a:r>
          </a:p>
        </p:txBody>
      </p:sp>
      <p:sp>
        <p:nvSpPr>
          <p:cNvPr id="57" name="Cross 56"/>
          <p:cNvSpPr/>
          <p:nvPr/>
        </p:nvSpPr>
        <p:spPr bwMode="auto">
          <a:xfrm>
            <a:off x="5684647" y="3450837"/>
            <a:ext cx="783058" cy="782462"/>
          </a:xfrm>
          <a:prstGeom prst="plus">
            <a:avLst>
              <a:gd name="adj" fmla="val 40783"/>
            </a:avLst>
          </a:prstGeom>
          <a:solidFill>
            <a:schemeClr val="bg2">
              <a:lumMod val="50000"/>
            </a:schemeClr>
          </a:solidFill>
          <a:ln w="10795" cap="flat" cmpd="sng" algn="ctr">
            <a:noFill/>
            <a:prstDash val="soli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lvl="0" indent="0" algn="ctr" defTabSz="914102" rtl="0" eaLnBrk="1" fontAlgn="base" latinLnBrk="0" hangingPunct="1">
              <a:lnSpc>
                <a:spcPct val="100000"/>
              </a:lnSpc>
              <a:spcBef>
                <a:spcPct val="0"/>
              </a:spcBef>
              <a:spcAft>
                <a:spcPct val="0"/>
              </a:spcAft>
              <a:buClrTx/>
              <a:buSzTx/>
              <a:buFontTx/>
              <a:buNone/>
              <a:tabLst/>
              <a:defRPr/>
            </a:pPr>
            <a:endParaRPr kumimoji="0" lang="en-US" sz="1961"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endParaRPr>
          </a:p>
        </p:txBody>
      </p:sp>
    </p:spTree>
    <p:extLst>
      <p:ext uri="{BB962C8B-B14F-4D97-AF65-F5344CB8AC3E}">
        <p14:creationId xmlns:p14="http://schemas.microsoft.com/office/powerpoint/2010/main" val="58671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2" presetClass="entr" presetSubtype="8" decel="10000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1000" fill="hold"/>
                                        <p:tgtEl>
                                          <p:spTgt spid="4"/>
                                        </p:tgtEl>
                                        <p:attrNameLst>
                                          <p:attrName>ppt_x</p:attrName>
                                        </p:attrNameLst>
                                      </p:cBhvr>
                                      <p:tavLst>
                                        <p:tav tm="0">
                                          <p:val>
                                            <p:strVal val="0-#ppt_w/2"/>
                                          </p:val>
                                        </p:tav>
                                        <p:tav tm="100000">
                                          <p:val>
                                            <p:strVal val="#ppt_x"/>
                                          </p:val>
                                        </p:tav>
                                      </p:tavLst>
                                    </p:anim>
                                    <p:anim calcmode="lin" valueType="num">
                                      <p:cBhvr additive="base">
                                        <p:cTn id="11" dur="1000" fill="hold"/>
                                        <p:tgtEl>
                                          <p:spTgt spid="4"/>
                                        </p:tgtEl>
                                        <p:attrNameLst>
                                          <p:attrName>ppt_y</p:attrName>
                                        </p:attrNameLst>
                                      </p:cBhvr>
                                      <p:tavLst>
                                        <p:tav tm="0">
                                          <p:val>
                                            <p:strVal val="#ppt_y"/>
                                          </p:val>
                                        </p:tav>
                                        <p:tav tm="100000">
                                          <p:val>
                                            <p:strVal val="#ppt_y"/>
                                          </p:val>
                                        </p:tav>
                                      </p:tavLst>
                                    </p:anim>
                                  </p:childTnLst>
                                </p:cTn>
                              </p:par>
                              <p:par>
                                <p:cTn id="12" presetID="2" presetClass="entr" presetSubtype="2" decel="10000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1000" fill="hold"/>
                                        <p:tgtEl>
                                          <p:spTgt spid="5"/>
                                        </p:tgtEl>
                                        <p:attrNameLst>
                                          <p:attrName>ppt_x</p:attrName>
                                        </p:attrNameLst>
                                      </p:cBhvr>
                                      <p:tavLst>
                                        <p:tav tm="0">
                                          <p:val>
                                            <p:strVal val="1+#ppt_w/2"/>
                                          </p:val>
                                        </p:tav>
                                        <p:tav tm="100000">
                                          <p:val>
                                            <p:strVal val="#ppt_x"/>
                                          </p:val>
                                        </p:tav>
                                      </p:tavLst>
                                    </p:anim>
                                    <p:anim calcmode="lin" valueType="num">
                                      <p:cBhvr additive="base">
                                        <p:cTn id="15" dur="1000" fill="hold"/>
                                        <p:tgtEl>
                                          <p:spTgt spid="5"/>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0" name="Group 29"/>
          <p:cNvGrpSpPr/>
          <p:nvPr/>
        </p:nvGrpSpPr>
        <p:grpSpPr>
          <a:xfrm>
            <a:off x="417671" y="1195215"/>
            <a:ext cx="899699" cy="5145883"/>
            <a:chOff x="426046" y="1218685"/>
            <a:chExt cx="917740" cy="5249069"/>
          </a:xfrm>
        </p:grpSpPr>
        <p:sp>
          <p:nvSpPr>
            <p:cNvPr id="31" name="Rectangle 30"/>
            <p:cNvSpPr/>
            <p:nvPr/>
          </p:nvSpPr>
          <p:spPr>
            <a:xfrm>
              <a:off x="429385" y="2133086"/>
              <a:ext cx="914400" cy="9144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2" name="Group 455"/>
            <p:cNvGrpSpPr>
              <a:grpSpLocks/>
            </p:cNvGrpSpPr>
            <p:nvPr/>
          </p:nvGrpSpPr>
          <p:grpSpPr bwMode="auto">
            <a:xfrm>
              <a:off x="657986" y="2361686"/>
              <a:ext cx="457200" cy="457200"/>
              <a:chOff x="-3781305" y="3065460"/>
              <a:chExt cx="1777999" cy="1777999"/>
            </a:xfrm>
          </p:grpSpPr>
          <p:sp>
            <p:nvSpPr>
              <p:cNvPr id="6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3" name="Rectangle 32"/>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4" name="Group 34"/>
            <p:cNvGrpSpPr>
              <a:grpSpLocks/>
            </p:cNvGrpSpPr>
            <p:nvPr/>
          </p:nvGrpSpPr>
          <p:grpSpPr bwMode="auto">
            <a:xfrm>
              <a:off x="657986" y="3276086"/>
              <a:ext cx="457200" cy="457200"/>
              <a:chOff x="-3781305" y="3065460"/>
              <a:chExt cx="1777999" cy="1777999"/>
            </a:xfrm>
          </p:grpSpPr>
          <p:sp>
            <p:nvSpPr>
              <p:cNvPr id="5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39"/>
            <p:cNvGrpSpPr>
              <a:grpSpLocks/>
            </p:cNvGrpSpPr>
            <p:nvPr/>
          </p:nvGrpSpPr>
          <p:grpSpPr bwMode="auto">
            <a:xfrm>
              <a:off x="657986" y="4190486"/>
              <a:ext cx="457200" cy="457200"/>
              <a:chOff x="-3781305" y="3065460"/>
              <a:chExt cx="1777999" cy="1777999"/>
            </a:xfrm>
          </p:grpSpPr>
          <p:sp>
            <p:nvSpPr>
              <p:cNvPr id="5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Rectangle 36"/>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9" name="Group 44"/>
            <p:cNvGrpSpPr>
              <a:grpSpLocks/>
            </p:cNvGrpSpPr>
            <p:nvPr/>
          </p:nvGrpSpPr>
          <p:grpSpPr bwMode="auto">
            <a:xfrm>
              <a:off x="657986" y="5104886"/>
              <a:ext cx="457200" cy="457200"/>
              <a:chOff x="-3781305" y="3065460"/>
              <a:chExt cx="1777999" cy="1777999"/>
            </a:xfrm>
          </p:grpSpPr>
          <p:sp>
            <p:nvSpPr>
              <p:cNvPr id="5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4" name="Rectangle 43"/>
            <p:cNvSpPr/>
            <p:nvPr/>
          </p:nvSpPr>
          <p:spPr>
            <a:xfrm>
              <a:off x="426046" y="1218685"/>
              <a:ext cx="914400" cy="9144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5" name="Group 44"/>
            <p:cNvGrpSpPr>
              <a:grpSpLocks/>
            </p:cNvGrpSpPr>
            <p:nvPr/>
          </p:nvGrpSpPr>
          <p:grpSpPr bwMode="auto">
            <a:xfrm>
              <a:off x="657986" y="14472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48" name="Group 44"/>
            <p:cNvGrpSpPr>
              <a:grpSpLocks/>
            </p:cNvGrpSpPr>
            <p:nvPr/>
          </p:nvGrpSpPr>
          <p:grpSpPr bwMode="auto">
            <a:xfrm>
              <a:off x="657986" y="6010554"/>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nvGrpSpPr>
          <p:cNvPr id="63" name="Group 62"/>
          <p:cNvGrpSpPr/>
          <p:nvPr/>
        </p:nvGrpSpPr>
        <p:grpSpPr>
          <a:xfrm>
            <a:off x="5239513" y="1334871"/>
            <a:ext cx="5596128" cy="4342469"/>
            <a:chOff x="4979976" y="1371830"/>
            <a:chExt cx="7202655" cy="5335314"/>
          </a:xfrm>
        </p:grpSpPr>
        <p:grpSp>
          <p:nvGrpSpPr>
            <p:cNvPr id="65" name="Group 64"/>
            <p:cNvGrpSpPr/>
            <p:nvPr/>
          </p:nvGrpSpPr>
          <p:grpSpPr>
            <a:xfrm>
              <a:off x="4979976" y="1377361"/>
              <a:ext cx="7202655" cy="721742"/>
              <a:chOff x="4296161" y="1524072"/>
              <a:chExt cx="7291210" cy="666127"/>
            </a:xfrm>
          </p:grpSpPr>
          <p:sp>
            <p:nvSpPr>
              <p:cNvPr id="6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8" name="Rectangle 67"/>
              <p:cNvSpPr/>
              <p:nvPr/>
            </p:nvSpPr>
            <p:spPr bwMode="auto">
              <a:xfrm>
                <a:off x="4296161" y="1524072"/>
                <a:ext cx="7291210" cy="666127"/>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lang="en-GB" sz="2400" b="1" dirty="0">
                    <a:solidFill>
                      <a:srgbClr val="FFFFFF"/>
                    </a:solidFill>
                    <a:latin typeface="Segoe UI Light"/>
                  </a:rPr>
                  <a:t>BI Modelling Techniques</a:t>
                </a:r>
                <a:endParaRPr kumimoji="0" lang="en-US" sz="2400" b="0"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66" name="Rectangle 6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6" name="Right Brace 75"/>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2" name="TextBox 81"/>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40" name="Title 1"/>
          <p:cNvSpPr>
            <a:spLocks noGrp="1"/>
          </p:cNvSpPr>
          <p:nvPr>
            <p:ph type="title"/>
          </p:nvPr>
        </p:nvSpPr>
        <p:spPr>
          <a:xfrm>
            <a:off x="268927" y="286381"/>
            <a:ext cx="11653523" cy="927940"/>
          </a:xfrm>
        </p:spPr>
        <p:txBody>
          <a:bodyPr/>
          <a:lstStyle/>
          <a:p>
            <a:pPr lvl="0"/>
            <a:r>
              <a:rPr lang="en-US" sz="4313" dirty="0"/>
              <a:t>Your Power BI Journey</a:t>
            </a:r>
          </a:p>
        </p:txBody>
      </p:sp>
      <p:pic>
        <p:nvPicPr>
          <p:cNvPr id="3" name="Picture 2"/>
          <p:cNvPicPr>
            <a:picLocks noChangeAspect="1"/>
          </p:cNvPicPr>
          <p:nvPr/>
        </p:nvPicPr>
        <p:blipFill>
          <a:blip r:embed="rId3"/>
          <a:stretch>
            <a:fillRect/>
          </a:stretch>
        </p:blipFill>
        <p:spPr>
          <a:xfrm>
            <a:off x="5239513" y="1953371"/>
            <a:ext cx="5596128" cy="3723969"/>
          </a:xfrm>
          <a:prstGeom prst="rect">
            <a:avLst/>
          </a:prstGeom>
        </p:spPr>
      </p:pic>
    </p:spTree>
    <p:extLst>
      <p:ext uri="{BB962C8B-B14F-4D97-AF65-F5344CB8AC3E}">
        <p14:creationId xmlns:p14="http://schemas.microsoft.com/office/powerpoint/2010/main" val="3381756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0" name="Group 29"/>
          <p:cNvGrpSpPr/>
          <p:nvPr/>
        </p:nvGrpSpPr>
        <p:grpSpPr>
          <a:xfrm>
            <a:off x="417671" y="1195216"/>
            <a:ext cx="899699" cy="5145882"/>
            <a:chOff x="426046" y="1218686"/>
            <a:chExt cx="917740" cy="5249068"/>
          </a:xfrm>
        </p:grpSpPr>
        <p:sp>
          <p:nvSpPr>
            <p:cNvPr id="31" name="Rectangle 30"/>
            <p:cNvSpPr/>
            <p:nvPr/>
          </p:nvSpPr>
          <p:spPr>
            <a:xfrm>
              <a:off x="429386" y="21330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2" name="Group 455"/>
            <p:cNvGrpSpPr>
              <a:grpSpLocks/>
            </p:cNvGrpSpPr>
            <p:nvPr/>
          </p:nvGrpSpPr>
          <p:grpSpPr bwMode="auto">
            <a:xfrm>
              <a:off x="657986" y="2361686"/>
              <a:ext cx="457200" cy="457200"/>
              <a:chOff x="-3781305" y="3065460"/>
              <a:chExt cx="1777999" cy="1777999"/>
            </a:xfrm>
          </p:grpSpPr>
          <p:sp>
            <p:nvSpPr>
              <p:cNvPr id="6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3" name="Rectangle 32"/>
            <p:cNvSpPr/>
            <p:nvPr/>
          </p:nvSpPr>
          <p:spPr>
            <a:xfrm>
              <a:off x="429386" y="30474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4" name="Group 34"/>
            <p:cNvGrpSpPr>
              <a:grpSpLocks/>
            </p:cNvGrpSpPr>
            <p:nvPr/>
          </p:nvGrpSpPr>
          <p:grpSpPr bwMode="auto">
            <a:xfrm>
              <a:off x="657986" y="3276086"/>
              <a:ext cx="457200" cy="457200"/>
              <a:chOff x="-3781305" y="3065460"/>
              <a:chExt cx="1777999" cy="1777999"/>
            </a:xfrm>
          </p:grpSpPr>
          <p:sp>
            <p:nvSpPr>
              <p:cNvPr id="5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39"/>
            <p:cNvGrpSpPr>
              <a:grpSpLocks/>
            </p:cNvGrpSpPr>
            <p:nvPr/>
          </p:nvGrpSpPr>
          <p:grpSpPr bwMode="auto">
            <a:xfrm>
              <a:off x="657986" y="4190486"/>
              <a:ext cx="457200" cy="457200"/>
              <a:chOff x="-3781305" y="3065460"/>
              <a:chExt cx="1777999" cy="1777999"/>
            </a:xfrm>
          </p:grpSpPr>
          <p:sp>
            <p:nvSpPr>
              <p:cNvPr id="5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7" name="Rectangle 36"/>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9" name="Group 44"/>
            <p:cNvGrpSpPr>
              <a:grpSpLocks/>
            </p:cNvGrpSpPr>
            <p:nvPr/>
          </p:nvGrpSpPr>
          <p:grpSpPr bwMode="auto">
            <a:xfrm>
              <a:off x="657986" y="5104886"/>
              <a:ext cx="457200" cy="457200"/>
              <a:chOff x="-3781305" y="3065460"/>
              <a:chExt cx="1777999" cy="1777999"/>
            </a:xfrm>
          </p:grpSpPr>
          <p:sp>
            <p:nvSpPr>
              <p:cNvPr id="5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4" name="Rectangle 43"/>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5" name="Group 44"/>
            <p:cNvGrpSpPr>
              <a:grpSpLocks/>
            </p:cNvGrpSpPr>
            <p:nvPr/>
          </p:nvGrpSpPr>
          <p:grpSpPr bwMode="auto">
            <a:xfrm>
              <a:off x="657986" y="14472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48" name="Group 44"/>
            <p:cNvGrpSpPr>
              <a:grpSpLocks/>
            </p:cNvGrpSpPr>
            <p:nvPr/>
          </p:nvGrpSpPr>
          <p:grpSpPr bwMode="auto">
            <a:xfrm>
              <a:off x="657986" y="6010554"/>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nvGrpSpPr>
          <p:cNvPr id="63" name="Group 62"/>
          <p:cNvGrpSpPr/>
          <p:nvPr/>
        </p:nvGrpSpPr>
        <p:grpSpPr>
          <a:xfrm>
            <a:off x="4718304" y="1214321"/>
            <a:ext cx="6021903" cy="5425624"/>
            <a:chOff x="4979976" y="1371830"/>
            <a:chExt cx="7202655" cy="5335314"/>
          </a:xfrm>
        </p:grpSpPr>
        <p:grpSp>
          <p:nvGrpSpPr>
            <p:cNvPr id="65" name="Group 64"/>
            <p:cNvGrpSpPr/>
            <p:nvPr/>
          </p:nvGrpSpPr>
          <p:grpSpPr>
            <a:xfrm>
              <a:off x="4979976" y="1377361"/>
              <a:ext cx="7202655" cy="721742"/>
              <a:chOff x="4296161" y="1524072"/>
              <a:chExt cx="7291210" cy="666127"/>
            </a:xfrm>
          </p:grpSpPr>
          <p:sp>
            <p:nvSpPr>
              <p:cNvPr id="67"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68" name="Rectangle 67"/>
              <p:cNvSpPr/>
              <p:nvPr/>
            </p:nvSpPr>
            <p:spPr bwMode="auto">
              <a:xfrm>
                <a:off x="4296161" y="1524072"/>
                <a:ext cx="7291210" cy="666127"/>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Integrating data</a:t>
                </a:r>
                <a:endParaRPr kumimoji="0" lang="en-US" sz="2400" b="0"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66" name="Rectangle 65"/>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6" name="Right Brace 75"/>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2" name="TextBox 81"/>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3" name="TextBox 82"/>
          <p:cNvSpPr txBox="1"/>
          <p:nvPr/>
        </p:nvSpPr>
        <p:spPr>
          <a:xfrm>
            <a:off x="1423037" y="2194735"/>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Integrating Data</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40" name="Title 1"/>
          <p:cNvSpPr>
            <a:spLocks noGrp="1"/>
          </p:cNvSpPr>
          <p:nvPr>
            <p:ph type="title"/>
          </p:nvPr>
        </p:nvSpPr>
        <p:spPr>
          <a:xfrm>
            <a:off x="268927" y="286381"/>
            <a:ext cx="11653523" cy="927940"/>
          </a:xfrm>
        </p:spPr>
        <p:txBody>
          <a:bodyPr/>
          <a:lstStyle/>
          <a:p>
            <a:pPr lvl="0"/>
            <a:r>
              <a:rPr lang="en-US" sz="4313" dirty="0"/>
              <a:t>Your Power BI Journey</a:t>
            </a:r>
          </a:p>
        </p:txBody>
      </p:sp>
      <p:pic>
        <p:nvPicPr>
          <p:cNvPr id="1026" name="Picture 2" descr="Image result for integrating different data type power b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454" y="1964393"/>
            <a:ext cx="5982753" cy="467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11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500"/>
                                        <p:tgtEl>
                                          <p:spTgt spid="83"/>
                                        </p:tgtEl>
                                      </p:cBhvr>
                                    </p:animEffect>
                                  </p:childTnLst>
                                </p:cTn>
                              </p:par>
                              <p:par>
                                <p:cTn id="8" presetID="10" presetClass="entr" presetSubtype="0" fill="hold"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2" name="Group 21"/>
          <p:cNvGrpSpPr/>
          <p:nvPr/>
        </p:nvGrpSpPr>
        <p:grpSpPr>
          <a:xfrm>
            <a:off x="417671" y="1195216"/>
            <a:ext cx="899699" cy="5145882"/>
            <a:chOff x="426046" y="1218686"/>
            <a:chExt cx="917740" cy="5249068"/>
          </a:xfrm>
        </p:grpSpPr>
        <p:sp>
          <p:nvSpPr>
            <p:cNvPr id="24" name="Rectangle 23"/>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455"/>
            <p:cNvGrpSpPr>
              <a:grpSpLocks/>
            </p:cNvGrpSpPr>
            <p:nvPr/>
          </p:nvGrpSpPr>
          <p:grpSpPr bwMode="auto">
            <a:xfrm>
              <a:off x="657986" y="2361686"/>
              <a:ext cx="457200" cy="457200"/>
              <a:chOff x="-3781305" y="3065460"/>
              <a:chExt cx="1777999" cy="1777999"/>
            </a:xfrm>
          </p:grpSpPr>
          <p:sp>
            <p:nvSpPr>
              <p:cNvPr id="5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30474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34"/>
            <p:cNvGrpSpPr>
              <a:grpSpLocks/>
            </p:cNvGrpSpPr>
            <p:nvPr/>
          </p:nvGrpSpPr>
          <p:grpSpPr bwMode="auto">
            <a:xfrm>
              <a:off x="657986" y="3276086"/>
              <a:ext cx="457200" cy="457200"/>
              <a:chOff x="-3781305" y="3065460"/>
              <a:chExt cx="1777999" cy="1777999"/>
            </a:xfrm>
          </p:grpSpPr>
          <p:sp>
            <p:nvSpPr>
              <p:cNvPr id="5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2" name="Rectangle 31"/>
            <p:cNvSpPr/>
            <p:nvPr/>
          </p:nvSpPr>
          <p:spPr>
            <a:xfrm>
              <a:off x="429386" y="39618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3" name="Group 39"/>
            <p:cNvGrpSpPr>
              <a:grpSpLocks/>
            </p:cNvGrpSpPr>
            <p:nvPr/>
          </p:nvGrpSpPr>
          <p:grpSpPr bwMode="auto">
            <a:xfrm>
              <a:off x="657986" y="41904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4" name="Rectangle 33"/>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5" name="Group 44"/>
            <p:cNvGrpSpPr>
              <a:grpSpLocks/>
            </p:cNvGrpSpPr>
            <p:nvPr/>
          </p:nvGrpSpPr>
          <p:grpSpPr bwMode="auto">
            <a:xfrm>
              <a:off x="657986" y="51048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41" name="Rectangle 40"/>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42" name="Group 44"/>
            <p:cNvGrpSpPr>
              <a:grpSpLocks/>
            </p:cNvGrpSpPr>
            <p:nvPr/>
          </p:nvGrpSpPr>
          <p:grpSpPr bwMode="auto">
            <a:xfrm>
              <a:off x="657986" y="14472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45" name="Group 44"/>
            <p:cNvGrpSpPr>
              <a:grpSpLocks/>
            </p:cNvGrpSpPr>
            <p:nvPr/>
          </p:nvGrpSpPr>
          <p:grpSpPr bwMode="auto">
            <a:xfrm>
              <a:off x="657986" y="6010554"/>
              <a:ext cx="457200" cy="457200"/>
              <a:chOff x="-3781305" y="3065460"/>
              <a:chExt cx="1777999" cy="1777999"/>
            </a:xfrm>
          </p:grpSpPr>
          <p:sp>
            <p:nvSpPr>
              <p:cNvPr id="4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grpSp>
        <p:nvGrpSpPr>
          <p:cNvPr id="73" name="Group 72"/>
          <p:cNvGrpSpPr/>
          <p:nvPr/>
        </p:nvGrpSpPr>
        <p:grpSpPr>
          <a:xfrm>
            <a:off x="4745736" y="1350769"/>
            <a:ext cx="5706127" cy="5192828"/>
            <a:chOff x="4979976" y="1371830"/>
            <a:chExt cx="7202655" cy="5335314"/>
          </a:xfrm>
        </p:grpSpPr>
        <p:grpSp>
          <p:nvGrpSpPr>
            <p:cNvPr id="74" name="Group 73"/>
            <p:cNvGrpSpPr/>
            <p:nvPr/>
          </p:nvGrpSpPr>
          <p:grpSpPr>
            <a:xfrm>
              <a:off x="4979976" y="1377364"/>
              <a:ext cx="7202655" cy="809795"/>
              <a:chOff x="4296161" y="1524075"/>
              <a:chExt cx="7291210" cy="747395"/>
            </a:xfrm>
          </p:grpSpPr>
          <p:sp>
            <p:nvSpPr>
              <p:cNvPr id="76"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7" name="Rectangle 76"/>
              <p:cNvSpPr/>
              <p:nvPr/>
            </p:nvSpPr>
            <p:spPr bwMode="auto">
              <a:xfrm>
                <a:off x="4296161" y="1524075"/>
                <a:ext cx="7291210" cy="747395"/>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Data Analytics</a:t>
                </a:r>
                <a:endParaRPr kumimoji="0" lang="en-US" sz="3600" b="1"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75" name="Rectangle 74"/>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63" name="Right Brace 62"/>
          <p:cNvSpPr/>
          <p:nvPr/>
        </p:nvSpPr>
        <p:spPr>
          <a:xfrm>
            <a:off x="4129258" y="1350769"/>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84" name="TextBox 83"/>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5" name="TextBox 84"/>
          <p:cNvSpPr txBox="1"/>
          <p:nvPr/>
        </p:nvSpPr>
        <p:spPr>
          <a:xfrm>
            <a:off x="1423037" y="2194735"/>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Integrating Data</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6" name="TextBox 85"/>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43" name="Picture 42"/>
          <p:cNvPicPr>
            <a:picLocks noChangeAspect="1"/>
          </p:cNvPicPr>
          <p:nvPr/>
        </p:nvPicPr>
        <p:blipFill>
          <a:blip r:embed="rId3"/>
          <a:stretch>
            <a:fillRect/>
          </a:stretch>
        </p:blipFill>
        <p:spPr>
          <a:xfrm>
            <a:off x="4745736" y="2153879"/>
            <a:ext cx="5706127" cy="4380161"/>
          </a:xfrm>
          <a:prstGeom prst="rect">
            <a:avLst/>
          </a:prstGeom>
        </p:spPr>
      </p:pic>
      <p:sp>
        <p:nvSpPr>
          <p:cNvPr id="40" name="Title 1"/>
          <p:cNvSpPr>
            <a:spLocks noGrp="1"/>
          </p:cNvSpPr>
          <p:nvPr>
            <p:ph type="title"/>
          </p:nvPr>
        </p:nvSpPr>
        <p:spPr>
          <a:xfrm>
            <a:off x="268927" y="286381"/>
            <a:ext cx="11653523" cy="927940"/>
          </a:xfrm>
        </p:spPr>
        <p:txBody>
          <a:bodyPr/>
          <a:lstStyle/>
          <a:p>
            <a:pPr lvl="0"/>
            <a:r>
              <a:rPr lang="en-US" sz="4313" dirty="0"/>
              <a:t>Your Power BI Journey</a:t>
            </a:r>
          </a:p>
        </p:txBody>
      </p:sp>
    </p:spTree>
    <p:extLst>
      <p:ext uri="{BB962C8B-B14F-4D97-AF65-F5344CB8AC3E}">
        <p14:creationId xmlns:p14="http://schemas.microsoft.com/office/powerpoint/2010/main" val="94453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par>
                                <p:cTn id="8" presetID="10" presetClass="entr" presetSubtype="0" fill="hold"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 name="Group 17"/>
          <p:cNvGrpSpPr/>
          <p:nvPr/>
        </p:nvGrpSpPr>
        <p:grpSpPr>
          <a:xfrm>
            <a:off x="417671" y="1195216"/>
            <a:ext cx="899699" cy="5145882"/>
            <a:chOff x="426046" y="1218686"/>
            <a:chExt cx="917740" cy="5249068"/>
          </a:xfrm>
        </p:grpSpPr>
        <p:sp>
          <p:nvSpPr>
            <p:cNvPr id="19" name="Rectangle 18"/>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0" name="Group 455"/>
            <p:cNvGrpSpPr>
              <a:grpSpLocks/>
            </p:cNvGrpSpPr>
            <p:nvPr/>
          </p:nvGrpSpPr>
          <p:grpSpPr bwMode="auto">
            <a:xfrm>
              <a:off x="657986" y="2361686"/>
              <a:ext cx="457200" cy="457200"/>
              <a:chOff x="-3781305" y="3065460"/>
              <a:chExt cx="1777999" cy="1777999"/>
            </a:xfrm>
          </p:grpSpPr>
          <p:sp>
            <p:nvSpPr>
              <p:cNvPr id="5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1" name="Rectangle 20"/>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2" name="Group 34"/>
            <p:cNvGrpSpPr>
              <a:grpSpLocks/>
            </p:cNvGrpSpPr>
            <p:nvPr/>
          </p:nvGrpSpPr>
          <p:grpSpPr bwMode="auto">
            <a:xfrm>
              <a:off x="657986" y="3276086"/>
              <a:ext cx="457200" cy="457200"/>
              <a:chOff x="-3781305" y="3065460"/>
              <a:chExt cx="1777999" cy="1777999"/>
            </a:xfrm>
          </p:grpSpPr>
          <p:sp>
            <p:nvSpPr>
              <p:cNvPr id="51"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2"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4" name="Rectangle 23"/>
            <p:cNvSpPr/>
            <p:nvPr/>
          </p:nvSpPr>
          <p:spPr>
            <a:xfrm>
              <a:off x="429386" y="39618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9" name="Group 39"/>
            <p:cNvGrpSpPr>
              <a:grpSpLocks/>
            </p:cNvGrpSpPr>
            <p:nvPr/>
          </p:nvGrpSpPr>
          <p:grpSpPr bwMode="auto">
            <a:xfrm>
              <a:off x="657986" y="4190486"/>
              <a:ext cx="457200" cy="457200"/>
              <a:chOff x="-3781305" y="3065460"/>
              <a:chExt cx="1777999" cy="1777999"/>
            </a:xfrm>
          </p:grpSpPr>
          <p:sp>
            <p:nvSpPr>
              <p:cNvPr id="49"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0"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0" name="Rectangle 29"/>
            <p:cNvSpPr/>
            <p:nvPr/>
          </p:nvSpPr>
          <p:spPr>
            <a:xfrm>
              <a:off x="429386" y="48762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1" name="Group 44"/>
            <p:cNvGrpSpPr>
              <a:grpSpLocks/>
            </p:cNvGrpSpPr>
            <p:nvPr/>
          </p:nvGrpSpPr>
          <p:grpSpPr bwMode="auto">
            <a:xfrm>
              <a:off x="657986" y="5104886"/>
              <a:ext cx="457200" cy="457200"/>
              <a:chOff x="-3781305" y="3065460"/>
              <a:chExt cx="1777999" cy="1777999"/>
            </a:xfrm>
          </p:grpSpPr>
          <p:sp>
            <p:nvSpPr>
              <p:cNvPr id="47"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8"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6" name="Rectangle 35"/>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7" name="Group 44"/>
            <p:cNvGrpSpPr>
              <a:grpSpLocks/>
            </p:cNvGrpSpPr>
            <p:nvPr/>
          </p:nvGrpSpPr>
          <p:grpSpPr bwMode="auto">
            <a:xfrm>
              <a:off x="657986" y="1447286"/>
              <a:ext cx="457200" cy="457200"/>
              <a:chOff x="-3781305" y="3065460"/>
              <a:chExt cx="1777999" cy="1777999"/>
            </a:xfrm>
          </p:grpSpPr>
          <p:sp>
            <p:nvSpPr>
              <p:cNvPr id="45"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6"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41" name="Group 44"/>
            <p:cNvGrpSpPr>
              <a:grpSpLocks/>
            </p:cNvGrpSpPr>
            <p:nvPr/>
          </p:nvGrpSpPr>
          <p:grpSpPr bwMode="auto">
            <a:xfrm>
              <a:off x="657986" y="6010554"/>
              <a:ext cx="457200" cy="457200"/>
              <a:chOff x="-3781305" y="3065460"/>
              <a:chExt cx="1777999" cy="1777999"/>
            </a:xfrm>
          </p:grpSpPr>
          <p:sp>
            <p:nvSpPr>
              <p:cNvPr id="43"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4"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61" name="Right Brace 60"/>
          <p:cNvSpPr/>
          <p:nvPr/>
        </p:nvSpPr>
        <p:spPr>
          <a:xfrm>
            <a:off x="4129450" y="1355271"/>
            <a:ext cx="429283" cy="4322070"/>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nvGrpSpPr>
          <p:cNvPr id="68" name="Group 67"/>
          <p:cNvGrpSpPr/>
          <p:nvPr/>
        </p:nvGrpSpPr>
        <p:grpSpPr>
          <a:xfrm>
            <a:off x="4734846" y="1311387"/>
            <a:ext cx="7219671" cy="4892758"/>
            <a:chOff x="4979976" y="1371830"/>
            <a:chExt cx="7202655" cy="5335314"/>
          </a:xfrm>
        </p:grpSpPr>
        <p:grpSp>
          <p:nvGrpSpPr>
            <p:cNvPr id="69" name="Group 68"/>
            <p:cNvGrpSpPr/>
            <p:nvPr/>
          </p:nvGrpSpPr>
          <p:grpSpPr>
            <a:xfrm>
              <a:off x="4979976" y="1377364"/>
              <a:ext cx="7202655" cy="936197"/>
              <a:chOff x="4296161" y="1524076"/>
              <a:chExt cx="7291210" cy="864057"/>
            </a:xfrm>
          </p:grpSpPr>
          <p:sp>
            <p:nvSpPr>
              <p:cNvPr id="71"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2" name="Rectangle 71"/>
              <p:cNvSpPr/>
              <p:nvPr/>
            </p:nvSpPr>
            <p:spPr bwMode="auto">
              <a:xfrm>
                <a:off x="4296161" y="1524076"/>
                <a:ext cx="7291210" cy="864057"/>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Segoe UI Light"/>
                    <a:ea typeface="+mn-ea"/>
                    <a:cs typeface="+mn-cs"/>
                  </a:rPr>
                  <a:t>Design a report</a:t>
                </a:r>
                <a:endParaRPr kumimoji="0" lang="en-US" sz="3600" b="0" i="0" u="none" strike="noStrike" kern="1200" cap="none" spc="0" normalizeH="0" baseline="0" noProof="0" dirty="0">
                  <a:ln>
                    <a:noFill/>
                  </a:ln>
                  <a:solidFill>
                    <a:srgbClr val="FFFFFF"/>
                  </a:solidFill>
                  <a:effectLst/>
                  <a:uLnTx/>
                  <a:uFillTx/>
                  <a:latin typeface="Segoe UI Light"/>
                  <a:ea typeface="+mn-ea"/>
                  <a:cs typeface="Segoe UI"/>
                </a:endParaRPr>
              </a:p>
            </p:txBody>
          </p:sp>
        </p:grpSp>
        <p:sp>
          <p:nvSpPr>
            <p:cNvPr id="70" name="Rectangle 69"/>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79" name="TextBox 78"/>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0" name="TextBox 79"/>
          <p:cNvSpPr txBox="1"/>
          <p:nvPr/>
        </p:nvSpPr>
        <p:spPr>
          <a:xfrm>
            <a:off x="1423037" y="2194735"/>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Integrating Data</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1" name="TextBox 80"/>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82" name="TextBox 81"/>
          <p:cNvSpPr txBox="1"/>
          <p:nvPr/>
        </p:nvSpPr>
        <p:spPr>
          <a:xfrm>
            <a:off x="1401369" y="4046790"/>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Design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39" name="Picture 2" descr="You Want Great BI">
            <a:extLst>
              <a:ext uri="{FF2B5EF4-FFF2-40B4-BE49-F238E27FC236}">
                <a16:creationId xmlns:a16="http://schemas.microsoft.com/office/drawing/2014/main" id="{F9D7A64B-0898-42DD-A1F7-384CB5EA1F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8869" y="2041840"/>
            <a:ext cx="7171623" cy="4080166"/>
          </a:xfrm>
          <a:prstGeom prst="rect">
            <a:avLst/>
          </a:prstGeom>
          <a:noFill/>
          <a:extLst>
            <a:ext uri="{909E8E84-426E-40DD-AFC4-6F175D3DCCD1}">
              <a14:hiddenFill xmlns:a14="http://schemas.microsoft.com/office/drawing/2010/main">
                <a:solidFill>
                  <a:srgbClr val="FFFFFF"/>
                </a:solidFill>
              </a14:hiddenFill>
            </a:ext>
          </a:extLst>
        </p:spPr>
      </p:pic>
      <p:sp>
        <p:nvSpPr>
          <p:cNvPr id="40" name="Title 1"/>
          <p:cNvSpPr>
            <a:spLocks noGrp="1"/>
          </p:cNvSpPr>
          <p:nvPr>
            <p:ph type="title"/>
          </p:nvPr>
        </p:nvSpPr>
        <p:spPr>
          <a:xfrm>
            <a:off x="268927" y="286381"/>
            <a:ext cx="11653523" cy="927940"/>
          </a:xfrm>
        </p:spPr>
        <p:txBody>
          <a:bodyPr/>
          <a:lstStyle/>
          <a:p>
            <a:pPr lvl="0"/>
            <a:r>
              <a:rPr lang="en-US" sz="4313" dirty="0"/>
              <a:t>Your Power BI Journey</a:t>
            </a:r>
          </a:p>
        </p:txBody>
      </p:sp>
    </p:spTree>
    <p:extLst>
      <p:ext uri="{BB962C8B-B14F-4D97-AF65-F5344CB8AC3E}">
        <p14:creationId xmlns:p14="http://schemas.microsoft.com/office/powerpoint/2010/main" val="66599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 name="Freeform 8"/>
          <p:cNvSpPr>
            <a:spLocks noEditPoints="1"/>
          </p:cNvSpPr>
          <p:nvPr/>
        </p:nvSpPr>
        <p:spPr bwMode="black">
          <a:xfrm>
            <a:off x="6847467" y="1554360"/>
            <a:ext cx="803809" cy="487693"/>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grpSp>
        <p:nvGrpSpPr>
          <p:cNvPr id="17" name="Group 16"/>
          <p:cNvGrpSpPr/>
          <p:nvPr/>
        </p:nvGrpSpPr>
        <p:grpSpPr>
          <a:xfrm>
            <a:off x="417671" y="1195216"/>
            <a:ext cx="899699" cy="5145882"/>
            <a:chOff x="426046" y="1218686"/>
            <a:chExt cx="917740" cy="5249068"/>
          </a:xfrm>
        </p:grpSpPr>
        <p:sp>
          <p:nvSpPr>
            <p:cNvPr id="18" name="Rectangle 17"/>
            <p:cNvSpPr/>
            <p:nvPr/>
          </p:nvSpPr>
          <p:spPr>
            <a:xfrm>
              <a:off x="429386" y="2133086"/>
              <a:ext cx="914400" cy="914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9" name="Group 455"/>
            <p:cNvGrpSpPr>
              <a:grpSpLocks/>
            </p:cNvGrpSpPr>
            <p:nvPr/>
          </p:nvGrpSpPr>
          <p:grpSpPr bwMode="auto">
            <a:xfrm>
              <a:off x="657986" y="2361686"/>
              <a:ext cx="457200" cy="457200"/>
              <a:chOff x="-3781305" y="3065460"/>
              <a:chExt cx="1777999" cy="1777999"/>
            </a:xfrm>
          </p:grpSpPr>
          <p:sp>
            <p:nvSpPr>
              <p:cNvPr id="5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0" name="Rectangle 19"/>
            <p:cNvSpPr/>
            <p:nvPr/>
          </p:nvSpPr>
          <p:spPr>
            <a:xfrm>
              <a:off x="429386" y="3047486"/>
              <a:ext cx="914400" cy="9144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1" name="Group 34"/>
            <p:cNvGrpSpPr>
              <a:grpSpLocks/>
            </p:cNvGrpSpPr>
            <p:nvPr/>
          </p:nvGrpSpPr>
          <p:grpSpPr bwMode="auto">
            <a:xfrm>
              <a:off x="657986" y="3276086"/>
              <a:ext cx="457200" cy="457200"/>
              <a:chOff x="-3781305" y="3065460"/>
              <a:chExt cx="1777999" cy="1777999"/>
            </a:xfrm>
          </p:grpSpPr>
          <p:sp>
            <p:nvSpPr>
              <p:cNvPr id="50"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1"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2" name="Rectangle 21"/>
            <p:cNvSpPr/>
            <p:nvPr/>
          </p:nvSpPr>
          <p:spPr>
            <a:xfrm>
              <a:off x="429386" y="3961886"/>
              <a:ext cx="914400" cy="9144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24" name="Group 39"/>
            <p:cNvGrpSpPr>
              <a:grpSpLocks/>
            </p:cNvGrpSpPr>
            <p:nvPr/>
          </p:nvGrpSpPr>
          <p:grpSpPr bwMode="auto">
            <a:xfrm>
              <a:off x="657986" y="4190486"/>
              <a:ext cx="457200" cy="457200"/>
              <a:chOff x="-3781305" y="3065460"/>
              <a:chExt cx="1777999" cy="1777999"/>
            </a:xfrm>
          </p:grpSpPr>
          <p:sp>
            <p:nvSpPr>
              <p:cNvPr id="48"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9"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9" name="Rectangle 28"/>
            <p:cNvSpPr/>
            <p:nvPr/>
          </p:nvSpPr>
          <p:spPr>
            <a:xfrm>
              <a:off x="429386" y="4876286"/>
              <a:ext cx="914400" cy="914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0" name="Group 44"/>
            <p:cNvGrpSpPr>
              <a:grpSpLocks/>
            </p:cNvGrpSpPr>
            <p:nvPr/>
          </p:nvGrpSpPr>
          <p:grpSpPr bwMode="auto">
            <a:xfrm>
              <a:off x="657986" y="5104886"/>
              <a:ext cx="457200" cy="457200"/>
              <a:chOff x="-3781305" y="3065460"/>
              <a:chExt cx="1777999" cy="1777999"/>
            </a:xfrm>
          </p:grpSpPr>
          <p:sp>
            <p:nvSpPr>
              <p:cNvPr id="46"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7"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5" name="Rectangle 34"/>
            <p:cNvSpPr/>
            <p:nvPr/>
          </p:nvSpPr>
          <p:spPr>
            <a:xfrm>
              <a:off x="426046" y="1218686"/>
              <a:ext cx="91440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36" name="Group 44"/>
            <p:cNvGrpSpPr>
              <a:grpSpLocks/>
            </p:cNvGrpSpPr>
            <p:nvPr/>
          </p:nvGrpSpPr>
          <p:grpSpPr bwMode="auto">
            <a:xfrm>
              <a:off x="657986" y="1447286"/>
              <a:ext cx="457200" cy="457200"/>
              <a:chOff x="-3781305" y="3065460"/>
              <a:chExt cx="1777999" cy="1777999"/>
            </a:xfrm>
          </p:grpSpPr>
          <p:sp>
            <p:nvSpPr>
              <p:cNvPr id="44"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5"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40" name="Group 44"/>
            <p:cNvGrpSpPr>
              <a:grpSpLocks/>
            </p:cNvGrpSpPr>
            <p:nvPr/>
          </p:nvGrpSpPr>
          <p:grpSpPr bwMode="auto">
            <a:xfrm>
              <a:off x="657986" y="6010554"/>
              <a:ext cx="457200" cy="457200"/>
              <a:chOff x="-3781305" y="3065460"/>
              <a:chExt cx="1777999" cy="1777999"/>
            </a:xfrm>
          </p:grpSpPr>
          <p:sp>
            <p:nvSpPr>
              <p:cNvPr id="42" name="Freeform 5"/>
              <p:cNvSpPr>
                <a:spLocks noEditPoints="1"/>
              </p:cNvSpPr>
              <p:nvPr/>
            </p:nvSpPr>
            <p:spPr bwMode="auto">
              <a:xfrm>
                <a:off x="-3781305" y="3065460"/>
                <a:ext cx="1777999" cy="1777999"/>
              </a:xfrm>
              <a:custGeom>
                <a:avLst/>
                <a:gdLst>
                  <a:gd name="T0" fmla="*/ 618 w 1120"/>
                  <a:gd name="T1" fmla="*/ 4 h 1120"/>
                  <a:gd name="T2" fmla="*/ 726 w 1120"/>
                  <a:gd name="T3" fmla="*/ 26 h 1120"/>
                  <a:gd name="T4" fmla="*/ 828 w 1120"/>
                  <a:gd name="T5" fmla="*/ 68 h 1120"/>
                  <a:gd name="T6" fmla="*/ 916 w 1120"/>
                  <a:gd name="T7" fmla="*/ 128 h 1120"/>
                  <a:gd name="T8" fmla="*/ 992 w 1120"/>
                  <a:gd name="T9" fmla="*/ 204 h 1120"/>
                  <a:gd name="T10" fmla="*/ 1052 w 1120"/>
                  <a:gd name="T11" fmla="*/ 294 h 1120"/>
                  <a:gd name="T12" fmla="*/ 1094 w 1120"/>
                  <a:gd name="T13" fmla="*/ 394 h 1120"/>
                  <a:gd name="T14" fmla="*/ 1118 w 1120"/>
                  <a:gd name="T15" fmla="*/ 504 h 1120"/>
                  <a:gd name="T16" fmla="*/ 1120 w 1120"/>
                  <a:gd name="T17" fmla="*/ 590 h 1120"/>
                  <a:gd name="T18" fmla="*/ 1102 w 1120"/>
                  <a:gd name="T19" fmla="*/ 700 h 1120"/>
                  <a:gd name="T20" fmla="*/ 1064 w 1120"/>
                  <a:gd name="T21" fmla="*/ 802 h 1120"/>
                  <a:gd name="T22" fmla="*/ 1008 w 1120"/>
                  <a:gd name="T23" fmla="*/ 896 h 1120"/>
                  <a:gd name="T24" fmla="*/ 936 w 1120"/>
                  <a:gd name="T25" fmla="*/ 974 h 1120"/>
                  <a:gd name="T26" fmla="*/ 850 w 1120"/>
                  <a:gd name="T27" fmla="*/ 1038 h 1120"/>
                  <a:gd name="T28" fmla="*/ 752 w 1120"/>
                  <a:gd name="T29" fmla="*/ 1086 h 1120"/>
                  <a:gd name="T30" fmla="*/ 646 w 1120"/>
                  <a:gd name="T31" fmla="*/ 1114 h 1120"/>
                  <a:gd name="T32" fmla="*/ 560 w 1120"/>
                  <a:gd name="T33" fmla="*/ 1120 h 1120"/>
                  <a:gd name="T34" fmla="*/ 448 w 1120"/>
                  <a:gd name="T35" fmla="*/ 1108 h 1120"/>
                  <a:gd name="T36" fmla="*/ 342 w 1120"/>
                  <a:gd name="T37" fmla="*/ 1076 h 1120"/>
                  <a:gd name="T38" fmla="*/ 248 w 1120"/>
                  <a:gd name="T39" fmla="*/ 1024 h 1120"/>
                  <a:gd name="T40" fmla="*/ 164 w 1120"/>
                  <a:gd name="T41" fmla="*/ 956 h 1120"/>
                  <a:gd name="T42" fmla="*/ 96 w 1120"/>
                  <a:gd name="T43" fmla="*/ 874 h 1120"/>
                  <a:gd name="T44" fmla="*/ 44 w 1120"/>
                  <a:gd name="T45" fmla="*/ 778 h 1120"/>
                  <a:gd name="T46" fmla="*/ 12 w 1120"/>
                  <a:gd name="T47" fmla="*/ 674 h 1120"/>
                  <a:gd name="T48" fmla="*/ 0 w 1120"/>
                  <a:gd name="T49" fmla="*/ 560 h 1120"/>
                  <a:gd name="T50" fmla="*/ 6 w 1120"/>
                  <a:gd name="T51" fmla="*/ 476 h 1120"/>
                  <a:gd name="T52" fmla="*/ 34 w 1120"/>
                  <a:gd name="T53" fmla="*/ 368 h 1120"/>
                  <a:gd name="T54" fmla="*/ 82 w 1120"/>
                  <a:gd name="T55" fmla="*/ 270 h 1120"/>
                  <a:gd name="T56" fmla="*/ 146 w 1120"/>
                  <a:gd name="T57" fmla="*/ 184 h 1120"/>
                  <a:gd name="T58" fmla="*/ 226 w 1120"/>
                  <a:gd name="T59" fmla="*/ 112 h 1120"/>
                  <a:gd name="T60" fmla="*/ 318 w 1120"/>
                  <a:gd name="T61" fmla="*/ 56 h 1120"/>
                  <a:gd name="T62" fmla="*/ 420 w 1120"/>
                  <a:gd name="T63" fmla="*/ 18 h 1120"/>
                  <a:gd name="T64" fmla="*/ 532 w 1120"/>
                  <a:gd name="T65" fmla="*/ 2 h 1120"/>
                  <a:gd name="T66" fmla="*/ 536 w 1120"/>
                  <a:gd name="T67" fmla="*/ 72 h 1120"/>
                  <a:gd name="T68" fmla="*/ 438 w 1120"/>
                  <a:gd name="T69" fmla="*/ 86 h 1120"/>
                  <a:gd name="T70" fmla="*/ 288 w 1120"/>
                  <a:gd name="T71" fmla="*/ 156 h 1120"/>
                  <a:gd name="T72" fmla="*/ 156 w 1120"/>
                  <a:gd name="T73" fmla="*/ 288 h 1120"/>
                  <a:gd name="T74" fmla="*/ 88 w 1120"/>
                  <a:gd name="T75" fmla="*/ 438 h 1120"/>
                  <a:gd name="T76" fmla="*/ 72 w 1120"/>
                  <a:gd name="T77" fmla="*/ 536 h 1120"/>
                  <a:gd name="T78" fmla="*/ 74 w 1120"/>
                  <a:gd name="T79" fmla="*/ 610 h 1120"/>
                  <a:gd name="T80" fmla="*/ 94 w 1120"/>
                  <a:gd name="T81" fmla="*/ 706 h 1120"/>
                  <a:gd name="T82" fmla="*/ 184 w 1120"/>
                  <a:gd name="T83" fmla="*/ 870 h 1120"/>
                  <a:gd name="T84" fmla="*/ 328 w 1120"/>
                  <a:gd name="T85" fmla="*/ 990 h 1120"/>
                  <a:gd name="T86" fmla="*/ 462 w 1120"/>
                  <a:gd name="T87" fmla="*/ 1038 h 1120"/>
                  <a:gd name="T88" fmla="*/ 560 w 1120"/>
                  <a:gd name="T89" fmla="*/ 1048 h 1120"/>
                  <a:gd name="T90" fmla="*/ 634 w 1120"/>
                  <a:gd name="T91" fmla="*/ 1044 h 1120"/>
                  <a:gd name="T92" fmla="*/ 750 w 1120"/>
                  <a:gd name="T93" fmla="*/ 1010 h 1120"/>
                  <a:gd name="T94" fmla="*/ 906 w 1120"/>
                  <a:gd name="T95" fmla="*/ 906 h 1120"/>
                  <a:gd name="T96" fmla="*/ 1010 w 1120"/>
                  <a:gd name="T97" fmla="*/ 750 h 1120"/>
                  <a:gd name="T98" fmla="*/ 1044 w 1120"/>
                  <a:gd name="T99" fmla="*/ 634 h 1120"/>
                  <a:gd name="T100" fmla="*/ 1050 w 1120"/>
                  <a:gd name="T101" fmla="*/ 560 h 1120"/>
                  <a:gd name="T102" fmla="*/ 1040 w 1120"/>
                  <a:gd name="T103" fmla="*/ 462 h 1120"/>
                  <a:gd name="T104" fmla="*/ 990 w 1120"/>
                  <a:gd name="T105" fmla="*/ 328 h 1120"/>
                  <a:gd name="T106" fmla="*/ 870 w 1120"/>
                  <a:gd name="T107" fmla="*/ 184 h 1120"/>
                  <a:gd name="T108" fmla="*/ 706 w 1120"/>
                  <a:gd name="T109" fmla="*/ 94 h 1120"/>
                  <a:gd name="T110" fmla="*/ 610 w 1120"/>
                  <a:gd name="T111" fmla="*/ 7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0" h="1120">
                    <a:moveTo>
                      <a:pt x="560" y="0"/>
                    </a:moveTo>
                    <a:lnTo>
                      <a:pt x="560" y="0"/>
                    </a:lnTo>
                    <a:lnTo>
                      <a:pt x="590" y="2"/>
                    </a:lnTo>
                    <a:lnTo>
                      <a:pt x="618" y="4"/>
                    </a:lnTo>
                    <a:lnTo>
                      <a:pt x="646" y="6"/>
                    </a:lnTo>
                    <a:lnTo>
                      <a:pt x="674" y="12"/>
                    </a:lnTo>
                    <a:lnTo>
                      <a:pt x="700" y="18"/>
                    </a:lnTo>
                    <a:lnTo>
                      <a:pt x="726" y="26"/>
                    </a:lnTo>
                    <a:lnTo>
                      <a:pt x="752" y="34"/>
                    </a:lnTo>
                    <a:lnTo>
                      <a:pt x="778" y="44"/>
                    </a:lnTo>
                    <a:lnTo>
                      <a:pt x="802" y="56"/>
                    </a:lnTo>
                    <a:lnTo>
                      <a:pt x="828" y="68"/>
                    </a:lnTo>
                    <a:lnTo>
                      <a:pt x="850" y="82"/>
                    </a:lnTo>
                    <a:lnTo>
                      <a:pt x="874" y="96"/>
                    </a:lnTo>
                    <a:lnTo>
                      <a:pt x="896" y="112"/>
                    </a:lnTo>
                    <a:lnTo>
                      <a:pt x="916" y="128"/>
                    </a:lnTo>
                    <a:lnTo>
                      <a:pt x="936" y="146"/>
                    </a:lnTo>
                    <a:lnTo>
                      <a:pt x="956" y="164"/>
                    </a:lnTo>
                    <a:lnTo>
                      <a:pt x="974" y="184"/>
                    </a:lnTo>
                    <a:lnTo>
                      <a:pt x="992" y="204"/>
                    </a:lnTo>
                    <a:lnTo>
                      <a:pt x="1008" y="226"/>
                    </a:lnTo>
                    <a:lnTo>
                      <a:pt x="1024" y="248"/>
                    </a:lnTo>
                    <a:lnTo>
                      <a:pt x="1040" y="270"/>
                    </a:lnTo>
                    <a:lnTo>
                      <a:pt x="1052" y="294"/>
                    </a:lnTo>
                    <a:lnTo>
                      <a:pt x="1064" y="318"/>
                    </a:lnTo>
                    <a:lnTo>
                      <a:pt x="1076" y="342"/>
                    </a:lnTo>
                    <a:lnTo>
                      <a:pt x="1086" y="368"/>
                    </a:lnTo>
                    <a:lnTo>
                      <a:pt x="1094" y="394"/>
                    </a:lnTo>
                    <a:lnTo>
                      <a:pt x="1102" y="420"/>
                    </a:lnTo>
                    <a:lnTo>
                      <a:pt x="1108" y="448"/>
                    </a:lnTo>
                    <a:lnTo>
                      <a:pt x="1114" y="476"/>
                    </a:lnTo>
                    <a:lnTo>
                      <a:pt x="1118" y="504"/>
                    </a:lnTo>
                    <a:lnTo>
                      <a:pt x="1120" y="532"/>
                    </a:lnTo>
                    <a:lnTo>
                      <a:pt x="1120" y="560"/>
                    </a:lnTo>
                    <a:lnTo>
                      <a:pt x="1120" y="560"/>
                    </a:lnTo>
                    <a:lnTo>
                      <a:pt x="1120" y="590"/>
                    </a:lnTo>
                    <a:lnTo>
                      <a:pt x="1118" y="618"/>
                    </a:lnTo>
                    <a:lnTo>
                      <a:pt x="1114" y="646"/>
                    </a:lnTo>
                    <a:lnTo>
                      <a:pt x="1108" y="674"/>
                    </a:lnTo>
                    <a:lnTo>
                      <a:pt x="1102" y="700"/>
                    </a:lnTo>
                    <a:lnTo>
                      <a:pt x="1094" y="726"/>
                    </a:lnTo>
                    <a:lnTo>
                      <a:pt x="1086" y="752"/>
                    </a:lnTo>
                    <a:lnTo>
                      <a:pt x="1076" y="778"/>
                    </a:lnTo>
                    <a:lnTo>
                      <a:pt x="1064" y="802"/>
                    </a:lnTo>
                    <a:lnTo>
                      <a:pt x="1052" y="826"/>
                    </a:lnTo>
                    <a:lnTo>
                      <a:pt x="1040" y="850"/>
                    </a:lnTo>
                    <a:lnTo>
                      <a:pt x="1024" y="874"/>
                    </a:lnTo>
                    <a:lnTo>
                      <a:pt x="1008" y="896"/>
                    </a:lnTo>
                    <a:lnTo>
                      <a:pt x="992" y="916"/>
                    </a:lnTo>
                    <a:lnTo>
                      <a:pt x="974" y="936"/>
                    </a:lnTo>
                    <a:lnTo>
                      <a:pt x="956" y="956"/>
                    </a:lnTo>
                    <a:lnTo>
                      <a:pt x="936" y="974"/>
                    </a:lnTo>
                    <a:lnTo>
                      <a:pt x="916" y="992"/>
                    </a:lnTo>
                    <a:lnTo>
                      <a:pt x="896" y="1008"/>
                    </a:lnTo>
                    <a:lnTo>
                      <a:pt x="874" y="1024"/>
                    </a:lnTo>
                    <a:lnTo>
                      <a:pt x="850" y="1038"/>
                    </a:lnTo>
                    <a:lnTo>
                      <a:pt x="828" y="1052"/>
                    </a:lnTo>
                    <a:lnTo>
                      <a:pt x="802" y="1064"/>
                    </a:lnTo>
                    <a:lnTo>
                      <a:pt x="778" y="1076"/>
                    </a:lnTo>
                    <a:lnTo>
                      <a:pt x="752" y="1086"/>
                    </a:lnTo>
                    <a:lnTo>
                      <a:pt x="726" y="1094"/>
                    </a:lnTo>
                    <a:lnTo>
                      <a:pt x="700" y="1102"/>
                    </a:lnTo>
                    <a:lnTo>
                      <a:pt x="674" y="1108"/>
                    </a:lnTo>
                    <a:lnTo>
                      <a:pt x="646" y="1114"/>
                    </a:lnTo>
                    <a:lnTo>
                      <a:pt x="618" y="1118"/>
                    </a:lnTo>
                    <a:lnTo>
                      <a:pt x="590" y="1120"/>
                    </a:lnTo>
                    <a:lnTo>
                      <a:pt x="560" y="1120"/>
                    </a:lnTo>
                    <a:lnTo>
                      <a:pt x="560" y="1120"/>
                    </a:lnTo>
                    <a:lnTo>
                      <a:pt x="532" y="1120"/>
                    </a:lnTo>
                    <a:lnTo>
                      <a:pt x="504" y="1118"/>
                    </a:lnTo>
                    <a:lnTo>
                      <a:pt x="476" y="1114"/>
                    </a:lnTo>
                    <a:lnTo>
                      <a:pt x="448" y="1108"/>
                    </a:lnTo>
                    <a:lnTo>
                      <a:pt x="420" y="1102"/>
                    </a:lnTo>
                    <a:lnTo>
                      <a:pt x="394" y="1094"/>
                    </a:lnTo>
                    <a:lnTo>
                      <a:pt x="368" y="1086"/>
                    </a:lnTo>
                    <a:lnTo>
                      <a:pt x="342" y="1076"/>
                    </a:lnTo>
                    <a:lnTo>
                      <a:pt x="318" y="1064"/>
                    </a:lnTo>
                    <a:lnTo>
                      <a:pt x="294" y="1052"/>
                    </a:lnTo>
                    <a:lnTo>
                      <a:pt x="270" y="1038"/>
                    </a:lnTo>
                    <a:lnTo>
                      <a:pt x="248" y="1024"/>
                    </a:lnTo>
                    <a:lnTo>
                      <a:pt x="226" y="1008"/>
                    </a:lnTo>
                    <a:lnTo>
                      <a:pt x="204" y="992"/>
                    </a:lnTo>
                    <a:lnTo>
                      <a:pt x="184" y="974"/>
                    </a:lnTo>
                    <a:lnTo>
                      <a:pt x="164" y="956"/>
                    </a:lnTo>
                    <a:lnTo>
                      <a:pt x="146" y="936"/>
                    </a:lnTo>
                    <a:lnTo>
                      <a:pt x="128" y="916"/>
                    </a:lnTo>
                    <a:lnTo>
                      <a:pt x="112" y="896"/>
                    </a:lnTo>
                    <a:lnTo>
                      <a:pt x="96" y="874"/>
                    </a:lnTo>
                    <a:lnTo>
                      <a:pt x="82" y="850"/>
                    </a:lnTo>
                    <a:lnTo>
                      <a:pt x="68" y="826"/>
                    </a:lnTo>
                    <a:lnTo>
                      <a:pt x="56" y="802"/>
                    </a:lnTo>
                    <a:lnTo>
                      <a:pt x="44" y="778"/>
                    </a:lnTo>
                    <a:lnTo>
                      <a:pt x="34" y="752"/>
                    </a:lnTo>
                    <a:lnTo>
                      <a:pt x="26" y="726"/>
                    </a:lnTo>
                    <a:lnTo>
                      <a:pt x="18" y="700"/>
                    </a:lnTo>
                    <a:lnTo>
                      <a:pt x="12" y="674"/>
                    </a:lnTo>
                    <a:lnTo>
                      <a:pt x="6" y="646"/>
                    </a:lnTo>
                    <a:lnTo>
                      <a:pt x="4" y="618"/>
                    </a:lnTo>
                    <a:lnTo>
                      <a:pt x="2" y="590"/>
                    </a:lnTo>
                    <a:lnTo>
                      <a:pt x="0" y="560"/>
                    </a:lnTo>
                    <a:lnTo>
                      <a:pt x="0" y="560"/>
                    </a:lnTo>
                    <a:lnTo>
                      <a:pt x="2" y="532"/>
                    </a:lnTo>
                    <a:lnTo>
                      <a:pt x="4" y="504"/>
                    </a:lnTo>
                    <a:lnTo>
                      <a:pt x="6" y="476"/>
                    </a:lnTo>
                    <a:lnTo>
                      <a:pt x="12" y="448"/>
                    </a:lnTo>
                    <a:lnTo>
                      <a:pt x="18" y="420"/>
                    </a:lnTo>
                    <a:lnTo>
                      <a:pt x="26" y="394"/>
                    </a:lnTo>
                    <a:lnTo>
                      <a:pt x="34" y="368"/>
                    </a:lnTo>
                    <a:lnTo>
                      <a:pt x="44" y="342"/>
                    </a:lnTo>
                    <a:lnTo>
                      <a:pt x="56" y="318"/>
                    </a:lnTo>
                    <a:lnTo>
                      <a:pt x="68" y="294"/>
                    </a:lnTo>
                    <a:lnTo>
                      <a:pt x="82" y="270"/>
                    </a:lnTo>
                    <a:lnTo>
                      <a:pt x="96" y="248"/>
                    </a:lnTo>
                    <a:lnTo>
                      <a:pt x="112" y="226"/>
                    </a:lnTo>
                    <a:lnTo>
                      <a:pt x="128" y="204"/>
                    </a:lnTo>
                    <a:lnTo>
                      <a:pt x="146" y="184"/>
                    </a:lnTo>
                    <a:lnTo>
                      <a:pt x="164" y="164"/>
                    </a:lnTo>
                    <a:lnTo>
                      <a:pt x="184" y="146"/>
                    </a:lnTo>
                    <a:lnTo>
                      <a:pt x="204" y="128"/>
                    </a:lnTo>
                    <a:lnTo>
                      <a:pt x="226" y="112"/>
                    </a:lnTo>
                    <a:lnTo>
                      <a:pt x="248" y="96"/>
                    </a:lnTo>
                    <a:lnTo>
                      <a:pt x="270" y="82"/>
                    </a:lnTo>
                    <a:lnTo>
                      <a:pt x="294" y="68"/>
                    </a:lnTo>
                    <a:lnTo>
                      <a:pt x="318" y="56"/>
                    </a:lnTo>
                    <a:lnTo>
                      <a:pt x="342" y="44"/>
                    </a:lnTo>
                    <a:lnTo>
                      <a:pt x="368" y="34"/>
                    </a:lnTo>
                    <a:lnTo>
                      <a:pt x="394" y="26"/>
                    </a:lnTo>
                    <a:lnTo>
                      <a:pt x="420" y="18"/>
                    </a:lnTo>
                    <a:lnTo>
                      <a:pt x="448" y="12"/>
                    </a:lnTo>
                    <a:lnTo>
                      <a:pt x="476" y="6"/>
                    </a:lnTo>
                    <a:lnTo>
                      <a:pt x="504" y="4"/>
                    </a:lnTo>
                    <a:lnTo>
                      <a:pt x="532" y="2"/>
                    </a:lnTo>
                    <a:lnTo>
                      <a:pt x="560" y="0"/>
                    </a:lnTo>
                    <a:close/>
                    <a:moveTo>
                      <a:pt x="560" y="72"/>
                    </a:moveTo>
                    <a:lnTo>
                      <a:pt x="560" y="72"/>
                    </a:lnTo>
                    <a:lnTo>
                      <a:pt x="536" y="72"/>
                    </a:lnTo>
                    <a:lnTo>
                      <a:pt x="510" y="74"/>
                    </a:lnTo>
                    <a:lnTo>
                      <a:pt x="486" y="78"/>
                    </a:lnTo>
                    <a:lnTo>
                      <a:pt x="462" y="82"/>
                    </a:lnTo>
                    <a:lnTo>
                      <a:pt x="438" y="86"/>
                    </a:lnTo>
                    <a:lnTo>
                      <a:pt x="416" y="94"/>
                    </a:lnTo>
                    <a:lnTo>
                      <a:pt x="370" y="110"/>
                    </a:lnTo>
                    <a:lnTo>
                      <a:pt x="328" y="130"/>
                    </a:lnTo>
                    <a:lnTo>
                      <a:pt x="288" y="156"/>
                    </a:lnTo>
                    <a:lnTo>
                      <a:pt x="250" y="184"/>
                    </a:lnTo>
                    <a:lnTo>
                      <a:pt x="214" y="214"/>
                    </a:lnTo>
                    <a:lnTo>
                      <a:pt x="184" y="250"/>
                    </a:lnTo>
                    <a:lnTo>
                      <a:pt x="156" y="288"/>
                    </a:lnTo>
                    <a:lnTo>
                      <a:pt x="130" y="328"/>
                    </a:lnTo>
                    <a:lnTo>
                      <a:pt x="110" y="370"/>
                    </a:lnTo>
                    <a:lnTo>
                      <a:pt x="94" y="416"/>
                    </a:lnTo>
                    <a:lnTo>
                      <a:pt x="88" y="438"/>
                    </a:lnTo>
                    <a:lnTo>
                      <a:pt x="82" y="462"/>
                    </a:lnTo>
                    <a:lnTo>
                      <a:pt x="78" y="486"/>
                    </a:lnTo>
                    <a:lnTo>
                      <a:pt x="74" y="510"/>
                    </a:lnTo>
                    <a:lnTo>
                      <a:pt x="72" y="536"/>
                    </a:lnTo>
                    <a:lnTo>
                      <a:pt x="72" y="560"/>
                    </a:lnTo>
                    <a:lnTo>
                      <a:pt x="72" y="560"/>
                    </a:lnTo>
                    <a:lnTo>
                      <a:pt x="72" y="586"/>
                    </a:lnTo>
                    <a:lnTo>
                      <a:pt x="74" y="610"/>
                    </a:lnTo>
                    <a:lnTo>
                      <a:pt x="78" y="634"/>
                    </a:lnTo>
                    <a:lnTo>
                      <a:pt x="82" y="658"/>
                    </a:lnTo>
                    <a:lnTo>
                      <a:pt x="88" y="682"/>
                    </a:lnTo>
                    <a:lnTo>
                      <a:pt x="94" y="706"/>
                    </a:lnTo>
                    <a:lnTo>
                      <a:pt x="110" y="750"/>
                    </a:lnTo>
                    <a:lnTo>
                      <a:pt x="130" y="792"/>
                    </a:lnTo>
                    <a:lnTo>
                      <a:pt x="156" y="834"/>
                    </a:lnTo>
                    <a:lnTo>
                      <a:pt x="184" y="870"/>
                    </a:lnTo>
                    <a:lnTo>
                      <a:pt x="214" y="906"/>
                    </a:lnTo>
                    <a:lnTo>
                      <a:pt x="250" y="938"/>
                    </a:lnTo>
                    <a:lnTo>
                      <a:pt x="288" y="966"/>
                    </a:lnTo>
                    <a:lnTo>
                      <a:pt x="328" y="990"/>
                    </a:lnTo>
                    <a:lnTo>
                      <a:pt x="370" y="1010"/>
                    </a:lnTo>
                    <a:lnTo>
                      <a:pt x="416" y="1026"/>
                    </a:lnTo>
                    <a:lnTo>
                      <a:pt x="438" y="1034"/>
                    </a:lnTo>
                    <a:lnTo>
                      <a:pt x="462" y="1038"/>
                    </a:lnTo>
                    <a:lnTo>
                      <a:pt x="486" y="1044"/>
                    </a:lnTo>
                    <a:lnTo>
                      <a:pt x="510" y="1046"/>
                    </a:lnTo>
                    <a:lnTo>
                      <a:pt x="536" y="1048"/>
                    </a:lnTo>
                    <a:lnTo>
                      <a:pt x="560" y="1048"/>
                    </a:lnTo>
                    <a:lnTo>
                      <a:pt x="560" y="1048"/>
                    </a:lnTo>
                    <a:lnTo>
                      <a:pt x="586" y="1048"/>
                    </a:lnTo>
                    <a:lnTo>
                      <a:pt x="610" y="1046"/>
                    </a:lnTo>
                    <a:lnTo>
                      <a:pt x="634" y="1044"/>
                    </a:lnTo>
                    <a:lnTo>
                      <a:pt x="658" y="1038"/>
                    </a:lnTo>
                    <a:lnTo>
                      <a:pt x="682" y="1034"/>
                    </a:lnTo>
                    <a:lnTo>
                      <a:pt x="706" y="1026"/>
                    </a:lnTo>
                    <a:lnTo>
                      <a:pt x="750" y="1010"/>
                    </a:lnTo>
                    <a:lnTo>
                      <a:pt x="794" y="990"/>
                    </a:lnTo>
                    <a:lnTo>
                      <a:pt x="834" y="966"/>
                    </a:lnTo>
                    <a:lnTo>
                      <a:pt x="870" y="938"/>
                    </a:lnTo>
                    <a:lnTo>
                      <a:pt x="906" y="906"/>
                    </a:lnTo>
                    <a:lnTo>
                      <a:pt x="938" y="870"/>
                    </a:lnTo>
                    <a:lnTo>
                      <a:pt x="966" y="834"/>
                    </a:lnTo>
                    <a:lnTo>
                      <a:pt x="990" y="792"/>
                    </a:lnTo>
                    <a:lnTo>
                      <a:pt x="1010" y="750"/>
                    </a:lnTo>
                    <a:lnTo>
                      <a:pt x="1026" y="706"/>
                    </a:lnTo>
                    <a:lnTo>
                      <a:pt x="1034" y="682"/>
                    </a:lnTo>
                    <a:lnTo>
                      <a:pt x="1040" y="658"/>
                    </a:lnTo>
                    <a:lnTo>
                      <a:pt x="1044" y="634"/>
                    </a:lnTo>
                    <a:lnTo>
                      <a:pt x="1046" y="610"/>
                    </a:lnTo>
                    <a:lnTo>
                      <a:pt x="1048" y="586"/>
                    </a:lnTo>
                    <a:lnTo>
                      <a:pt x="1050" y="560"/>
                    </a:lnTo>
                    <a:lnTo>
                      <a:pt x="1050" y="560"/>
                    </a:lnTo>
                    <a:lnTo>
                      <a:pt x="1048" y="536"/>
                    </a:lnTo>
                    <a:lnTo>
                      <a:pt x="1046" y="510"/>
                    </a:lnTo>
                    <a:lnTo>
                      <a:pt x="1044" y="486"/>
                    </a:lnTo>
                    <a:lnTo>
                      <a:pt x="1040" y="462"/>
                    </a:lnTo>
                    <a:lnTo>
                      <a:pt x="1034" y="438"/>
                    </a:lnTo>
                    <a:lnTo>
                      <a:pt x="1026" y="416"/>
                    </a:lnTo>
                    <a:lnTo>
                      <a:pt x="1010" y="370"/>
                    </a:lnTo>
                    <a:lnTo>
                      <a:pt x="990" y="328"/>
                    </a:lnTo>
                    <a:lnTo>
                      <a:pt x="966" y="288"/>
                    </a:lnTo>
                    <a:lnTo>
                      <a:pt x="938" y="250"/>
                    </a:lnTo>
                    <a:lnTo>
                      <a:pt x="906" y="214"/>
                    </a:lnTo>
                    <a:lnTo>
                      <a:pt x="870" y="184"/>
                    </a:lnTo>
                    <a:lnTo>
                      <a:pt x="834" y="156"/>
                    </a:lnTo>
                    <a:lnTo>
                      <a:pt x="794" y="130"/>
                    </a:lnTo>
                    <a:lnTo>
                      <a:pt x="750" y="110"/>
                    </a:lnTo>
                    <a:lnTo>
                      <a:pt x="706" y="94"/>
                    </a:lnTo>
                    <a:lnTo>
                      <a:pt x="682" y="86"/>
                    </a:lnTo>
                    <a:lnTo>
                      <a:pt x="658" y="82"/>
                    </a:lnTo>
                    <a:lnTo>
                      <a:pt x="634" y="78"/>
                    </a:lnTo>
                    <a:lnTo>
                      <a:pt x="610" y="74"/>
                    </a:lnTo>
                    <a:lnTo>
                      <a:pt x="586" y="72"/>
                    </a:lnTo>
                    <a:lnTo>
                      <a:pt x="560" y="7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3" name="Freeform 8"/>
              <p:cNvSpPr>
                <a:spLocks/>
              </p:cNvSpPr>
              <p:nvPr/>
            </p:nvSpPr>
            <p:spPr bwMode="auto">
              <a:xfrm>
                <a:off x="-3349152" y="3608737"/>
                <a:ext cx="932213" cy="691444"/>
              </a:xfrm>
              <a:custGeom>
                <a:avLst/>
                <a:gdLst>
                  <a:gd name="T0" fmla="*/ 388 w 586"/>
                  <a:gd name="T1" fmla="*/ 162 h 432"/>
                  <a:gd name="T2" fmla="*/ 216 w 586"/>
                  <a:gd name="T3" fmla="*/ 0 h 432"/>
                  <a:gd name="T4" fmla="*/ 356 w 586"/>
                  <a:gd name="T5" fmla="*/ 0 h 432"/>
                  <a:gd name="T6" fmla="*/ 586 w 586"/>
                  <a:gd name="T7" fmla="*/ 216 h 432"/>
                  <a:gd name="T8" fmla="*/ 358 w 586"/>
                  <a:gd name="T9" fmla="*/ 432 h 432"/>
                  <a:gd name="T10" fmla="*/ 218 w 586"/>
                  <a:gd name="T11" fmla="*/ 432 h 432"/>
                  <a:gd name="T12" fmla="*/ 388 w 586"/>
                  <a:gd name="T13" fmla="*/ 272 h 432"/>
                  <a:gd name="T14" fmla="*/ 0 w 586"/>
                  <a:gd name="T15" fmla="*/ 272 h 432"/>
                  <a:gd name="T16" fmla="*/ 0 w 586"/>
                  <a:gd name="T17" fmla="*/ 162 h 432"/>
                  <a:gd name="T18" fmla="*/ 388 w 586"/>
                  <a:gd name="T19" fmla="*/ 16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6" h="432">
                    <a:moveTo>
                      <a:pt x="388" y="162"/>
                    </a:moveTo>
                    <a:lnTo>
                      <a:pt x="216" y="0"/>
                    </a:lnTo>
                    <a:lnTo>
                      <a:pt x="356" y="0"/>
                    </a:lnTo>
                    <a:lnTo>
                      <a:pt x="586" y="216"/>
                    </a:lnTo>
                    <a:lnTo>
                      <a:pt x="358" y="432"/>
                    </a:lnTo>
                    <a:lnTo>
                      <a:pt x="218" y="432"/>
                    </a:lnTo>
                    <a:lnTo>
                      <a:pt x="388" y="272"/>
                    </a:lnTo>
                    <a:lnTo>
                      <a:pt x="0" y="272"/>
                    </a:lnTo>
                    <a:lnTo>
                      <a:pt x="0" y="162"/>
                    </a:lnTo>
                    <a:lnTo>
                      <a:pt x="388" y="1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59" name="Right Brace 58"/>
          <p:cNvSpPr/>
          <p:nvPr/>
        </p:nvSpPr>
        <p:spPr>
          <a:xfrm>
            <a:off x="4129450" y="1574877"/>
            <a:ext cx="441316" cy="4102464"/>
          </a:xfrm>
          <a:prstGeom prst="rightBrac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nvGrpSpPr>
          <p:cNvPr id="67" name="Group 66"/>
          <p:cNvGrpSpPr/>
          <p:nvPr/>
        </p:nvGrpSpPr>
        <p:grpSpPr>
          <a:xfrm>
            <a:off x="4776885" y="1419321"/>
            <a:ext cx="6194532" cy="4784823"/>
            <a:chOff x="4979976" y="1371830"/>
            <a:chExt cx="7202655" cy="5335314"/>
          </a:xfrm>
        </p:grpSpPr>
        <p:grpSp>
          <p:nvGrpSpPr>
            <p:cNvPr id="68" name="Group 67"/>
            <p:cNvGrpSpPr/>
            <p:nvPr/>
          </p:nvGrpSpPr>
          <p:grpSpPr>
            <a:xfrm>
              <a:off x="4979976" y="1377364"/>
              <a:ext cx="7202655" cy="927729"/>
              <a:chOff x="4296161" y="1524074"/>
              <a:chExt cx="7291210" cy="856241"/>
            </a:xfrm>
          </p:grpSpPr>
          <p:sp>
            <p:nvSpPr>
              <p:cNvPr id="70" name="Freeform 8"/>
              <p:cNvSpPr>
                <a:spLocks noEditPoints="1"/>
              </p:cNvSpPr>
              <p:nvPr/>
            </p:nvSpPr>
            <p:spPr bwMode="black">
              <a:xfrm>
                <a:off x="7913232" y="1585032"/>
                <a:ext cx="819927" cy="49747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0687" tIns="40344" rIns="80687" bIns="40344"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568" b="0" i="0" u="none" strike="noStrike" kern="1200" cap="none" spc="0" normalizeH="0" baseline="0" noProof="0">
                  <a:ln>
                    <a:noFill/>
                  </a:ln>
                  <a:solidFill>
                    <a:srgbClr val="505050"/>
                  </a:solidFill>
                  <a:effectLst/>
                  <a:uLnTx/>
                  <a:uFillTx/>
                  <a:latin typeface="Segoe UI"/>
                  <a:ea typeface="+mn-ea"/>
                  <a:cs typeface="+mn-cs"/>
                </a:endParaRPr>
              </a:p>
            </p:txBody>
          </p:sp>
          <p:sp>
            <p:nvSpPr>
              <p:cNvPr id="71" name="Rectangle 70"/>
              <p:cNvSpPr/>
              <p:nvPr/>
            </p:nvSpPr>
            <p:spPr bwMode="auto">
              <a:xfrm>
                <a:off x="4296161" y="1524074"/>
                <a:ext cx="7291210" cy="856241"/>
              </a:xfrm>
              <a:prstGeom prst="rect">
                <a:avLst/>
              </a:prstGeom>
              <a:solidFill>
                <a:schemeClr val="accent5"/>
              </a:solidFill>
              <a:ln w="38100" cap="flat" cmpd="sng" algn="ctr">
                <a:noFill/>
                <a:prstDash val="solid"/>
                <a:headEnd type="none" w="med" len="med"/>
                <a:tailEnd type="none" w="med" len="med"/>
              </a:ln>
              <a:effectLst/>
            </p:spPr>
            <p:txBody>
              <a:bodyPr vert="horz" wrap="square" lIns="91423" tIns="89642" rIns="91423" bIns="89642" numCol="1" rtlCol="0" anchor="ctr" anchorCtr="0" compatLnSpc="1">
                <a:prstTxWarp prst="textNoShape">
                  <a:avLst/>
                </a:prstTxWarp>
              </a:bodyPr>
              <a:lstStyle/>
              <a:p>
                <a:pPr marL="0" marR="0" lvl="0" indent="0" algn="l" defTabSz="913924" rtl="0" eaLnBrk="1" fontAlgn="base" latinLnBrk="0" hangingPunct="1">
                  <a:lnSpc>
                    <a:spcPct val="100000"/>
                  </a:lnSpc>
                  <a:spcBef>
                    <a:spcPts val="2353"/>
                  </a:spcBef>
                  <a:spcAft>
                    <a:spcPct val="0"/>
                  </a:spcAft>
                  <a:buClrTx/>
                  <a:buSzTx/>
                  <a:buFontTx/>
                  <a:buNone/>
                  <a:tabLst/>
                  <a:defRPr/>
                </a:pPr>
                <a:r>
                  <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mn-cs"/>
                  </a:rPr>
                  <a:t>Publish report</a:t>
                </a:r>
              </a:p>
            </p:txBody>
          </p:sp>
        </p:grpSp>
        <p:sp>
          <p:nvSpPr>
            <p:cNvPr id="69" name="Rectangle 68"/>
            <p:cNvSpPr/>
            <p:nvPr/>
          </p:nvSpPr>
          <p:spPr>
            <a:xfrm>
              <a:off x="4979976" y="1371830"/>
              <a:ext cx="7202655" cy="5335314"/>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61" name="TextBox 60"/>
          <p:cNvSpPr txBox="1"/>
          <p:nvPr/>
        </p:nvSpPr>
        <p:spPr>
          <a:xfrm>
            <a:off x="1438015" y="1193279"/>
            <a:ext cx="3069608" cy="926755"/>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BI modelling techniques </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63" name="TextBox 62"/>
          <p:cNvSpPr txBox="1"/>
          <p:nvPr/>
        </p:nvSpPr>
        <p:spPr>
          <a:xfrm>
            <a:off x="1423037" y="2194735"/>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Integrating Data</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65" name="TextBox 64"/>
          <p:cNvSpPr txBox="1"/>
          <p:nvPr/>
        </p:nvSpPr>
        <p:spPr>
          <a:xfrm>
            <a:off x="1401369" y="3141077"/>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Data Analytics</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78" name="TextBox 77"/>
          <p:cNvSpPr txBox="1"/>
          <p:nvPr/>
        </p:nvSpPr>
        <p:spPr>
          <a:xfrm>
            <a:off x="1401369" y="4046790"/>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Design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sp>
        <p:nvSpPr>
          <p:cNvPr id="79" name="TextBox 78"/>
          <p:cNvSpPr txBox="1"/>
          <p:nvPr/>
        </p:nvSpPr>
        <p:spPr>
          <a:xfrm>
            <a:off x="1443984" y="5005021"/>
            <a:ext cx="3069608" cy="608206"/>
          </a:xfrm>
          <a:prstGeom prst="rect">
            <a:avLst/>
          </a:prstGeom>
          <a:noFill/>
        </p:spPr>
        <p:txBody>
          <a:bodyPr wrap="square" tIns="143428" rIns="179285" bIns="143428" anchor="ctr">
            <a:spAutoFit/>
          </a:bodyPr>
          <a:lstStyle/>
          <a:p>
            <a:pPr marL="0" marR="0" lvl="0" indent="0" algn="l" defTabSz="914314" rtl="0" eaLnBrk="1" fontAlgn="auto" latinLnBrk="0" hangingPunct="1">
              <a:lnSpc>
                <a:spcPct val="90000"/>
              </a:lnSpc>
              <a:spcBef>
                <a:spcPts val="0"/>
              </a:spcBef>
              <a:spcAft>
                <a:spcPts val="1176"/>
              </a:spcAft>
              <a:buClrTx/>
              <a:buSzTx/>
              <a:buFontTx/>
              <a:buNone/>
              <a:tabLst/>
              <a:defRPr/>
            </a:pPr>
            <a:r>
              <a:rPr kumimoji="0" lang="en-GB" sz="2300" b="0" i="0" u="none" strike="noStrike" kern="1200" cap="none" spc="0" normalizeH="0" baseline="0" noProof="0" dirty="0">
                <a:ln>
                  <a:noFill/>
                </a:ln>
                <a:solidFill>
                  <a:srgbClr val="D2D2D2">
                    <a:lumMod val="50000"/>
                  </a:srgbClr>
                </a:solidFill>
                <a:effectLst/>
                <a:uLnTx/>
                <a:uFillTx/>
                <a:latin typeface="Segoe UI"/>
                <a:ea typeface="+mn-ea"/>
                <a:cs typeface="+mn-cs"/>
              </a:rPr>
              <a:t>Publish a report</a:t>
            </a:r>
            <a:endParaRPr kumimoji="0" lang="en-US" sz="2300" b="0" i="0" u="none" strike="noStrike" kern="1200" cap="none" spc="0" normalizeH="0" baseline="0" noProof="0" dirty="0">
              <a:ln>
                <a:noFill/>
              </a:ln>
              <a:solidFill>
                <a:srgbClr val="D2D2D2">
                  <a:lumMod val="50000"/>
                </a:srgbClr>
              </a:solidFill>
              <a:effectLst/>
              <a:uLnTx/>
              <a:uFillTx/>
              <a:latin typeface="Segoe UI Light"/>
              <a:ea typeface="+mn-ea"/>
              <a:cs typeface="Segoe UI"/>
            </a:endParaRPr>
          </a:p>
        </p:txBody>
      </p:sp>
      <p:pic>
        <p:nvPicPr>
          <p:cNvPr id="41" name="Picture 40"/>
          <p:cNvPicPr>
            <a:picLocks noChangeAspect="1"/>
          </p:cNvPicPr>
          <p:nvPr/>
        </p:nvPicPr>
        <p:blipFill rotWithShape="1">
          <a:blip r:embed="rId3" cstate="screen">
            <a:extLst>
              <a:ext uri="{28A0092B-C50C-407E-A947-70E740481C1C}">
                <a14:useLocalDpi xmlns:a14="http://schemas.microsoft.com/office/drawing/2010/main"/>
              </a:ext>
            </a:extLst>
          </a:blip>
          <a:srcRect r="12557"/>
          <a:stretch/>
        </p:blipFill>
        <p:spPr>
          <a:xfrm>
            <a:off x="4776884" y="2245606"/>
            <a:ext cx="6194532" cy="3933271"/>
          </a:xfrm>
          <a:prstGeom prst="rect">
            <a:avLst/>
          </a:prstGeom>
        </p:spPr>
      </p:pic>
      <p:sp>
        <p:nvSpPr>
          <p:cNvPr id="54" name="Title 1"/>
          <p:cNvSpPr>
            <a:spLocks noGrp="1"/>
          </p:cNvSpPr>
          <p:nvPr>
            <p:ph type="title"/>
          </p:nvPr>
        </p:nvSpPr>
        <p:spPr>
          <a:xfrm>
            <a:off x="268927" y="286381"/>
            <a:ext cx="11653523" cy="927940"/>
          </a:xfrm>
        </p:spPr>
        <p:txBody>
          <a:bodyPr/>
          <a:lstStyle/>
          <a:p>
            <a:pPr lvl="0"/>
            <a:r>
              <a:rPr lang="en-US" sz="4313" dirty="0"/>
              <a:t>Your Power BI Journey</a:t>
            </a:r>
          </a:p>
        </p:txBody>
      </p:sp>
    </p:spTree>
    <p:extLst>
      <p:ext uri="{BB962C8B-B14F-4D97-AF65-F5344CB8AC3E}">
        <p14:creationId xmlns:p14="http://schemas.microsoft.com/office/powerpoint/2010/main" val="172445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grpSp>
        <p:nvGrpSpPr>
          <p:cNvPr id="6" name="Group 5"/>
          <p:cNvGrpSpPr/>
          <p:nvPr/>
        </p:nvGrpSpPr>
        <p:grpSpPr>
          <a:xfrm>
            <a:off x="688298" y="86227"/>
            <a:ext cx="10665502" cy="6771773"/>
            <a:chOff x="688298" y="86227"/>
            <a:chExt cx="10665502" cy="6771773"/>
          </a:xfrm>
        </p:grpSpPr>
        <p:pic>
          <p:nvPicPr>
            <p:cNvPr id="2050" name="Picture 2" descr="Image result for power bi pr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298" y="86227"/>
              <a:ext cx="10157657" cy="677177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4154140" y="86227"/>
              <a:ext cx="7199660" cy="6771773"/>
            </a:xfrm>
            <a:prstGeom prst="rect">
              <a:avLst/>
            </a:prstGeom>
          </p:spPr>
        </p:pic>
      </p:grpSp>
    </p:spTree>
    <p:extLst>
      <p:ext uri="{BB962C8B-B14F-4D97-AF65-F5344CB8AC3E}">
        <p14:creationId xmlns:p14="http://schemas.microsoft.com/office/powerpoint/2010/main" val="2101970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97798C-CDAF-413F-84DD-A8E35A5782F6}"/>
              </a:ext>
            </a:extLst>
          </p:cNvPr>
          <p:cNvSpPr>
            <a:spLocks noGrp="1"/>
          </p:cNvSpPr>
          <p:nvPr>
            <p:ph type="title"/>
          </p:nvPr>
        </p:nvSpPr>
        <p:spPr/>
        <p:txBody>
          <a:bodyPr/>
          <a:lstStyle/>
          <a:p>
            <a:r>
              <a:rPr lang="en-GB" dirty="0"/>
              <a:t>Power BI – Quick Demo</a:t>
            </a:r>
          </a:p>
        </p:txBody>
      </p:sp>
      <p:sp>
        <p:nvSpPr>
          <p:cNvPr id="5" name="Content Placeholder 4">
            <a:extLst>
              <a:ext uri="{FF2B5EF4-FFF2-40B4-BE49-F238E27FC236}">
                <a16:creationId xmlns:a16="http://schemas.microsoft.com/office/drawing/2014/main" id="{9B0C2516-4270-4802-886C-77152D86B6E8}"/>
              </a:ext>
            </a:extLst>
          </p:cNvPr>
          <p:cNvSpPr>
            <a:spLocks noGrp="1"/>
          </p:cNvSpPr>
          <p:nvPr>
            <p:ph idx="1"/>
          </p:nvPr>
        </p:nvSpPr>
        <p:spPr>
          <a:xfrm>
            <a:off x="7859444" y="2319837"/>
            <a:ext cx="3924970" cy="3635782"/>
          </a:xfrm>
        </p:spPr>
        <p:txBody>
          <a:bodyPr/>
          <a:lstStyle/>
          <a:p>
            <a:pPr marL="0" indent="0">
              <a:buNone/>
            </a:pPr>
            <a:r>
              <a:rPr lang="en-GB" i="1" dirty="0"/>
              <a:t>Remember to use </a:t>
            </a:r>
            <a:r>
              <a:rPr lang="en-GB" i="1" dirty="0" err="1"/>
              <a:t>appsanywhere</a:t>
            </a:r>
            <a:r>
              <a:rPr lang="en-GB" i="1" dirty="0"/>
              <a:t>, if you are working on a lab machine. </a:t>
            </a:r>
          </a:p>
          <a:p>
            <a:pPr marL="0" indent="0">
              <a:buNone/>
            </a:pPr>
            <a:endParaRPr lang="en-GB" i="1" dirty="0"/>
          </a:p>
          <a:p>
            <a:pPr marL="0" indent="0">
              <a:buNone/>
            </a:pPr>
            <a:r>
              <a:rPr lang="en-GB" i="1" dirty="0"/>
              <a:t>Your tutor will be happy to give you more details in the lab sessions.</a:t>
            </a:r>
          </a:p>
        </p:txBody>
      </p:sp>
      <p:pic>
        <p:nvPicPr>
          <p:cNvPr id="6" name="Picture 2" descr="You Want Great BI">
            <a:extLst>
              <a:ext uri="{FF2B5EF4-FFF2-40B4-BE49-F238E27FC236}">
                <a16:creationId xmlns:a16="http://schemas.microsoft.com/office/drawing/2014/main" id="{DB43D342-8E2E-4E88-9065-17380E95BBE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466"/>
          <a:stretch/>
        </p:blipFill>
        <p:spPr bwMode="auto">
          <a:xfrm>
            <a:off x="407586" y="2319837"/>
            <a:ext cx="7171623" cy="3857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84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From Excel data to BI Solutions in a few steps!</a:t>
            </a:r>
          </a:p>
        </p:txBody>
      </p:sp>
      <p:sp>
        <p:nvSpPr>
          <p:cNvPr id="5" name="Content Placeholder 4"/>
          <p:cNvSpPr>
            <a:spLocks noGrp="1"/>
          </p:cNvSpPr>
          <p:nvPr>
            <p:ph idx="1"/>
          </p:nvPr>
        </p:nvSpPr>
        <p:spPr/>
        <p:txBody>
          <a:bodyPr/>
          <a:lstStyle/>
          <a:p>
            <a:endParaRPr lang="en-GB" dirty="0"/>
          </a:p>
        </p:txBody>
      </p:sp>
      <p:pic>
        <p:nvPicPr>
          <p:cNvPr id="7" name="Picture 6"/>
          <p:cNvPicPr/>
          <p:nvPr/>
        </p:nvPicPr>
        <p:blipFill>
          <a:blip r:embed="rId2"/>
          <a:stretch>
            <a:fillRect/>
          </a:stretch>
        </p:blipFill>
        <p:spPr>
          <a:xfrm>
            <a:off x="475371" y="1492446"/>
            <a:ext cx="5726137" cy="3290570"/>
          </a:xfrm>
          <a:prstGeom prst="rect">
            <a:avLst/>
          </a:prstGeom>
        </p:spPr>
      </p:pic>
      <p:pic>
        <p:nvPicPr>
          <p:cNvPr id="8" name="Picture 7"/>
          <p:cNvPicPr/>
          <p:nvPr/>
        </p:nvPicPr>
        <p:blipFill>
          <a:blip r:embed="rId3"/>
          <a:stretch>
            <a:fillRect/>
          </a:stretch>
        </p:blipFill>
        <p:spPr>
          <a:xfrm>
            <a:off x="303237" y="3862116"/>
            <a:ext cx="9321800" cy="2815590"/>
          </a:xfrm>
          <a:prstGeom prst="rect">
            <a:avLst/>
          </a:prstGeom>
        </p:spPr>
      </p:pic>
      <p:pic>
        <p:nvPicPr>
          <p:cNvPr id="3" name="Picture 2">
            <a:extLst>
              <a:ext uri="{FF2B5EF4-FFF2-40B4-BE49-F238E27FC236}">
                <a16:creationId xmlns:a16="http://schemas.microsoft.com/office/drawing/2014/main" id="{60318593-088A-4DFD-8BDC-A8FF1B2D1510}"/>
              </a:ext>
            </a:extLst>
          </p:cNvPr>
          <p:cNvPicPr>
            <a:picLocks noChangeAspect="1"/>
          </p:cNvPicPr>
          <p:nvPr/>
        </p:nvPicPr>
        <p:blipFill>
          <a:blip r:embed="rId4"/>
          <a:stretch>
            <a:fillRect/>
          </a:stretch>
        </p:blipFill>
        <p:spPr>
          <a:xfrm>
            <a:off x="3861292" y="1634469"/>
            <a:ext cx="8027471" cy="4518410"/>
          </a:xfrm>
          <a:prstGeom prst="rect">
            <a:avLst/>
          </a:prstGeom>
        </p:spPr>
      </p:pic>
    </p:spTree>
    <p:extLst>
      <p:ext uri="{BB962C8B-B14F-4D97-AF65-F5344CB8AC3E}">
        <p14:creationId xmlns:p14="http://schemas.microsoft.com/office/powerpoint/2010/main" val="9507889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56BF46-776D-444F-B295-7982162BDBF0}"/>
              </a:ext>
            </a:extLst>
          </p:cNvPr>
          <p:cNvSpPr>
            <a:spLocks noGrp="1"/>
          </p:cNvSpPr>
          <p:nvPr>
            <p:ph type="title"/>
          </p:nvPr>
        </p:nvSpPr>
        <p:spPr>
          <a:xfrm>
            <a:off x="308343" y="1226235"/>
            <a:ext cx="11557591" cy="825721"/>
          </a:xfrm>
        </p:spPr>
        <p:txBody>
          <a:bodyPr/>
          <a:lstStyle/>
          <a:p>
            <a:r>
              <a:rPr lang="en-GB" dirty="0"/>
              <a:t>A quick online quiz!	</a:t>
            </a:r>
          </a:p>
        </p:txBody>
      </p:sp>
      <p:sp>
        <p:nvSpPr>
          <p:cNvPr id="5" name="Content Placeholder 4">
            <a:extLst>
              <a:ext uri="{FF2B5EF4-FFF2-40B4-BE49-F238E27FC236}">
                <a16:creationId xmlns:a16="http://schemas.microsoft.com/office/drawing/2014/main" id="{0E62CA35-A1EC-4BE4-9304-48A2E170A078}"/>
              </a:ext>
            </a:extLst>
          </p:cNvPr>
          <p:cNvSpPr>
            <a:spLocks noGrp="1"/>
          </p:cNvSpPr>
          <p:nvPr>
            <p:ph idx="1"/>
          </p:nvPr>
        </p:nvSpPr>
        <p:spPr>
          <a:xfrm>
            <a:off x="308343" y="2422814"/>
            <a:ext cx="5883137" cy="3635782"/>
          </a:xfrm>
        </p:spPr>
        <p:txBody>
          <a:bodyPr/>
          <a:lstStyle/>
          <a:p>
            <a:pPr marL="0" indent="0">
              <a:buNone/>
            </a:pPr>
            <a:r>
              <a:rPr lang="en-GB" dirty="0"/>
              <a:t>Use the link below to join the online quiz</a:t>
            </a:r>
            <a:endParaRPr lang="en-GB" dirty="0">
              <a:hlinkClick r:id="rId3"/>
            </a:endParaRPr>
          </a:p>
          <a:p>
            <a:pPr marL="0" indent="0">
              <a:buNone/>
            </a:pPr>
            <a:r>
              <a:rPr lang="en-GB" dirty="0">
                <a:hlinkClick r:id="rId4"/>
              </a:rPr>
              <a:t>https://quizizz.com/join</a:t>
            </a:r>
            <a:endParaRPr lang="en-GB" dirty="0"/>
          </a:p>
          <a:p>
            <a:pPr marL="0" indent="0">
              <a:buNone/>
            </a:pPr>
            <a:r>
              <a:rPr lang="en-GB" dirty="0"/>
              <a:t>Or simply google “”</a:t>
            </a:r>
            <a:r>
              <a:rPr lang="en-GB" dirty="0" err="1"/>
              <a:t>Quizziz</a:t>
            </a:r>
            <a:r>
              <a:rPr lang="en-GB" dirty="0"/>
              <a:t> enter code”</a:t>
            </a:r>
          </a:p>
          <a:p>
            <a:pPr marL="0" indent="0">
              <a:buNone/>
            </a:pPr>
            <a:endParaRPr lang="en-GB" dirty="0"/>
          </a:p>
          <a:p>
            <a:pPr marL="0" indent="0">
              <a:buNone/>
            </a:pPr>
            <a:r>
              <a:rPr lang="en-GB" dirty="0"/>
              <a:t>And enter</a:t>
            </a:r>
          </a:p>
          <a:p>
            <a:pPr marL="0" indent="0">
              <a:buNone/>
            </a:pPr>
            <a:r>
              <a:rPr lang="en-GB" dirty="0"/>
              <a:t>The code on the screen</a:t>
            </a:r>
          </a:p>
        </p:txBody>
      </p:sp>
      <p:pic>
        <p:nvPicPr>
          <p:cNvPr id="8" name="Picture 7">
            <a:extLst>
              <a:ext uri="{FF2B5EF4-FFF2-40B4-BE49-F238E27FC236}">
                <a16:creationId xmlns:a16="http://schemas.microsoft.com/office/drawing/2014/main" id="{493D227E-0E93-49F7-B00D-5479CF0CF02A}"/>
              </a:ext>
            </a:extLst>
          </p:cNvPr>
          <p:cNvPicPr>
            <a:picLocks noChangeAspect="1"/>
          </p:cNvPicPr>
          <p:nvPr/>
        </p:nvPicPr>
        <p:blipFill>
          <a:blip r:embed="rId5"/>
          <a:stretch>
            <a:fillRect/>
          </a:stretch>
        </p:blipFill>
        <p:spPr>
          <a:xfrm>
            <a:off x="6627220" y="2252720"/>
            <a:ext cx="5657850" cy="2705100"/>
          </a:xfrm>
          <a:prstGeom prst="rect">
            <a:avLst/>
          </a:prstGeom>
        </p:spPr>
      </p:pic>
    </p:spTree>
    <p:extLst>
      <p:ext uri="{BB962C8B-B14F-4D97-AF65-F5344CB8AC3E}">
        <p14:creationId xmlns:p14="http://schemas.microsoft.com/office/powerpoint/2010/main" val="4009171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84EF2-DD47-43BD-A54C-E9D5893A152A}"/>
              </a:ext>
            </a:extLst>
          </p:cNvPr>
          <p:cNvSpPr>
            <a:spLocks noGrp="1"/>
          </p:cNvSpPr>
          <p:nvPr>
            <p:ph type="title"/>
          </p:nvPr>
        </p:nvSpPr>
        <p:spPr/>
        <p:txBody>
          <a:bodyPr/>
          <a:lstStyle/>
          <a:p>
            <a:r>
              <a:rPr lang="en-GB" dirty="0"/>
              <a:t>ICA Briefing and ICA Sample</a:t>
            </a:r>
          </a:p>
        </p:txBody>
      </p:sp>
      <p:sp>
        <p:nvSpPr>
          <p:cNvPr id="3" name="Text Placeholder 2">
            <a:extLst>
              <a:ext uri="{FF2B5EF4-FFF2-40B4-BE49-F238E27FC236}">
                <a16:creationId xmlns:a16="http://schemas.microsoft.com/office/drawing/2014/main" id="{2AC512B6-77A5-4FA1-A301-676FECBC54F8}"/>
              </a:ext>
            </a:extLst>
          </p:cNvPr>
          <p:cNvSpPr>
            <a:spLocks noGrp="1"/>
          </p:cNvSpPr>
          <p:nvPr>
            <p:ph type="body" idx="1"/>
          </p:nvPr>
        </p:nvSpPr>
        <p:spPr/>
        <p:txBody>
          <a:bodyPr/>
          <a:lstStyle/>
          <a:p>
            <a:r>
              <a:rPr lang="en-GB" dirty="0"/>
              <a:t>See link on Blackboard (Assessments)</a:t>
            </a:r>
          </a:p>
        </p:txBody>
      </p:sp>
      <p:sp>
        <p:nvSpPr>
          <p:cNvPr id="4" name="Footer Placeholder 3">
            <a:extLst>
              <a:ext uri="{FF2B5EF4-FFF2-40B4-BE49-F238E27FC236}">
                <a16:creationId xmlns:a16="http://schemas.microsoft.com/office/drawing/2014/main" id="{5A4D3F3D-F839-42C2-AE4D-E504018FF1D8}"/>
              </a:ext>
            </a:extLst>
          </p:cNvPr>
          <p:cNvSpPr>
            <a:spLocks noGrp="1"/>
          </p:cNvSpPr>
          <p:nvPr>
            <p:ph type="ftr" sz="quarter" idx="11"/>
          </p:nvPr>
        </p:nvSpPr>
        <p:spPr/>
        <p:txBody>
          <a:bodyPr/>
          <a:lstStyle/>
          <a:p>
            <a:r>
              <a:rPr lang="en-GB"/>
              <a:t>School of Computing, Engineering &amp; Digital Technologies</a:t>
            </a:r>
            <a:endParaRPr lang="en-GB" dirty="0"/>
          </a:p>
        </p:txBody>
      </p:sp>
      <p:sp>
        <p:nvSpPr>
          <p:cNvPr id="5" name="Slide Number Placeholder 4">
            <a:extLst>
              <a:ext uri="{FF2B5EF4-FFF2-40B4-BE49-F238E27FC236}">
                <a16:creationId xmlns:a16="http://schemas.microsoft.com/office/drawing/2014/main" id="{2D0A20B9-88B9-4EA1-A72D-CA7A5EE138E6}"/>
              </a:ext>
            </a:extLst>
          </p:cNvPr>
          <p:cNvSpPr>
            <a:spLocks noGrp="1"/>
          </p:cNvSpPr>
          <p:nvPr>
            <p:ph type="sldNum" sz="quarter" idx="12"/>
          </p:nvPr>
        </p:nvSpPr>
        <p:spPr/>
        <p:txBody>
          <a:bodyPr/>
          <a:lstStyle/>
          <a:p>
            <a:fld id="{5BC3EEBC-8848-48BC-9E86-2856C4334E59}" type="slidenum">
              <a:rPr lang="en-GB" smtClean="0"/>
              <a:t>48</a:t>
            </a:fld>
            <a:endParaRPr lang="en-GB" dirty="0"/>
          </a:p>
        </p:txBody>
      </p:sp>
    </p:spTree>
    <p:extLst>
      <p:ext uri="{BB962C8B-B14F-4D97-AF65-F5344CB8AC3E}">
        <p14:creationId xmlns:p14="http://schemas.microsoft.com/office/powerpoint/2010/main" val="2947498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46908F-DC2A-4AA2-9682-0BDAE2EC5AA8}" type="slidenum">
              <a:rPr kumimoji="0" lang="fr-CA" sz="1100" b="0" i="0" u="none" strike="noStrike" kern="1200" cap="none" spc="0" normalizeH="0" baseline="0" noProof="0" smtClean="0">
                <a:ln>
                  <a:noFill/>
                </a:ln>
                <a:solidFill>
                  <a:srgbClr val="BFBFB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fr-CA" sz="1100" b="0" i="0" u="none" strike="noStrike" kern="1200" cap="none" spc="0" normalizeH="0" baseline="0" noProof="0">
              <a:ln>
                <a:noFill/>
              </a:ln>
              <a:solidFill>
                <a:srgbClr val="BFBFBF"/>
              </a:solidFill>
              <a:effectLst/>
              <a:uLnTx/>
              <a:uFillTx/>
              <a:latin typeface="Calibri" panose="020F0502020204030204"/>
              <a:ea typeface="+mn-ea"/>
              <a:cs typeface="+mn-cs"/>
            </a:endParaRPr>
          </a:p>
        </p:txBody>
      </p:sp>
      <p:sp>
        <p:nvSpPr>
          <p:cNvPr id="12" name="Footer Placeholder 4">
            <a:extLst>
              <a:ext uri="{FF2B5EF4-FFF2-40B4-BE49-F238E27FC236}">
                <a16:creationId xmlns:a16="http://schemas.microsoft.com/office/drawing/2014/main" id="{632E5D8B-475E-4726-88E4-BCDB8FE01AEE}"/>
              </a:ext>
            </a:extLst>
          </p:cNvPr>
          <p:cNvSpPr>
            <a:spLocks noGrp="1"/>
          </p:cNvSpPr>
          <p:nvPr>
            <p:ph type="ftr" sz="quarter" idx="4294967295"/>
          </p:nvPr>
        </p:nvSpPr>
        <p:spPr>
          <a:xfrm>
            <a:off x="383720" y="6515100"/>
            <a:ext cx="10654393" cy="20637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School of Computing, Engineering &amp; Digital Technologies</a:t>
            </a:r>
          </a:p>
        </p:txBody>
      </p:sp>
      <p:sp>
        <p:nvSpPr>
          <p:cNvPr id="9" name="Title 2"/>
          <p:cNvSpPr txBox="1">
            <a:spLocks/>
          </p:cNvSpPr>
          <p:nvPr/>
        </p:nvSpPr>
        <p:spPr>
          <a:xfrm>
            <a:off x="744732" y="2001122"/>
            <a:ext cx="4297785" cy="3629044"/>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6000" kern="1200" spc="-150">
                <a:solidFill>
                  <a:schemeClr val="tx1"/>
                </a:solidFill>
                <a:latin typeface="+mj-lt"/>
                <a:ea typeface="+mj-ea"/>
                <a:cs typeface="+mj-cs"/>
              </a:defRPr>
            </a:lvl1pPr>
          </a:lstStyle>
          <a:p>
            <a:pPr>
              <a:lnSpc>
                <a:spcPct val="100000"/>
              </a:lnSpc>
            </a:pPr>
            <a:r>
              <a:rPr lang="en-GB" sz="3700" dirty="0"/>
              <a:t>Develop Business Intelligence solutions to support the information needs of your organisation using Power BI.</a:t>
            </a:r>
            <a:r>
              <a:rPr lang="en-GB" sz="3000" dirty="0"/>
              <a:t> </a:t>
            </a:r>
          </a:p>
        </p:txBody>
      </p:sp>
      <p:pic>
        <p:nvPicPr>
          <p:cNvPr id="10" name="Picture 2" descr="You Want Great BI">
            <a:extLst>
              <a:ext uri="{FF2B5EF4-FFF2-40B4-BE49-F238E27FC236}">
                <a16:creationId xmlns:a16="http://schemas.microsoft.com/office/drawing/2014/main" id="{F9D7A64B-0898-42DD-A1F7-384CB5EA1F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8118" y="3911695"/>
            <a:ext cx="4026854" cy="22910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s://www.red-gate.com/simple-talk/wp-content/uploads/2018/05/word-image-4.png"/>
          <p:cNvPicPr>
            <a:picLocks noChangeAspect="1" noChangeArrowheads="1"/>
          </p:cNvPicPr>
          <p:nvPr/>
        </p:nvPicPr>
        <p:blipFill>
          <a:blip r:embed="rId3" cstate="print">
            <a:extLst>
              <a:ext uri="{28A0092B-C50C-407E-A947-70E740481C1C}">
                <a14:useLocalDpi xmlns:a14="http://schemas.microsoft.com/office/drawing/2010/main" val="0"/>
              </a:ext>
            </a:extLst>
          </a:blip>
          <a:srcRect b="11656"/>
          <a:stretch>
            <a:fillRect/>
          </a:stretch>
        </p:blipFill>
        <p:spPr bwMode="auto">
          <a:xfrm>
            <a:off x="5651772" y="1711956"/>
            <a:ext cx="4289349" cy="2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hlinkClick r:id="rId4" action="ppaction://hlinkfile"/>
            <a:extLst>
              <a:ext uri="{FF2B5EF4-FFF2-40B4-BE49-F238E27FC236}">
                <a16:creationId xmlns:a16="http://schemas.microsoft.com/office/drawing/2014/main" id="{AFFC4787-E32B-4778-A39A-A418F185497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1289" y="1749778"/>
            <a:ext cx="1533142" cy="1263847"/>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p:cNvSpPr txBox="1">
            <a:spLocks/>
          </p:cNvSpPr>
          <p:nvPr/>
        </p:nvSpPr>
        <p:spPr>
          <a:xfrm>
            <a:off x="744732" y="286381"/>
            <a:ext cx="11177718" cy="9279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313" b="0" i="0" u="none" strike="noStrike" kern="1200" cap="none" spc="0" normalizeH="0" baseline="0" noProof="0" dirty="0">
                <a:ln>
                  <a:noFill/>
                </a:ln>
                <a:solidFill>
                  <a:prstClr val="black"/>
                </a:solidFill>
                <a:effectLst/>
                <a:uLnTx/>
                <a:uFillTx/>
                <a:latin typeface="Calibri Light" panose="020F0302020204030204"/>
                <a:ea typeface="+mj-ea"/>
                <a:cs typeface="+mj-cs"/>
              </a:rPr>
              <a:t>Module Outcome</a:t>
            </a:r>
          </a:p>
        </p:txBody>
      </p:sp>
    </p:spTree>
    <p:extLst>
      <p:ext uri="{BB962C8B-B14F-4D97-AF65-F5344CB8AC3E}">
        <p14:creationId xmlns:p14="http://schemas.microsoft.com/office/powerpoint/2010/main" val="241223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1005567" y="352693"/>
            <a:ext cx="10515600" cy="2089408"/>
          </a:xfrm>
        </p:spPr>
        <p:txBody>
          <a:bodyPr anchor="t">
            <a:normAutofit fontScale="90000"/>
          </a:bodyPr>
          <a:lstStyle/>
          <a:p>
            <a:pPr algn="ctr"/>
            <a:r>
              <a:rPr lang="en-GB" sz="7200" dirty="0"/>
              <a:t>Questions?</a:t>
            </a:r>
            <a:br>
              <a:rPr lang="en-GB" sz="7200" dirty="0"/>
            </a:br>
            <a:br>
              <a:rPr lang="en-GB" sz="7200" dirty="0"/>
            </a:br>
            <a:endParaRPr lang="en-GB" sz="4000" dirty="0"/>
          </a:p>
        </p:txBody>
      </p:sp>
      <p:sp>
        <p:nvSpPr>
          <p:cNvPr id="3" name="Date Placeholder 2"/>
          <p:cNvSpPr>
            <a:spLocks noGrp="1"/>
          </p:cNvSpPr>
          <p:nvPr>
            <p:ph type="dt" sz="half"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46908F-DC2A-4AA2-9682-0BDAE2EC5AA8}" type="slidenum">
              <a:rPr kumimoji="0" lang="fr-CA" sz="1100" b="0" i="0" u="none" strike="noStrike" kern="1200" cap="none" spc="0" normalizeH="0" baseline="0" noProof="0" smtClean="0">
                <a:ln>
                  <a:noFill/>
                </a:ln>
                <a:solidFill>
                  <a:srgbClr val="BFBFB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fr-CA" sz="1100" b="0" i="0" u="none" strike="noStrike" kern="1200" cap="none" spc="0" normalizeH="0" baseline="0" noProof="0">
              <a:ln>
                <a:noFill/>
              </a:ln>
              <a:solidFill>
                <a:srgbClr val="BFBFBF"/>
              </a:solidFill>
              <a:effectLst/>
              <a:uLnTx/>
              <a:uFillTx/>
              <a:latin typeface="Calibri" panose="020F0502020204030204"/>
              <a:ea typeface="+mn-ea"/>
              <a:cs typeface="+mn-cs"/>
            </a:endParaRPr>
          </a:p>
        </p:txBody>
      </p:sp>
      <p:pic>
        <p:nvPicPr>
          <p:cNvPr id="4" name="Picture 3"/>
          <p:cNvPicPr>
            <a:picLocks noChangeAspect="1"/>
          </p:cNvPicPr>
          <p:nvPr/>
        </p:nvPicPr>
        <p:blipFill>
          <a:blip r:embed="rId2"/>
          <a:stretch>
            <a:fillRect/>
          </a:stretch>
        </p:blipFill>
        <p:spPr>
          <a:xfrm>
            <a:off x="1832772" y="232627"/>
            <a:ext cx="2466975" cy="1238250"/>
          </a:xfrm>
          <a:prstGeom prst="rect">
            <a:avLst/>
          </a:prstGeom>
        </p:spPr>
      </p:pic>
      <p:sp>
        <p:nvSpPr>
          <p:cNvPr id="12" name="Footer Placeholder 4">
            <a:extLst>
              <a:ext uri="{FF2B5EF4-FFF2-40B4-BE49-F238E27FC236}">
                <a16:creationId xmlns:a16="http://schemas.microsoft.com/office/drawing/2014/main" id="{632E5D8B-475E-4726-88E4-BCDB8FE01AEE}"/>
              </a:ext>
            </a:extLst>
          </p:cNvPr>
          <p:cNvSpPr>
            <a:spLocks noGrp="1"/>
          </p:cNvSpPr>
          <p:nvPr>
            <p:ph type="ftr" sz="quarter" idx="4294967295"/>
          </p:nvPr>
        </p:nvSpPr>
        <p:spPr>
          <a:xfrm>
            <a:off x="383720" y="6515100"/>
            <a:ext cx="10654393" cy="20637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School of Computing, Engineering &amp; Digital Technologies</a:t>
            </a:r>
          </a:p>
        </p:txBody>
      </p:sp>
      <p:grpSp>
        <p:nvGrpSpPr>
          <p:cNvPr id="11" name="Group 10">
            <a:extLst>
              <a:ext uri="{FF2B5EF4-FFF2-40B4-BE49-F238E27FC236}">
                <a16:creationId xmlns:a16="http://schemas.microsoft.com/office/drawing/2014/main" id="{376C2C0A-4968-4F7B-A2BD-562E9324343C}"/>
              </a:ext>
            </a:extLst>
          </p:cNvPr>
          <p:cNvGrpSpPr/>
          <p:nvPr/>
        </p:nvGrpSpPr>
        <p:grpSpPr>
          <a:xfrm>
            <a:off x="932660" y="2573540"/>
            <a:ext cx="8837268" cy="3557580"/>
            <a:chOff x="932660" y="2573540"/>
            <a:chExt cx="8837268" cy="3557580"/>
          </a:xfrm>
        </p:grpSpPr>
        <p:sp>
          <p:nvSpPr>
            <p:cNvPr id="7" name="TextBox 6">
              <a:extLst>
                <a:ext uri="{FF2B5EF4-FFF2-40B4-BE49-F238E27FC236}">
                  <a16:creationId xmlns:a16="http://schemas.microsoft.com/office/drawing/2014/main" id="{EFF06FB4-2098-4E83-8758-9FB46B1E0193}"/>
                </a:ext>
              </a:extLst>
            </p:cNvPr>
            <p:cNvSpPr txBox="1"/>
            <p:nvPr/>
          </p:nvSpPr>
          <p:spPr>
            <a:xfrm>
              <a:off x="932660" y="2573540"/>
              <a:ext cx="8837268" cy="1015663"/>
            </a:xfrm>
            <a:prstGeom prst="rect">
              <a:avLst/>
            </a:prstGeom>
            <a:noFill/>
          </p:spPr>
          <p:txBody>
            <a:bodyPr wrap="square" rtlCol="0">
              <a:spAutoFit/>
            </a:bodyPr>
            <a:lstStyle/>
            <a:p>
              <a:pPr algn="ctr"/>
              <a:r>
                <a:rPr lang="en-GB" sz="2000" dirty="0"/>
                <a:t>We’d love to hear your feedback! </a:t>
              </a:r>
            </a:p>
            <a:p>
              <a:r>
                <a:rPr lang="en-GB" sz="2000" dirty="0"/>
                <a:t>Use the link on BB to let us know about any issues, anything you’d like to change in the module, or just that you’re loving it!</a:t>
              </a:r>
            </a:p>
          </p:txBody>
        </p:sp>
        <p:pic>
          <p:nvPicPr>
            <p:cNvPr id="9" name="Picture 8">
              <a:extLst>
                <a:ext uri="{FF2B5EF4-FFF2-40B4-BE49-F238E27FC236}">
                  <a16:creationId xmlns:a16="http://schemas.microsoft.com/office/drawing/2014/main" id="{969F8ECC-682E-431E-B340-A97B29D58D6C}"/>
                </a:ext>
              </a:extLst>
            </p:cNvPr>
            <p:cNvPicPr>
              <a:picLocks noChangeAspect="1"/>
            </p:cNvPicPr>
            <p:nvPr/>
          </p:nvPicPr>
          <p:blipFill>
            <a:blip r:embed="rId3"/>
            <a:stretch>
              <a:fillRect/>
            </a:stretch>
          </p:blipFill>
          <p:spPr>
            <a:xfrm>
              <a:off x="2875255" y="3589203"/>
              <a:ext cx="5181600" cy="2541917"/>
            </a:xfrm>
            <a:prstGeom prst="rect">
              <a:avLst/>
            </a:prstGeom>
          </p:spPr>
        </p:pic>
        <p:sp>
          <p:nvSpPr>
            <p:cNvPr id="10" name="Rectangle 9">
              <a:extLst>
                <a:ext uri="{FF2B5EF4-FFF2-40B4-BE49-F238E27FC236}">
                  <a16:creationId xmlns:a16="http://schemas.microsoft.com/office/drawing/2014/main" id="{533EC481-D49F-4748-97F7-D6409B7C90DD}"/>
                </a:ext>
              </a:extLst>
            </p:cNvPr>
            <p:cNvSpPr/>
            <p:nvPr/>
          </p:nvSpPr>
          <p:spPr>
            <a:xfrm>
              <a:off x="3066259" y="5362575"/>
              <a:ext cx="4990596" cy="76854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43479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adLp5CSddUyH2.S4SYXswQ"/>
</p:tagLst>
</file>

<file path=ppt/theme/theme1.xml><?xml version="1.0" encoding="utf-8"?>
<a:theme xmlns:a="http://schemas.openxmlformats.org/drawingml/2006/main" name="Intro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nchorCtr="0">
        <a:normAutofit/>
      </a:bodyPr>
      <a:lstStyle>
        <a:defPPr>
          <a:defRPr sz="4000" b="1" dirty="0" smtClean="0">
            <a:latin typeface="Arial" charset="0"/>
            <a:ea typeface="Arial" charset="0"/>
            <a:cs typeface="Arial"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ctur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nchorCtr="0">
        <a:normAutofit/>
      </a:bodyPr>
      <a:lstStyle>
        <a:defPPr>
          <a:defRPr sz="4000" b="1" dirty="0" smtClean="0">
            <a:latin typeface="Arial" charset="0"/>
            <a:ea typeface="Arial" charset="0"/>
            <a:cs typeface="Arial"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End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CM Colours">
      <a:dk1>
        <a:sysClr val="windowText" lastClr="000000"/>
      </a:dk1>
      <a:lt1>
        <a:sysClr val="window" lastClr="FFFFFF"/>
      </a:lt1>
      <a:dk2>
        <a:srgbClr val="8970A9"/>
      </a:dk2>
      <a:lt2>
        <a:srgbClr val="BFBFBF"/>
      </a:lt2>
      <a:accent1>
        <a:srgbClr val="6C2787"/>
      </a:accent1>
      <a:accent2>
        <a:srgbClr val="F79646"/>
      </a:accent2>
      <a:accent3>
        <a:srgbClr val="9BBB59"/>
      </a:accent3>
      <a:accent4>
        <a:srgbClr val="C0504D"/>
      </a:accent4>
      <a:accent5>
        <a:srgbClr val="4F81BD"/>
      </a:accent5>
      <a:accent6>
        <a:srgbClr val="4BACC6"/>
      </a:accent6>
      <a:hlink>
        <a:srgbClr val="6C2787"/>
      </a:hlink>
      <a:folHlink>
        <a:srgbClr val="F7964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a-com3041-lecture-template.potx" id="{09F266B8-037D-4960-B683-4D141DDD58CF}" vid="{54ED4B27-7A9F-4E1F-B0CB-1BA09105F62F}"/>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Data Insights">
  <a:themeElements>
    <a:clrScheme name="STB 2013 colors">
      <a:dk1>
        <a:srgbClr val="000000"/>
      </a:dk1>
      <a:lt1>
        <a:srgbClr val="FFFFFF"/>
      </a:lt1>
      <a:dk2>
        <a:srgbClr val="505050"/>
      </a:dk2>
      <a:lt2>
        <a:srgbClr val="D2D2D2"/>
      </a:lt2>
      <a:accent1>
        <a:srgbClr val="0072C6"/>
      </a:accent1>
      <a:accent2>
        <a:srgbClr val="008272"/>
      </a:accent2>
      <a:accent3>
        <a:srgbClr val="68217A"/>
      </a:accent3>
      <a:accent4>
        <a:srgbClr val="DC3C00"/>
      </a:accent4>
      <a:accent5>
        <a:srgbClr val="FF8C00"/>
      </a:accent5>
      <a:accent6>
        <a:srgbClr val="00BCF2"/>
      </a:accent6>
      <a:hlink>
        <a:srgbClr val="505050"/>
      </a:hlink>
      <a:folHlink>
        <a:srgbClr val="505050"/>
      </a:folHlink>
    </a:clrScheme>
    <a:fontScheme name="STB-2013-Segoe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loud and Enterprise Template July 2013" id="{4B4D3566-23A7-4298-B24F-E091AC86EA46}" vid="{4478AA4A-1A2F-450F-A079-1C3670FFC841}"/>
    </a:ext>
  </a:extLst>
</a:theme>
</file>

<file path=ppt/theme/theme8.xml><?xml version="1.0" encoding="utf-8"?>
<a:theme xmlns:a="http://schemas.openxmlformats.org/drawingml/2006/main" name="2_Office Theme">
  <a:themeElements>
    <a:clrScheme name="SCM Colours">
      <a:dk1>
        <a:sysClr val="windowText" lastClr="000000"/>
      </a:dk1>
      <a:lt1>
        <a:sysClr val="window" lastClr="FFFFFF"/>
      </a:lt1>
      <a:dk2>
        <a:srgbClr val="8970A9"/>
      </a:dk2>
      <a:lt2>
        <a:srgbClr val="BFBFBF"/>
      </a:lt2>
      <a:accent1>
        <a:srgbClr val="6C2787"/>
      </a:accent1>
      <a:accent2>
        <a:srgbClr val="F79646"/>
      </a:accent2>
      <a:accent3>
        <a:srgbClr val="9BBB59"/>
      </a:accent3>
      <a:accent4>
        <a:srgbClr val="C0504D"/>
      </a:accent4>
      <a:accent5>
        <a:srgbClr val="4F81BD"/>
      </a:accent5>
      <a:accent6>
        <a:srgbClr val="4BACC6"/>
      </a:accent6>
      <a:hlink>
        <a:srgbClr val="6C2787"/>
      </a:hlink>
      <a:folHlink>
        <a:srgbClr val="F7964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a-com3041-lecture-template.potx" id="{09F266B8-037D-4960-B683-4D141DDD58CF}" vid="{54ED4B27-7A9F-4E1F-B0CB-1BA09105F62F}"/>
    </a:ext>
  </a:extLst>
</a:theme>
</file>

<file path=ppt/theme/theme9.xml><?xml version="1.0" encoding="utf-8"?>
<a:theme xmlns:a="http://schemas.openxmlformats.org/drawingml/2006/main" name="1_Content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nchorCtr="0">
        <a:normAutofit/>
      </a:bodyPr>
      <a:lstStyle>
        <a:defPPr>
          <a:defRPr sz="4000" b="1" dirty="0" smtClean="0">
            <a:latin typeface="Arial" charset="0"/>
            <a:ea typeface="Arial" charset="0"/>
            <a:cs typeface="Arial"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96365E366AAB4F8280D86F3228324F" ma:contentTypeVersion="13" ma:contentTypeDescription="Create a new document." ma:contentTypeScope="" ma:versionID="5c5b465db9100d98d28a02708a555443">
  <xsd:schema xmlns:xsd="http://www.w3.org/2001/XMLSchema" xmlns:xs="http://www.w3.org/2001/XMLSchema" xmlns:p="http://schemas.microsoft.com/office/2006/metadata/properties" xmlns:ns3="def758ac-9196-4ec0-90cb-261ed6d7bf05" xmlns:ns4="8cca14b1-3cdd-4e98-976b-f7aa99511c27" targetNamespace="http://schemas.microsoft.com/office/2006/metadata/properties" ma:root="true" ma:fieldsID="ac5964ee864234c2e920e035a64218e2" ns3:_="" ns4:_="">
    <xsd:import namespace="def758ac-9196-4ec0-90cb-261ed6d7bf05"/>
    <xsd:import namespace="8cca14b1-3cdd-4e98-976b-f7aa99511c2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f758ac-9196-4ec0-90cb-261ed6d7bf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ca14b1-3cdd-4e98-976b-f7aa99511c27"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E705EA-B796-4568-B25D-8FE33DCE9D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f758ac-9196-4ec0-90cb-261ed6d7bf05"/>
    <ds:schemaRef ds:uri="8cca14b1-3cdd-4e98-976b-f7aa99511c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B189EB-13DD-4F97-B5B8-8F9DC8A29D27}">
  <ds:schemaRefs>
    <ds:schemaRef ds:uri="http://schemas.microsoft.com/office/infopath/2007/PartnerControls"/>
    <ds:schemaRef ds:uri="http://schemas.microsoft.com/office/2006/metadata/properties"/>
    <ds:schemaRef ds:uri="http://purl.org/dc/terms/"/>
    <ds:schemaRef ds:uri="http://schemas.microsoft.com/office/2006/documentManagement/types"/>
    <ds:schemaRef ds:uri="8cca14b1-3cdd-4e98-976b-f7aa99511c27"/>
    <ds:schemaRef ds:uri="http://schemas.openxmlformats.org/package/2006/metadata/core-properties"/>
    <ds:schemaRef ds:uri="http://purl.org/dc/elements/1.1/"/>
    <ds:schemaRef ds:uri="def758ac-9196-4ec0-90cb-261ed6d7bf05"/>
    <ds:schemaRef ds:uri="http://www.w3.org/XML/1998/namespace"/>
    <ds:schemaRef ds:uri="http://purl.org/dc/dcmitype/"/>
  </ds:schemaRefs>
</ds:datastoreItem>
</file>

<file path=customXml/itemProps3.xml><?xml version="1.0" encoding="utf-8"?>
<ds:datastoreItem xmlns:ds="http://schemas.openxmlformats.org/officeDocument/2006/customXml" ds:itemID="{504774AA-ED01-4395-A578-ECD3D85CB581}">
  <ds:schemaRefs>
    <ds:schemaRef ds:uri="http://schemas.microsoft.com/sharepoint/v3/contenttype/forms"/>
  </ds:schemaRefs>
</ds:datastoreItem>
</file>

<file path=docMetadata/LabelInfo.xml><?xml version="1.0" encoding="utf-8"?>
<clbl:labelList xmlns:clbl="http://schemas.microsoft.com/office/2020/mipLabelMetadata">
  <clbl:label id="{052af4ff-75cf-48be-9503-79741c0f580d}" enabled="1" method="Standard" siteId="{43d2115b-a55e-46b6-9df7-b03388ecfc60}" contentBits="0" removed="0"/>
</clbl:labelList>
</file>

<file path=docProps/app.xml><?xml version="1.0" encoding="utf-8"?>
<Properties xmlns="http://schemas.openxmlformats.org/officeDocument/2006/extended-properties" xmlns:vt="http://schemas.openxmlformats.org/officeDocument/2006/docPropsVTypes">
  <TotalTime>10402</TotalTime>
  <Words>8488</Words>
  <Application>Microsoft Office PowerPoint</Application>
  <PresentationFormat>Widescreen</PresentationFormat>
  <Paragraphs>654</Paragraphs>
  <Slides>50</Slides>
  <Notes>30</Notes>
  <HiddenSlides>7</HiddenSlides>
  <MMClips>0</MMClips>
  <ScaleCrop>false</ScaleCrop>
  <HeadingPairs>
    <vt:vector size="6" baseType="variant">
      <vt:variant>
        <vt:lpstr>Fonts Used</vt:lpstr>
      </vt:variant>
      <vt:variant>
        <vt:i4>12</vt:i4>
      </vt:variant>
      <vt:variant>
        <vt:lpstr>Theme</vt:lpstr>
      </vt:variant>
      <vt:variant>
        <vt:i4>9</vt:i4>
      </vt:variant>
      <vt:variant>
        <vt:lpstr>Slide Titles</vt:lpstr>
      </vt:variant>
      <vt:variant>
        <vt:i4>50</vt:i4>
      </vt:variant>
    </vt:vector>
  </HeadingPairs>
  <TitlesOfParts>
    <vt:vector size="71" baseType="lpstr">
      <vt:lpstr>Arial</vt:lpstr>
      <vt:lpstr>Arial</vt:lpstr>
      <vt:lpstr>Arial Black</vt:lpstr>
      <vt:lpstr>Arial MT</vt:lpstr>
      <vt:lpstr>Calibri</vt:lpstr>
      <vt:lpstr>Calibri Light</vt:lpstr>
      <vt:lpstr>Segoe</vt:lpstr>
      <vt:lpstr>Segoe Light</vt:lpstr>
      <vt:lpstr>Segoe UI</vt:lpstr>
      <vt:lpstr>Segoe UI Condensed</vt:lpstr>
      <vt:lpstr>Segoe UI Light</vt:lpstr>
      <vt:lpstr>Times New Roman</vt:lpstr>
      <vt:lpstr>Intro slide</vt:lpstr>
      <vt:lpstr>Content slide</vt:lpstr>
      <vt:lpstr>Picture slide</vt:lpstr>
      <vt:lpstr>End slide</vt:lpstr>
      <vt:lpstr>Office Theme</vt:lpstr>
      <vt:lpstr>1_Office Theme</vt:lpstr>
      <vt:lpstr>Data Insights</vt:lpstr>
      <vt:lpstr>2_Office Theme</vt:lpstr>
      <vt:lpstr>1_Content slide</vt:lpstr>
      <vt:lpstr>PowerPoint Presentation</vt:lpstr>
      <vt:lpstr>PowerPoint Presentation</vt:lpstr>
      <vt:lpstr>Teaching Team</vt:lpstr>
      <vt:lpstr>Teaching Team</vt:lpstr>
      <vt:lpstr>A few Important Info</vt:lpstr>
      <vt:lpstr>Today’s plan</vt:lpstr>
      <vt:lpstr>PowerPoint Presentation</vt:lpstr>
      <vt:lpstr>Module Overview</vt:lpstr>
      <vt:lpstr>The world of data is changing</vt:lpstr>
      <vt:lpstr>Module Aims</vt:lpstr>
      <vt:lpstr>Approach to Teaching</vt:lpstr>
      <vt:lpstr>Module Content</vt:lpstr>
      <vt:lpstr>PowerPoint Presentation</vt:lpstr>
      <vt:lpstr>Module Content</vt:lpstr>
      <vt:lpstr>PowerPoint Presentation</vt:lpstr>
      <vt:lpstr>Module Content</vt:lpstr>
      <vt:lpstr>Module Indicative Content</vt:lpstr>
      <vt:lpstr>Schedule</vt:lpstr>
      <vt:lpstr>What do you need to do?</vt:lpstr>
      <vt:lpstr>Assessment - ICA</vt:lpstr>
      <vt:lpstr>Reading list</vt:lpstr>
      <vt:lpstr>Power BI - Introduction</vt:lpstr>
      <vt:lpstr>PowerPoint Presentation</vt:lpstr>
      <vt:lpstr>Power BI: connectivity to SAP BusinessObjects BI Where PowerBI tools meet trusted ‘enterprise data’ from Databases or Data Warehouse. </vt:lpstr>
      <vt:lpstr>Power BI: A powerful new way to work with data</vt:lpstr>
      <vt:lpstr>Industry Norm: Analyzing data with Excel</vt:lpstr>
      <vt:lpstr>Industry Norm: Analyzing data with Excel</vt:lpstr>
      <vt:lpstr>Industry Norm: Analyzing data with Excel</vt:lpstr>
      <vt:lpstr>Industry Norm: Analyzing data with Excel</vt:lpstr>
      <vt:lpstr>A powerful new way to work with data</vt:lpstr>
      <vt:lpstr>Share &amp; collaborate with Power BI</vt:lpstr>
      <vt:lpstr>Share &amp; collaborate with Power BI </vt:lpstr>
      <vt:lpstr>Share &amp; collaborate with Power BI </vt:lpstr>
      <vt:lpstr>Share &amp; collaborate with Power BI</vt:lpstr>
      <vt:lpstr>Share &amp; collaborate with Power BI</vt:lpstr>
      <vt:lpstr>Share &amp; collaborate with Power BI</vt:lpstr>
      <vt:lpstr>Share and collaborate with Power BI for Office 365</vt:lpstr>
      <vt:lpstr>A powerful new way to work with data </vt:lpstr>
      <vt:lpstr>Your Power BI Journey</vt:lpstr>
      <vt:lpstr>Your Power BI Journey</vt:lpstr>
      <vt:lpstr>Your Power BI Journey</vt:lpstr>
      <vt:lpstr>Your Power BI Journey</vt:lpstr>
      <vt:lpstr>Your Power BI Journey</vt:lpstr>
      <vt:lpstr>PowerPoint Presentation</vt:lpstr>
      <vt:lpstr>Power BI – Quick Demo</vt:lpstr>
      <vt:lpstr>From Excel data to BI Solutions in a few steps!</vt:lpstr>
      <vt:lpstr>A quick online quiz! </vt:lpstr>
      <vt:lpstr>ICA Briefing and ICA Sample</vt:lpstr>
      <vt:lpstr>PowerPoint Presentation</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Tarzi, Chaimaa</cp:lastModifiedBy>
  <cp:revision>248</cp:revision>
  <cp:lastPrinted>2019-10-14T12:35:27Z</cp:lastPrinted>
  <dcterms:created xsi:type="dcterms:W3CDTF">2017-07-13T14:47:43Z</dcterms:created>
  <dcterms:modified xsi:type="dcterms:W3CDTF">2025-09-22T11:33:45Z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0x0101005796365E366AAB4F8280D86F3228324F</vt:lpwstr>
  </property>
</Properties>
</file>