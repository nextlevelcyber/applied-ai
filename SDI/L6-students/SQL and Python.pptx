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95" r:id="rId5"/>
  </p:sldMasterIdLst>
  <p:notesMasterIdLst>
    <p:notesMasterId r:id="rId48"/>
  </p:notesMasterIdLst>
  <p:sldIdLst>
    <p:sldId id="362" r:id="rId6"/>
    <p:sldId id="363" r:id="rId7"/>
    <p:sldId id="369" r:id="rId8"/>
    <p:sldId id="264" r:id="rId9"/>
    <p:sldId id="291" r:id="rId10"/>
    <p:sldId id="286" r:id="rId11"/>
    <p:sldId id="288" r:id="rId12"/>
    <p:sldId id="400" r:id="rId13"/>
    <p:sldId id="382" r:id="rId14"/>
    <p:sldId id="384" r:id="rId15"/>
    <p:sldId id="385" r:id="rId16"/>
    <p:sldId id="387" r:id="rId17"/>
    <p:sldId id="398" r:id="rId18"/>
    <p:sldId id="388" r:id="rId19"/>
    <p:sldId id="391" r:id="rId20"/>
    <p:sldId id="414" r:id="rId21"/>
    <p:sldId id="380" r:id="rId22"/>
    <p:sldId id="405" r:id="rId23"/>
    <p:sldId id="406" r:id="rId24"/>
    <p:sldId id="395" r:id="rId25"/>
    <p:sldId id="407" r:id="rId26"/>
    <p:sldId id="386" r:id="rId27"/>
    <p:sldId id="408" r:id="rId28"/>
    <p:sldId id="409" r:id="rId29"/>
    <p:sldId id="410" r:id="rId30"/>
    <p:sldId id="413" r:id="rId31"/>
    <p:sldId id="411" r:id="rId32"/>
    <p:sldId id="412" r:id="rId33"/>
    <p:sldId id="372" r:id="rId34"/>
    <p:sldId id="389" r:id="rId35"/>
    <p:sldId id="381" r:id="rId36"/>
    <p:sldId id="392" r:id="rId37"/>
    <p:sldId id="397" r:id="rId38"/>
    <p:sldId id="396" r:id="rId39"/>
    <p:sldId id="404" r:id="rId40"/>
    <p:sldId id="370" r:id="rId41"/>
    <p:sldId id="399" r:id="rId42"/>
    <p:sldId id="401" r:id="rId43"/>
    <p:sldId id="402" r:id="rId44"/>
    <p:sldId id="403" r:id="rId45"/>
    <p:sldId id="292" r:id="rId46"/>
    <p:sldId id="36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95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5AEC1-6CAB-4B4C-A705-52AC58484A96}" type="datetimeFigureOut">
              <a:rPr lang="en-GB" smtClean="0"/>
              <a:t>03/11/2023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D2911-A9BB-4020-9CB7-B57C26498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91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2911-A9BB-4020-9CB7-B57C2649837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947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RDMS - relational database management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2911-A9BB-4020-9CB7-B57C2649837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173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2911-A9BB-4020-9CB7-B57C2649837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822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09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33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71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5659801" cy="4881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665306" cy="4881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19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52551"/>
            <a:ext cx="563757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0" y="1981200"/>
            <a:ext cx="563757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52551"/>
            <a:ext cx="566530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81200"/>
            <a:ext cx="566530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520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47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62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09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457200"/>
            <a:ext cx="550740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7425" y="1247775"/>
            <a:ext cx="5770081" cy="4886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00" y="2057400"/>
            <a:ext cx="55074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9999" y="6516000"/>
            <a:ext cx="10912206" cy="216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School of Computing, Engineering &amp;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36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21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34600" y="1190625"/>
            <a:ext cx="1702906" cy="4986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9999" y="365125"/>
            <a:ext cx="957457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83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6188149" y="3349256"/>
            <a:ext cx="914400" cy="914400"/>
          </a:xfrm>
          <a:prstGeom prst="rect">
            <a:avLst/>
          </a:prstGeom>
        </p:spPr>
        <p:txBody>
          <a:bodyPr wrap="none" rtlCol="0" anchor="ctr" anchorCtr="0">
            <a:normAutofit/>
          </a:bodyPr>
          <a:lstStyle/>
          <a:p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21365" y="1565341"/>
            <a:ext cx="11536018" cy="734864"/>
          </a:xfrm>
          <a:prstGeom prst="rect">
            <a:avLst/>
          </a:prstGeom>
        </p:spPr>
        <p:txBody>
          <a:bodyPr anchor="b"/>
          <a:lstStyle>
            <a:lvl1pPr algn="l">
              <a:defRPr sz="4000" b="1" i="0" baseline="0">
                <a:latin typeface="arial" charset="0"/>
              </a:defRPr>
            </a:lvl1pPr>
          </a:lstStyle>
          <a:p>
            <a:r>
              <a:rPr lang="en-US" dirty="0"/>
              <a:t>Title of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1365" y="2521374"/>
            <a:ext cx="11536018" cy="31989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aseline="0">
                <a:solidFill>
                  <a:schemeClr val="tx1"/>
                </a:solidFill>
                <a:latin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person/subtitle</a:t>
            </a:r>
          </a:p>
        </p:txBody>
      </p:sp>
    </p:spTree>
    <p:extLst>
      <p:ext uri="{BB962C8B-B14F-4D97-AF65-F5344CB8AC3E}">
        <p14:creationId xmlns:p14="http://schemas.microsoft.com/office/powerpoint/2010/main" val="902262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82773" y="2030818"/>
            <a:ext cx="11461898" cy="37320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91515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365551" y="3064532"/>
            <a:ext cx="11536018" cy="7348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400" baseline="0">
                <a:solidFill>
                  <a:schemeClr val="bg1"/>
                </a:solidFill>
              </a:rPr>
              <a:t>Thank you</a:t>
            </a:r>
            <a:endParaRPr lang="en-US" sz="44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946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383720" y="4354365"/>
            <a:ext cx="11408230" cy="11017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2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383720" y="3113371"/>
            <a:ext cx="11408230" cy="110172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3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name</a:t>
            </a:r>
          </a:p>
        </p:txBody>
      </p:sp>
    </p:spTree>
    <p:extLst>
      <p:ext uri="{BB962C8B-B14F-4D97-AF65-F5344CB8AC3E}">
        <p14:creationId xmlns:p14="http://schemas.microsoft.com/office/powerpoint/2010/main" val="1273976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7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32000"/>
            <a:ext cx="11477506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6942" y="6516000"/>
            <a:ext cx="500564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91C18-2D9D-461C-87BF-48086B64411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25500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97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91" r:id="rId12"/>
    <p:sldLayoutId id="2147483692" r:id="rId13"/>
    <p:sldLayoutId id="2147483693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88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whentous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beaver.com/download/enterprise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sz="28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3200" dirty="0"/>
              <a:t>Python and SQL</a:t>
            </a:r>
          </a:p>
          <a:p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337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3FF8-4FFF-AB19-5DBE-05423315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Persistence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5FB5-240B-5359-8C5F-9B1512D16C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At this stage, you can store and retrieve text-based data </a:t>
            </a:r>
            <a:r>
              <a:rPr lang="en-GB"/>
              <a:t>using Python</a:t>
            </a:r>
            <a:endParaRPr lang="en-GB" dirty="0"/>
          </a:p>
          <a:p>
            <a:r>
              <a:rPr lang="en-GB" dirty="0"/>
              <a:t>An effective way to store small amounts of data</a:t>
            </a:r>
          </a:p>
          <a:p>
            <a:r>
              <a:rPr lang="en-GB" dirty="0"/>
              <a:t>CSV or Tab-separated value files</a:t>
            </a:r>
          </a:p>
          <a:p>
            <a:r>
              <a:rPr lang="en-GB" dirty="0"/>
              <a:t>Not practical for very large data sets</a:t>
            </a:r>
          </a:p>
          <a:p>
            <a:pPr lvl="1"/>
            <a:r>
              <a:rPr lang="en-GB" dirty="0"/>
              <a:t>Want to use a Database!</a:t>
            </a:r>
          </a:p>
          <a:p>
            <a:endParaRPr lang="en-GB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219F5-1A07-FB1A-734A-9F1093ABB9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29216"/>
          <a:stretch/>
        </p:blipFill>
        <p:spPr>
          <a:xfrm>
            <a:off x="7219765" y="1710045"/>
            <a:ext cx="4010487" cy="3437909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497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4350-F46C-6FCF-3F05-89983B5B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977E-E837-2C51-CFDA-8332FB64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53088"/>
            <a:ext cx="11477506" cy="4274912"/>
          </a:xfrm>
        </p:spPr>
        <p:txBody>
          <a:bodyPr>
            <a:normAutofit/>
          </a:bodyPr>
          <a:lstStyle/>
          <a:p>
            <a:r>
              <a:rPr lang="en-GB" dirty="0"/>
              <a:t>A database is an organised collection of structured data</a:t>
            </a:r>
          </a:p>
          <a:p>
            <a:r>
              <a:rPr lang="en-GB" dirty="0"/>
              <a:t>Most commonly arranged into a series of tables</a:t>
            </a:r>
          </a:p>
          <a:p>
            <a:r>
              <a:rPr lang="en-GB" dirty="0"/>
              <a:t>This approach can be more efficient and effective than many alternative approaches</a:t>
            </a:r>
          </a:p>
          <a:p>
            <a:r>
              <a:rPr lang="en-GB" dirty="0"/>
              <a:t>A large number of database management systems are available – we will be using SQLite3 in this module.</a:t>
            </a:r>
          </a:p>
        </p:txBody>
      </p:sp>
    </p:spTree>
    <p:extLst>
      <p:ext uri="{BB962C8B-B14F-4D97-AF65-F5344CB8AC3E}">
        <p14:creationId xmlns:p14="http://schemas.microsoft.com/office/powerpoint/2010/main" val="373168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SQLite3?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60000" y="1332000"/>
            <a:ext cx="11477506" cy="5052665"/>
          </a:xfr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GB" sz="2400" dirty="0"/>
              <a:t>https://www.sqlite.org/index.html</a:t>
            </a:r>
          </a:p>
          <a:p>
            <a:r>
              <a:rPr lang="en-GB" sz="2400" b="1" dirty="0"/>
              <a:t>File-based</a:t>
            </a:r>
            <a:r>
              <a:rPr lang="en-GB" sz="2400" dirty="0"/>
              <a:t> relational database using the </a:t>
            </a:r>
            <a:r>
              <a:rPr lang="en-GB" sz="2400" b="1" u="sng" dirty="0"/>
              <a:t>S</a:t>
            </a:r>
            <a:r>
              <a:rPr lang="en-GB" sz="2400" dirty="0"/>
              <a:t>tructure </a:t>
            </a:r>
            <a:r>
              <a:rPr lang="en-GB" sz="2400" b="1" u="sng" dirty="0"/>
              <a:t>Q</a:t>
            </a:r>
            <a:r>
              <a:rPr lang="en-GB" sz="2400" dirty="0"/>
              <a:t>uery </a:t>
            </a:r>
            <a:r>
              <a:rPr lang="en-GB" sz="2400" b="1" u="sng" dirty="0"/>
              <a:t>L</a:t>
            </a:r>
            <a:r>
              <a:rPr lang="en-GB" sz="2400" dirty="0"/>
              <a:t>anguage to create, read, update, and delete data</a:t>
            </a:r>
          </a:p>
          <a:p>
            <a:pPr lvl="1"/>
            <a:r>
              <a:rPr lang="en-GB" sz="2000" dirty="0"/>
              <a:t>It is a lightweight ‘C’ library implementing the SQL engine/query language</a:t>
            </a:r>
          </a:p>
          <a:p>
            <a:pPr lvl="1"/>
            <a:r>
              <a:rPr lang="en-GB" sz="2000" dirty="0"/>
              <a:t>Various languages, including Python, have wrappers to use this library</a:t>
            </a:r>
            <a:endParaRPr lang="en-GB" sz="2400" dirty="0"/>
          </a:p>
          <a:p>
            <a:r>
              <a:rPr lang="en-GB" sz="2400" dirty="0"/>
              <a:t>Often used where full-fledged server-hosted </a:t>
            </a:r>
            <a:r>
              <a:rPr lang="en-GB" sz="2400" b="1" dirty="0"/>
              <a:t>RDMS</a:t>
            </a:r>
            <a:r>
              <a:rPr lang="en-GB" sz="2400" dirty="0"/>
              <a:t> is impractical/unnecessary, but relational database functionality is desirable</a:t>
            </a:r>
            <a:endParaRPr lang="en-GB" sz="2400" dirty="0">
              <a:cs typeface="Arial"/>
            </a:endParaRPr>
          </a:p>
          <a:p>
            <a:r>
              <a:rPr lang="en-GB" sz="2400" dirty="0"/>
              <a:t>Examples SQLite3 real-world use (source: https://www.sqlite.org/famous.html)</a:t>
            </a:r>
            <a:endParaRPr lang="en-GB" sz="2400" dirty="0">
              <a:cs typeface="Arial"/>
            </a:endParaRPr>
          </a:p>
          <a:p>
            <a:pPr lvl="1"/>
            <a:r>
              <a:rPr lang="en-GB" sz="2000" dirty="0"/>
              <a:t>Adobe for several applications</a:t>
            </a:r>
            <a:endParaRPr lang="en-GB" sz="2000" dirty="0">
              <a:cs typeface="Arial"/>
            </a:endParaRPr>
          </a:p>
          <a:p>
            <a:pPr lvl="1"/>
            <a:r>
              <a:rPr lang="en-GB" sz="2000" dirty="0"/>
              <a:t>Android OS &amp; Apple iOS mobile platforms</a:t>
            </a:r>
            <a:endParaRPr lang="en-GB" sz="2000" dirty="0">
              <a:cs typeface="Arial"/>
            </a:endParaRPr>
          </a:p>
          <a:p>
            <a:pPr lvl="1"/>
            <a:r>
              <a:rPr lang="en-GB" sz="2000" dirty="0"/>
              <a:t>BOSCH multimedia systems built into automobiles by various manufacturers</a:t>
            </a:r>
            <a:endParaRPr lang="en-GB" sz="2000" dirty="0">
              <a:cs typeface="Arial"/>
            </a:endParaRPr>
          </a:p>
          <a:p>
            <a:pPr lvl="1"/>
            <a:r>
              <a:rPr lang="en-GB" sz="2000" dirty="0"/>
              <a:t>Numerous smart TVs and set-top devices</a:t>
            </a:r>
            <a:endParaRPr lang="en-GB" sz="2000" dirty="0">
              <a:cs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F3E40A-E4BC-436D-8BF5-E166E3C52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872" y="226037"/>
            <a:ext cx="2965644" cy="136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86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1EBC-2B13-4BFB-AD73-2D2ADA43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SQLite3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7E41A-6AB8-49BE-9483-5BC94A92C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Relational Database features without the hassle of managing a server – it is file-based</a:t>
            </a:r>
          </a:p>
          <a:p>
            <a:endParaRPr lang="en-GB" dirty="0"/>
          </a:p>
          <a:p>
            <a:r>
              <a:rPr lang="en-GB" dirty="0"/>
              <a:t>It is portable – it is file-based, allowing you to move the database around easily</a:t>
            </a:r>
          </a:p>
          <a:p>
            <a:endParaRPr lang="en-GB" dirty="0"/>
          </a:p>
          <a:p>
            <a:r>
              <a:rPr lang="en-GB" dirty="0"/>
              <a:t>Developing and testing applications requiring relational database is much easier – all data and files are local</a:t>
            </a:r>
          </a:p>
        </p:txBody>
      </p:sp>
    </p:spTree>
    <p:extLst>
      <p:ext uri="{BB962C8B-B14F-4D97-AF65-F5344CB8AC3E}">
        <p14:creationId xmlns:p14="http://schemas.microsoft.com/office/powerpoint/2010/main" val="23100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181F-A26C-4524-8836-094BCE98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of SQLite3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2DD43-C4BE-486F-BE6E-8C3EEE38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600" dirty="0"/>
              <a:t>No user management – the application itself would have to define this</a:t>
            </a:r>
          </a:p>
          <a:p>
            <a:r>
              <a:rPr lang="en-GB" sz="2600" dirty="0"/>
              <a:t>Database size limited to </a:t>
            </a:r>
            <a:r>
              <a:rPr lang="en-GB" sz="2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281 terabytes</a:t>
            </a:r>
          </a:p>
          <a:p>
            <a:pPr lvl="1"/>
            <a:r>
              <a:rPr lang="en-GB" sz="2200" dirty="0">
                <a:solidFill>
                  <a:srgbClr val="000000"/>
                </a:solidFill>
              </a:rPr>
              <a:t>Not so good for true Big Data storage and analysis</a:t>
            </a:r>
            <a:endParaRPr lang="en-GB" sz="2200" dirty="0"/>
          </a:p>
          <a:p>
            <a:r>
              <a:rPr lang="en-GB" sz="2600" dirty="0"/>
              <a:t>Limited to 64 table joins – unlikely to be a concern for us!</a:t>
            </a:r>
          </a:p>
          <a:p>
            <a:r>
              <a:rPr lang="en-GB" sz="2600" dirty="0"/>
              <a:t>Not being server-based, shared-access is difficult – you’d have to write your own server application!</a:t>
            </a:r>
          </a:p>
          <a:p>
            <a:r>
              <a:rPr lang="en-GB" sz="2600" dirty="0"/>
              <a:t>Some useful features may be missing compared to other DBMS</a:t>
            </a:r>
          </a:p>
          <a:p>
            <a:r>
              <a:rPr lang="en-GB" sz="2600" dirty="0"/>
              <a:t>When to use SQLite3 guide: </a:t>
            </a:r>
            <a:r>
              <a:rPr lang="en-GB" sz="2600" dirty="0">
                <a:hlinkClick r:id="rId2"/>
              </a:rPr>
              <a:t>https://www.sqlite.org/whentouse.html</a:t>
            </a:r>
            <a:endParaRPr lang="en-GB" sz="2600" dirty="0"/>
          </a:p>
          <a:p>
            <a:pPr marL="0" indent="0">
              <a:buNone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725359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B295E-684B-4BA0-937D-CD7B7BF3E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cs typeface="Arial"/>
              </a:rPr>
              <a:t>GUI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DC9C-507E-403D-AD8C-04A3227C86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b="1" dirty="0">
                <a:cs typeface="Arial"/>
              </a:rPr>
              <a:t>DB Browser for SQLite </a:t>
            </a:r>
            <a:r>
              <a:rPr lang="en-GB" dirty="0">
                <a:cs typeface="Arial"/>
              </a:rPr>
              <a:t>(Free)</a:t>
            </a:r>
          </a:p>
          <a:p>
            <a:pPr lvl="1"/>
            <a:r>
              <a:rPr lang="en-GB" dirty="0">
                <a:ea typeface="+mn-lt"/>
                <a:cs typeface="+mn-lt"/>
              </a:rPr>
              <a:t>https://sqlitebrowser.org/dl/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r>
              <a:rPr lang="en-GB" b="1" dirty="0" err="1">
                <a:cs typeface="Arial"/>
              </a:rPr>
              <a:t>DBeaver</a:t>
            </a:r>
            <a:r>
              <a:rPr lang="en-GB" dirty="0">
                <a:cs typeface="Arial"/>
              </a:rPr>
              <a:t> (Free academic licence for Enterprise Edition – signup required)</a:t>
            </a:r>
          </a:p>
          <a:p>
            <a:pPr lvl="1"/>
            <a:r>
              <a:rPr lang="en-GB" dirty="0">
                <a:ea typeface="+mn-lt"/>
                <a:cs typeface="+mn-lt"/>
                <a:hlinkClick r:id="rId2"/>
              </a:rPr>
              <a:t>https://dbeaver.com/download/enterprise/</a:t>
            </a:r>
            <a:endParaRPr lang="en-GB" dirty="0">
              <a:ea typeface="+mn-lt"/>
              <a:cs typeface="+mn-lt"/>
            </a:endParaRPr>
          </a:p>
          <a:p>
            <a:pPr lvl="1"/>
            <a:endParaRPr lang="en-GB" dirty="0">
              <a:ea typeface="+mn-lt"/>
              <a:cs typeface="+mn-lt"/>
            </a:endParaRPr>
          </a:p>
          <a:p>
            <a:r>
              <a:rPr lang="en-GB" b="1" dirty="0">
                <a:ea typeface="+mn-lt"/>
                <a:cs typeface="+mn-lt"/>
              </a:rPr>
              <a:t>SQLite3 Editor </a:t>
            </a:r>
            <a:r>
              <a:rPr lang="en-GB" dirty="0">
                <a:ea typeface="+mn-lt"/>
                <a:cs typeface="+mn-lt"/>
              </a:rPr>
              <a:t>extension for Visual Studio Code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040F3-E169-450C-AAD1-62EB3A9B2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Command-line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C4117-158E-490C-8B30-C2B659851F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>
                <a:cs typeface="Arial"/>
              </a:rPr>
              <a:t>sqlite3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5E743-A844-4089-A5EF-7685AB30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Useful support tools</a:t>
            </a:r>
            <a:endParaRPr lang="en-GB" dirty="0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40E23FBA-108B-4986-86B7-524571346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308" y="2527962"/>
            <a:ext cx="5193323" cy="3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5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3595F7-5EB2-5A69-6A63-D1C3A0F8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we start…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7A71DE-5CAB-CCB3-144C-182623A7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and Databases are a very deep subject</a:t>
            </a:r>
          </a:p>
          <a:p>
            <a:r>
              <a:rPr lang="en-GB" dirty="0"/>
              <a:t>This week focusses on the fundamentals, with more to come</a:t>
            </a:r>
          </a:p>
          <a:p>
            <a:pPr lvl="1"/>
            <a:r>
              <a:rPr lang="en-GB" dirty="0"/>
              <a:t>A lot of detail left out for brevity!</a:t>
            </a:r>
          </a:p>
          <a:p>
            <a:r>
              <a:rPr lang="en-GB" dirty="0"/>
              <a:t>Highly recommended you do some additional study outside of this week’s lecture and labs</a:t>
            </a:r>
          </a:p>
          <a:p>
            <a:r>
              <a:rPr lang="en-GB" dirty="0"/>
              <a:t>W3Schools is an excellent resource – make sure you look at SQLite3 examples!</a:t>
            </a:r>
          </a:p>
        </p:txBody>
      </p:sp>
    </p:spTree>
    <p:extLst>
      <p:ext uri="{BB962C8B-B14F-4D97-AF65-F5344CB8AC3E}">
        <p14:creationId xmlns:p14="http://schemas.microsoft.com/office/powerpoint/2010/main" val="298699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BE29-7FBB-4865-9697-AD008CD6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in a Python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4B7BF-AEB1-4E91-B8F3-B2BD8C6FF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195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SQLite3 for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sz="2800" dirty="0"/>
              <a:t>SQL databases are far too complex to read in like a text file</a:t>
            </a:r>
          </a:p>
          <a:p>
            <a:r>
              <a:rPr lang="en-GB" dirty="0"/>
              <a:t>Instead, Python programs must open a </a:t>
            </a:r>
            <a:r>
              <a:rPr lang="en-GB" i="1" dirty="0"/>
              <a:t>connection</a:t>
            </a:r>
            <a:r>
              <a:rPr lang="en-GB" dirty="0"/>
              <a:t> to the database and </a:t>
            </a:r>
            <a:r>
              <a:rPr lang="en-GB" u="sng" dirty="0"/>
              <a:t>query</a:t>
            </a:r>
            <a:r>
              <a:rPr lang="en-GB" dirty="0"/>
              <a:t> it to access and manipulate the data</a:t>
            </a:r>
          </a:p>
          <a:p>
            <a:r>
              <a:rPr lang="en-GB" sz="2800" dirty="0"/>
              <a:t>This process is complex, but Python has a built-in library for SQLite3</a:t>
            </a:r>
          </a:p>
        </p:txBody>
      </p:sp>
      <p:pic>
        <p:nvPicPr>
          <p:cNvPr id="6" name="Content Placeholder 5" descr="Manometer beer equipment">
            <a:extLst>
              <a:ext uri="{FF2B5EF4-FFF2-40B4-BE49-F238E27FC236}">
                <a16:creationId xmlns:a16="http://schemas.microsoft.com/office/drawing/2014/main" id="{142AF411-9C9B-4E34-DB76-DF874CBFEA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9113"/>
            <a:ext cx="5665788" cy="3754137"/>
          </a:xfrm>
        </p:spPr>
      </p:pic>
    </p:spTree>
    <p:extLst>
      <p:ext uri="{BB962C8B-B14F-4D97-AF65-F5344CB8AC3E}">
        <p14:creationId xmlns:p14="http://schemas.microsoft.com/office/powerpoint/2010/main" val="934620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5B5E-5D87-C4FB-9CBB-9D22708F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FA2A-73DE-F69E-7448-3AE4E2D91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6069081" cy="4881563"/>
          </a:xfrm>
        </p:spPr>
        <p:txBody>
          <a:bodyPr>
            <a:normAutofit fontScale="92500"/>
          </a:bodyPr>
          <a:lstStyle/>
          <a:p>
            <a:r>
              <a:rPr lang="en-GB" dirty="0"/>
              <a:t>Opening an SQLite connection in Python is done through the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sqlite3</a:t>
            </a:r>
            <a:r>
              <a:rPr lang="en-GB" b="1" dirty="0">
                <a:latin typeface="Consolas" panose="020B0609020204030204" pitchFamily="49" charset="0"/>
              </a:rPr>
              <a:t>.</a:t>
            </a:r>
            <a:r>
              <a:rPr lang="en-GB" b="1" dirty="0">
                <a:solidFill>
                  <a:srgbClr val="795E2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connect</a:t>
            </a:r>
            <a:r>
              <a:rPr lang="en-GB" b="1" dirty="0">
                <a:latin typeface="Consolas" panose="020B0609020204030204" pitchFamily="49" charset="0"/>
              </a:rPr>
              <a:t>(…) </a:t>
            </a:r>
            <a:r>
              <a:rPr lang="en-GB" dirty="0"/>
              <a:t>function</a:t>
            </a:r>
          </a:p>
          <a:p>
            <a:r>
              <a:rPr lang="en-GB" dirty="0"/>
              <a:t>Pass in the database file as the argument (usual </a:t>
            </a:r>
            <a:r>
              <a:rPr lang="en-GB" dirty="0" err="1"/>
              <a:t>filepath</a:t>
            </a:r>
            <a:r>
              <a:rPr lang="en-GB" dirty="0"/>
              <a:t> rules apply)</a:t>
            </a:r>
          </a:p>
          <a:p>
            <a:r>
              <a:rPr lang="en-GB" dirty="0"/>
              <a:t>As the connection will be a live (and very expensive) resource, you should use 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with</a:t>
            </a:r>
            <a:r>
              <a:rPr lang="en-GB" dirty="0"/>
              <a:t> keyword</a:t>
            </a:r>
          </a:p>
          <a:p>
            <a:r>
              <a:rPr lang="en-GB" dirty="0"/>
              <a:t>If the database doesn't exist when opening a connection, this will also create it!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6BF440A-CD19-6DC7-D5F9-4C3A42AD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3286" y="1295400"/>
            <a:ext cx="4984701" cy="48815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conn: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Database queries and operations...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2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5B5E-5D87-C4FB-9CBB-9D22708F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FA2A-73DE-F69E-7448-3AE4E2D91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6323605" cy="4881563"/>
          </a:xfrm>
        </p:spPr>
        <p:txBody>
          <a:bodyPr/>
          <a:lstStyle/>
          <a:p>
            <a:r>
              <a:rPr lang="en-GB" dirty="0"/>
              <a:t>Once a connection is open, we need to create a </a:t>
            </a:r>
            <a:r>
              <a:rPr lang="en-GB" i="1" dirty="0"/>
              <a:t>cursor</a:t>
            </a:r>
            <a:r>
              <a:rPr lang="en-GB" dirty="0"/>
              <a:t> to read and manipulate our database</a:t>
            </a:r>
          </a:p>
          <a:p>
            <a:r>
              <a:rPr lang="en-GB" dirty="0"/>
              <a:t>This is achieved through using the .</a:t>
            </a:r>
            <a:r>
              <a:rPr lang="en-GB" b="1" dirty="0">
                <a:solidFill>
                  <a:srgbClr val="795E26"/>
                </a:solidFill>
              </a:rPr>
              <a:t>cursor</a:t>
            </a:r>
            <a:r>
              <a:rPr lang="en-GB" dirty="0"/>
              <a:t>() function of the open connection</a:t>
            </a:r>
          </a:p>
          <a:p>
            <a:r>
              <a:rPr lang="en-GB" dirty="0"/>
              <a:t>All the operations we will apply to our database will be executed through this cursor</a:t>
            </a:r>
          </a:p>
          <a:p>
            <a:r>
              <a:rPr lang="en-GB" dirty="0"/>
              <a:t>But what operations can we perform?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3FFB4E2-3D57-997F-5B3A-853DD36C0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3286" y="1295400"/>
            <a:ext cx="4984701" cy="48815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conn: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Database queries and operations...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3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BBA5-809A-BB71-5981-70244482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484D4-7FD8-FD34-7E60-20FCAC7AF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Getting data back</a:t>
            </a:r>
          </a:p>
        </p:txBody>
      </p:sp>
    </p:spTree>
    <p:extLst>
      <p:ext uri="{BB962C8B-B14F-4D97-AF65-F5344CB8AC3E}">
        <p14:creationId xmlns:p14="http://schemas.microsoft.com/office/powerpoint/2010/main" val="1948790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54808B-4A72-5599-73DD-43DD5DCA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79E1C-9214-F7E4-667D-F53F3CD576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Databases that use SQL are typically interacted with through </a:t>
            </a:r>
            <a:r>
              <a:rPr lang="en-GB" i="1" dirty="0"/>
              <a:t>statements </a:t>
            </a:r>
            <a:r>
              <a:rPr lang="en-GB" dirty="0"/>
              <a:t>and </a:t>
            </a:r>
            <a:r>
              <a:rPr lang="en-GB" i="1" dirty="0"/>
              <a:t>queries</a:t>
            </a:r>
            <a:endParaRPr lang="en-GB" dirty="0"/>
          </a:p>
          <a:p>
            <a:r>
              <a:rPr lang="en-GB" dirty="0"/>
              <a:t>Statements and queries are SQL commands that will accomplish some goal or process</a:t>
            </a:r>
          </a:p>
          <a:p>
            <a:r>
              <a:rPr lang="en-GB" dirty="0"/>
              <a:t>Similar to programming languages like Python, but looser syntax</a:t>
            </a:r>
          </a:p>
        </p:txBody>
      </p:sp>
      <p:pic>
        <p:nvPicPr>
          <p:cNvPr id="7" name="Content Placeholder 6" descr="Sticky notes with question marks">
            <a:extLst>
              <a:ext uri="{FF2B5EF4-FFF2-40B4-BE49-F238E27FC236}">
                <a16:creationId xmlns:a16="http://schemas.microsoft.com/office/drawing/2014/main" id="{4D3D9AA1-79EC-E846-56A7-279B70F6B0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2"/>
          <a:stretch/>
        </p:blipFill>
        <p:spPr>
          <a:xfrm>
            <a:off x="7277493" y="1384271"/>
            <a:ext cx="4400239" cy="4240506"/>
          </a:xfrm>
        </p:spPr>
      </p:pic>
    </p:spTree>
    <p:extLst>
      <p:ext uri="{BB962C8B-B14F-4D97-AF65-F5344CB8AC3E}">
        <p14:creationId xmlns:p14="http://schemas.microsoft.com/office/powerpoint/2010/main" val="3619478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4764-B3D0-639D-7776-458C6680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CF0F-0623-AE41-BE71-703A7D1EB5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Tables are the usual way a database stores and models data</a:t>
            </a:r>
          </a:p>
          <a:p>
            <a:pPr lvl="1"/>
            <a:r>
              <a:rPr lang="en-GB"/>
              <a:t>Visually similar to a spreadsheet</a:t>
            </a:r>
          </a:p>
          <a:p>
            <a:r>
              <a:rPr lang="en-GB"/>
              <a:t>These </a:t>
            </a:r>
            <a:r>
              <a:rPr lang="en-GB" dirty="0"/>
              <a:t>tables are a collection of columns describing the structure of the data to be stored</a:t>
            </a:r>
          </a:p>
          <a:p>
            <a:r>
              <a:rPr lang="en-GB" dirty="0"/>
              <a:t>With each row representing one record of data</a:t>
            </a:r>
          </a:p>
          <a:p>
            <a:endParaRPr lang="en-GB" dirty="0"/>
          </a:p>
        </p:txBody>
      </p:sp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C6D97D4-E6A8-E53B-B669-4A2CEAE419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21893"/>
            <a:ext cx="5665788" cy="3228576"/>
          </a:xfrm>
        </p:spPr>
      </p:pic>
    </p:spTree>
    <p:extLst>
      <p:ext uri="{BB962C8B-B14F-4D97-AF65-F5344CB8AC3E}">
        <p14:creationId xmlns:p14="http://schemas.microsoft.com/office/powerpoint/2010/main" val="49481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4764-B3D0-639D-7776-458C6680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CF0F-0623-AE41-BE71-703A7D1EB5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Each column typically includes a datatype</a:t>
            </a:r>
          </a:p>
          <a:p>
            <a:r>
              <a:rPr lang="en-GB" dirty="0"/>
              <a:t>Text, integer, real, etc.</a:t>
            </a:r>
          </a:p>
          <a:p>
            <a:pPr lvl="1"/>
            <a:r>
              <a:rPr lang="en-GB" dirty="0"/>
              <a:t>Not a perfect match with Python</a:t>
            </a:r>
          </a:p>
          <a:p>
            <a:r>
              <a:rPr lang="en-GB" dirty="0"/>
              <a:t>But in SQLite3, typing is not required, and very forgiving</a:t>
            </a:r>
          </a:p>
          <a:p>
            <a:r>
              <a:rPr lang="en-GB" dirty="0"/>
              <a:t>But do your best to follow the types expected by each column – it makes retrieval and analysis of data much simpler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C6D97D4-E6A8-E53B-B669-4A2CEAE419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21893"/>
            <a:ext cx="5665788" cy="3228576"/>
          </a:xfrm>
        </p:spPr>
      </p:pic>
    </p:spTree>
    <p:extLst>
      <p:ext uri="{BB962C8B-B14F-4D97-AF65-F5344CB8AC3E}">
        <p14:creationId xmlns:p14="http://schemas.microsoft.com/office/powerpoint/2010/main" val="165887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0762-A2DE-EED9-DD3C-C246BDF9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Primary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17852-58F2-A119-AB28-214E18C6C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row in the table should also have some kind of unique identifier.</a:t>
            </a:r>
          </a:p>
          <a:p>
            <a:r>
              <a:rPr lang="en-GB" dirty="0"/>
              <a:t>A </a:t>
            </a:r>
            <a:r>
              <a:rPr lang="en-GB" b="1" dirty="0"/>
              <a:t>Primary Key.</a:t>
            </a:r>
          </a:p>
          <a:p>
            <a:r>
              <a:rPr lang="en-GB" dirty="0"/>
              <a:t>This identifier is used to make each entry in the database unique – extremely important with multiple tables and duplicate data.</a:t>
            </a:r>
          </a:p>
          <a:p>
            <a:r>
              <a:rPr lang="en-GB" dirty="0"/>
              <a:t>While some datasets will have a useful identifier as part of it already…</a:t>
            </a:r>
          </a:p>
          <a:p>
            <a:pPr lvl="1"/>
            <a:r>
              <a:rPr lang="en-GB" dirty="0"/>
              <a:t>Student number</a:t>
            </a:r>
          </a:p>
          <a:p>
            <a:pPr lvl="1"/>
            <a:r>
              <a:rPr lang="en-GB" dirty="0"/>
              <a:t>Reference number</a:t>
            </a:r>
          </a:p>
          <a:p>
            <a:r>
              <a:rPr lang="en-GB" dirty="0"/>
              <a:t>…other datasets will require a primary key to be introduced.</a:t>
            </a:r>
          </a:p>
          <a:p>
            <a:r>
              <a:rPr lang="en-GB" dirty="0"/>
              <a:t>With a numeric ID as the most common approach</a:t>
            </a:r>
          </a:p>
        </p:txBody>
      </p:sp>
    </p:spTree>
    <p:extLst>
      <p:ext uri="{BB962C8B-B14F-4D97-AF65-F5344CB8AC3E}">
        <p14:creationId xmlns:p14="http://schemas.microsoft.com/office/powerpoint/2010/main" val="1585523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F8F6-3EB7-1114-72E8-3AE42A2E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44FA-617C-2FFE-070B-CE3849103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that we understand the structure of our data, how do we use it?</a:t>
            </a:r>
          </a:p>
          <a:p>
            <a:r>
              <a:rPr lang="en-GB" dirty="0"/>
              <a:t>For retrieving data from a database, we use a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/>
              <a:t> query</a:t>
            </a:r>
          </a:p>
          <a:p>
            <a:r>
              <a:rPr lang="en-GB" dirty="0"/>
              <a:t>Retrieves data from the database and presents it as a new table</a:t>
            </a:r>
          </a:p>
          <a:p>
            <a:r>
              <a:rPr lang="en-GB" dirty="0"/>
              <a:t>Basic pattern is very straightforward:</a:t>
            </a: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GB" dirty="0"/>
              <a:t> – identify the columns you want to retrieve</a:t>
            </a: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GB" dirty="0"/>
              <a:t> – name the table (or tables) where the columns are</a:t>
            </a: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GB" dirty="0"/>
              <a:t> – add an optional condition to filter the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2940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120C1-A4D1-2EA2-4475-59E0233F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EBB365-DDF9-C8D6-E5AF-36EE5916BA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The most basic form of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/>
              <a:t> query is one that will retrieve </a:t>
            </a:r>
            <a:r>
              <a:rPr lang="en-GB" i="1" dirty="0"/>
              <a:t>all</a:t>
            </a:r>
            <a:r>
              <a:rPr lang="en-GB" dirty="0"/>
              <a:t> rows and columns from a database</a:t>
            </a:r>
          </a:p>
          <a:p>
            <a:r>
              <a:rPr lang="en-GB" dirty="0">
                <a:latin typeface="Consolas" panose="020B0609020204030204" pitchFamily="49" charset="0"/>
              </a:rPr>
              <a:t>*</a:t>
            </a:r>
            <a:r>
              <a:rPr lang="en-GB" dirty="0"/>
              <a:t> is the “wildcard” operator – it will match with any value, which will include all columns</a:t>
            </a:r>
          </a:p>
          <a:p>
            <a:r>
              <a:rPr lang="en-GB" dirty="0"/>
              <a:t>But how do we use it in Python?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E3879-E816-4F04-277C-F970B6D67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6212" y="1295400"/>
            <a:ext cx="4201293" cy="4881563"/>
          </a:xfrm>
        </p:spPr>
        <p:txBody>
          <a:bodyPr anchor="ctr"/>
          <a:lstStyle/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latin typeface="Consolas" panose="020B0609020204030204" pitchFamily="49" charset="0"/>
              </a:rPr>
              <a:t> *</a:t>
            </a: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latin typeface="Consolas" panose="020B0609020204030204" pitchFamily="49" charset="0"/>
              </a:rPr>
              <a:t> stocks</a:t>
            </a:r>
          </a:p>
        </p:txBody>
      </p:sp>
    </p:spTree>
    <p:extLst>
      <p:ext uri="{BB962C8B-B14F-4D97-AF65-F5344CB8AC3E}">
        <p14:creationId xmlns:p14="http://schemas.microsoft.com/office/powerpoint/2010/main" val="3414343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96DC-DA4C-B234-909D-E6955268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6561-B157-024A-9D45-1F713905E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GB" dirty="0"/>
              <a:t> function of a </a:t>
            </a:r>
            <a:r>
              <a:rPr lang="en-GB" b="1" dirty="0">
                <a:latin typeface="Consolas" panose="020B0609020204030204" pitchFamily="49" charset="0"/>
              </a:rPr>
              <a:t>cursor</a:t>
            </a:r>
            <a:r>
              <a:rPr lang="en-GB" dirty="0"/>
              <a:t> will apply a specified SQL command or query to the database</a:t>
            </a:r>
          </a:p>
          <a:p>
            <a:r>
              <a:rPr lang="en-GB" dirty="0"/>
              <a:t>The SQL is passed into the execute function as a </a:t>
            </a:r>
            <a:r>
              <a:rPr lang="en-GB" i="1" dirty="0"/>
              <a:t>String </a:t>
            </a:r>
          </a:p>
          <a:p>
            <a:r>
              <a:rPr lang="en-GB" dirty="0"/>
              <a:t>This string is simply just the SQL query itself – no changes</a:t>
            </a:r>
          </a:p>
          <a:p>
            <a:r>
              <a:rPr lang="en-GB" dirty="0"/>
              <a:t>But note that the query itself may contain Strings as part of it!</a:t>
            </a:r>
          </a:p>
          <a:p>
            <a:r>
              <a:rPr lang="en-GB" dirty="0"/>
              <a:t>Use “ and ‘ to denote the different strings if needed</a:t>
            </a:r>
          </a:p>
        </p:txBody>
      </p:sp>
    </p:spTree>
    <p:extLst>
      <p:ext uri="{BB962C8B-B14F-4D97-AF65-F5344CB8AC3E}">
        <p14:creationId xmlns:p14="http://schemas.microsoft.com/office/powerpoint/2010/main" val="182985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52F8-1F2E-34A9-48BE-9699D237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82804"/>
            <a:ext cx="11477506" cy="5945196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    # Store the results of the query to be used later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res =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"SELECT * FROM stocks"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latin typeface="Consolas" panose="020B0609020204030204" pitchFamily="49" charset="0"/>
              </a:rPr>
              <a:t> row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latin typeface="Consolas" panose="020B0609020204030204" pitchFamily="49" charset="0"/>
              </a:rPr>
              <a:t> res: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(row)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conn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commit</a:t>
            </a:r>
            <a:r>
              <a:rPr lang="en-GB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36D7F-CC3F-869B-5310-5139B9F7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19" y="2399822"/>
            <a:ext cx="10325562" cy="171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1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5B5E-5D87-C4FB-9CBB-9D22708F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FA2A-73DE-F69E-7448-3AE4E2D91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195688"/>
            <a:ext cx="11477506" cy="3032312"/>
          </a:xfrm>
        </p:spPr>
        <p:txBody>
          <a:bodyPr>
            <a:normAutofit fontScale="92500"/>
          </a:bodyPr>
          <a:lstStyle/>
          <a:p>
            <a:r>
              <a:rPr lang="en-GB" dirty="0"/>
              <a:t>When querying the database to retrieve data, you may want to include this code after opening the connection.</a:t>
            </a:r>
          </a:p>
          <a:p>
            <a:r>
              <a:rPr lang="en-GB" dirty="0"/>
              <a:t>This line of code is a command that will configure the database to return </a:t>
            </a:r>
            <a:r>
              <a:rPr lang="en-GB" u="sng" dirty="0"/>
              <a:t>sqlite3 Rows</a:t>
            </a:r>
            <a:r>
              <a:rPr lang="en-GB" dirty="0"/>
              <a:t> when queried</a:t>
            </a:r>
          </a:p>
          <a:p>
            <a:r>
              <a:rPr lang="en-GB" dirty="0"/>
              <a:t>Can be easier to use compared to default responses (tuples)</a:t>
            </a:r>
          </a:p>
          <a:p>
            <a:r>
              <a:rPr lang="en-GB" dirty="0"/>
              <a:t>Allows you to retrieve data by </a:t>
            </a:r>
            <a:r>
              <a:rPr lang="en-GB" u="sng" dirty="0"/>
              <a:t>column name</a:t>
            </a:r>
            <a:r>
              <a:rPr lang="en-GB" dirty="0"/>
              <a:t> – equivalent to dictionaries</a:t>
            </a:r>
            <a:endParaRPr lang="en-GB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5E741-CE2C-429B-A9EE-D04B18154F6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30213" y="1904213"/>
            <a:ext cx="11401787" cy="1744771"/>
          </a:xfrm>
        </p:spPr>
        <p:txBody>
          <a:bodyPr/>
          <a:lstStyle/>
          <a:p>
            <a:pPr marL="0" indent="0" algn="ctr">
              <a:buNone/>
            </a:pPr>
            <a:r>
              <a:rPr lang="en-GB" sz="36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conn</a:t>
            </a:r>
            <a:r>
              <a:rPr lang="en-GB" sz="3600" dirty="0" err="1"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795E26"/>
                </a:solidFill>
                <a:latin typeface="Consolas" panose="020B0609020204030204" pitchFamily="49" charset="0"/>
              </a:rPr>
              <a:t>row_factory</a:t>
            </a:r>
            <a:r>
              <a:rPr lang="en-GB" sz="3600" dirty="0">
                <a:solidFill>
                  <a:srgbClr val="795E26"/>
                </a:solidFill>
                <a:latin typeface="Consolas" panose="020B0609020204030204" pitchFamily="49" charset="0"/>
              </a:rPr>
              <a:t> </a:t>
            </a:r>
            <a:r>
              <a:rPr lang="en-GB" sz="3600" dirty="0">
                <a:latin typeface="Consolas" panose="020B0609020204030204" pitchFamily="49" charset="0"/>
              </a:rPr>
              <a:t>= 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sqlite3</a:t>
            </a:r>
            <a:r>
              <a:rPr lang="en-GB" sz="3600" dirty="0">
                <a:latin typeface="Consolas" panose="020B0609020204030204" pitchFamily="49" charset="0"/>
              </a:rPr>
              <a:t>.</a:t>
            </a:r>
            <a:r>
              <a:rPr lang="en-GB" sz="3600" dirty="0">
                <a:solidFill>
                  <a:srgbClr val="795E26"/>
                </a:solidFill>
                <a:latin typeface="Consolas" panose="020B0609020204030204" pitchFamily="49" charset="0"/>
              </a:rPr>
              <a:t>Row</a:t>
            </a:r>
          </a:p>
        </p:txBody>
      </p:sp>
    </p:spTree>
    <p:extLst>
      <p:ext uri="{BB962C8B-B14F-4D97-AF65-F5344CB8AC3E}">
        <p14:creationId xmlns:p14="http://schemas.microsoft.com/office/powerpoint/2010/main" val="4181262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52F8-1F2E-34A9-48BE-9699D237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82804"/>
            <a:ext cx="11477506" cy="5945196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GB" dirty="0" err="1">
                <a:solidFill>
                  <a:srgbClr val="4F81BD">
                    <a:lumMod val="50000"/>
                  </a:srgbClr>
                </a:solidFill>
                <a:latin typeface="Consolas" panose="020B0609020204030204" pitchFamily="49" charset="0"/>
              </a:rPr>
              <a:t>conn</a:t>
            </a:r>
            <a:r>
              <a:rPr lang="en-GB" dirty="0" err="1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row_factory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prstClr val="black"/>
                </a:solidFill>
                <a:latin typeface="Consolas" panose="020B0609020204030204" pitchFamily="49" charset="0"/>
              </a:rPr>
              <a:t>= </a:t>
            </a:r>
            <a:r>
              <a:rPr lang="en-GB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</a:rPr>
              <a:t>sqlite3</a:t>
            </a:r>
            <a:r>
              <a:rPr lang="en-GB" dirty="0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Row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    # Store the results of the query to be used later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res =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"SELECT * FROM stocks"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latin typeface="Consolas" panose="020B0609020204030204" pitchFamily="49" charset="0"/>
              </a:rPr>
              <a:t> row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latin typeface="Consolas" panose="020B0609020204030204" pitchFamily="49" charset="0"/>
              </a:rPr>
              <a:t> res: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(row[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“symbol”</a:t>
            </a:r>
            <a:r>
              <a:rPr lang="en-GB" dirty="0"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conn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commit</a:t>
            </a:r>
            <a:r>
              <a:rPr lang="en-GB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8F013-D2BC-6926-CC90-FDFEF5366F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301"/>
          <a:stretch/>
        </p:blipFill>
        <p:spPr>
          <a:xfrm>
            <a:off x="3247947" y="2130458"/>
            <a:ext cx="5696105" cy="22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4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35CC-9E3E-E136-F7EB-AACF1EA6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data with WHERE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554C3-C947-FE84-F7E2-5F5EF7150A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While wildcard selects are great for checking the whole database, they’re aren’t really practical</a:t>
            </a:r>
          </a:p>
          <a:p>
            <a:r>
              <a:rPr lang="en-GB" dirty="0"/>
              <a:t>Imagine a database with 10 columns and thousands of rows</a:t>
            </a:r>
          </a:p>
          <a:p>
            <a:r>
              <a:rPr lang="en-GB" dirty="0"/>
              <a:t>Only want some of this data</a:t>
            </a:r>
          </a:p>
          <a:p>
            <a:r>
              <a:rPr lang="en-GB" dirty="0"/>
              <a:t>Can limit the columns by naming them in select</a:t>
            </a:r>
          </a:p>
          <a:p>
            <a:r>
              <a:rPr lang="en-GB" dirty="0"/>
              <a:t>And can filter the rows with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F6CD32-00D0-D1A3-E0D0-3F8CACB4B0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en-GB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GB" sz="1600" dirty="0" err="1">
                <a:solidFill>
                  <a:srgbClr val="4F81BD">
                    <a:lumMod val="50000"/>
                  </a:srgbClr>
                </a:solidFill>
                <a:latin typeface="Consolas" panose="020B0609020204030204" pitchFamily="49" charset="0"/>
              </a:rPr>
              <a:t>conn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row_factory</a:t>
            </a:r>
            <a:r>
              <a:rPr lang="en-GB" sz="1600" dirty="0">
                <a:solidFill>
                  <a:srgbClr val="795E26"/>
                </a:solidFill>
                <a:latin typeface="Consolas" panose="020B0609020204030204" pitchFamily="49" charset="0"/>
              </a:rPr>
              <a:t> 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= </a:t>
            </a:r>
            <a:r>
              <a:rPr lang="en-GB" sz="1600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</a:rPr>
              <a:t>sqlite3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latin typeface="Consolas" panose="020B0609020204030204" pitchFamily="49" charset="0"/>
              </a:rPr>
              <a:t>Row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    # Store the results of the query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res = </a:t>
            </a:r>
            <a:r>
              <a:rPr lang="en-GB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1600" dirty="0" err="1"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"SELECT symbol FROM stocks"</a:t>
            </a:r>
            <a:r>
              <a:rPr lang="en-GB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GB" sz="1600" dirty="0">
                <a:latin typeface="Consolas" panose="020B0609020204030204" pitchFamily="49" charset="0"/>
              </a:rPr>
              <a:t> row 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GB" sz="1600" dirty="0">
                <a:latin typeface="Consolas" panose="020B0609020204030204" pitchFamily="49" charset="0"/>
              </a:rPr>
              <a:t> res: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(row)</a:t>
            </a:r>
          </a:p>
          <a:p>
            <a:pPr marL="0" indent="0">
              <a:buNone/>
            </a:pPr>
            <a:endParaRPr lang="en-GB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conn</a:t>
            </a:r>
            <a:r>
              <a:rPr lang="en-GB" sz="1600" dirty="0" err="1"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commit</a:t>
            </a:r>
            <a:r>
              <a:rPr lang="en-GB" sz="16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62594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52F8-1F2E-34A9-48BE-9699D237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82804"/>
            <a:ext cx="11477506" cy="5945196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GB" dirty="0" err="1">
                <a:solidFill>
                  <a:srgbClr val="4F81BD">
                    <a:lumMod val="50000"/>
                  </a:srgbClr>
                </a:solidFill>
                <a:latin typeface="Consolas" panose="020B0609020204030204" pitchFamily="49" charset="0"/>
              </a:rPr>
              <a:t>conn</a:t>
            </a:r>
            <a:r>
              <a:rPr lang="en-GB" dirty="0" err="1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row_factory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prstClr val="black"/>
                </a:solidFill>
                <a:latin typeface="Consolas" panose="020B0609020204030204" pitchFamily="49" charset="0"/>
              </a:rPr>
              <a:t>= </a:t>
            </a:r>
            <a:r>
              <a:rPr lang="en-GB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</a:rPr>
              <a:t>sqlite3</a:t>
            </a:r>
            <a:r>
              <a:rPr lang="en-GB" dirty="0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Row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    # Store the results of the query to be used later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res =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“/</a:t>
            </a:r>
          </a:p>
          <a:p>
            <a:pPr marL="0" indent="0"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SELECT trans, symbol, qty/</a:t>
            </a:r>
          </a:p>
          <a:p>
            <a:pPr marL="0" indent="0"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FROM stocks/</a:t>
            </a:r>
          </a:p>
          <a:p>
            <a:pPr marL="0" indent="0"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WHERE trans=‘BUY’"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latin typeface="Consolas" panose="020B0609020204030204" pitchFamily="49" charset="0"/>
              </a:rPr>
              <a:t> row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latin typeface="Consolas" panose="020B0609020204030204" pitchFamily="49" charset="0"/>
              </a:rPr>
              <a:t> res: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(row[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“symbol”</a:t>
            </a:r>
            <a:r>
              <a:rPr lang="en-GB" dirty="0">
                <a:latin typeface="Consolas" panose="020B0609020204030204" pitchFamily="49" charset="0"/>
              </a:rPr>
              <a:t>], row[</a:t>
            </a:r>
            <a:r>
              <a:rPr lang="en-GB" sz="29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“qty”</a:t>
            </a:r>
            <a:r>
              <a:rPr lang="en-GB" dirty="0"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conn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95E26"/>
                </a:solidFill>
                <a:latin typeface="Consolas" panose="020B0609020204030204" pitchFamily="49" charset="0"/>
              </a:rPr>
              <a:t>commit</a:t>
            </a:r>
            <a:r>
              <a:rPr lang="en-GB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7F3C6-E812-9EA6-9619-FE8843C5E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58" y="2390564"/>
            <a:ext cx="10242683" cy="172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0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6B1D5-7579-A73D-93EF-7B0F5276F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1329" y="339692"/>
            <a:ext cx="8329342" cy="426169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E07ECA-6851-6EED-45E3-4FBA03F361BB}"/>
              </a:ext>
            </a:extLst>
          </p:cNvPr>
          <p:cNvSpPr txBox="1"/>
          <p:nvPr/>
        </p:nvSpPr>
        <p:spPr>
          <a:xfrm>
            <a:off x="405318" y="4863830"/>
            <a:ext cx="11381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WHERE supports a range of operations to filter your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Many have an equivalent in Python, but may not be the same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Spend some time to experiment and see how the operators work</a:t>
            </a:r>
          </a:p>
        </p:txBody>
      </p:sp>
    </p:spTree>
    <p:extLst>
      <p:ext uri="{BB962C8B-B14F-4D97-AF65-F5344CB8AC3E}">
        <p14:creationId xmlns:p14="http://schemas.microsoft.com/office/powerpoint/2010/main" val="211263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35CC-9E3E-E136-F7EB-AACF1EA6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554C3-C947-FE84-F7E2-5F5EF7150A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en-GB" dirty="0"/>
              <a:t>Finally, SQL provides some functions to simplify common operations</a:t>
            </a:r>
          </a:p>
          <a:p>
            <a:r>
              <a:rPr lang="en-GB" dirty="0"/>
              <a:t>Min, Max, Sum, Average</a:t>
            </a:r>
          </a:p>
          <a:p>
            <a:r>
              <a:rPr lang="en-GB" dirty="0"/>
              <a:t>But let’s look at Count for an example!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F6CD32-00D0-D1A3-E0D0-3F8CACB4B0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en-GB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GB" sz="1600" dirty="0" err="1">
                <a:solidFill>
                  <a:srgbClr val="4F81BD">
                    <a:lumMod val="50000"/>
                  </a:srgbClr>
                </a:solidFill>
                <a:latin typeface="Consolas" panose="020B0609020204030204" pitchFamily="49" charset="0"/>
              </a:rPr>
              <a:t>conn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row_factory</a:t>
            </a:r>
            <a:r>
              <a:rPr lang="en-GB" sz="1600" dirty="0">
                <a:solidFill>
                  <a:srgbClr val="795E26"/>
                </a:solidFill>
                <a:latin typeface="Consolas" panose="020B0609020204030204" pitchFamily="49" charset="0"/>
              </a:rPr>
              <a:t> 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= </a:t>
            </a:r>
            <a:r>
              <a:rPr lang="en-GB" sz="1600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</a:rPr>
              <a:t>sqlite3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latin typeface="Consolas" panose="020B0609020204030204" pitchFamily="49" charset="0"/>
              </a:rPr>
              <a:t>Row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    # Store the results of the query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res = </a:t>
            </a:r>
            <a:r>
              <a:rPr lang="en-GB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1600" dirty="0" err="1"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"SELECT symbol FROM stocks"</a:t>
            </a:r>
            <a:r>
              <a:rPr lang="en-GB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GB" sz="1600" dirty="0">
                <a:latin typeface="Consolas" panose="020B0609020204030204" pitchFamily="49" charset="0"/>
              </a:rPr>
              <a:t> row 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GB" sz="1600" dirty="0">
                <a:latin typeface="Consolas" panose="020B0609020204030204" pitchFamily="49" charset="0"/>
              </a:rPr>
              <a:t> res: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(row)</a:t>
            </a:r>
          </a:p>
          <a:p>
            <a:pPr marL="0" indent="0">
              <a:buNone/>
            </a:pPr>
            <a:endParaRPr lang="en-GB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conn</a:t>
            </a:r>
            <a:r>
              <a:rPr lang="en-GB" sz="1600" dirty="0" err="1"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commit</a:t>
            </a:r>
            <a:r>
              <a:rPr lang="en-GB" sz="16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882571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3A23-98D3-9801-62E3-77034A7D2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en-GB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GB" sz="2800" dirty="0" err="1">
                <a:solidFill>
                  <a:srgbClr val="4F81BD">
                    <a:lumMod val="50000"/>
                  </a:srgbClr>
                </a:solidFill>
                <a:latin typeface="Consolas" panose="020B0609020204030204" pitchFamily="49" charset="0"/>
              </a:rPr>
              <a:t>conn</a:t>
            </a:r>
            <a:r>
              <a:rPr lang="en-GB" sz="2800" dirty="0" err="1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latin typeface="Consolas" panose="020B0609020204030204" pitchFamily="49" charset="0"/>
              </a:rPr>
              <a:t>row_factory</a:t>
            </a:r>
            <a:r>
              <a:rPr lang="en-GB" sz="2800" dirty="0">
                <a:solidFill>
                  <a:srgbClr val="795E26"/>
                </a:solidFill>
                <a:latin typeface="Consolas" panose="020B0609020204030204" pitchFamily="49" charset="0"/>
              </a:rPr>
              <a:t> </a:t>
            </a:r>
            <a:r>
              <a:rPr lang="en-GB" sz="2800" dirty="0">
                <a:solidFill>
                  <a:prstClr val="black"/>
                </a:solidFill>
                <a:latin typeface="Consolas" panose="020B0609020204030204" pitchFamily="49" charset="0"/>
              </a:rPr>
              <a:t>= </a:t>
            </a:r>
            <a:r>
              <a:rPr lang="en-GB" sz="2800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</a:rPr>
              <a:t>sqlite3</a:t>
            </a:r>
            <a:r>
              <a:rPr lang="en-GB" sz="2800" dirty="0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latin typeface="Consolas" panose="020B0609020204030204" pitchFamily="49" charset="0"/>
              </a:rPr>
              <a:t>Row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query = </a:t>
            </a:r>
            <a:r>
              <a:rPr lang="en-GB" sz="29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"SELECT COUNT(symbol) as c FROM stocks WHERE trans='BUY'"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res = </a:t>
            </a:r>
            <a:r>
              <a:rPr lang="en-GB" sz="2900" dirty="0" err="1">
                <a:solidFill>
                  <a:srgbClr val="00108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cursor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sz="2900" dirty="0" err="1">
                <a:solidFill>
                  <a:srgbClr val="795E2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execute</a:t>
            </a:r>
            <a:r>
              <a:rPr lang="en-GB" dirty="0">
                <a:latin typeface="Consolas" panose="020B0609020204030204" pitchFamily="49" charset="0"/>
              </a:rPr>
              <a:t>(query)</a:t>
            </a:r>
          </a:p>
          <a:p>
            <a:pPr marL="0" indent="0">
              <a:buNone/>
            </a:pPr>
            <a:r>
              <a:rPr lang="en-GB" sz="2900" dirty="0">
                <a:solidFill>
                  <a:srgbClr val="00108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                    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lang="en-GB" sz="2900" dirty="0">
                <a:solidFill>
                  <a:srgbClr val="00108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onsolas" panose="020B0609020204030204" pitchFamily="49" charset="0"/>
              </a:rPr>
              <a:t> row </a:t>
            </a:r>
            <a:r>
              <a:rPr lang="en-GB" sz="2900" dirty="0">
                <a:solidFill>
                  <a:srgbClr val="00108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</a:t>
            </a:r>
            <a:r>
              <a:rPr lang="en-GB" dirty="0">
                <a:latin typeface="Consolas" panose="020B0609020204030204" pitchFamily="49" charset="0"/>
              </a:rPr>
              <a:t> res: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sz="2900" dirty="0">
                <a:solidFill>
                  <a:srgbClr val="795E2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(row[</a:t>
            </a:r>
            <a:r>
              <a:rPr lang="en-GB" sz="29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"c"</a:t>
            </a:r>
            <a:r>
              <a:rPr lang="en-GB" dirty="0"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endParaRPr lang="en-GB" sz="2900" dirty="0">
              <a:solidFill>
                <a:srgbClr val="795E26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lang="en-GB" sz="2900" dirty="0" err="1">
                <a:solidFill>
                  <a:srgbClr val="00108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conn</a:t>
            </a:r>
            <a:r>
              <a:rPr lang="en-GB" dirty="0" err="1">
                <a:latin typeface="Consolas" panose="020B0609020204030204" pitchFamily="49" charset="0"/>
              </a:rPr>
              <a:t>.</a:t>
            </a:r>
            <a:r>
              <a:rPr lang="en-GB" sz="2900" dirty="0" err="1">
                <a:solidFill>
                  <a:srgbClr val="795E2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commit</a:t>
            </a:r>
            <a:r>
              <a:rPr lang="en-GB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12F7A-5D19-DA39-F84F-673D5188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0ED605-BEEB-69C0-30ED-7ED5C80365A5}"/>
              </a:ext>
            </a:extLst>
          </p:cNvPr>
          <p:cNvGrpSpPr/>
          <p:nvPr/>
        </p:nvGrpSpPr>
        <p:grpSpPr>
          <a:xfrm>
            <a:off x="4648170" y="1684931"/>
            <a:ext cx="4729294" cy="1320917"/>
            <a:chOff x="4648170" y="1684931"/>
            <a:chExt cx="4729294" cy="1320917"/>
          </a:xfrm>
        </p:grpSpPr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E234EAB1-1741-6D82-72EC-3C95F167789B}"/>
                </a:ext>
              </a:extLst>
            </p:cNvPr>
            <p:cNvSpPr/>
            <p:nvPr/>
          </p:nvSpPr>
          <p:spPr>
            <a:xfrm rot="8282836">
              <a:off x="4648170" y="2500010"/>
              <a:ext cx="1264596" cy="505838"/>
            </a:xfrm>
            <a:prstGeom prst="right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3083D6-ECA3-2002-B281-782EAAF3AC44}"/>
                </a:ext>
              </a:extLst>
            </p:cNvPr>
            <p:cNvSpPr/>
            <p:nvPr/>
          </p:nvSpPr>
          <p:spPr>
            <a:xfrm>
              <a:off x="5564221" y="1684931"/>
              <a:ext cx="3813243" cy="914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An alias for the result of COUNT, so we can refer to it later in the code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20BFE55-E0C0-3D4E-8576-D6404E91FE7D}"/>
              </a:ext>
            </a:extLst>
          </p:cNvPr>
          <p:cNvGrpSpPr/>
          <p:nvPr/>
        </p:nvGrpSpPr>
        <p:grpSpPr>
          <a:xfrm>
            <a:off x="1807526" y="3752207"/>
            <a:ext cx="7138454" cy="1711749"/>
            <a:chOff x="4340438" y="3947458"/>
            <a:chExt cx="7138454" cy="1711749"/>
          </a:xfrm>
        </p:grpSpPr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F4961568-D429-DBAE-CCC3-F58B214FFD17}"/>
                </a:ext>
              </a:extLst>
            </p:cNvPr>
            <p:cNvSpPr/>
            <p:nvPr/>
          </p:nvSpPr>
          <p:spPr>
            <a:xfrm rot="13245781">
              <a:off x="4340438" y="3947458"/>
              <a:ext cx="1350209" cy="369332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E1F230A-7DEB-3B69-4706-544C7B4874D7}"/>
                </a:ext>
              </a:extLst>
            </p:cNvPr>
            <p:cNvSpPr/>
            <p:nvPr/>
          </p:nvSpPr>
          <p:spPr>
            <a:xfrm rot="19136764">
              <a:off x="10068563" y="4040495"/>
              <a:ext cx="1410329" cy="369332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3342E4-0D1F-F6B9-B207-8841B61C8540}"/>
                </a:ext>
              </a:extLst>
            </p:cNvPr>
            <p:cNvSpPr txBox="1"/>
            <p:nvPr/>
          </p:nvSpPr>
          <p:spPr>
            <a:xfrm>
              <a:off x="5426505" y="4458878"/>
              <a:ext cx="4928000" cy="120032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Note the use of two different types of quotation marks!</a:t>
              </a:r>
            </a:p>
            <a:p>
              <a:r>
                <a:rPr lang="en-GB" b="1" dirty="0">
                  <a:solidFill>
                    <a:schemeClr val="bg1"/>
                  </a:solidFill>
                </a:rPr>
                <a:t>One set to denote the SQL statement and another for the strings in the values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382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5FEEEF-DB2F-907E-B856-8E18E644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DDL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11B9B1-E736-67D0-42AF-56D24065C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Laying the foundations</a:t>
            </a:r>
          </a:p>
        </p:txBody>
      </p:sp>
    </p:spTree>
    <p:extLst>
      <p:ext uri="{BB962C8B-B14F-4D97-AF65-F5344CB8AC3E}">
        <p14:creationId xmlns:p14="http://schemas.microsoft.com/office/powerpoint/2010/main" val="1455163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8D85-727A-85C4-7091-69E28100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2E7CE-81BD-EE75-9B30-DBD71A570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u="sng" dirty="0"/>
              <a:t>D</a:t>
            </a:r>
            <a:r>
              <a:rPr lang="en-GB" dirty="0"/>
              <a:t>ata </a:t>
            </a:r>
            <a:r>
              <a:rPr lang="en-GB" b="1" u="sng" dirty="0"/>
              <a:t>D</a:t>
            </a:r>
            <a:r>
              <a:rPr lang="en-GB" dirty="0"/>
              <a:t>efinition </a:t>
            </a:r>
            <a:r>
              <a:rPr lang="en-GB" b="1" u="sng" dirty="0"/>
              <a:t>L</a:t>
            </a:r>
            <a:r>
              <a:rPr lang="en-GB" dirty="0"/>
              <a:t>anguage refers to SQL commands that configure and manage the database design</a:t>
            </a:r>
          </a:p>
          <a:p>
            <a:r>
              <a:rPr lang="en-GB" dirty="0"/>
              <a:t>Creating schemas (collections of tables)</a:t>
            </a:r>
          </a:p>
          <a:p>
            <a:r>
              <a:rPr lang="en-GB" dirty="0"/>
              <a:t>Configuring key properties</a:t>
            </a:r>
          </a:p>
          <a:p>
            <a:r>
              <a:rPr lang="en-GB" dirty="0"/>
              <a:t>And creating, managing, updating or deleting (dropping) tables</a:t>
            </a:r>
          </a:p>
        </p:txBody>
      </p:sp>
    </p:spTree>
    <p:extLst>
      <p:ext uri="{BB962C8B-B14F-4D97-AF65-F5344CB8AC3E}">
        <p14:creationId xmlns:p14="http://schemas.microsoft.com/office/powerpoint/2010/main" val="1225449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B9F5-00D5-C618-F4E7-CDEFAD11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BBE1-2C24-0066-31DB-7924CD3D5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know what tables are – so how do we design them?</a:t>
            </a:r>
          </a:p>
          <a:p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Identify what the table needs to represent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Identify what attributes the data has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dirty="0"/>
              <a:t>The types of these attributes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dirty="0"/>
              <a:t>Any special properties of these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Identify a primary key (or introduce one)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And then we run a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CREATE TABLE</a:t>
            </a:r>
            <a:r>
              <a:rPr lang="en-GB" dirty="0"/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2071237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65844B-09BF-77DC-F652-36E6B5E8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DAA2-66B8-DA67-8286-DD7814FF15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stocks(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ID integer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 text,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symbol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qty real,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real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C5ED8-5743-2F5C-61BC-BE8A82E1A2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The SQL command to create a table consists of the </a:t>
            </a:r>
            <a:br>
              <a:rPr lang="en-GB" dirty="0"/>
            </a:b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CREATE TABLE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keywords followed by the name of the new table.</a:t>
            </a:r>
          </a:p>
          <a:p>
            <a:r>
              <a:rPr lang="en-GB" dirty="0"/>
              <a:t>Columns are listed in brackets as </a:t>
            </a:r>
            <a:br>
              <a:rPr lang="en-GB" dirty="0"/>
            </a:br>
            <a:r>
              <a:rPr lang="en-GB" dirty="0">
                <a:latin typeface="Consolas" panose="020B0609020204030204" pitchFamily="49" charset="0"/>
              </a:rPr>
              <a:t>&lt;name&gt; &lt;type&gt; &lt;modifiers&gt;</a:t>
            </a:r>
          </a:p>
          <a:p>
            <a:pPr marL="0" indent="0">
              <a:buNone/>
            </a:pPr>
            <a:r>
              <a:rPr lang="en-GB" dirty="0"/>
              <a:t>  separated by commas</a:t>
            </a:r>
          </a:p>
          <a:p>
            <a:r>
              <a:rPr lang="en-GB" dirty="0"/>
              <a:t>So we have our query – how do we execute it in Python?</a:t>
            </a:r>
          </a:p>
        </p:txBody>
      </p:sp>
    </p:spTree>
    <p:extLst>
      <p:ext uri="{BB962C8B-B14F-4D97-AF65-F5344CB8AC3E}">
        <p14:creationId xmlns:p14="http://schemas.microsoft.com/office/powerpoint/2010/main" val="2605482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DAA2-66B8-DA67-8286-DD7814F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443060"/>
            <a:ext cx="11612041" cy="578494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For this test script, we'll DROP the table so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that we can CREATE it again.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"DROP TABLE IF EXISTS stocks"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'''</a:t>
            </a:r>
            <a:endParaRPr lang="en-GB" sz="28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TABLE stocks(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ID integer PRIMARY KEY,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date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symbol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qty real,</a:t>
            </a:r>
            <a:endParaRPr lang="en-GB" dirty="0">
              <a:solidFill>
                <a:srgbClr val="A31515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price real)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'''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451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7256-E8BC-4FC0-05A2-1C7AEC35B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1932D-E618-C3EC-78DC-B3CB282D44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For statements that create, add or modify, you just need to use execute – the returned value doesn’t matter</a:t>
            </a:r>
          </a:p>
          <a:p>
            <a:r>
              <a:rPr lang="en-GB" dirty="0"/>
              <a:t>You can run also multiple commands in sequence</a:t>
            </a:r>
          </a:p>
          <a:p>
            <a:r>
              <a:rPr lang="en-GB" dirty="0"/>
              <a:t>Once your commands are completed, you must </a:t>
            </a:r>
            <a:r>
              <a:rPr lang="en-GB" i="1" dirty="0"/>
              <a:t>commit</a:t>
            </a:r>
            <a:r>
              <a:rPr lang="en-GB" dirty="0"/>
              <a:t> the changes to the Database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&lt;connection&gt;</a:t>
            </a:r>
            <a:r>
              <a:rPr lang="en-GB" dirty="0"/>
              <a:t>.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commit</a:t>
            </a:r>
            <a:r>
              <a:rPr lang="en-GB" dirty="0"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E396B-951E-B294-744B-3ED5401B12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For this test script, we'll DROP the table so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that we can CREATE it again.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"DROP TABLE IF EXISTS stocks"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‘‘’</a:t>
            </a:r>
            <a:endParaRPr lang="en-GB" sz="28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TABLE stocks(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ID integer PRIMARY KEY,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date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symbol text,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qty real,</a:t>
            </a:r>
            <a:endParaRPr lang="en-GB" dirty="0">
              <a:solidFill>
                <a:srgbClr val="A31515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price real)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'''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073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C3F1-1C94-85F3-3D36-D76ACE84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DC350-CD1B-02E2-8758-C46EB7ACE9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Our database is now designed, with all required tables present</a:t>
            </a:r>
          </a:p>
          <a:p>
            <a:r>
              <a:rPr lang="en-GB" dirty="0"/>
              <a:t>But the tables are all empty</a:t>
            </a:r>
          </a:p>
          <a:p>
            <a:r>
              <a:rPr lang="en-GB" dirty="0"/>
              <a:t>Not very useful – we want to store our data</a:t>
            </a:r>
          </a:p>
          <a:p>
            <a:r>
              <a:rPr lang="en-GB" dirty="0"/>
              <a:t>So how do we do this?</a:t>
            </a:r>
          </a:p>
        </p:txBody>
      </p:sp>
      <p:pic>
        <p:nvPicPr>
          <p:cNvPr id="9" name="Content Placeholder 8" descr="Empty stadium with red and white chairs">
            <a:extLst>
              <a:ext uri="{FF2B5EF4-FFF2-40B4-BE49-F238E27FC236}">
                <a16:creationId xmlns:a16="http://schemas.microsoft.com/office/drawing/2014/main" id="{CF58260E-CE25-9A4D-949A-D553046168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90374"/>
            <a:ext cx="5665788" cy="3691614"/>
          </a:xfrm>
        </p:spPr>
      </p:pic>
    </p:spTree>
    <p:extLst>
      <p:ext uri="{BB962C8B-B14F-4D97-AF65-F5344CB8AC3E}">
        <p14:creationId xmlns:p14="http://schemas.microsoft.com/office/powerpoint/2010/main" val="2428820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790852E-B30D-C679-22D7-0316073C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DML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73F1ACE-2816-C852-3F6F-8CF61555E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Put the data in the table</a:t>
            </a:r>
          </a:p>
        </p:txBody>
      </p:sp>
    </p:spTree>
    <p:extLst>
      <p:ext uri="{BB962C8B-B14F-4D97-AF65-F5344CB8AC3E}">
        <p14:creationId xmlns:p14="http://schemas.microsoft.com/office/powerpoint/2010/main" val="1507931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F7ED-CA6C-5855-67D5-E32ED335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CB2D-C38B-776C-F015-F1D0BF210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DDL deals with the structure of the database itself…</a:t>
            </a:r>
          </a:p>
          <a:p>
            <a:r>
              <a:rPr lang="en-GB" dirty="0"/>
              <a:t>…</a:t>
            </a:r>
            <a:r>
              <a:rPr lang="en-GB" b="1" u="sng" dirty="0"/>
              <a:t>D</a:t>
            </a:r>
            <a:r>
              <a:rPr lang="en-GB" dirty="0"/>
              <a:t>ata </a:t>
            </a:r>
            <a:r>
              <a:rPr lang="en-GB" b="1" u="sng" dirty="0"/>
              <a:t>M</a:t>
            </a:r>
            <a:r>
              <a:rPr lang="en-GB" dirty="0"/>
              <a:t>anipulation </a:t>
            </a:r>
            <a:r>
              <a:rPr lang="en-GB" b="1" u="sng" dirty="0"/>
              <a:t>L</a:t>
            </a:r>
            <a:r>
              <a:rPr lang="en-GB" dirty="0"/>
              <a:t>anguage focusses on the management of the data within it</a:t>
            </a:r>
          </a:p>
          <a:p>
            <a:r>
              <a:rPr lang="en-GB" dirty="0"/>
              <a:t>DML focusses on the insertion, updating, and deletion of data in the tables</a:t>
            </a:r>
          </a:p>
          <a:p>
            <a:r>
              <a:rPr lang="en-GB" dirty="0"/>
              <a:t>We already have a table – lets add some data!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894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56C0-E51D-E1AC-44D0-6AD2A7B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Insert statements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5A243-C4F3-86B8-E009-62C0690F99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To insert data into a table, you need to create an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INSERT</a:t>
            </a:r>
            <a:r>
              <a:rPr lang="en-GB" dirty="0"/>
              <a:t> statement</a:t>
            </a:r>
          </a:p>
          <a:p>
            <a:r>
              <a:rPr lang="en-GB" dirty="0"/>
              <a:t>This statement specifies the table you want to add the data to and the values you want to insert</a:t>
            </a:r>
          </a:p>
          <a:p>
            <a:r>
              <a:rPr lang="en-GB" dirty="0"/>
              <a:t>If you supply data to all columns in a single statement, you don’t need to specify the columns themselves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C18D04-E3C9-05A4-55FB-385365205C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INTO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stocks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'2021-01-05'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'BUY'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'TSLA'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35.14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5557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DAA2-66B8-DA67-8286-DD7814F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443060"/>
            <a:ext cx="11612041" cy="578494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28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"INSERT INTO stocks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VALUES (1, '2021-01-05', 'BUY', 'TSLA', 100, 35.14)"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8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595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F24210-E52E-70EB-72C0-D4A8F1FE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Insert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0C66-D2B9-8992-FC84-0B5E76A5D6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We can also create a query that uses parameters instead of hardcoded values</a:t>
            </a:r>
          </a:p>
          <a:p>
            <a:r>
              <a:rPr lang="en-GB" dirty="0"/>
              <a:t>Since the query is string, we </a:t>
            </a:r>
            <a:r>
              <a:rPr lang="en-GB" i="1" dirty="0"/>
              <a:t>could </a:t>
            </a:r>
            <a:r>
              <a:rPr lang="en-GB" dirty="0"/>
              <a:t>use String formatting</a:t>
            </a:r>
          </a:p>
          <a:p>
            <a:r>
              <a:rPr lang="en-GB" dirty="0"/>
              <a:t>But this will introduce security flaws if used with user input</a:t>
            </a:r>
          </a:p>
          <a:p>
            <a:r>
              <a:rPr lang="en-GB" dirty="0"/>
              <a:t>Instead, we use </a:t>
            </a:r>
            <a:r>
              <a:rPr lang="en-GB" i="1" dirty="0"/>
              <a:t>placeholders</a:t>
            </a:r>
          </a:p>
          <a:p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933B6E-4285-8BA2-EFED-FCD72505F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2326" y="1295400"/>
            <a:ext cx="6212264" cy="4881563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GB" sz="16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values = 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(2, ‘2023-11-02', ‘SELL', 'TSLA', 100, 47.21)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"INSERT INTO stocks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VALUES (?, ?, ?, ?, ?, ?)“, </a:t>
            </a:r>
            <a:r>
              <a:rPr lang="en-GB" sz="16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09340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CE0D42-16FD-48D4-8A00-AA7128BD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4C55A-B419-460F-A702-5DD3DCA32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Stocks and Trees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069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922B-FFAB-A267-CF91-CC2FF3302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8DD45BC-8AC8-27E0-82DD-13E7C45A3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719158"/>
      </p:ext>
    </p:extLst>
  </p:cSld>
  <p:clrMapOvr>
    <a:masterClrMapping/>
  </p:clrMapOvr>
</p:sld>
</file>

<file path=ppt/theme/theme1.xml><?xml version="1.0" encoding="utf-8"?>
<a:theme xmlns:a="http://schemas.openxmlformats.org/drawingml/2006/main" name="SCEDT-THEME">
  <a:themeElements>
    <a:clrScheme name="Custom 1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0563C1"/>
      </a:hlink>
      <a:folHlink>
        <a:srgbClr val="F7964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EDT-THEME" id="{C4BDCE69-55FD-4FEE-BE6B-82090DD3CD3E}" vid="{A24C8F7E-1AFF-45C9-A264-357A40B8ACAA}"/>
    </a:ext>
  </a:extLst>
</a:theme>
</file>

<file path=ppt/theme/theme2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9F01FF438224F966DB797E64E6240" ma:contentTypeVersion="6" ma:contentTypeDescription="Create a new document." ma:contentTypeScope="" ma:versionID="015de62c6e0f46f33dd0a1f83507b6c2">
  <xsd:schema xmlns:xsd="http://www.w3.org/2001/XMLSchema" xmlns:xs="http://www.w3.org/2001/XMLSchema" xmlns:p="http://schemas.microsoft.com/office/2006/metadata/properties" xmlns:ns2="fa6b51a8-cd5f-4b0c-85ef-0c409748175e" targetNamespace="http://schemas.microsoft.com/office/2006/metadata/properties" ma:root="true" ma:fieldsID="3ebae983a450e991723392e4594caae8" ns2:_="">
    <xsd:import namespace="fa6b51a8-cd5f-4b0c-85ef-0c40974817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6b51a8-cd5f-4b0c-85ef-0c4097481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1B25A9-3AB0-4C3E-89A1-0C3D58FB7B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FCB1D7-5603-4DFE-81A9-08A31E32F889}">
  <ds:schemaRefs>
    <ds:schemaRef ds:uri="fa6b51a8-cd5f-4b0c-85ef-0c40974817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5EEDCB9-BECD-4D6C-BD9B-BA47DE20E5CD}">
  <ds:schemaRefs>
    <ds:schemaRef ds:uri="http://www.w3.org/XML/1998/namespace"/>
    <ds:schemaRef ds:uri="http://schemas.microsoft.com/office/2006/documentManagement/types"/>
    <ds:schemaRef ds:uri="fa6b51a8-cd5f-4b0c-85ef-0c409748175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SCEDT generic master template</Template>
  <TotalTime>10981</TotalTime>
  <Words>2586</Words>
  <Application>Microsoft Office PowerPoint</Application>
  <PresentationFormat>Widescreen</PresentationFormat>
  <Paragraphs>387</Paragraphs>
  <Slides>42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</vt:lpstr>
      <vt:lpstr>Calibri</vt:lpstr>
      <vt:lpstr>Consolas</vt:lpstr>
      <vt:lpstr>Verdana</vt:lpstr>
      <vt:lpstr>SCEDT-THEME</vt:lpstr>
      <vt:lpstr>Intro slide</vt:lpstr>
      <vt:lpstr>PowerPoint Presentation</vt:lpstr>
      <vt:lpstr>Data Persistence</vt:lpstr>
      <vt:lpstr>Databases</vt:lpstr>
      <vt:lpstr>What is SQLite3?</vt:lpstr>
      <vt:lpstr>Benefits of SQLite3</vt:lpstr>
      <vt:lpstr>Sample of SQLite3 limitations</vt:lpstr>
      <vt:lpstr>Useful support tools</vt:lpstr>
      <vt:lpstr>Before we start…</vt:lpstr>
      <vt:lpstr>SQL in a Python Application</vt:lpstr>
      <vt:lpstr>SQLite3 for Python</vt:lpstr>
      <vt:lpstr>Connection</vt:lpstr>
      <vt:lpstr>Cursor</vt:lpstr>
      <vt:lpstr>SQL Queries</vt:lpstr>
      <vt:lpstr>SQL</vt:lpstr>
      <vt:lpstr>Tables</vt:lpstr>
      <vt:lpstr>Tables</vt:lpstr>
      <vt:lpstr>Primary Keys</vt:lpstr>
      <vt:lpstr>Select queries</vt:lpstr>
      <vt:lpstr>Select all</vt:lpstr>
      <vt:lpstr>Execute function</vt:lpstr>
      <vt:lpstr>PowerPoint Presentation</vt:lpstr>
      <vt:lpstr>Configuring Connection</vt:lpstr>
      <vt:lpstr>PowerPoint Presentation</vt:lpstr>
      <vt:lpstr>Selecting data with WHERE</vt:lpstr>
      <vt:lpstr>PowerPoint Presentation</vt:lpstr>
      <vt:lpstr>PowerPoint Presentation</vt:lpstr>
      <vt:lpstr>SQL Functions</vt:lpstr>
      <vt:lpstr>PowerPoint Presentation</vt:lpstr>
      <vt:lpstr>DDL</vt:lpstr>
      <vt:lpstr>DDL</vt:lpstr>
      <vt:lpstr>Creating Tables</vt:lpstr>
      <vt:lpstr>CREATE TABLE</vt:lpstr>
      <vt:lpstr>PowerPoint Presentation</vt:lpstr>
      <vt:lpstr>Executing statements</vt:lpstr>
      <vt:lpstr>Queries</vt:lpstr>
      <vt:lpstr>DML</vt:lpstr>
      <vt:lpstr>DML</vt:lpstr>
      <vt:lpstr>Insert statements</vt:lpstr>
      <vt:lpstr>PowerPoint Presentation</vt:lpstr>
      <vt:lpstr>Insert statements</vt:lpstr>
      <vt:lpstr>More examples</vt:lpstr>
      <vt:lpstr>Any Questions?</vt:lpstr>
    </vt:vector>
  </TitlesOfParts>
  <Company>Teesside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Mead, Steven</dc:creator>
  <cp:lastModifiedBy>Curry, Christopher</cp:lastModifiedBy>
  <cp:revision>303</cp:revision>
  <dcterms:created xsi:type="dcterms:W3CDTF">2021-02-15T09:38:09Z</dcterms:created>
  <dcterms:modified xsi:type="dcterms:W3CDTF">2023-11-03T09:59:44Z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0x0101002F39F01FF438224F966DB797E64E6240</vt:lpwstr>
  </property>
</Properties>
</file>