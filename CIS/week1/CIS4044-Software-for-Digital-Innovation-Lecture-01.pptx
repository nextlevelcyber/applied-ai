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 saveSubsetFonts="1">
  <p:sldMasterIdLst>
    <p:sldMasterId id="2147483660" r:id="rId1"/>
    <p:sldMasterId id="2147483663" r:id="rId2"/>
  </p:sldMasterIdLst>
  <p:notesMasterIdLst>
    <p:notesMasterId r:id="rId45"/>
  </p:notesMasterIdLst>
  <p:sldIdLst>
    <p:sldId id="261" r:id="rId3"/>
    <p:sldId id="293" r:id="rId4"/>
    <p:sldId id="303" r:id="rId5"/>
    <p:sldId id="271" r:id="rId6"/>
    <p:sldId id="295" r:id="rId7"/>
    <p:sldId id="296" r:id="rId8"/>
    <p:sldId id="341" r:id="rId9"/>
    <p:sldId id="344" r:id="rId10"/>
    <p:sldId id="298" r:id="rId11"/>
    <p:sldId id="305" r:id="rId12"/>
    <p:sldId id="306" r:id="rId13"/>
    <p:sldId id="320" r:id="rId14"/>
    <p:sldId id="321" r:id="rId15"/>
    <p:sldId id="315" r:id="rId16"/>
    <p:sldId id="314" r:id="rId17"/>
    <p:sldId id="272" r:id="rId18"/>
    <p:sldId id="316" r:id="rId19"/>
    <p:sldId id="317" r:id="rId20"/>
    <p:sldId id="309" r:id="rId21"/>
    <p:sldId id="322" r:id="rId22"/>
    <p:sldId id="310" r:id="rId23"/>
    <p:sldId id="275" r:id="rId24"/>
    <p:sldId id="276" r:id="rId25"/>
    <p:sldId id="300" r:id="rId26"/>
    <p:sldId id="332" r:id="rId27"/>
    <p:sldId id="327" r:id="rId28"/>
    <p:sldId id="326" r:id="rId29"/>
    <p:sldId id="278" r:id="rId30"/>
    <p:sldId id="277" r:id="rId31"/>
    <p:sldId id="330" r:id="rId32"/>
    <p:sldId id="283" r:id="rId33"/>
    <p:sldId id="331" r:id="rId34"/>
    <p:sldId id="284" r:id="rId35"/>
    <p:sldId id="285" r:id="rId36"/>
    <p:sldId id="287" r:id="rId37"/>
    <p:sldId id="288" r:id="rId38"/>
    <p:sldId id="289" r:id="rId39"/>
    <p:sldId id="290" r:id="rId40"/>
    <p:sldId id="304" r:id="rId41"/>
    <p:sldId id="343" r:id="rId42"/>
    <p:sldId id="282" r:id="rId43"/>
    <p:sldId id="342" r:id="rId44"/>
  </p:sldIdLst>
  <p:sldSz cx="12192000" cy="6858000"/>
  <p:notesSz cx="6858000" cy="9144000"/>
  <p:embeddedFontLst>
    <p:embeddedFont>
      <p:font typeface="Consolas" panose="020B0609020204030204" pitchFamily="49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2200A7-76F5-2D69-940F-98C2D89586F8}" v="28" dt="2025-09-23T07:23:12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2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3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DB3DEA-32B1-4878-8D2C-9C4E82CD2509}" type="doc">
      <dgm:prSet loTypeId="urn:microsoft.com/office/officeart/2005/8/layout/hProcess6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1AEECF-89F2-437C-85FE-8B91D906941C}">
      <dgm:prSet phldrT="[Text]"/>
      <dgm:spPr/>
      <dgm:t>
        <a:bodyPr/>
        <a:lstStyle/>
        <a:p>
          <a:r>
            <a:rPr lang="en-US"/>
            <a:t>Input</a:t>
          </a:r>
        </a:p>
      </dgm:t>
    </dgm:pt>
    <dgm:pt modelId="{66DF9784-42A8-4620-A38E-A788D4289A92}" type="parTrans" cxnId="{F3B9169B-42E6-4F42-86AE-11D63D9289C6}">
      <dgm:prSet/>
      <dgm:spPr/>
      <dgm:t>
        <a:bodyPr/>
        <a:lstStyle/>
        <a:p>
          <a:endParaRPr lang="en-US"/>
        </a:p>
      </dgm:t>
    </dgm:pt>
    <dgm:pt modelId="{5B9B6110-51D5-4ABE-BA8D-9D75CB85895F}" type="sibTrans" cxnId="{F3B9169B-42E6-4F42-86AE-11D63D9289C6}">
      <dgm:prSet/>
      <dgm:spPr/>
      <dgm:t>
        <a:bodyPr/>
        <a:lstStyle/>
        <a:p>
          <a:endParaRPr lang="en-US"/>
        </a:p>
      </dgm:t>
    </dgm:pt>
    <dgm:pt modelId="{EF1F3A37-3C83-4116-AE70-F1A2AE9D45E2}">
      <dgm:prSet phldrT="[Text]"/>
      <dgm:spPr/>
      <dgm:t>
        <a:bodyPr/>
        <a:lstStyle/>
        <a:p>
          <a:r>
            <a:rPr lang="en-US"/>
            <a:t>Keyboard</a:t>
          </a:r>
        </a:p>
      </dgm:t>
    </dgm:pt>
    <dgm:pt modelId="{438A087E-B0E2-4C6A-A242-1A3A15B9F0C4}" type="parTrans" cxnId="{CA898A9C-5405-468D-AFB6-2E8FEA37165F}">
      <dgm:prSet/>
      <dgm:spPr/>
      <dgm:t>
        <a:bodyPr/>
        <a:lstStyle/>
        <a:p>
          <a:endParaRPr lang="en-US"/>
        </a:p>
      </dgm:t>
    </dgm:pt>
    <dgm:pt modelId="{9AE14647-E04A-4092-9532-FC0F6F4C20D9}" type="sibTrans" cxnId="{CA898A9C-5405-468D-AFB6-2E8FEA37165F}">
      <dgm:prSet/>
      <dgm:spPr/>
      <dgm:t>
        <a:bodyPr/>
        <a:lstStyle/>
        <a:p>
          <a:endParaRPr lang="en-US"/>
        </a:p>
      </dgm:t>
    </dgm:pt>
    <dgm:pt modelId="{9AE8D75C-E929-437D-976E-D2E9FD085C00}">
      <dgm:prSet phldrT="[Text]"/>
      <dgm:spPr/>
      <dgm:t>
        <a:bodyPr/>
        <a:lstStyle/>
        <a:p>
          <a:r>
            <a:rPr lang="en-US"/>
            <a:t>Mouse</a:t>
          </a:r>
        </a:p>
      </dgm:t>
    </dgm:pt>
    <dgm:pt modelId="{41D5657F-3DF8-4B16-A8E0-BD2E4780FD19}" type="parTrans" cxnId="{4568F31C-6796-46A6-B1FB-2CA214F99FF0}">
      <dgm:prSet/>
      <dgm:spPr/>
      <dgm:t>
        <a:bodyPr/>
        <a:lstStyle/>
        <a:p>
          <a:endParaRPr lang="en-US"/>
        </a:p>
      </dgm:t>
    </dgm:pt>
    <dgm:pt modelId="{EE9C532D-FCD5-42B1-A385-27063BDFAA62}" type="sibTrans" cxnId="{4568F31C-6796-46A6-B1FB-2CA214F99FF0}">
      <dgm:prSet/>
      <dgm:spPr/>
      <dgm:t>
        <a:bodyPr/>
        <a:lstStyle/>
        <a:p>
          <a:endParaRPr lang="en-US"/>
        </a:p>
      </dgm:t>
    </dgm:pt>
    <dgm:pt modelId="{DB7BA9FA-B020-404B-8CBE-532A064D8642}">
      <dgm:prSet phldrT="[Text]"/>
      <dgm:spPr/>
      <dgm:t>
        <a:bodyPr/>
        <a:lstStyle/>
        <a:p>
          <a:r>
            <a:rPr lang="en-US"/>
            <a:t>Processing</a:t>
          </a:r>
        </a:p>
      </dgm:t>
    </dgm:pt>
    <dgm:pt modelId="{66A547D6-173A-44B9-AF8D-C03E3B79CC77}" type="parTrans" cxnId="{1F422EF6-EB06-4F1F-976A-19DBF47F217A}">
      <dgm:prSet/>
      <dgm:spPr/>
      <dgm:t>
        <a:bodyPr/>
        <a:lstStyle/>
        <a:p>
          <a:endParaRPr lang="en-US"/>
        </a:p>
      </dgm:t>
    </dgm:pt>
    <dgm:pt modelId="{DF31F2C6-F84A-4E90-BA85-964E1F8C9853}" type="sibTrans" cxnId="{1F422EF6-EB06-4F1F-976A-19DBF47F217A}">
      <dgm:prSet/>
      <dgm:spPr/>
      <dgm:t>
        <a:bodyPr/>
        <a:lstStyle/>
        <a:p>
          <a:endParaRPr lang="en-US"/>
        </a:p>
      </dgm:t>
    </dgm:pt>
    <dgm:pt modelId="{3754BAAC-91E4-4ECA-A394-E63E6CF88E21}">
      <dgm:prSet phldrT="[Text]"/>
      <dgm:spPr/>
      <dgm:t>
        <a:bodyPr/>
        <a:lstStyle/>
        <a:p>
          <a:r>
            <a:rPr lang="en-US"/>
            <a:t>Software</a:t>
          </a:r>
        </a:p>
      </dgm:t>
    </dgm:pt>
    <dgm:pt modelId="{828B4F54-CE02-4590-9AB9-2D7C6FB4A0CE}" type="parTrans" cxnId="{93479ABA-B157-4C49-B8CE-7556DC0D93E7}">
      <dgm:prSet/>
      <dgm:spPr/>
      <dgm:t>
        <a:bodyPr/>
        <a:lstStyle/>
        <a:p>
          <a:endParaRPr lang="en-US"/>
        </a:p>
      </dgm:t>
    </dgm:pt>
    <dgm:pt modelId="{6CDFDA0D-CD15-4288-82C8-12DEE9CB7E2F}" type="sibTrans" cxnId="{93479ABA-B157-4C49-B8CE-7556DC0D93E7}">
      <dgm:prSet/>
      <dgm:spPr/>
      <dgm:t>
        <a:bodyPr/>
        <a:lstStyle/>
        <a:p>
          <a:endParaRPr lang="en-US"/>
        </a:p>
      </dgm:t>
    </dgm:pt>
    <dgm:pt modelId="{92D0BE72-E42C-4904-89B1-917A69A20885}">
      <dgm:prSet phldrT="[Text]"/>
      <dgm:spPr/>
      <dgm:t>
        <a:bodyPr/>
        <a:lstStyle/>
        <a:p>
          <a:r>
            <a:rPr lang="en-US"/>
            <a:t>Output</a:t>
          </a:r>
        </a:p>
      </dgm:t>
    </dgm:pt>
    <dgm:pt modelId="{687E6703-3FE0-4593-9512-D10B559B65FF}" type="parTrans" cxnId="{4E039081-85BA-400C-B020-58EF74A99489}">
      <dgm:prSet/>
      <dgm:spPr/>
      <dgm:t>
        <a:bodyPr/>
        <a:lstStyle/>
        <a:p>
          <a:endParaRPr lang="en-US"/>
        </a:p>
      </dgm:t>
    </dgm:pt>
    <dgm:pt modelId="{EA5D6BD3-21B3-4CB3-AED6-0828FFA7BFB6}" type="sibTrans" cxnId="{4E039081-85BA-400C-B020-58EF74A99489}">
      <dgm:prSet/>
      <dgm:spPr/>
      <dgm:t>
        <a:bodyPr/>
        <a:lstStyle/>
        <a:p>
          <a:endParaRPr lang="en-US"/>
        </a:p>
      </dgm:t>
    </dgm:pt>
    <dgm:pt modelId="{9454A951-2351-4CB3-A699-153E37C46C4B}">
      <dgm:prSet phldrT="[Text]"/>
      <dgm:spPr/>
      <dgm:t>
        <a:bodyPr/>
        <a:lstStyle/>
        <a:p>
          <a:r>
            <a:rPr lang="en-US"/>
            <a:t>Screen</a:t>
          </a:r>
        </a:p>
      </dgm:t>
    </dgm:pt>
    <dgm:pt modelId="{3265ADBE-5E91-487D-ACF1-BD76F7FA0BAD}" type="parTrans" cxnId="{09988F4A-8273-4654-A195-DE02F7F902ED}">
      <dgm:prSet/>
      <dgm:spPr/>
      <dgm:t>
        <a:bodyPr/>
        <a:lstStyle/>
        <a:p>
          <a:endParaRPr lang="en-US"/>
        </a:p>
      </dgm:t>
    </dgm:pt>
    <dgm:pt modelId="{9E014ADF-94E1-46EE-A54A-BA7391C866CA}" type="sibTrans" cxnId="{09988F4A-8273-4654-A195-DE02F7F902ED}">
      <dgm:prSet/>
      <dgm:spPr/>
      <dgm:t>
        <a:bodyPr/>
        <a:lstStyle/>
        <a:p>
          <a:endParaRPr lang="en-US"/>
        </a:p>
      </dgm:t>
    </dgm:pt>
    <dgm:pt modelId="{32A80199-E009-45BB-A3C3-7A9E5FBC8652}">
      <dgm:prSet phldrT="[Text]"/>
      <dgm:spPr/>
      <dgm:t>
        <a:bodyPr/>
        <a:lstStyle/>
        <a:p>
          <a:r>
            <a:rPr lang="en-US"/>
            <a:t>Network</a:t>
          </a:r>
        </a:p>
      </dgm:t>
    </dgm:pt>
    <dgm:pt modelId="{6122FC30-9218-4767-8D79-80D68DE89EB5}" type="parTrans" cxnId="{73936EBF-E98F-4245-AE70-5515293F1218}">
      <dgm:prSet/>
      <dgm:spPr/>
      <dgm:t>
        <a:bodyPr/>
        <a:lstStyle/>
        <a:p>
          <a:endParaRPr lang="en-US"/>
        </a:p>
      </dgm:t>
    </dgm:pt>
    <dgm:pt modelId="{5C572253-3245-4A66-B439-A8A304A9D21C}" type="sibTrans" cxnId="{73936EBF-E98F-4245-AE70-5515293F1218}">
      <dgm:prSet/>
      <dgm:spPr/>
      <dgm:t>
        <a:bodyPr/>
        <a:lstStyle/>
        <a:p>
          <a:endParaRPr lang="en-US"/>
        </a:p>
      </dgm:t>
    </dgm:pt>
    <dgm:pt modelId="{A3CA7204-0CE9-44E0-BD7B-E1AD3AFC24CA}">
      <dgm:prSet phldrT="[Text]"/>
      <dgm:spPr/>
      <dgm:t>
        <a:bodyPr/>
        <a:lstStyle/>
        <a:p>
          <a:r>
            <a:rPr lang="en-US"/>
            <a:t>Printer</a:t>
          </a:r>
        </a:p>
      </dgm:t>
    </dgm:pt>
    <dgm:pt modelId="{CEBCFE0E-E9CA-4E9D-A2C6-2ACF01199395}" type="parTrans" cxnId="{EDAF0B28-4657-4926-9AC2-82F7ADD34672}">
      <dgm:prSet/>
      <dgm:spPr/>
      <dgm:t>
        <a:bodyPr/>
        <a:lstStyle/>
        <a:p>
          <a:endParaRPr lang="en-US"/>
        </a:p>
      </dgm:t>
    </dgm:pt>
    <dgm:pt modelId="{C915FFEB-3943-4C5E-A673-47911311E032}" type="sibTrans" cxnId="{EDAF0B28-4657-4926-9AC2-82F7ADD34672}">
      <dgm:prSet/>
      <dgm:spPr/>
      <dgm:t>
        <a:bodyPr/>
        <a:lstStyle/>
        <a:p>
          <a:endParaRPr lang="en-US"/>
        </a:p>
      </dgm:t>
    </dgm:pt>
    <dgm:pt modelId="{1B6444F9-8B49-40DA-A711-106C0DC0C55F}">
      <dgm:prSet phldrT="[Text]"/>
      <dgm:spPr/>
      <dgm:t>
        <a:bodyPr/>
        <a:lstStyle/>
        <a:p>
          <a:r>
            <a:rPr lang="en-US"/>
            <a:t>Hardware</a:t>
          </a:r>
        </a:p>
      </dgm:t>
    </dgm:pt>
    <dgm:pt modelId="{E7B2F54D-1D46-4C21-9FD5-339A3507C65F}" type="parTrans" cxnId="{C04850DB-B4BB-4E14-A91D-35F11D8D55D3}">
      <dgm:prSet/>
      <dgm:spPr/>
      <dgm:t>
        <a:bodyPr/>
        <a:lstStyle/>
        <a:p>
          <a:endParaRPr lang="en-GB"/>
        </a:p>
      </dgm:t>
    </dgm:pt>
    <dgm:pt modelId="{6C062327-54AE-4033-94AC-46B804D2E153}" type="sibTrans" cxnId="{C04850DB-B4BB-4E14-A91D-35F11D8D55D3}">
      <dgm:prSet/>
      <dgm:spPr/>
      <dgm:t>
        <a:bodyPr/>
        <a:lstStyle/>
        <a:p>
          <a:endParaRPr lang="en-GB"/>
        </a:p>
      </dgm:t>
    </dgm:pt>
    <dgm:pt modelId="{622EFC0F-6208-49BD-AA22-BBDE69B0F779}" type="pres">
      <dgm:prSet presAssocID="{B8DB3DEA-32B1-4878-8D2C-9C4E82CD2509}" presName="theList" presStyleCnt="0">
        <dgm:presLayoutVars>
          <dgm:dir/>
          <dgm:animLvl val="lvl"/>
          <dgm:resizeHandles val="exact"/>
        </dgm:presLayoutVars>
      </dgm:prSet>
      <dgm:spPr/>
    </dgm:pt>
    <dgm:pt modelId="{EEE4B11C-C083-48C9-82EA-23CD381CA8B2}" type="pres">
      <dgm:prSet presAssocID="{5A1AEECF-89F2-437C-85FE-8B91D906941C}" presName="compNode" presStyleCnt="0"/>
      <dgm:spPr/>
    </dgm:pt>
    <dgm:pt modelId="{CAEDA458-5712-4E8D-9626-5212F6A6829A}" type="pres">
      <dgm:prSet presAssocID="{5A1AEECF-89F2-437C-85FE-8B91D906941C}" presName="noGeometry" presStyleCnt="0"/>
      <dgm:spPr/>
    </dgm:pt>
    <dgm:pt modelId="{B088E877-CB00-407E-9AD7-8209646B2ADD}" type="pres">
      <dgm:prSet presAssocID="{5A1AEECF-89F2-437C-85FE-8B91D906941C}" presName="childTextVisible" presStyleLbl="bgAccFollowNode1" presStyleIdx="0" presStyleCnt="3">
        <dgm:presLayoutVars>
          <dgm:bulletEnabled val="1"/>
        </dgm:presLayoutVars>
      </dgm:prSet>
      <dgm:spPr/>
    </dgm:pt>
    <dgm:pt modelId="{875C230D-2A9C-4CF0-83F7-49679173B16D}" type="pres">
      <dgm:prSet presAssocID="{5A1AEECF-89F2-437C-85FE-8B91D906941C}" presName="childTextHidden" presStyleLbl="bgAccFollowNode1" presStyleIdx="0" presStyleCnt="3"/>
      <dgm:spPr/>
    </dgm:pt>
    <dgm:pt modelId="{59EAE006-BC5C-4658-86A9-5A8889A45C4C}" type="pres">
      <dgm:prSet presAssocID="{5A1AEECF-89F2-437C-85FE-8B91D906941C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AEB3638-FCFF-4948-9D09-1C290155FC8C}" type="pres">
      <dgm:prSet presAssocID="{5A1AEECF-89F2-437C-85FE-8B91D906941C}" presName="aSpace" presStyleCnt="0"/>
      <dgm:spPr/>
    </dgm:pt>
    <dgm:pt modelId="{C91F3ED0-EDE3-4B96-B9E3-0310BB6B7C7E}" type="pres">
      <dgm:prSet presAssocID="{DB7BA9FA-B020-404B-8CBE-532A064D8642}" presName="compNode" presStyleCnt="0"/>
      <dgm:spPr/>
    </dgm:pt>
    <dgm:pt modelId="{D112F8B0-E06D-48F8-B8CE-DC713ACCCB80}" type="pres">
      <dgm:prSet presAssocID="{DB7BA9FA-B020-404B-8CBE-532A064D8642}" presName="noGeometry" presStyleCnt="0"/>
      <dgm:spPr/>
    </dgm:pt>
    <dgm:pt modelId="{62BCF2C9-4CBE-4941-92C5-6F2E9E759AC3}" type="pres">
      <dgm:prSet presAssocID="{DB7BA9FA-B020-404B-8CBE-532A064D8642}" presName="childTextVisible" presStyleLbl="bgAccFollowNode1" presStyleIdx="1" presStyleCnt="3">
        <dgm:presLayoutVars>
          <dgm:bulletEnabled val="1"/>
        </dgm:presLayoutVars>
      </dgm:prSet>
      <dgm:spPr/>
    </dgm:pt>
    <dgm:pt modelId="{CA0EC6BE-FBD6-4E21-ADB8-A984B6FEB494}" type="pres">
      <dgm:prSet presAssocID="{DB7BA9FA-B020-404B-8CBE-532A064D8642}" presName="childTextHidden" presStyleLbl="bgAccFollowNode1" presStyleIdx="1" presStyleCnt="3"/>
      <dgm:spPr/>
    </dgm:pt>
    <dgm:pt modelId="{90EA9CAE-1E2C-4960-82C0-6E140D5CB6AD}" type="pres">
      <dgm:prSet presAssocID="{DB7BA9FA-B020-404B-8CBE-532A064D864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1A317E2-5D24-4FBE-820A-361DCCA6C50A}" type="pres">
      <dgm:prSet presAssocID="{DB7BA9FA-B020-404B-8CBE-532A064D8642}" presName="aSpace" presStyleCnt="0"/>
      <dgm:spPr/>
    </dgm:pt>
    <dgm:pt modelId="{BF376B24-DA90-4EDB-BCC1-8E0346D222BB}" type="pres">
      <dgm:prSet presAssocID="{92D0BE72-E42C-4904-89B1-917A69A20885}" presName="compNode" presStyleCnt="0"/>
      <dgm:spPr/>
    </dgm:pt>
    <dgm:pt modelId="{EF42827B-DB02-4F88-9355-4E3F89378E43}" type="pres">
      <dgm:prSet presAssocID="{92D0BE72-E42C-4904-89B1-917A69A20885}" presName="noGeometry" presStyleCnt="0"/>
      <dgm:spPr/>
    </dgm:pt>
    <dgm:pt modelId="{B7620235-2548-4BC3-A8BF-844AF4E882D5}" type="pres">
      <dgm:prSet presAssocID="{92D0BE72-E42C-4904-89B1-917A69A20885}" presName="childTextVisible" presStyleLbl="bgAccFollowNode1" presStyleIdx="2" presStyleCnt="3">
        <dgm:presLayoutVars>
          <dgm:bulletEnabled val="1"/>
        </dgm:presLayoutVars>
      </dgm:prSet>
      <dgm:spPr/>
    </dgm:pt>
    <dgm:pt modelId="{0538C725-9D8B-41E8-A35C-C4F726BF48B7}" type="pres">
      <dgm:prSet presAssocID="{92D0BE72-E42C-4904-89B1-917A69A20885}" presName="childTextHidden" presStyleLbl="bgAccFollowNode1" presStyleIdx="2" presStyleCnt="3"/>
      <dgm:spPr/>
    </dgm:pt>
    <dgm:pt modelId="{BF1875DA-D11C-4DB8-A46A-C2917896E69A}" type="pres">
      <dgm:prSet presAssocID="{92D0BE72-E42C-4904-89B1-917A69A2088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568F31C-6796-46A6-B1FB-2CA214F99FF0}" srcId="{5A1AEECF-89F2-437C-85FE-8B91D906941C}" destId="{9AE8D75C-E929-437D-976E-D2E9FD085C00}" srcOrd="1" destOrd="0" parTransId="{41D5657F-3DF8-4B16-A8E0-BD2E4780FD19}" sibTransId="{EE9C532D-FCD5-42B1-A385-27063BDFAA62}"/>
    <dgm:cxn modelId="{22AB9B23-D3D4-4AFF-A7CF-D4ADC01D64DB}" type="presOf" srcId="{A3CA7204-0CE9-44E0-BD7B-E1AD3AFC24CA}" destId="{0538C725-9D8B-41E8-A35C-C4F726BF48B7}" srcOrd="1" destOrd="2" presId="urn:microsoft.com/office/officeart/2005/8/layout/hProcess6"/>
    <dgm:cxn modelId="{EDAF0B28-4657-4926-9AC2-82F7ADD34672}" srcId="{92D0BE72-E42C-4904-89B1-917A69A20885}" destId="{A3CA7204-0CE9-44E0-BD7B-E1AD3AFC24CA}" srcOrd="2" destOrd="0" parTransId="{CEBCFE0E-E9CA-4E9D-A2C6-2ACF01199395}" sibTransId="{C915FFEB-3943-4C5E-A673-47911311E032}"/>
    <dgm:cxn modelId="{FAE40632-79D2-4FF7-9797-1B403EE0078C}" type="presOf" srcId="{EF1F3A37-3C83-4116-AE70-F1A2AE9D45E2}" destId="{B088E877-CB00-407E-9AD7-8209646B2ADD}" srcOrd="0" destOrd="0" presId="urn:microsoft.com/office/officeart/2005/8/layout/hProcess6"/>
    <dgm:cxn modelId="{45BA7D34-852F-45EF-93F7-C70FC1D6D459}" type="presOf" srcId="{9AE8D75C-E929-437D-976E-D2E9FD085C00}" destId="{B088E877-CB00-407E-9AD7-8209646B2ADD}" srcOrd="0" destOrd="1" presId="urn:microsoft.com/office/officeart/2005/8/layout/hProcess6"/>
    <dgm:cxn modelId="{AC1D9A5F-43F7-4F14-BFC7-A7F4FD6D5A94}" type="presOf" srcId="{EF1F3A37-3C83-4116-AE70-F1A2AE9D45E2}" destId="{875C230D-2A9C-4CF0-83F7-49679173B16D}" srcOrd="1" destOrd="0" presId="urn:microsoft.com/office/officeart/2005/8/layout/hProcess6"/>
    <dgm:cxn modelId="{9E152E60-F7B5-4A0B-AE9E-1282D53AA17B}" type="presOf" srcId="{DB7BA9FA-B020-404B-8CBE-532A064D8642}" destId="{90EA9CAE-1E2C-4960-82C0-6E140D5CB6AD}" srcOrd="0" destOrd="0" presId="urn:microsoft.com/office/officeart/2005/8/layout/hProcess6"/>
    <dgm:cxn modelId="{F89F0342-5071-4DC4-99DB-D64608CB4EE6}" type="presOf" srcId="{1B6444F9-8B49-40DA-A711-106C0DC0C55F}" destId="{CA0EC6BE-FBD6-4E21-ADB8-A984B6FEB494}" srcOrd="1" destOrd="0" presId="urn:microsoft.com/office/officeart/2005/8/layout/hProcess6"/>
    <dgm:cxn modelId="{A4846564-07C7-4169-8F8A-BB1B72CADD1F}" type="presOf" srcId="{9454A951-2351-4CB3-A699-153E37C46C4B}" destId="{B7620235-2548-4BC3-A8BF-844AF4E882D5}" srcOrd="0" destOrd="0" presId="urn:microsoft.com/office/officeart/2005/8/layout/hProcess6"/>
    <dgm:cxn modelId="{09988F4A-8273-4654-A195-DE02F7F902ED}" srcId="{92D0BE72-E42C-4904-89B1-917A69A20885}" destId="{9454A951-2351-4CB3-A699-153E37C46C4B}" srcOrd="0" destOrd="0" parTransId="{3265ADBE-5E91-487D-ACF1-BD76F7FA0BAD}" sibTransId="{9E014ADF-94E1-46EE-A54A-BA7391C866CA}"/>
    <dgm:cxn modelId="{7499236C-F508-4DF1-A8F1-66AA50CF681D}" type="presOf" srcId="{92D0BE72-E42C-4904-89B1-917A69A20885}" destId="{BF1875DA-D11C-4DB8-A46A-C2917896E69A}" srcOrd="0" destOrd="0" presId="urn:microsoft.com/office/officeart/2005/8/layout/hProcess6"/>
    <dgm:cxn modelId="{EB276F5A-C770-47D9-8602-891B9FAFF0E2}" type="presOf" srcId="{32A80199-E009-45BB-A3C3-7A9E5FBC8652}" destId="{B7620235-2548-4BC3-A8BF-844AF4E882D5}" srcOrd="0" destOrd="1" presId="urn:microsoft.com/office/officeart/2005/8/layout/hProcess6"/>
    <dgm:cxn modelId="{4E039081-85BA-400C-B020-58EF74A99489}" srcId="{B8DB3DEA-32B1-4878-8D2C-9C4E82CD2509}" destId="{92D0BE72-E42C-4904-89B1-917A69A20885}" srcOrd="2" destOrd="0" parTransId="{687E6703-3FE0-4593-9512-D10B559B65FF}" sibTransId="{EA5D6BD3-21B3-4CB3-AED6-0828FFA7BFB6}"/>
    <dgm:cxn modelId="{6B29BC83-E2D3-4F89-8434-5BDEBA98F544}" type="presOf" srcId="{B8DB3DEA-32B1-4878-8D2C-9C4E82CD2509}" destId="{622EFC0F-6208-49BD-AA22-BBDE69B0F779}" srcOrd="0" destOrd="0" presId="urn:microsoft.com/office/officeart/2005/8/layout/hProcess6"/>
    <dgm:cxn modelId="{30C15E86-EB1B-44CB-82DC-64D0C21D0028}" type="presOf" srcId="{A3CA7204-0CE9-44E0-BD7B-E1AD3AFC24CA}" destId="{B7620235-2548-4BC3-A8BF-844AF4E882D5}" srcOrd="0" destOrd="2" presId="urn:microsoft.com/office/officeart/2005/8/layout/hProcess6"/>
    <dgm:cxn modelId="{47C53292-3EA1-4E00-80B0-F98A838D6AC6}" type="presOf" srcId="{3754BAAC-91E4-4ECA-A394-E63E6CF88E21}" destId="{62BCF2C9-4CBE-4941-92C5-6F2E9E759AC3}" srcOrd="0" destOrd="1" presId="urn:microsoft.com/office/officeart/2005/8/layout/hProcess6"/>
    <dgm:cxn modelId="{F3B9169B-42E6-4F42-86AE-11D63D9289C6}" srcId="{B8DB3DEA-32B1-4878-8D2C-9C4E82CD2509}" destId="{5A1AEECF-89F2-437C-85FE-8B91D906941C}" srcOrd="0" destOrd="0" parTransId="{66DF9784-42A8-4620-A38E-A788D4289A92}" sibTransId="{5B9B6110-51D5-4ABE-BA8D-9D75CB85895F}"/>
    <dgm:cxn modelId="{D9E9639B-AC5E-415F-AC09-9C42921C69CE}" type="presOf" srcId="{32A80199-E009-45BB-A3C3-7A9E5FBC8652}" destId="{0538C725-9D8B-41E8-A35C-C4F726BF48B7}" srcOrd="1" destOrd="1" presId="urn:microsoft.com/office/officeart/2005/8/layout/hProcess6"/>
    <dgm:cxn modelId="{CA898A9C-5405-468D-AFB6-2E8FEA37165F}" srcId="{5A1AEECF-89F2-437C-85FE-8B91D906941C}" destId="{EF1F3A37-3C83-4116-AE70-F1A2AE9D45E2}" srcOrd="0" destOrd="0" parTransId="{438A087E-B0E2-4C6A-A242-1A3A15B9F0C4}" sibTransId="{9AE14647-E04A-4092-9532-FC0F6F4C20D9}"/>
    <dgm:cxn modelId="{AD1352B2-BDFA-46F2-9628-44C6D84804ED}" type="presOf" srcId="{1B6444F9-8B49-40DA-A711-106C0DC0C55F}" destId="{62BCF2C9-4CBE-4941-92C5-6F2E9E759AC3}" srcOrd="0" destOrd="0" presId="urn:microsoft.com/office/officeart/2005/8/layout/hProcess6"/>
    <dgm:cxn modelId="{93479ABA-B157-4C49-B8CE-7556DC0D93E7}" srcId="{DB7BA9FA-B020-404B-8CBE-532A064D8642}" destId="{3754BAAC-91E4-4ECA-A394-E63E6CF88E21}" srcOrd="1" destOrd="0" parTransId="{828B4F54-CE02-4590-9AB9-2D7C6FB4A0CE}" sibTransId="{6CDFDA0D-CD15-4288-82C8-12DEE9CB7E2F}"/>
    <dgm:cxn modelId="{73936EBF-E98F-4245-AE70-5515293F1218}" srcId="{92D0BE72-E42C-4904-89B1-917A69A20885}" destId="{32A80199-E009-45BB-A3C3-7A9E5FBC8652}" srcOrd="1" destOrd="0" parTransId="{6122FC30-9218-4767-8D79-80D68DE89EB5}" sibTransId="{5C572253-3245-4A66-B439-A8A304A9D21C}"/>
    <dgm:cxn modelId="{C7A3C1C8-495C-4F1E-95CB-C6CABB320868}" type="presOf" srcId="{9454A951-2351-4CB3-A699-153E37C46C4B}" destId="{0538C725-9D8B-41E8-A35C-C4F726BF48B7}" srcOrd="1" destOrd="0" presId="urn:microsoft.com/office/officeart/2005/8/layout/hProcess6"/>
    <dgm:cxn modelId="{70E333D3-C214-496B-A2D9-B5B194CAD228}" type="presOf" srcId="{5A1AEECF-89F2-437C-85FE-8B91D906941C}" destId="{59EAE006-BC5C-4658-86A9-5A8889A45C4C}" srcOrd="0" destOrd="0" presId="urn:microsoft.com/office/officeart/2005/8/layout/hProcess6"/>
    <dgm:cxn modelId="{CC1C5AD3-D755-4BD2-93BA-3ED406D3BA17}" type="presOf" srcId="{3754BAAC-91E4-4ECA-A394-E63E6CF88E21}" destId="{CA0EC6BE-FBD6-4E21-ADB8-A984B6FEB494}" srcOrd="1" destOrd="1" presId="urn:microsoft.com/office/officeart/2005/8/layout/hProcess6"/>
    <dgm:cxn modelId="{C04850DB-B4BB-4E14-A91D-35F11D8D55D3}" srcId="{DB7BA9FA-B020-404B-8CBE-532A064D8642}" destId="{1B6444F9-8B49-40DA-A711-106C0DC0C55F}" srcOrd="0" destOrd="0" parTransId="{E7B2F54D-1D46-4C21-9FD5-339A3507C65F}" sibTransId="{6C062327-54AE-4033-94AC-46B804D2E153}"/>
    <dgm:cxn modelId="{1F422EF6-EB06-4F1F-976A-19DBF47F217A}" srcId="{B8DB3DEA-32B1-4878-8D2C-9C4E82CD2509}" destId="{DB7BA9FA-B020-404B-8CBE-532A064D8642}" srcOrd="1" destOrd="0" parTransId="{66A547D6-173A-44B9-AF8D-C03E3B79CC77}" sibTransId="{DF31F2C6-F84A-4E90-BA85-964E1F8C9853}"/>
    <dgm:cxn modelId="{5658FDF6-9E8A-4EAA-9C6A-BB141C60AD7F}" type="presOf" srcId="{9AE8D75C-E929-437D-976E-D2E9FD085C00}" destId="{875C230D-2A9C-4CF0-83F7-49679173B16D}" srcOrd="1" destOrd="1" presId="urn:microsoft.com/office/officeart/2005/8/layout/hProcess6"/>
    <dgm:cxn modelId="{FC16BD04-5AA6-4C9C-B4F2-C42929AA0C83}" type="presParOf" srcId="{622EFC0F-6208-49BD-AA22-BBDE69B0F779}" destId="{EEE4B11C-C083-48C9-82EA-23CD381CA8B2}" srcOrd="0" destOrd="0" presId="urn:microsoft.com/office/officeart/2005/8/layout/hProcess6"/>
    <dgm:cxn modelId="{37F9124F-F7AC-41F3-ADD4-20FDC2AA153E}" type="presParOf" srcId="{EEE4B11C-C083-48C9-82EA-23CD381CA8B2}" destId="{CAEDA458-5712-4E8D-9626-5212F6A6829A}" srcOrd="0" destOrd="0" presId="urn:microsoft.com/office/officeart/2005/8/layout/hProcess6"/>
    <dgm:cxn modelId="{8410BC16-2F00-4F02-9468-3D2DA195A37E}" type="presParOf" srcId="{EEE4B11C-C083-48C9-82EA-23CD381CA8B2}" destId="{B088E877-CB00-407E-9AD7-8209646B2ADD}" srcOrd="1" destOrd="0" presId="urn:microsoft.com/office/officeart/2005/8/layout/hProcess6"/>
    <dgm:cxn modelId="{82F0545E-4E4B-495D-A5DD-A5B0EA4D3F5B}" type="presParOf" srcId="{EEE4B11C-C083-48C9-82EA-23CD381CA8B2}" destId="{875C230D-2A9C-4CF0-83F7-49679173B16D}" srcOrd="2" destOrd="0" presId="urn:microsoft.com/office/officeart/2005/8/layout/hProcess6"/>
    <dgm:cxn modelId="{B73E012A-0095-47D2-A76D-E00A8D19121D}" type="presParOf" srcId="{EEE4B11C-C083-48C9-82EA-23CD381CA8B2}" destId="{59EAE006-BC5C-4658-86A9-5A8889A45C4C}" srcOrd="3" destOrd="0" presId="urn:microsoft.com/office/officeart/2005/8/layout/hProcess6"/>
    <dgm:cxn modelId="{00BE7A26-11F8-4753-9894-D8C84FECD9D4}" type="presParOf" srcId="{622EFC0F-6208-49BD-AA22-BBDE69B0F779}" destId="{DAEB3638-FCFF-4948-9D09-1C290155FC8C}" srcOrd="1" destOrd="0" presId="urn:microsoft.com/office/officeart/2005/8/layout/hProcess6"/>
    <dgm:cxn modelId="{91C7197E-93A5-440C-9B5D-566663AAD9F4}" type="presParOf" srcId="{622EFC0F-6208-49BD-AA22-BBDE69B0F779}" destId="{C91F3ED0-EDE3-4B96-B9E3-0310BB6B7C7E}" srcOrd="2" destOrd="0" presId="urn:microsoft.com/office/officeart/2005/8/layout/hProcess6"/>
    <dgm:cxn modelId="{FF94C199-BA9C-46C3-9FED-EC3BDCA0C77D}" type="presParOf" srcId="{C91F3ED0-EDE3-4B96-B9E3-0310BB6B7C7E}" destId="{D112F8B0-E06D-48F8-B8CE-DC713ACCCB80}" srcOrd="0" destOrd="0" presId="urn:microsoft.com/office/officeart/2005/8/layout/hProcess6"/>
    <dgm:cxn modelId="{F9325A49-7F68-47C2-BE32-745B944B92D3}" type="presParOf" srcId="{C91F3ED0-EDE3-4B96-B9E3-0310BB6B7C7E}" destId="{62BCF2C9-4CBE-4941-92C5-6F2E9E759AC3}" srcOrd="1" destOrd="0" presId="urn:microsoft.com/office/officeart/2005/8/layout/hProcess6"/>
    <dgm:cxn modelId="{E2B30C75-55EF-4E98-83E0-7ED0B9CA72B2}" type="presParOf" srcId="{C91F3ED0-EDE3-4B96-B9E3-0310BB6B7C7E}" destId="{CA0EC6BE-FBD6-4E21-ADB8-A984B6FEB494}" srcOrd="2" destOrd="0" presId="urn:microsoft.com/office/officeart/2005/8/layout/hProcess6"/>
    <dgm:cxn modelId="{786B335E-4870-456C-B873-6D530EB475E0}" type="presParOf" srcId="{C91F3ED0-EDE3-4B96-B9E3-0310BB6B7C7E}" destId="{90EA9CAE-1E2C-4960-82C0-6E140D5CB6AD}" srcOrd="3" destOrd="0" presId="urn:microsoft.com/office/officeart/2005/8/layout/hProcess6"/>
    <dgm:cxn modelId="{5B7E8B3C-4B56-44AC-BF66-33D4B190CC5E}" type="presParOf" srcId="{622EFC0F-6208-49BD-AA22-BBDE69B0F779}" destId="{F1A317E2-5D24-4FBE-820A-361DCCA6C50A}" srcOrd="3" destOrd="0" presId="urn:microsoft.com/office/officeart/2005/8/layout/hProcess6"/>
    <dgm:cxn modelId="{F2BCA2BE-CA63-430A-99C1-F394C2BF2462}" type="presParOf" srcId="{622EFC0F-6208-49BD-AA22-BBDE69B0F779}" destId="{BF376B24-DA90-4EDB-BCC1-8E0346D222BB}" srcOrd="4" destOrd="0" presId="urn:microsoft.com/office/officeart/2005/8/layout/hProcess6"/>
    <dgm:cxn modelId="{7B6D973E-5A7B-4DF7-976E-CFB4127F8BCA}" type="presParOf" srcId="{BF376B24-DA90-4EDB-BCC1-8E0346D222BB}" destId="{EF42827B-DB02-4F88-9355-4E3F89378E43}" srcOrd="0" destOrd="0" presId="urn:microsoft.com/office/officeart/2005/8/layout/hProcess6"/>
    <dgm:cxn modelId="{99ED5250-6FAC-4925-B802-2411FCE3129E}" type="presParOf" srcId="{BF376B24-DA90-4EDB-BCC1-8E0346D222BB}" destId="{B7620235-2548-4BC3-A8BF-844AF4E882D5}" srcOrd="1" destOrd="0" presId="urn:microsoft.com/office/officeart/2005/8/layout/hProcess6"/>
    <dgm:cxn modelId="{4B5C0AE3-D7EF-4D91-84F4-2F35613D3DA2}" type="presParOf" srcId="{BF376B24-DA90-4EDB-BCC1-8E0346D222BB}" destId="{0538C725-9D8B-41E8-A35C-C4F726BF48B7}" srcOrd="2" destOrd="0" presId="urn:microsoft.com/office/officeart/2005/8/layout/hProcess6"/>
    <dgm:cxn modelId="{AEAF5016-0B8B-4541-916E-A77920F6AA7A}" type="presParOf" srcId="{BF376B24-DA90-4EDB-BCC1-8E0346D222BB}" destId="{BF1875DA-D11C-4DB8-A46A-C2917896E69A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DB3DEA-32B1-4878-8D2C-9C4E82CD2509}" type="doc">
      <dgm:prSet loTypeId="urn:microsoft.com/office/officeart/2005/8/layout/hProcess6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1AEECF-89F2-437C-85FE-8B91D906941C}">
      <dgm:prSet phldrT="[Text]"/>
      <dgm:spPr/>
      <dgm:t>
        <a:bodyPr/>
        <a:lstStyle/>
        <a:p>
          <a:r>
            <a:rPr lang="en-US"/>
            <a:t>Input</a:t>
          </a:r>
        </a:p>
      </dgm:t>
    </dgm:pt>
    <dgm:pt modelId="{66DF9784-42A8-4620-A38E-A788D4289A92}" type="parTrans" cxnId="{F3B9169B-42E6-4F42-86AE-11D63D9289C6}">
      <dgm:prSet/>
      <dgm:spPr/>
      <dgm:t>
        <a:bodyPr/>
        <a:lstStyle/>
        <a:p>
          <a:endParaRPr lang="en-US"/>
        </a:p>
      </dgm:t>
    </dgm:pt>
    <dgm:pt modelId="{5B9B6110-51D5-4ABE-BA8D-9D75CB85895F}" type="sibTrans" cxnId="{F3B9169B-42E6-4F42-86AE-11D63D9289C6}">
      <dgm:prSet/>
      <dgm:spPr/>
      <dgm:t>
        <a:bodyPr/>
        <a:lstStyle/>
        <a:p>
          <a:endParaRPr lang="en-US"/>
        </a:p>
      </dgm:t>
    </dgm:pt>
    <dgm:pt modelId="{EF1F3A37-3C83-4116-AE70-F1A2AE9D45E2}">
      <dgm:prSet phldrT="[Text]"/>
      <dgm:spPr/>
      <dgm:t>
        <a:bodyPr/>
        <a:lstStyle/>
        <a:p>
          <a:r>
            <a:rPr lang="en-US"/>
            <a:t>Keyboard</a:t>
          </a:r>
        </a:p>
      </dgm:t>
    </dgm:pt>
    <dgm:pt modelId="{438A087E-B0E2-4C6A-A242-1A3A15B9F0C4}" type="parTrans" cxnId="{CA898A9C-5405-468D-AFB6-2E8FEA37165F}">
      <dgm:prSet/>
      <dgm:spPr/>
      <dgm:t>
        <a:bodyPr/>
        <a:lstStyle/>
        <a:p>
          <a:endParaRPr lang="en-US"/>
        </a:p>
      </dgm:t>
    </dgm:pt>
    <dgm:pt modelId="{9AE14647-E04A-4092-9532-FC0F6F4C20D9}" type="sibTrans" cxnId="{CA898A9C-5405-468D-AFB6-2E8FEA37165F}">
      <dgm:prSet/>
      <dgm:spPr/>
      <dgm:t>
        <a:bodyPr/>
        <a:lstStyle/>
        <a:p>
          <a:endParaRPr lang="en-US"/>
        </a:p>
      </dgm:t>
    </dgm:pt>
    <dgm:pt modelId="{9AE8D75C-E929-437D-976E-D2E9FD085C00}">
      <dgm:prSet phldrT="[Text]"/>
      <dgm:spPr/>
      <dgm:t>
        <a:bodyPr/>
        <a:lstStyle/>
        <a:p>
          <a:r>
            <a:rPr lang="en-US"/>
            <a:t>Mouse</a:t>
          </a:r>
        </a:p>
      </dgm:t>
    </dgm:pt>
    <dgm:pt modelId="{41D5657F-3DF8-4B16-A8E0-BD2E4780FD19}" type="parTrans" cxnId="{4568F31C-6796-46A6-B1FB-2CA214F99FF0}">
      <dgm:prSet/>
      <dgm:spPr/>
      <dgm:t>
        <a:bodyPr/>
        <a:lstStyle/>
        <a:p>
          <a:endParaRPr lang="en-US"/>
        </a:p>
      </dgm:t>
    </dgm:pt>
    <dgm:pt modelId="{EE9C532D-FCD5-42B1-A385-27063BDFAA62}" type="sibTrans" cxnId="{4568F31C-6796-46A6-B1FB-2CA214F99FF0}">
      <dgm:prSet/>
      <dgm:spPr/>
      <dgm:t>
        <a:bodyPr/>
        <a:lstStyle/>
        <a:p>
          <a:endParaRPr lang="en-US"/>
        </a:p>
      </dgm:t>
    </dgm:pt>
    <dgm:pt modelId="{DB7BA9FA-B020-404B-8CBE-532A064D8642}">
      <dgm:prSet phldrT="[Text]"/>
      <dgm:spPr/>
      <dgm:t>
        <a:bodyPr/>
        <a:lstStyle/>
        <a:p>
          <a:r>
            <a:rPr lang="en-US"/>
            <a:t>Processing</a:t>
          </a:r>
        </a:p>
      </dgm:t>
    </dgm:pt>
    <dgm:pt modelId="{66A547D6-173A-44B9-AF8D-C03E3B79CC77}" type="parTrans" cxnId="{1F422EF6-EB06-4F1F-976A-19DBF47F217A}">
      <dgm:prSet/>
      <dgm:spPr/>
      <dgm:t>
        <a:bodyPr/>
        <a:lstStyle/>
        <a:p>
          <a:endParaRPr lang="en-US"/>
        </a:p>
      </dgm:t>
    </dgm:pt>
    <dgm:pt modelId="{DF31F2C6-F84A-4E90-BA85-964E1F8C9853}" type="sibTrans" cxnId="{1F422EF6-EB06-4F1F-976A-19DBF47F217A}">
      <dgm:prSet/>
      <dgm:spPr/>
      <dgm:t>
        <a:bodyPr/>
        <a:lstStyle/>
        <a:p>
          <a:endParaRPr lang="en-US"/>
        </a:p>
      </dgm:t>
    </dgm:pt>
    <dgm:pt modelId="{3754BAAC-91E4-4ECA-A394-E63E6CF88E21}">
      <dgm:prSet phldrT="[Text]"/>
      <dgm:spPr/>
      <dgm:t>
        <a:bodyPr/>
        <a:lstStyle/>
        <a:p>
          <a:r>
            <a:rPr lang="en-US"/>
            <a:t>Software</a:t>
          </a:r>
        </a:p>
      </dgm:t>
    </dgm:pt>
    <dgm:pt modelId="{828B4F54-CE02-4590-9AB9-2D7C6FB4A0CE}" type="parTrans" cxnId="{93479ABA-B157-4C49-B8CE-7556DC0D93E7}">
      <dgm:prSet/>
      <dgm:spPr/>
      <dgm:t>
        <a:bodyPr/>
        <a:lstStyle/>
        <a:p>
          <a:endParaRPr lang="en-US"/>
        </a:p>
      </dgm:t>
    </dgm:pt>
    <dgm:pt modelId="{6CDFDA0D-CD15-4288-82C8-12DEE9CB7E2F}" type="sibTrans" cxnId="{93479ABA-B157-4C49-B8CE-7556DC0D93E7}">
      <dgm:prSet/>
      <dgm:spPr/>
      <dgm:t>
        <a:bodyPr/>
        <a:lstStyle/>
        <a:p>
          <a:endParaRPr lang="en-US"/>
        </a:p>
      </dgm:t>
    </dgm:pt>
    <dgm:pt modelId="{92D0BE72-E42C-4904-89B1-917A69A20885}">
      <dgm:prSet phldrT="[Text]"/>
      <dgm:spPr/>
      <dgm:t>
        <a:bodyPr/>
        <a:lstStyle/>
        <a:p>
          <a:r>
            <a:rPr lang="en-US"/>
            <a:t>Output</a:t>
          </a:r>
        </a:p>
      </dgm:t>
    </dgm:pt>
    <dgm:pt modelId="{687E6703-3FE0-4593-9512-D10B559B65FF}" type="parTrans" cxnId="{4E039081-85BA-400C-B020-58EF74A99489}">
      <dgm:prSet/>
      <dgm:spPr/>
      <dgm:t>
        <a:bodyPr/>
        <a:lstStyle/>
        <a:p>
          <a:endParaRPr lang="en-US"/>
        </a:p>
      </dgm:t>
    </dgm:pt>
    <dgm:pt modelId="{EA5D6BD3-21B3-4CB3-AED6-0828FFA7BFB6}" type="sibTrans" cxnId="{4E039081-85BA-400C-B020-58EF74A99489}">
      <dgm:prSet/>
      <dgm:spPr/>
      <dgm:t>
        <a:bodyPr/>
        <a:lstStyle/>
        <a:p>
          <a:endParaRPr lang="en-US"/>
        </a:p>
      </dgm:t>
    </dgm:pt>
    <dgm:pt modelId="{9454A951-2351-4CB3-A699-153E37C46C4B}">
      <dgm:prSet phldrT="[Text]"/>
      <dgm:spPr/>
      <dgm:t>
        <a:bodyPr/>
        <a:lstStyle/>
        <a:p>
          <a:r>
            <a:rPr lang="en-US"/>
            <a:t>Screen</a:t>
          </a:r>
        </a:p>
      </dgm:t>
    </dgm:pt>
    <dgm:pt modelId="{3265ADBE-5E91-487D-ACF1-BD76F7FA0BAD}" type="parTrans" cxnId="{09988F4A-8273-4654-A195-DE02F7F902ED}">
      <dgm:prSet/>
      <dgm:spPr/>
      <dgm:t>
        <a:bodyPr/>
        <a:lstStyle/>
        <a:p>
          <a:endParaRPr lang="en-US"/>
        </a:p>
      </dgm:t>
    </dgm:pt>
    <dgm:pt modelId="{9E014ADF-94E1-46EE-A54A-BA7391C866CA}" type="sibTrans" cxnId="{09988F4A-8273-4654-A195-DE02F7F902ED}">
      <dgm:prSet/>
      <dgm:spPr/>
      <dgm:t>
        <a:bodyPr/>
        <a:lstStyle/>
        <a:p>
          <a:endParaRPr lang="en-US"/>
        </a:p>
      </dgm:t>
    </dgm:pt>
    <dgm:pt modelId="{32A80199-E009-45BB-A3C3-7A9E5FBC8652}">
      <dgm:prSet phldrT="[Text]"/>
      <dgm:spPr/>
      <dgm:t>
        <a:bodyPr/>
        <a:lstStyle/>
        <a:p>
          <a:r>
            <a:rPr lang="en-US"/>
            <a:t>Network</a:t>
          </a:r>
        </a:p>
      </dgm:t>
    </dgm:pt>
    <dgm:pt modelId="{6122FC30-9218-4767-8D79-80D68DE89EB5}" type="parTrans" cxnId="{73936EBF-E98F-4245-AE70-5515293F1218}">
      <dgm:prSet/>
      <dgm:spPr/>
      <dgm:t>
        <a:bodyPr/>
        <a:lstStyle/>
        <a:p>
          <a:endParaRPr lang="en-US"/>
        </a:p>
      </dgm:t>
    </dgm:pt>
    <dgm:pt modelId="{5C572253-3245-4A66-B439-A8A304A9D21C}" type="sibTrans" cxnId="{73936EBF-E98F-4245-AE70-5515293F1218}">
      <dgm:prSet/>
      <dgm:spPr/>
      <dgm:t>
        <a:bodyPr/>
        <a:lstStyle/>
        <a:p>
          <a:endParaRPr lang="en-US"/>
        </a:p>
      </dgm:t>
    </dgm:pt>
    <dgm:pt modelId="{A3CA7204-0CE9-44E0-BD7B-E1AD3AFC24CA}">
      <dgm:prSet phldrT="[Text]"/>
      <dgm:spPr/>
      <dgm:t>
        <a:bodyPr/>
        <a:lstStyle/>
        <a:p>
          <a:r>
            <a:rPr lang="en-US"/>
            <a:t>Printer</a:t>
          </a:r>
        </a:p>
      </dgm:t>
    </dgm:pt>
    <dgm:pt modelId="{CEBCFE0E-E9CA-4E9D-A2C6-2ACF01199395}" type="parTrans" cxnId="{EDAF0B28-4657-4926-9AC2-82F7ADD34672}">
      <dgm:prSet/>
      <dgm:spPr/>
      <dgm:t>
        <a:bodyPr/>
        <a:lstStyle/>
        <a:p>
          <a:endParaRPr lang="en-US"/>
        </a:p>
      </dgm:t>
    </dgm:pt>
    <dgm:pt modelId="{C915FFEB-3943-4C5E-A673-47911311E032}" type="sibTrans" cxnId="{EDAF0B28-4657-4926-9AC2-82F7ADD34672}">
      <dgm:prSet/>
      <dgm:spPr/>
      <dgm:t>
        <a:bodyPr/>
        <a:lstStyle/>
        <a:p>
          <a:endParaRPr lang="en-US"/>
        </a:p>
      </dgm:t>
    </dgm:pt>
    <dgm:pt modelId="{1B6444F9-8B49-40DA-A711-106C0DC0C55F}">
      <dgm:prSet phldrT="[Text]"/>
      <dgm:spPr/>
      <dgm:t>
        <a:bodyPr/>
        <a:lstStyle/>
        <a:p>
          <a:r>
            <a:rPr lang="en-US"/>
            <a:t>Hardware</a:t>
          </a:r>
        </a:p>
      </dgm:t>
    </dgm:pt>
    <dgm:pt modelId="{E7B2F54D-1D46-4C21-9FD5-339A3507C65F}" type="parTrans" cxnId="{C04850DB-B4BB-4E14-A91D-35F11D8D55D3}">
      <dgm:prSet/>
      <dgm:spPr/>
      <dgm:t>
        <a:bodyPr/>
        <a:lstStyle/>
        <a:p>
          <a:endParaRPr lang="en-GB"/>
        </a:p>
      </dgm:t>
    </dgm:pt>
    <dgm:pt modelId="{6C062327-54AE-4033-94AC-46B804D2E153}" type="sibTrans" cxnId="{C04850DB-B4BB-4E14-A91D-35F11D8D55D3}">
      <dgm:prSet/>
      <dgm:spPr/>
      <dgm:t>
        <a:bodyPr/>
        <a:lstStyle/>
        <a:p>
          <a:endParaRPr lang="en-GB"/>
        </a:p>
      </dgm:t>
    </dgm:pt>
    <dgm:pt modelId="{622EFC0F-6208-49BD-AA22-BBDE69B0F779}" type="pres">
      <dgm:prSet presAssocID="{B8DB3DEA-32B1-4878-8D2C-9C4E82CD2509}" presName="theList" presStyleCnt="0">
        <dgm:presLayoutVars>
          <dgm:dir/>
          <dgm:animLvl val="lvl"/>
          <dgm:resizeHandles val="exact"/>
        </dgm:presLayoutVars>
      </dgm:prSet>
      <dgm:spPr/>
    </dgm:pt>
    <dgm:pt modelId="{EEE4B11C-C083-48C9-82EA-23CD381CA8B2}" type="pres">
      <dgm:prSet presAssocID="{5A1AEECF-89F2-437C-85FE-8B91D906941C}" presName="compNode" presStyleCnt="0"/>
      <dgm:spPr/>
    </dgm:pt>
    <dgm:pt modelId="{CAEDA458-5712-4E8D-9626-5212F6A6829A}" type="pres">
      <dgm:prSet presAssocID="{5A1AEECF-89F2-437C-85FE-8B91D906941C}" presName="noGeometry" presStyleCnt="0"/>
      <dgm:spPr/>
    </dgm:pt>
    <dgm:pt modelId="{B088E877-CB00-407E-9AD7-8209646B2ADD}" type="pres">
      <dgm:prSet presAssocID="{5A1AEECF-89F2-437C-85FE-8B91D906941C}" presName="childTextVisible" presStyleLbl="bgAccFollowNode1" presStyleIdx="0" presStyleCnt="3">
        <dgm:presLayoutVars>
          <dgm:bulletEnabled val="1"/>
        </dgm:presLayoutVars>
      </dgm:prSet>
      <dgm:spPr/>
    </dgm:pt>
    <dgm:pt modelId="{875C230D-2A9C-4CF0-83F7-49679173B16D}" type="pres">
      <dgm:prSet presAssocID="{5A1AEECF-89F2-437C-85FE-8B91D906941C}" presName="childTextHidden" presStyleLbl="bgAccFollowNode1" presStyleIdx="0" presStyleCnt="3"/>
      <dgm:spPr/>
    </dgm:pt>
    <dgm:pt modelId="{59EAE006-BC5C-4658-86A9-5A8889A45C4C}" type="pres">
      <dgm:prSet presAssocID="{5A1AEECF-89F2-437C-85FE-8B91D906941C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AEB3638-FCFF-4948-9D09-1C290155FC8C}" type="pres">
      <dgm:prSet presAssocID="{5A1AEECF-89F2-437C-85FE-8B91D906941C}" presName="aSpace" presStyleCnt="0"/>
      <dgm:spPr/>
    </dgm:pt>
    <dgm:pt modelId="{C91F3ED0-EDE3-4B96-B9E3-0310BB6B7C7E}" type="pres">
      <dgm:prSet presAssocID="{DB7BA9FA-B020-404B-8CBE-532A064D8642}" presName="compNode" presStyleCnt="0"/>
      <dgm:spPr/>
    </dgm:pt>
    <dgm:pt modelId="{D112F8B0-E06D-48F8-B8CE-DC713ACCCB80}" type="pres">
      <dgm:prSet presAssocID="{DB7BA9FA-B020-404B-8CBE-532A064D8642}" presName="noGeometry" presStyleCnt="0"/>
      <dgm:spPr/>
    </dgm:pt>
    <dgm:pt modelId="{62BCF2C9-4CBE-4941-92C5-6F2E9E759AC3}" type="pres">
      <dgm:prSet presAssocID="{DB7BA9FA-B020-404B-8CBE-532A064D8642}" presName="childTextVisible" presStyleLbl="bgAccFollowNode1" presStyleIdx="1" presStyleCnt="3">
        <dgm:presLayoutVars>
          <dgm:bulletEnabled val="1"/>
        </dgm:presLayoutVars>
      </dgm:prSet>
      <dgm:spPr/>
    </dgm:pt>
    <dgm:pt modelId="{CA0EC6BE-FBD6-4E21-ADB8-A984B6FEB494}" type="pres">
      <dgm:prSet presAssocID="{DB7BA9FA-B020-404B-8CBE-532A064D8642}" presName="childTextHidden" presStyleLbl="bgAccFollowNode1" presStyleIdx="1" presStyleCnt="3"/>
      <dgm:spPr/>
    </dgm:pt>
    <dgm:pt modelId="{90EA9CAE-1E2C-4960-82C0-6E140D5CB6AD}" type="pres">
      <dgm:prSet presAssocID="{DB7BA9FA-B020-404B-8CBE-532A064D864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1A317E2-5D24-4FBE-820A-361DCCA6C50A}" type="pres">
      <dgm:prSet presAssocID="{DB7BA9FA-B020-404B-8CBE-532A064D8642}" presName="aSpace" presStyleCnt="0"/>
      <dgm:spPr/>
    </dgm:pt>
    <dgm:pt modelId="{BF376B24-DA90-4EDB-BCC1-8E0346D222BB}" type="pres">
      <dgm:prSet presAssocID="{92D0BE72-E42C-4904-89B1-917A69A20885}" presName="compNode" presStyleCnt="0"/>
      <dgm:spPr/>
    </dgm:pt>
    <dgm:pt modelId="{EF42827B-DB02-4F88-9355-4E3F89378E43}" type="pres">
      <dgm:prSet presAssocID="{92D0BE72-E42C-4904-89B1-917A69A20885}" presName="noGeometry" presStyleCnt="0"/>
      <dgm:spPr/>
    </dgm:pt>
    <dgm:pt modelId="{B7620235-2548-4BC3-A8BF-844AF4E882D5}" type="pres">
      <dgm:prSet presAssocID="{92D0BE72-E42C-4904-89B1-917A69A20885}" presName="childTextVisible" presStyleLbl="bgAccFollowNode1" presStyleIdx="2" presStyleCnt="3">
        <dgm:presLayoutVars>
          <dgm:bulletEnabled val="1"/>
        </dgm:presLayoutVars>
      </dgm:prSet>
      <dgm:spPr/>
    </dgm:pt>
    <dgm:pt modelId="{0538C725-9D8B-41E8-A35C-C4F726BF48B7}" type="pres">
      <dgm:prSet presAssocID="{92D0BE72-E42C-4904-89B1-917A69A20885}" presName="childTextHidden" presStyleLbl="bgAccFollowNode1" presStyleIdx="2" presStyleCnt="3"/>
      <dgm:spPr/>
    </dgm:pt>
    <dgm:pt modelId="{BF1875DA-D11C-4DB8-A46A-C2917896E69A}" type="pres">
      <dgm:prSet presAssocID="{92D0BE72-E42C-4904-89B1-917A69A2088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568F31C-6796-46A6-B1FB-2CA214F99FF0}" srcId="{5A1AEECF-89F2-437C-85FE-8B91D906941C}" destId="{9AE8D75C-E929-437D-976E-D2E9FD085C00}" srcOrd="1" destOrd="0" parTransId="{41D5657F-3DF8-4B16-A8E0-BD2E4780FD19}" sibTransId="{EE9C532D-FCD5-42B1-A385-27063BDFAA62}"/>
    <dgm:cxn modelId="{22AB9B23-D3D4-4AFF-A7CF-D4ADC01D64DB}" type="presOf" srcId="{A3CA7204-0CE9-44E0-BD7B-E1AD3AFC24CA}" destId="{0538C725-9D8B-41E8-A35C-C4F726BF48B7}" srcOrd="1" destOrd="2" presId="urn:microsoft.com/office/officeart/2005/8/layout/hProcess6"/>
    <dgm:cxn modelId="{EDAF0B28-4657-4926-9AC2-82F7ADD34672}" srcId="{92D0BE72-E42C-4904-89B1-917A69A20885}" destId="{A3CA7204-0CE9-44E0-BD7B-E1AD3AFC24CA}" srcOrd="2" destOrd="0" parTransId="{CEBCFE0E-E9CA-4E9D-A2C6-2ACF01199395}" sibTransId="{C915FFEB-3943-4C5E-A673-47911311E032}"/>
    <dgm:cxn modelId="{FAE40632-79D2-4FF7-9797-1B403EE0078C}" type="presOf" srcId="{EF1F3A37-3C83-4116-AE70-F1A2AE9D45E2}" destId="{B088E877-CB00-407E-9AD7-8209646B2ADD}" srcOrd="0" destOrd="0" presId="urn:microsoft.com/office/officeart/2005/8/layout/hProcess6"/>
    <dgm:cxn modelId="{45BA7D34-852F-45EF-93F7-C70FC1D6D459}" type="presOf" srcId="{9AE8D75C-E929-437D-976E-D2E9FD085C00}" destId="{B088E877-CB00-407E-9AD7-8209646B2ADD}" srcOrd="0" destOrd="1" presId="urn:microsoft.com/office/officeart/2005/8/layout/hProcess6"/>
    <dgm:cxn modelId="{AC1D9A5F-43F7-4F14-BFC7-A7F4FD6D5A94}" type="presOf" srcId="{EF1F3A37-3C83-4116-AE70-F1A2AE9D45E2}" destId="{875C230D-2A9C-4CF0-83F7-49679173B16D}" srcOrd="1" destOrd="0" presId="urn:microsoft.com/office/officeart/2005/8/layout/hProcess6"/>
    <dgm:cxn modelId="{9E152E60-F7B5-4A0B-AE9E-1282D53AA17B}" type="presOf" srcId="{DB7BA9FA-B020-404B-8CBE-532A064D8642}" destId="{90EA9CAE-1E2C-4960-82C0-6E140D5CB6AD}" srcOrd="0" destOrd="0" presId="urn:microsoft.com/office/officeart/2005/8/layout/hProcess6"/>
    <dgm:cxn modelId="{F89F0342-5071-4DC4-99DB-D64608CB4EE6}" type="presOf" srcId="{1B6444F9-8B49-40DA-A711-106C0DC0C55F}" destId="{CA0EC6BE-FBD6-4E21-ADB8-A984B6FEB494}" srcOrd="1" destOrd="0" presId="urn:microsoft.com/office/officeart/2005/8/layout/hProcess6"/>
    <dgm:cxn modelId="{A4846564-07C7-4169-8F8A-BB1B72CADD1F}" type="presOf" srcId="{9454A951-2351-4CB3-A699-153E37C46C4B}" destId="{B7620235-2548-4BC3-A8BF-844AF4E882D5}" srcOrd="0" destOrd="0" presId="urn:microsoft.com/office/officeart/2005/8/layout/hProcess6"/>
    <dgm:cxn modelId="{09988F4A-8273-4654-A195-DE02F7F902ED}" srcId="{92D0BE72-E42C-4904-89B1-917A69A20885}" destId="{9454A951-2351-4CB3-A699-153E37C46C4B}" srcOrd="0" destOrd="0" parTransId="{3265ADBE-5E91-487D-ACF1-BD76F7FA0BAD}" sibTransId="{9E014ADF-94E1-46EE-A54A-BA7391C866CA}"/>
    <dgm:cxn modelId="{7499236C-F508-4DF1-A8F1-66AA50CF681D}" type="presOf" srcId="{92D0BE72-E42C-4904-89B1-917A69A20885}" destId="{BF1875DA-D11C-4DB8-A46A-C2917896E69A}" srcOrd="0" destOrd="0" presId="urn:microsoft.com/office/officeart/2005/8/layout/hProcess6"/>
    <dgm:cxn modelId="{EB276F5A-C770-47D9-8602-891B9FAFF0E2}" type="presOf" srcId="{32A80199-E009-45BB-A3C3-7A9E5FBC8652}" destId="{B7620235-2548-4BC3-A8BF-844AF4E882D5}" srcOrd="0" destOrd="1" presId="urn:microsoft.com/office/officeart/2005/8/layout/hProcess6"/>
    <dgm:cxn modelId="{4E039081-85BA-400C-B020-58EF74A99489}" srcId="{B8DB3DEA-32B1-4878-8D2C-9C4E82CD2509}" destId="{92D0BE72-E42C-4904-89B1-917A69A20885}" srcOrd="2" destOrd="0" parTransId="{687E6703-3FE0-4593-9512-D10B559B65FF}" sibTransId="{EA5D6BD3-21B3-4CB3-AED6-0828FFA7BFB6}"/>
    <dgm:cxn modelId="{6B29BC83-E2D3-4F89-8434-5BDEBA98F544}" type="presOf" srcId="{B8DB3DEA-32B1-4878-8D2C-9C4E82CD2509}" destId="{622EFC0F-6208-49BD-AA22-BBDE69B0F779}" srcOrd="0" destOrd="0" presId="urn:microsoft.com/office/officeart/2005/8/layout/hProcess6"/>
    <dgm:cxn modelId="{30C15E86-EB1B-44CB-82DC-64D0C21D0028}" type="presOf" srcId="{A3CA7204-0CE9-44E0-BD7B-E1AD3AFC24CA}" destId="{B7620235-2548-4BC3-A8BF-844AF4E882D5}" srcOrd="0" destOrd="2" presId="urn:microsoft.com/office/officeart/2005/8/layout/hProcess6"/>
    <dgm:cxn modelId="{47C53292-3EA1-4E00-80B0-F98A838D6AC6}" type="presOf" srcId="{3754BAAC-91E4-4ECA-A394-E63E6CF88E21}" destId="{62BCF2C9-4CBE-4941-92C5-6F2E9E759AC3}" srcOrd="0" destOrd="1" presId="urn:microsoft.com/office/officeart/2005/8/layout/hProcess6"/>
    <dgm:cxn modelId="{F3B9169B-42E6-4F42-86AE-11D63D9289C6}" srcId="{B8DB3DEA-32B1-4878-8D2C-9C4E82CD2509}" destId="{5A1AEECF-89F2-437C-85FE-8B91D906941C}" srcOrd="0" destOrd="0" parTransId="{66DF9784-42A8-4620-A38E-A788D4289A92}" sibTransId="{5B9B6110-51D5-4ABE-BA8D-9D75CB85895F}"/>
    <dgm:cxn modelId="{D9E9639B-AC5E-415F-AC09-9C42921C69CE}" type="presOf" srcId="{32A80199-E009-45BB-A3C3-7A9E5FBC8652}" destId="{0538C725-9D8B-41E8-A35C-C4F726BF48B7}" srcOrd="1" destOrd="1" presId="urn:microsoft.com/office/officeart/2005/8/layout/hProcess6"/>
    <dgm:cxn modelId="{CA898A9C-5405-468D-AFB6-2E8FEA37165F}" srcId="{5A1AEECF-89F2-437C-85FE-8B91D906941C}" destId="{EF1F3A37-3C83-4116-AE70-F1A2AE9D45E2}" srcOrd="0" destOrd="0" parTransId="{438A087E-B0E2-4C6A-A242-1A3A15B9F0C4}" sibTransId="{9AE14647-E04A-4092-9532-FC0F6F4C20D9}"/>
    <dgm:cxn modelId="{AD1352B2-BDFA-46F2-9628-44C6D84804ED}" type="presOf" srcId="{1B6444F9-8B49-40DA-A711-106C0DC0C55F}" destId="{62BCF2C9-4CBE-4941-92C5-6F2E9E759AC3}" srcOrd="0" destOrd="0" presId="urn:microsoft.com/office/officeart/2005/8/layout/hProcess6"/>
    <dgm:cxn modelId="{93479ABA-B157-4C49-B8CE-7556DC0D93E7}" srcId="{DB7BA9FA-B020-404B-8CBE-532A064D8642}" destId="{3754BAAC-91E4-4ECA-A394-E63E6CF88E21}" srcOrd="1" destOrd="0" parTransId="{828B4F54-CE02-4590-9AB9-2D7C6FB4A0CE}" sibTransId="{6CDFDA0D-CD15-4288-82C8-12DEE9CB7E2F}"/>
    <dgm:cxn modelId="{73936EBF-E98F-4245-AE70-5515293F1218}" srcId="{92D0BE72-E42C-4904-89B1-917A69A20885}" destId="{32A80199-E009-45BB-A3C3-7A9E5FBC8652}" srcOrd="1" destOrd="0" parTransId="{6122FC30-9218-4767-8D79-80D68DE89EB5}" sibTransId="{5C572253-3245-4A66-B439-A8A304A9D21C}"/>
    <dgm:cxn modelId="{C7A3C1C8-495C-4F1E-95CB-C6CABB320868}" type="presOf" srcId="{9454A951-2351-4CB3-A699-153E37C46C4B}" destId="{0538C725-9D8B-41E8-A35C-C4F726BF48B7}" srcOrd="1" destOrd="0" presId="urn:microsoft.com/office/officeart/2005/8/layout/hProcess6"/>
    <dgm:cxn modelId="{70E333D3-C214-496B-A2D9-B5B194CAD228}" type="presOf" srcId="{5A1AEECF-89F2-437C-85FE-8B91D906941C}" destId="{59EAE006-BC5C-4658-86A9-5A8889A45C4C}" srcOrd="0" destOrd="0" presId="urn:microsoft.com/office/officeart/2005/8/layout/hProcess6"/>
    <dgm:cxn modelId="{CC1C5AD3-D755-4BD2-93BA-3ED406D3BA17}" type="presOf" srcId="{3754BAAC-91E4-4ECA-A394-E63E6CF88E21}" destId="{CA0EC6BE-FBD6-4E21-ADB8-A984B6FEB494}" srcOrd="1" destOrd="1" presId="urn:microsoft.com/office/officeart/2005/8/layout/hProcess6"/>
    <dgm:cxn modelId="{C04850DB-B4BB-4E14-A91D-35F11D8D55D3}" srcId="{DB7BA9FA-B020-404B-8CBE-532A064D8642}" destId="{1B6444F9-8B49-40DA-A711-106C0DC0C55F}" srcOrd="0" destOrd="0" parTransId="{E7B2F54D-1D46-4C21-9FD5-339A3507C65F}" sibTransId="{6C062327-54AE-4033-94AC-46B804D2E153}"/>
    <dgm:cxn modelId="{1F422EF6-EB06-4F1F-976A-19DBF47F217A}" srcId="{B8DB3DEA-32B1-4878-8D2C-9C4E82CD2509}" destId="{DB7BA9FA-B020-404B-8CBE-532A064D8642}" srcOrd="1" destOrd="0" parTransId="{66A547D6-173A-44B9-AF8D-C03E3B79CC77}" sibTransId="{DF31F2C6-F84A-4E90-BA85-964E1F8C9853}"/>
    <dgm:cxn modelId="{5658FDF6-9E8A-4EAA-9C6A-BB141C60AD7F}" type="presOf" srcId="{9AE8D75C-E929-437D-976E-D2E9FD085C00}" destId="{875C230D-2A9C-4CF0-83F7-49679173B16D}" srcOrd="1" destOrd="1" presId="urn:microsoft.com/office/officeart/2005/8/layout/hProcess6"/>
    <dgm:cxn modelId="{FC16BD04-5AA6-4C9C-B4F2-C42929AA0C83}" type="presParOf" srcId="{622EFC0F-6208-49BD-AA22-BBDE69B0F779}" destId="{EEE4B11C-C083-48C9-82EA-23CD381CA8B2}" srcOrd="0" destOrd="0" presId="urn:microsoft.com/office/officeart/2005/8/layout/hProcess6"/>
    <dgm:cxn modelId="{37F9124F-F7AC-41F3-ADD4-20FDC2AA153E}" type="presParOf" srcId="{EEE4B11C-C083-48C9-82EA-23CD381CA8B2}" destId="{CAEDA458-5712-4E8D-9626-5212F6A6829A}" srcOrd="0" destOrd="0" presId="urn:microsoft.com/office/officeart/2005/8/layout/hProcess6"/>
    <dgm:cxn modelId="{8410BC16-2F00-4F02-9468-3D2DA195A37E}" type="presParOf" srcId="{EEE4B11C-C083-48C9-82EA-23CD381CA8B2}" destId="{B088E877-CB00-407E-9AD7-8209646B2ADD}" srcOrd="1" destOrd="0" presId="urn:microsoft.com/office/officeart/2005/8/layout/hProcess6"/>
    <dgm:cxn modelId="{82F0545E-4E4B-495D-A5DD-A5B0EA4D3F5B}" type="presParOf" srcId="{EEE4B11C-C083-48C9-82EA-23CD381CA8B2}" destId="{875C230D-2A9C-4CF0-83F7-49679173B16D}" srcOrd="2" destOrd="0" presId="urn:microsoft.com/office/officeart/2005/8/layout/hProcess6"/>
    <dgm:cxn modelId="{B73E012A-0095-47D2-A76D-E00A8D19121D}" type="presParOf" srcId="{EEE4B11C-C083-48C9-82EA-23CD381CA8B2}" destId="{59EAE006-BC5C-4658-86A9-5A8889A45C4C}" srcOrd="3" destOrd="0" presId="urn:microsoft.com/office/officeart/2005/8/layout/hProcess6"/>
    <dgm:cxn modelId="{00BE7A26-11F8-4753-9894-D8C84FECD9D4}" type="presParOf" srcId="{622EFC0F-6208-49BD-AA22-BBDE69B0F779}" destId="{DAEB3638-FCFF-4948-9D09-1C290155FC8C}" srcOrd="1" destOrd="0" presId="urn:microsoft.com/office/officeart/2005/8/layout/hProcess6"/>
    <dgm:cxn modelId="{91C7197E-93A5-440C-9B5D-566663AAD9F4}" type="presParOf" srcId="{622EFC0F-6208-49BD-AA22-BBDE69B0F779}" destId="{C91F3ED0-EDE3-4B96-B9E3-0310BB6B7C7E}" srcOrd="2" destOrd="0" presId="urn:microsoft.com/office/officeart/2005/8/layout/hProcess6"/>
    <dgm:cxn modelId="{FF94C199-BA9C-46C3-9FED-EC3BDCA0C77D}" type="presParOf" srcId="{C91F3ED0-EDE3-4B96-B9E3-0310BB6B7C7E}" destId="{D112F8B0-E06D-48F8-B8CE-DC713ACCCB80}" srcOrd="0" destOrd="0" presId="urn:microsoft.com/office/officeart/2005/8/layout/hProcess6"/>
    <dgm:cxn modelId="{F9325A49-7F68-47C2-BE32-745B944B92D3}" type="presParOf" srcId="{C91F3ED0-EDE3-4B96-B9E3-0310BB6B7C7E}" destId="{62BCF2C9-4CBE-4941-92C5-6F2E9E759AC3}" srcOrd="1" destOrd="0" presId="urn:microsoft.com/office/officeart/2005/8/layout/hProcess6"/>
    <dgm:cxn modelId="{E2B30C75-55EF-4E98-83E0-7ED0B9CA72B2}" type="presParOf" srcId="{C91F3ED0-EDE3-4B96-B9E3-0310BB6B7C7E}" destId="{CA0EC6BE-FBD6-4E21-ADB8-A984B6FEB494}" srcOrd="2" destOrd="0" presId="urn:microsoft.com/office/officeart/2005/8/layout/hProcess6"/>
    <dgm:cxn modelId="{786B335E-4870-456C-B873-6D530EB475E0}" type="presParOf" srcId="{C91F3ED0-EDE3-4B96-B9E3-0310BB6B7C7E}" destId="{90EA9CAE-1E2C-4960-82C0-6E140D5CB6AD}" srcOrd="3" destOrd="0" presId="urn:microsoft.com/office/officeart/2005/8/layout/hProcess6"/>
    <dgm:cxn modelId="{5B7E8B3C-4B56-44AC-BF66-33D4B190CC5E}" type="presParOf" srcId="{622EFC0F-6208-49BD-AA22-BBDE69B0F779}" destId="{F1A317E2-5D24-4FBE-820A-361DCCA6C50A}" srcOrd="3" destOrd="0" presId="urn:microsoft.com/office/officeart/2005/8/layout/hProcess6"/>
    <dgm:cxn modelId="{F2BCA2BE-CA63-430A-99C1-F394C2BF2462}" type="presParOf" srcId="{622EFC0F-6208-49BD-AA22-BBDE69B0F779}" destId="{BF376B24-DA90-4EDB-BCC1-8E0346D222BB}" srcOrd="4" destOrd="0" presId="urn:microsoft.com/office/officeart/2005/8/layout/hProcess6"/>
    <dgm:cxn modelId="{7B6D973E-5A7B-4DF7-976E-CFB4127F8BCA}" type="presParOf" srcId="{BF376B24-DA90-4EDB-BCC1-8E0346D222BB}" destId="{EF42827B-DB02-4F88-9355-4E3F89378E43}" srcOrd="0" destOrd="0" presId="urn:microsoft.com/office/officeart/2005/8/layout/hProcess6"/>
    <dgm:cxn modelId="{99ED5250-6FAC-4925-B802-2411FCE3129E}" type="presParOf" srcId="{BF376B24-DA90-4EDB-BCC1-8E0346D222BB}" destId="{B7620235-2548-4BC3-A8BF-844AF4E882D5}" srcOrd="1" destOrd="0" presId="urn:microsoft.com/office/officeart/2005/8/layout/hProcess6"/>
    <dgm:cxn modelId="{4B5C0AE3-D7EF-4D91-84F4-2F35613D3DA2}" type="presParOf" srcId="{BF376B24-DA90-4EDB-BCC1-8E0346D222BB}" destId="{0538C725-9D8B-41E8-A35C-C4F726BF48B7}" srcOrd="2" destOrd="0" presId="urn:microsoft.com/office/officeart/2005/8/layout/hProcess6"/>
    <dgm:cxn modelId="{AEAF5016-0B8B-4541-916E-A77920F6AA7A}" type="presParOf" srcId="{BF376B24-DA90-4EDB-BCC1-8E0346D222BB}" destId="{BF1875DA-D11C-4DB8-A46A-C2917896E69A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8E877-CB00-407E-9AD7-8209646B2ADD}">
      <dsp:nvSpPr>
        <dsp:cNvPr id="0" name=""/>
        <dsp:cNvSpPr/>
      </dsp:nvSpPr>
      <dsp:spPr>
        <a:xfrm>
          <a:off x="735835" y="723624"/>
          <a:ext cx="2921210" cy="2553505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2794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Keyboard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Mouse</a:t>
          </a:r>
        </a:p>
      </dsp:txBody>
      <dsp:txXfrm>
        <a:off x="1466137" y="1106650"/>
        <a:ext cx="1424090" cy="1787453"/>
      </dsp:txXfrm>
    </dsp:sp>
    <dsp:sp modelId="{59EAE006-BC5C-4658-86A9-5A8889A45C4C}">
      <dsp:nvSpPr>
        <dsp:cNvPr id="0" name=""/>
        <dsp:cNvSpPr/>
      </dsp:nvSpPr>
      <dsp:spPr>
        <a:xfrm>
          <a:off x="5532" y="1270074"/>
          <a:ext cx="1460605" cy="14606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Input</a:t>
          </a:r>
        </a:p>
      </dsp:txBody>
      <dsp:txXfrm>
        <a:off x="219433" y="1483975"/>
        <a:ext cx="1032803" cy="1032803"/>
      </dsp:txXfrm>
    </dsp:sp>
    <dsp:sp modelId="{62BCF2C9-4CBE-4941-92C5-6F2E9E759AC3}">
      <dsp:nvSpPr>
        <dsp:cNvPr id="0" name=""/>
        <dsp:cNvSpPr/>
      </dsp:nvSpPr>
      <dsp:spPr>
        <a:xfrm>
          <a:off x="4569924" y="723624"/>
          <a:ext cx="2921210" cy="2553505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2794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Hardware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Software</a:t>
          </a:r>
        </a:p>
      </dsp:txBody>
      <dsp:txXfrm>
        <a:off x="5300227" y="1106650"/>
        <a:ext cx="1424090" cy="1787453"/>
      </dsp:txXfrm>
    </dsp:sp>
    <dsp:sp modelId="{90EA9CAE-1E2C-4960-82C0-6E140D5CB6AD}">
      <dsp:nvSpPr>
        <dsp:cNvPr id="0" name=""/>
        <dsp:cNvSpPr/>
      </dsp:nvSpPr>
      <dsp:spPr>
        <a:xfrm>
          <a:off x="3839621" y="1270074"/>
          <a:ext cx="1460605" cy="14606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Processing</a:t>
          </a:r>
        </a:p>
      </dsp:txBody>
      <dsp:txXfrm>
        <a:off x="4053522" y="1483975"/>
        <a:ext cx="1032803" cy="1032803"/>
      </dsp:txXfrm>
    </dsp:sp>
    <dsp:sp modelId="{B7620235-2548-4BC3-A8BF-844AF4E882D5}">
      <dsp:nvSpPr>
        <dsp:cNvPr id="0" name=""/>
        <dsp:cNvSpPr/>
      </dsp:nvSpPr>
      <dsp:spPr>
        <a:xfrm>
          <a:off x="8404013" y="723624"/>
          <a:ext cx="2921210" cy="2553505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2794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Screen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Network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Printer</a:t>
          </a:r>
        </a:p>
      </dsp:txBody>
      <dsp:txXfrm>
        <a:off x="9134316" y="1106650"/>
        <a:ext cx="1424090" cy="1787453"/>
      </dsp:txXfrm>
    </dsp:sp>
    <dsp:sp modelId="{BF1875DA-D11C-4DB8-A46A-C2917896E69A}">
      <dsp:nvSpPr>
        <dsp:cNvPr id="0" name=""/>
        <dsp:cNvSpPr/>
      </dsp:nvSpPr>
      <dsp:spPr>
        <a:xfrm>
          <a:off x="7673710" y="1270074"/>
          <a:ext cx="1460605" cy="14606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</a:t>
          </a:r>
        </a:p>
      </dsp:txBody>
      <dsp:txXfrm>
        <a:off x="7887611" y="1483975"/>
        <a:ext cx="1032803" cy="1032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8E877-CB00-407E-9AD7-8209646B2ADD}">
      <dsp:nvSpPr>
        <dsp:cNvPr id="0" name=""/>
        <dsp:cNvSpPr/>
      </dsp:nvSpPr>
      <dsp:spPr>
        <a:xfrm>
          <a:off x="735835" y="723624"/>
          <a:ext cx="2921210" cy="2553505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2794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Keyboard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Mouse</a:t>
          </a:r>
        </a:p>
      </dsp:txBody>
      <dsp:txXfrm>
        <a:off x="1466137" y="1106650"/>
        <a:ext cx="1424090" cy="1787453"/>
      </dsp:txXfrm>
    </dsp:sp>
    <dsp:sp modelId="{59EAE006-BC5C-4658-86A9-5A8889A45C4C}">
      <dsp:nvSpPr>
        <dsp:cNvPr id="0" name=""/>
        <dsp:cNvSpPr/>
      </dsp:nvSpPr>
      <dsp:spPr>
        <a:xfrm>
          <a:off x="5532" y="1270074"/>
          <a:ext cx="1460605" cy="14606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Input</a:t>
          </a:r>
        </a:p>
      </dsp:txBody>
      <dsp:txXfrm>
        <a:off x="219433" y="1483975"/>
        <a:ext cx="1032803" cy="1032803"/>
      </dsp:txXfrm>
    </dsp:sp>
    <dsp:sp modelId="{62BCF2C9-4CBE-4941-92C5-6F2E9E759AC3}">
      <dsp:nvSpPr>
        <dsp:cNvPr id="0" name=""/>
        <dsp:cNvSpPr/>
      </dsp:nvSpPr>
      <dsp:spPr>
        <a:xfrm>
          <a:off x="4569924" y="723624"/>
          <a:ext cx="2921210" cy="2553505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2794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Hardware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Software</a:t>
          </a:r>
        </a:p>
      </dsp:txBody>
      <dsp:txXfrm>
        <a:off x="5300227" y="1106650"/>
        <a:ext cx="1424090" cy="1787453"/>
      </dsp:txXfrm>
    </dsp:sp>
    <dsp:sp modelId="{90EA9CAE-1E2C-4960-82C0-6E140D5CB6AD}">
      <dsp:nvSpPr>
        <dsp:cNvPr id="0" name=""/>
        <dsp:cNvSpPr/>
      </dsp:nvSpPr>
      <dsp:spPr>
        <a:xfrm>
          <a:off x="3839621" y="1270074"/>
          <a:ext cx="1460605" cy="14606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Processing</a:t>
          </a:r>
        </a:p>
      </dsp:txBody>
      <dsp:txXfrm>
        <a:off x="4053522" y="1483975"/>
        <a:ext cx="1032803" cy="1032803"/>
      </dsp:txXfrm>
    </dsp:sp>
    <dsp:sp modelId="{B7620235-2548-4BC3-A8BF-844AF4E882D5}">
      <dsp:nvSpPr>
        <dsp:cNvPr id="0" name=""/>
        <dsp:cNvSpPr/>
      </dsp:nvSpPr>
      <dsp:spPr>
        <a:xfrm>
          <a:off x="8404013" y="723624"/>
          <a:ext cx="2921210" cy="2553505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2794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Screen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Network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Printer</a:t>
          </a:r>
        </a:p>
      </dsp:txBody>
      <dsp:txXfrm>
        <a:off x="9134316" y="1106650"/>
        <a:ext cx="1424090" cy="1787453"/>
      </dsp:txXfrm>
    </dsp:sp>
    <dsp:sp modelId="{BF1875DA-D11C-4DB8-A46A-C2917896E69A}">
      <dsp:nvSpPr>
        <dsp:cNvPr id="0" name=""/>
        <dsp:cNvSpPr/>
      </dsp:nvSpPr>
      <dsp:spPr>
        <a:xfrm>
          <a:off x="7673710" y="1270074"/>
          <a:ext cx="1460605" cy="14606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</a:t>
          </a:r>
        </a:p>
      </dsp:txBody>
      <dsp:txXfrm>
        <a:off x="7887611" y="1483975"/>
        <a:ext cx="1032803" cy="1032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1C917-DDE5-4C3A-ACDA-04B184AAA28A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293A-89C9-45C4-8EC7-C6D739491C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2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Computing &amp; Digital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C25AB6-2E2B-4A7C-9FF1-3334C3053A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97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Computing &amp; Digital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C25AB6-2E2B-4A7C-9FF1-3334C3053A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764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We’ll write a quick program to create a few variables where one is given result of adding the other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622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/>
              <a:t>Scalar types: In programming, scalar types are those that contain a single value.  However, the definition isn’t a strict as mathematics.</a:t>
            </a:r>
          </a:p>
          <a:p>
            <a:endParaRPr lang="en-GB" b="1"/>
          </a:p>
          <a:p>
            <a:r>
              <a:rPr lang="en-GB" b="1"/>
              <a:t>Strings: You may well find that the programming community at large can’t agree whether strings are scalar or not.  Some languages consider strings are </a:t>
            </a:r>
            <a:r>
              <a:rPr lang="en-GB" b="1" i="1"/>
              <a:t>primitive</a:t>
            </a:r>
            <a:r>
              <a:rPr lang="en-GB" b="1" i="0"/>
              <a:t> types but to also call them scalar seems a bit of a stretch given the arbitrary order that characters can appear in a string.</a:t>
            </a:r>
          </a:p>
          <a:p>
            <a:endParaRPr lang="en-GB" b="1" i="0"/>
          </a:p>
          <a:p>
            <a:r>
              <a:rPr lang="en-GB" b="1" i="0"/>
              <a:t>Modern Python advocates the use of “Type Hinting”, we’ll not make extensive use of it throughout this module.</a:t>
            </a:r>
            <a:endParaRPr lang="en-GB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947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 would complicate the Python parser if variables were allowed to start with digits.  Moreover, it could confusing to other programmers reading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73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383720" y="4354365"/>
            <a:ext cx="11408230" cy="11017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2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description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383720" y="3113371"/>
            <a:ext cx="11408230" cy="110172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3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module name</a:t>
            </a:r>
          </a:p>
        </p:txBody>
      </p:sp>
    </p:spTree>
    <p:extLst>
      <p:ext uri="{BB962C8B-B14F-4D97-AF65-F5344CB8AC3E}">
        <p14:creationId xmlns:p14="http://schemas.microsoft.com/office/powerpoint/2010/main" val="125096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030818"/>
            <a:ext cx="12192000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0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Lecture: 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94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05347" cy="7954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81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34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496881" cy="7954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479689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380067"/>
            <a:ext cx="5690508" cy="479689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63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5"/>
            <a:ext cx="9505347" cy="8032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19" y="1262063"/>
            <a:ext cx="5613856" cy="498475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720" y="1854202"/>
            <a:ext cx="5613856" cy="43354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262063"/>
            <a:ext cx="5690507" cy="498475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1854202"/>
            <a:ext cx="5690507" cy="43354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74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13813" cy="7954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63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58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1337733"/>
            <a:ext cx="6679519" cy="452331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60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1329267"/>
            <a:ext cx="6679519" cy="45317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Computing, Engineering &amp;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7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496880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1337734"/>
            <a:ext cx="11478986" cy="48392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355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9733" y="1346199"/>
            <a:ext cx="2142973" cy="4830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365125"/>
            <a:ext cx="920901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865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383720" y="4354365"/>
            <a:ext cx="11408230" cy="11017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2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description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383720" y="3113371"/>
            <a:ext cx="11408230" cy="110172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3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module name</a:t>
            </a:r>
          </a:p>
        </p:txBody>
      </p:sp>
    </p:spTree>
    <p:extLst>
      <p:ext uri="{BB962C8B-B14F-4D97-AF65-F5344CB8AC3E}">
        <p14:creationId xmlns:p14="http://schemas.microsoft.com/office/powerpoint/2010/main" val="1525585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52551"/>
            <a:ext cx="563757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00" y="1981200"/>
            <a:ext cx="563757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52551"/>
            <a:ext cx="566530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81200"/>
            <a:ext cx="566530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25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3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369880" cy="795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21" y="1397000"/>
            <a:ext cx="11478986" cy="477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720" y="6515100"/>
            <a:ext cx="10654393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Lecture: #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9628" y="6515099"/>
            <a:ext cx="683079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7CC91C18-2D9D-461C-87BF-48086B64411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365126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05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53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researchleap.com/international-journal-of-management-science-and-business-administration-issn-1849-5664-online-issn-1849-5419-print/aims-and-scop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blog.fedoraproject.org/help-port-python-packages-to-python-3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Datei:Text-questionmark.sv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keyword-list" TargetMode="Externa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ev/peps/pep-0008/" TargetMode="Externa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C6E1-F0DA-4532-A41F-319A99167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/>
              <a:t>Software for Digital Innovation</a:t>
            </a:r>
            <a:br>
              <a:rPr lang="en-GB"/>
            </a:br>
            <a:r>
              <a:rPr lang="en-GB"/>
              <a:t>(</a:t>
            </a:r>
            <a:r>
              <a:rPr lang="da-DK"/>
              <a:t>CIS4044-N</a:t>
            </a:r>
            <a:r>
              <a:rPr lang="en-GB"/>
              <a:t>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Lecture 1</a:t>
            </a:r>
          </a:p>
          <a:p>
            <a:r>
              <a:rPr lang="en-GB"/>
              <a:t>Module introduction &amp; </a:t>
            </a:r>
            <a:br>
              <a:rPr lang="en-GB"/>
            </a:br>
            <a:r>
              <a:rPr lang="en-GB"/>
              <a:t>Introduction to Python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77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Today’s agenda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6DB4CA-9873-4D98-BEDC-7F4DA4251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Module 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/>
              <a:t>Get familiar with the module aims and learning outcomes.</a:t>
            </a:r>
          </a:p>
          <a:p>
            <a:r>
              <a:rPr lang="en-GB" sz="2400"/>
              <a:t>Familiarise ourselves with how this module will be delivered.</a:t>
            </a:r>
          </a:p>
          <a:p>
            <a:r>
              <a:rPr lang="en-GB" sz="2400"/>
              <a:t>Take a look at how the module will be assessed.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83E56-B8BE-4538-8E8C-F97AFB223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Jumping into coding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F6D02-6491-4FDA-8634-C32EA41D067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sz="2400"/>
              <a:t>Define programming: what is it?</a:t>
            </a:r>
          </a:p>
          <a:p>
            <a:r>
              <a:rPr lang="en-GB" sz="2400"/>
              <a:t>Introduce the Python programming language.</a:t>
            </a:r>
          </a:p>
          <a:p>
            <a:r>
              <a:rPr lang="en-GB" sz="2400"/>
              <a:t>Begin simple Python programming using Python’s native development environment IDLE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2346A9F-767B-4A48-99FD-E37152DD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489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AA207B-C710-49DA-9970-AD4C455E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Module 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956982-B29E-4EA8-8034-1F9DFD30C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Aims, outcomes and indicative content.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FEA2E65-EC57-4E31-AEB2-AD72D217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125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05347" cy="795461"/>
          </a:xfrm>
        </p:spPr>
        <p:txBody>
          <a:bodyPr/>
          <a:lstStyle/>
          <a:p>
            <a:r>
              <a:rPr lang="en-GB"/>
              <a:t>Module aims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3721" y="1160588"/>
            <a:ext cx="7321184" cy="50163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/>
              <a:t>This module aims to provide students with:</a:t>
            </a:r>
          </a:p>
          <a:p>
            <a:pPr marL="514350" lvl="0" indent="-514350">
              <a:buAutoNum type="arabicPeriod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Introduce students to the theory and practice of programming for digital innovation.</a:t>
            </a: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Develop students critical understanding of the use of relevant libraries.</a:t>
            </a:r>
            <a:endParaRPr lang="en-GB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Develop students programming knowledge and skills in a professionally productive manner.</a:t>
            </a:r>
            <a:endParaRPr lang="en-GB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897EF2-F273-411D-9E14-37884578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</a:t>
            </a:fld>
            <a:endParaRPr lang="en-GB"/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F7031B5E-FD6D-4687-B1C9-5B5FACB5F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763076" y="1538224"/>
            <a:ext cx="4251980" cy="426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2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2195EF-C21A-40FF-B62C-5968EFA3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outcomes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180C98-2227-4D7B-81BE-11225886F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21" y="1088398"/>
            <a:ext cx="11478986" cy="508856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GB" b="1"/>
              <a:t>Personal and Transferable Skills </a:t>
            </a:r>
            <a:r>
              <a:rPr lang="en-GB" b="1">
                <a:ea typeface="+mn-lt"/>
                <a:cs typeface="+mn-lt"/>
              </a:rPr>
              <a:t>Development</a:t>
            </a:r>
            <a:endParaRPr lang="en-GB" b="1"/>
          </a:p>
          <a:p>
            <a:pPr marL="514350" indent="-514350">
              <a:lnSpc>
                <a:spcPct val="120000"/>
              </a:lnSpc>
              <a:buFont typeface="Calibri Light" panose="020F0302020204030204"/>
              <a:buAutoNum type="arabicPeriod"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Apply high-level problem-solving skills in a formal structured environment to meet a specification.</a:t>
            </a:r>
            <a:r>
              <a:rPr lang="en-GB"/>
              <a:t> </a:t>
            </a:r>
            <a:endParaRPr lang="en-GB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GB" b="1"/>
              <a:t>Research, Knowledge and Cognitive Skills</a:t>
            </a:r>
          </a:p>
          <a:p>
            <a:pPr marL="514350" indent="-514350">
              <a:lnSpc>
                <a:spcPct val="120000"/>
              </a:lnSpc>
              <a:buFont typeface="Calibri Light" panose="020F0302020204030204"/>
              <a:buAutoNum type="arabicPeriod" startAt="2"/>
            </a:pPr>
            <a:r>
              <a:rPr lang="en-GB" sz="2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Demonstrate a systematic and critical understanding of programming concepts to solving a given problem.</a:t>
            </a:r>
          </a:p>
          <a:p>
            <a:pPr marL="514350" indent="-514350">
              <a:lnSpc>
                <a:spcPct val="120000"/>
              </a:lnSpc>
              <a:buAutoNum type="arabicPeriod" startAt="2"/>
            </a:pPr>
            <a:r>
              <a:rPr lang="en-GB" sz="2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Ability to read, interpret, understand and describe existing code solutions and identify errors.</a:t>
            </a:r>
          </a:p>
          <a:p>
            <a:pPr marL="514350" indent="-514350">
              <a:lnSpc>
                <a:spcPct val="120000"/>
              </a:lnSpc>
              <a:buAutoNum type="arabicPeriod" startAt="2"/>
            </a:pPr>
            <a:r>
              <a:rPr lang="en-GB" sz="2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Critically examine and evaluate relevant software tools and their appropriateness and limitations in a particular scenario.</a:t>
            </a:r>
          </a:p>
          <a:p>
            <a:pPr marL="514350" indent="-514350">
              <a:lnSpc>
                <a:spcPct val="120000"/>
              </a:lnSpc>
              <a:buAutoNum type="arabicPeriod" startAt="2"/>
            </a:pPr>
            <a:r>
              <a:rPr lang="en-GB" sz="2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and apply appropriate software libraries and tools to real world applications, and critically evaluate their effectiveness in the given scenario.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900" b="1">
                <a:ea typeface="Calibri"/>
                <a:cs typeface="Calibri"/>
              </a:rPr>
              <a:t>Professional Skills, values and Behaviours </a:t>
            </a:r>
            <a:endParaRPr lang="en-GB" sz="2900">
              <a:ea typeface="Calibri"/>
              <a:cs typeface="Calibri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6"/>
            </a:pPr>
            <a:r>
              <a:rPr lang="en-GB" sz="2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Critically evaluate the security and other risk implications related to the utilisation of software libraries and tools to real world applications in the context of AI, Data Science or FinTech.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900" b="1"/>
          </a:p>
          <a:p>
            <a:pPr marL="514350" indent="-514350">
              <a:lnSpc>
                <a:spcPct val="120000"/>
              </a:lnSpc>
              <a:buAutoNum type="arabicPeriod" startAt="2"/>
            </a:pPr>
            <a:endParaRPr lang="en-GB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en-GB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B93902-4F11-4D6E-8A46-EDA6916B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47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4234BA-CE82-447D-BB30-DA780473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Indicative content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342E2F-E4D2-423A-B12C-F2DB101FF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21" y="1088398"/>
            <a:ext cx="11478986" cy="508856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dirty="0"/>
              <a:t>This module will examine the following topics: 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Calibri"/>
                <a:ea typeface="Calibri"/>
                <a:cs typeface="Calibri"/>
              </a:rPr>
              <a:t>Python basics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Calibri"/>
                <a:ea typeface="Calibri"/>
                <a:cs typeface="Calibri"/>
              </a:rPr>
              <a:t>Python Data Structures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>
                <a:latin typeface="Calibri"/>
                <a:ea typeface="Calibri"/>
                <a:cs typeface="Calibri"/>
              </a:rPr>
              <a:t>Python Programming Fundamentals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>
                <a:latin typeface="Calibri"/>
                <a:ea typeface="Calibri"/>
                <a:cs typeface="Calibri"/>
              </a:rPr>
              <a:t>Working with Data in Python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>
                <a:latin typeface="Calibri"/>
                <a:ea typeface="Calibri"/>
                <a:cs typeface="Calibri"/>
              </a:rPr>
              <a:t>Software Testing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>
                <a:latin typeface="Calibri"/>
                <a:ea typeface="Calibri"/>
                <a:cs typeface="Calibri"/>
              </a:rPr>
              <a:t>Risk analysis and mitigation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>
                <a:latin typeface="Calibri"/>
                <a:ea typeface="Calibri"/>
                <a:cs typeface="Calibri"/>
              </a:rPr>
              <a:t>Using Python libraries and software tools in CS, DS, AI or  FinTech applications</a:t>
            </a:r>
            <a:endParaRPr lang="en-GB" dirty="0"/>
          </a:p>
          <a:p>
            <a:pPr>
              <a:lnSpc>
                <a:spcPct val="110000"/>
              </a:lnSpc>
            </a:pPr>
            <a:endParaRPr lang="en-GB" dirty="0">
              <a:ea typeface="Calibri"/>
              <a:cs typeface="Calibr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AC2692-29CE-40E2-927B-833C817E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6</a:t>
            </a:fld>
            <a:endParaRPr lang="en-GB"/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483DBE33-2DE6-4FC1-9223-B83412811D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7544895" y="4895634"/>
            <a:ext cx="4572000" cy="145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0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3CC9-37DC-49BC-B055-089BC709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Two component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D336-33B9-45BE-A755-72B105990D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cs typeface="Calibri"/>
              </a:rPr>
              <a:t>Component 1 [20%]</a:t>
            </a:r>
            <a:r>
              <a:rPr lang="en-GB" dirty="0">
                <a:cs typeface="Calibri"/>
              </a:rPr>
              <a:t> - Programming fundamentals test (lab-based)</a:t>
            </a:r>
            <a:endParaRPr lang="en-US" dirty="0"/>
          </a:p>
          <a:p>
            <a:pPr lvl="1"/>
            <a:r>
              <a:rPr lang="en-GB" dirty="0">
                <a:cs typeface="Calibri"/>
              </a:rPr>
              <a:t>Blackboard-based test on the fundamentals of programming</a:t>
            </a:r>
            <a:endParaRPr lang="en-GB" dirty="0">
              <a:ea typeface="Calibri"/>
              <a:cs typeface="Calibri"/>
            </a:endParaRPr>
          </a:p>
          <a:p>
            <a:pPr lvl="1"/>
            <a:r>
              <a:rPr lang="en-GB" dirty="0">
                <a:cs typeface="Calibri"/>
              </a:rPr>
              <a:t>Week beginning 10th November (teaching week 8)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DB020C-57F1-FD79-3537-E788F59CA1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cs typeface="Calibri"/>
              </a:rPr>
              <a:t>Assessment Criteria</a:t>
            </a:r>
          </a:p>
          <a:p>
            <a:pPr lvl="1"/>
            <a:r>
              <a:rPr lang="en-US">
                <a:cs typeface="Calibri"/>
              </a:rPr>
              <a:t>Ability to demonstrate how the fundamentals of programming are applied in to solve problems,</a:t>
            </a:r>
          </a:p>
          <a:p>
            <a:pPr lvl="1"/>
            <a:r>
              <a:rPr lang="en-US">
                <a:cs typeface="Calibri"/>
              </a:rPr>
              <a:t>Read, understand and describe concisely what existing code does,</a:t>
            </a:r>
          </a:p>
          <a:p>
            <a:pPr lvl="1"/>
            <a:r>
              <a:rPr lang="en-US">
                <a:cs typeface="Calibri"/>
              </a:rPr>
              <a:t>Identify errors/bugs and recommend fixes.</a:t>
            </a:r>
          </a:p>
          <a:p>
            <a:pPr lvl="1"/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B54CC-3FA6-41DF-9B68-FBAB321E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7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3CC9-37DC-49BC-B055-089BC709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Two component assessment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D336-33B9-45BE-A755-72B105990D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b="1" dirty="0">
                <a:cs typeface="Calibri"/>
              </a:rPr>
              <a:t>Component 2 [80%]</a:t>
            </a:r>
            <a:r>
              <a:rPr lang="en-GB" dirty="0">
                <a:cs typeface="Calibri"/>
              </a:rPr>
              <a:t> - Application Development</a:t>
            </a:r>
          </a:p>
          <a:p>
            <a:r>
              <a:rPr lang="en-GB" dirty="0"/>
              <a:t>You will develop an application to perform some basic </a:t>
            </a:r>
            <a:r>
              <a:rPr lang="en-GB" b="1" dirty="0"/>
              <a:t>Data Processing</a:t>
            </a:r>
            <a:r>
              <a:rPr lang="en-GB" dirty="0"/>
              <a:t> and </a:t>
            </a:r>
            <a:r>
              <a:rPr lang="en-GB" b="1" dirty="0"/>
              <a:t>Visualisation</a:t>
            </a:r>
            <a:endParaRPr lang="en-GB">
              <a:cs typeface="Calibri"/>
            </a:endParaRPr>
          </a:p>
          <a:p>
            <a:pPr lvl="1"/>
            <a:r>
              <a:rPr lang="en-GB" dirty="0"/>
              <a:t>Historical weather data</a:t>
            </a:r>
            <a:endParaRPr lang="en-GB">
              <a:cs typeface="Calibri"/>
            </a:endParaRPr>
          </a:p>
          <a:p>
            <a:r>
              <a:rPr lang="en-GB" dirty="0"/>
              <a:t>Hand-in date: 6</a:t>
            </a:r>
            <a:r>
              <a:rPr lang="en-GB" baseline="30000" dirty="0"/>
              <a:t>th</a:t>
            </a:r>
            <a:r>
              <a:rPr lang="en-GB" dirty="0"/>
              <a:t> January 2026 via Blackboard</a:t>
            </a:r>
            <a:endParaRPr lang="en-GB" dirty="0">
              <a:cs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CC0D78-23FF-60A2-6526-C6A0B69CCD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cs typeface="Calibri"/>
              </a:rPr>
              <a:t>Assessment criteria</a:t>
            </a:r>
          </a:p>
          <a:p>
            <a:r>
              <a:rPr lang="en-US" sz="2600"/>
              <a:t>Ability to produce a solution to the problem scenario described</a:t>
            </a:r>
            <a:endParaRPr lang="en-US" sz="2600">
              <a:cs typeface="Calibri"/>
            </a:endParaRPr>
          </a:p>
          <a:p>
            <a:r>
              <a:rPr lang="en-US" sz="2600"/>
              <a:t>Quality of the code comments and the clarity of the presented material.</a:t>
            </a:r>
            <a:endParaRPr lang="en-US" sz="2600">
              <a:cs typeface="Calibri"/>
            </a:endParaRPr>
          </a:p>
          <a:p>
            <a:r>
              <a:rPr lang="en-US" sz="2600"/>
              <a:t>Quality, relevance and use of research materials.</a:t>
            </a:r>
            <a:endParaRPr lang="en-US" sz="2600">
              <a:cs typeface="Calibri"/>
            </a:endParaRPr>
          </a:p>
          <a:p>
            <a:r>
              <a:rPr lang="en-US" sz="2600"/>
              <a:t>Quality of the code and algorithms presented.</a:t>
            </a:r>
            <a:endParaRPr lang="en-US" sz="2600">
              <a:cs typeface="Calibri"/>
            </a:endParaRPr>
          </a:p>
          <a:p>
            <a:r>
              <a:rPr lang="en-US" sz="2600"/>
              <a:t>Use of suitable libraries to facilitate development of the solution.</a:t>
            </a:r>
            <a:endParaRPr lang="en-US" sz="2600">
              <a:cs typeface="Calibri"/>
            </a:endParaRPr>
          </a:p>
          <a:p>
            <a:r>
              <a:rPr lang="en-US" sz="2600"/>
              <a:t>Work within the requirements given.</a:t>
            </a:r>
            <a:endParaRPr lang="en-US" sz="2600">
              <a:cs typeface="Calibri"/>
            </a:endParaRPr>
          </a:p>
          <a:p>
            <a:r>
              <a:rPr lang="en-US" sz="2600"/>
              <a:t>Demonstrate a robust approach to testing.</a:t>
            </a:r>
            <a:endParaRPr lang="en-US" sz="2600">
              <a:cs typeface="Calibri"/>
            </a:endParaRPr>
          </a:p>
          <a:p>
            <a:r>
              <a:rPr lang="en-US" sz="2600"/>
              <a:t>Security consideration and risk evaluation</a:t>
            </a:r>
            <a:endParaRPr lang="en-US" sz="2600">
              <a:cs typeface="Calibri"/>
            </a:endParaRPr>
          </a:p>
          <a:p>
            <a:endParaRPr lang="en-US" sz="26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B54CC-3FA6-41DF-9B68-FBAB321E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83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C62685-ECC3-4CD8-BE78-8AEAF08A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Scheduled time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AC4E0-6EB5-480F-A4A8-EB68057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21" y="1316736"/>
            <a:ext cx="11478986" cy="486022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600" b="1"/>
              <a:t>Lectures</a:t>
            </a:r>
            <a:r>
              <a:rPr lang="en-GB" sz="2600"/>
              <a:t> </a:t>
            </a:r>
          </a:p>
          <a:p>
            <a:pPr>
              <a:lnSpc>
                <a:spcPct val="110000"/>
              </a:lnSpc>
            </a:pPr>
            <a:r>
              <a:rPr lang="en-GB" sz="2600"/>
              <a:t>Introduce you to programming concepts through practical demonstrations</a:t>
            </a:r>
            <a:br>
              <a:rPr lang="en-GB" sz="2600"/>
            </a:br>
            <a:endParaRPr lang="en-GB" sz="2600"/>
          </a:p>
          <a:p>
            <a:pPr marL="0" indent="0">
              <a:lnSpc>
                <a:spcPct val="110000"/>
              </a:lnSpc>
              <a:buNone/>
            </a:pPr>
            <a:r>
              <a:rPr lang="en-GB" sz="2600" b="1"/>
              <a:t>Tutorial Activities </a:t>
            </a:r>
          </a:p>
          <a:p>
            <a:pPr>
              <a:lnSpc>
                <a:spcPct val="110000"/>
              </a:lnSpc>
            </a:pPr>
            <a:r>
              <a:rPr lang="en-GB" sz="2600"/>
              <a:t>Review exercises</a:t>
            </a:r>
          </a:p>
          <a:p>
            <a:pPr>
              <a:lnSpc>
                <a:spcPct val="110000"/>
              </a:lnSpc>
            </a:pPr>
            <a:r>
              <a:rPr lang="en-GB" sz="2600"/>
              <a:t>Solve programming problems using the concepts introduced in the lectures.</a:t>
            </a:r>
          </a:p>
          <a:p>
            <a:pPr lvl="1">
              <a:lnSpc>
                <a:spcPct val="110000"/>
              </a:lnSpc>
            </a:pPr>
            <a:r>
              <a:rPr lang="en-GB" sz="2600"/>
              <a:t>As you progress, the problems will increase in complexity.</a:t>
            </a:r>
          </a:p>
          <a:p>
            <a:pPr>
              <a:lnSpc>
                <a:spcPct val="110000"/>
              </a:lnSpc>
            </a:pPr>
            <a:r>
              <a:rPr lang="en-GB" sz="2600"/>
              <a:t>Provide an opportunity to work on the assessment later in the semester.</a:t>
            </a:r>
          </a:p>
          <a:p>
            <a:pPr>
              <a:lnSpc>
                <a:spcPct val="110000"/>
              </a:lnSpc>
            </a:pPr>
            <a:r>
              <a:rPr lang="en-GB" sz="2600"/>
              <a:t>Receive regular feedback from your tutors and each other to reflect upon and take forward to future activities.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42A4533-6BAF-410E-A888-322A0928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93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1966-A477-4AAB-8BDB-EFE06B5E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Recommended reading</a:t>
            </a:r>
            <a:endParaRPr lang="en-US" sz="2000"/>
          </a:p>
        </p:txBody>
      </p:sp>
      <p:pic>
        <p:nvPicPr>
          <p:cNvPr id="1026" name="Picture 2" descr="Image result for Python in easy steps">
            <a:extLst>
              <a:ext uri="{FF2B5EF4-FFF2-40B4-BE49-F238E27FC236}">
                <a16:creationId xmlns:a16="http://schemas.microsoft.com/office/drawing/2014/main" id="{94C72F84-8017-4A56-BCE9-D6D64B77818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4494" y="1295400"/>
            <a:ext cx="3935387" cy="479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68371-632C-4B7A-9F41-F92B46876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8848" y="1295400"/>
            <a:ext cx="7338658" cy="4881563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/>
              <a:t>We recommend “Python in easy steps” to accompany you through this module. The University library has it, and it’s also available to buy from Amazon etc. for under £10.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/>
              <a:t>Work through it to keep your skills sharp. Keep it on your desk as a </a:t>
            </a:r>
            <a:r>
              <a:rPr lang="en-US" sz="2600" i="1"/>
              <a:t>reference</a:t>
            </a:r>
            <a:r>
              <a:rPr lang="en-US" sz="2600"/>
              <a:t>. Refer to it as and when you need it!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0B5795F-DD2D-4DAA-A59B-B4E708EF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696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DA110C-F22C-4702-8AD9-F897A80E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Beginning programming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296C9-0F38-48F7-8D42-5A23B0F2B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What’s a program?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FA9D30B-DF88-4885-AC45-2007F8B2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96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9CB-3D35-41F3-BD7E-392BC779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So, what’s a program? (part 1.)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CF41-C2DD-4844-B805-06D5BF218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6626680" cy="479689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600"/>
              <a:t>Conceptually, a program is a simple thing </a:t>
            </a:r>
            <a:r>
              <a:rPr lang="en-US" sz="2600"/>
              <a:t>- a </a:t>
            </a:r>
            <a:r>
              <a:rPr lang="en-US" sz="2600" b="1">
                <a:solidFill>
                  <a:schemeClr val="accent1"/>
                </a:solidFill>
              </a:rPr>
              <a:t>sequence of instructions</a:t>
            </a:r>
            <a:r>
              <a:rPr lang="en-US" sz="2600" b="1"/>
              <a:t> </a:t>
            </a:r>
            <a:r>
              <a:rPr lang="en-US" sz="2600"/>
              <a:t>(called </a:t>
            </a:r>
            <a:r>
              <a:rPr lang="en-US" sz="2600" i="1"/>
              <a:t>statements</a:t>
            </a:r>
            <a:r>
              <a:rPr lang="en-US" sz="2600"/>
              <a:t>) in a </a:t>
            </a:r>
            <a:r>
              <a:rPr lang="en-US" sz="2600" i="1"/>
              <a:t>programming language. </a:t>
            </a:r>
          </a:p>
          <a:p>
            <a:pPr>
              <a:lnSpc>
                <a:spcPct val="110000"/>
              </a:lnSpc>
            </a:pPr>
            <a:r>
              <a:rPr lang="en-US" sz="2600"/>
              <a:t>These can be:</a:t>
            </a:r>
          </a:p>
          <a:p>
            <a:pPr lvl="1">
              <a:lnSpc>
                <a:spcPct val="110000"/>
              </a:lnSpc>
            </a:pPr>
            <a:r>
              <a:rPr lang="en-US" sz="2600" i="1"/>
              <a:t>Operators</a:t>
            </a:r>
            <a:r>
              <a:rPr lang="en-US" sz="2600"/>
              <a:t> (like +, -) and </a:t>
            </a:r>
            <a:r>
              <a:rPr lang="en-US" sz="2600" i="1"/>
              <a:t>operands</a:t>
            </a:r>
          </a:p>
          <a:p>
            <a:pPr lvl="1">
              <a:lnSpc>
                <a:spcPct val="110000"/>
              </a:lnSpc>
            </a:pPr>
            <a:r>
              <a:rPr lang="en-US" sz="2600" i="1"/>
              <a:t>Expressions</a:t>
            </a:r>
          </a:p>
          <a:p>
            <a:pPr lvl="1">
              <a:lnSpc>
                <a:spcPct val="110000"/>
              </a:lnSpc>
            </a:pPr>
            <a:r>
              <a:rPr lang="en-US" sz="2600" i="1"/>
              <a:t>Assignments</a:t>
            </a:r>
          </a:p>
          <a:p>
            <a:pPr lvl="1">
              <a:lnSpc>
                <a:spcPct val="110000"/>
              </a:lnSpc>
            </a:pPr>
            <a:r>
              <a:rPr lang="en-US" sz="2600" i="1"/>
              <a:t>Keywords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8CF22-0982-4559-866C-3FB745F30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0543" y="1380066"/>
            <a:ext cx="4462163" cy="4796895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lIns="457200" tIns="457200" rIns="457200" bIns="457200" anchor="ctr">
            <a:normAutofit/>
          </a:bodyPr>
          <a:lstStyle/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 = </a:t>
            </a:r>
            <a:r>
              <a:rPr lang="es-ES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s-ES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 = </a:t>
            </a:r>
            <a:r>
              <a:rPr lang="es-ES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endParaRPr lang="es-ES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 = x + y</a:t>
            </a:r>
          </a:p>
          <a:p>
            <a:pPr marL="0" indent="0">
              <a:buNone/>
            </a:pPr>
            <a:r>
              <a:rPr lang="es-ES" sz="32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(z)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E5224C7-DD27-4EE5-BDFF-5F9C7168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40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E8F264-CAB3-4F90-95F1-940E5AC6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So, what’s a program? (p</a:t>
            </a:r>
            <a:r>
              <a:rPr lang="en-US"/>
              <a:t>art 2.</a:t>
            </a:r>
            <a:r>
              <a:rPr lang="en-GB"/>
              <a:t>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F3A6DA-F76E-4389-BADD-EBFAE455B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0" indent="0" algn="ctr">
              <a:buNone/>
            </a:pPr>
            <a:r>
              <a:rPr lang="en-GB" sz="3600"/>
              <a:t>We need to be </a:t>
            </a:r>
            <a:r>
              <a:rPr lang="en-GB" sz="3600" b="1">
                <a:solidFill>
                  <a:schemeClr val="accent1"/>
                </a:solidFill>
              </a:rPr>
              <a:t>very precise </a:t>
            </a:r>
            <a:r>
              <a:rPr lang="en-GB" sz="3600"/>
              <a:t>when we write programs because…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560612F-C41C-40E9-9DBB-56878EA1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965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E8F264-CAB3-4F90-95F1-940E5AC6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So, what’s a program? (p</a:t>
            </a:r>
            <a:r>
              <a:rPr lang="en-US"/>
              <a:t>art 3.</a:t>
            </a:r>
            <a:r>
              <a:rPr lang="en-GB"/>
              <a:t>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F3A6DA-F76E-4389-BADD-EBFAE455B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0" indent="0" algn="ctr">
              <a:buNone/>
            </a:pPr>
            <a:r>
              <a:rPr lang="en-GB" sz="3600" b="1">
                <a:solidFill>
                  <a:schemeClr val="accent1"/>
                </a:solidFill>
              </a:rPr>
              <a:t>…computers don’t think!</a:t>
            </a:r>
            <a:r>
              <a:rPr lang="en-GB" sz="3600"/>
              <a:t> They </a:t>
            </a:r>
            <a:r>
              <a:rPr lang="en-GB" sz="3600" b="1">
                <a:solidFill>
                  <a:schemeClr val="accent1"/>
                </a:solidFill>
              </a:rPr>
              <a:t>don’t truly understand</a:t>
            </a:r>
            <a:r>
              <a:rPr lang="en-GB" sz="3600" b="1"/>
              <a:t> </a:t>
            </a:r>
            <a:r>
              <a:rPr lang="en-GB" sz="3600"/>
              <a:t>the program you write, </a:t>
            </a:r>
            <a:r>
              <a:rPr lang="en-GB" sz="3600" b="1">
                <a:solidFill>
                  <a:schemeClr val="accent1"/>
                </a:solidFill>
              </a:rPr>
              <a:t>only how to run it!</a:t>
            </a:r>
            <a:r>
              <a:rPr lang="en-GB" sz="3600" b="1"/>
              <a:t> </a:t>
            </a:r>
            <a:r>
              <a:rPr lang="en-GB" sz="3600"/>
              <a:t>They have no notion of context; they will do as you tell them – </a:t>
            </a:r>
            <a:r>
              <a:rPr lang="en-GB" sz="3600" b="1">
                <a:solidFill>
                  <a:schemeClr val="accent1"/>
                </a:solidFill>
              </a:rPr>
              <a:t>nothing more and nothing less</a:t>
            </a:r>
            <a:r>
              <a:rPr lang="en-GB" sz="36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8B6F453-3340-4108-A700-C6C48D234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16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9CB-3D35-41F3-BD7E-392BC779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So, what’s a program? (part 4.)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CF41-C2DD-4844-B805-06D5BF218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6626680" cy="479689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600"/>
              <a:t>We call the </a:t>
            </a:r>
            <a:r>
              <a:rPr lang="en-GB" sz="2600" b="1">
                <a:solidFill>
                  <a:schemeClr val="accent1"/>
                </a:solidFill>
              </a:rPr>
              <a:t>grammar</a:t>
            </a:r>
            <a:r>
              <a:rPr lang="en-GB" sz="2600"/>
              <a:t> of a program its </a:t>
            </a:r>
            <a:r>
              <a:rPr lang="en-GB" sz="2600" b="1" i="1">
                <a:solidFill>
                  <a:schemeClr val="accent1"/>
                </a:solidFill>
              </a:rPr>
              <a:t>syntax</a:t>
            </a:r>
            <a:r>
              <a:rPr lang="en-GB" sz="2600"/>
              <a:t>.</a:t>
            </a:r>
          </a:p>
          <a:p>
            <a:pPr>
              <a:lnSpc>
                <a:spcPct val="110000"/>
              </a:lnSpc>
            </a:pPr>
            <a:r>
              <a:rPr lang="en-GB" sz="2600"/>
              <a:t>We call the </a:t>
            </a:r>
            <a:r>
              <a:rPr lang="en-GB" sz="2600" b="1">
                <a:solidFill>
                  <a:schemeClr val="accent1"/>
                </a:solidFill>
              </a:rPr>
              <a:t>meaning</a:t>
            </a:r>
            <a:r>
              <a:rPr lang="en-GB" sz="2600"/>
              <a:t> of program its </a:t>
            </a:r>
            <a:r>
              <a:rPr lang="en-GB" sz="2600" b="1" i="1">
                <a:solidFill>
                  <a:schemeClr val="accent1"/>
                </a:solidFill>
              </a:rPr>
              <a:t>semantics</a:t>
            </a:r>
            <a:r>
              <a:rPr lang="en-GB" sz="2600"/>
              <a:t>.</a:t>
            </a:r>
          </a:p>
          <a:p>
            <a:pPr>
              <a:lnSpc>
                <a:spcPct val="110000"/>
              </a:lnSpc>
            </a:pPr>
            <a:r>
              <a:rPr lang="en-GB" sz="2600"/>
              <a:t>For example, in mathematics, 5(2) has </a:t>
            </a:r>
            <a:r>
              <a:rPr lang="en-GB" sz="2600" b="1" i="1">
                <a:solidFill>
                  <a:schemeClr val="accent1"/>
                </a:solidFill>
              </a:rPr>
              <a:t>different syntax </a:t>
            </a:r>
            <a:r>
              <a:rPr lang="en-GB" sz="2600"/>
              <a:t>to 5×2, but the </a:t>
            </a:r>
            <a:r>
              <a:rPr lang="en-GB" sz="2600" b="1" i="1">
                <a:solidFill>
                  <a:schemeClr val="accent1"/>
                </a:solidFill>
              </a:rPr>
              <a:t>same semantics⁠⁠</a:t>
            </a:r>
            <a:r>
              <a:rPr lang="en-GB" sz="2600"/>
              <a:t>: 5 multiplied by 2!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8CF22-0982-4559-866C-3FB745F30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0543" y="1380066"/>
            <a:ext cx="4462163" cy="4796895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lIns="457200" tIns="457200" rIns="457200" bIns="457200" anchor="ctr">
            <a:normAutofit/>
          </a:bodyPr>
          <a:lstStyle/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 = </a:t>
            </a:r>
            <a:r>
              <a:rPr lang="es-ES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s-ES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 = </a:t>
            </a:r>
            <a:r>
              <a:rPr lang="es-ES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endParaRPr lang="es-ES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 = x + y</a:t>
            </a:r>
          </a:p>
          <a:p>
            <a:pPr marL="0" indent="0">
              <a:buNone/>
            </a:pPr>
            <a:r>
              <a:rPr lang="es-ES" sz="32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(z)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C6BE4D9-32C7-4DDC-B37E-67DBE464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568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711F85-B072-4405-BB6A-BA069541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generic program (part 1.)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0DD867B-5AD9-4D89-9A1C-A05F490B36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30621" y="1425575"/>
          <a:ext cx="11330757" cy="4000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568C5FB-D1FA-4CB0-B4B1-0379E69F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487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711F85-B072-4405-BB6A-BA069541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generic program (part 2.)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0DD867B-5AD9-4D89-9A1C-A05F490B36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30621" y="1425575"/>
          <a:ext cx="11330757" cy="4000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09257BF-D0E7-434D-8CF2-456CFC6F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17</a:t>
            </a:fld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28D2ED2-9B0A-4943-A6A8-629759D9F73D}"/>
              </a:ext>
            </a:extLst>
          </p:cNvPr>
          <p:cNvSpPr/>
          <p:nvPr/>
        </p:nvSpPr>
        <p:spPr>
          <a:xfrm>
            <a:off x="5913120" y="3355181"/>
            <a:ext cx="1194816" cy="428625"/>
          </a:xfrm>
          <a:prstGeom prst="ellipse">
            <a:avLst/>
          </a:prstGeom>
          <a:noFill/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340D66-34D6-4FE7-9853-414E17FEC370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4931029" y="3721035"/>
            <a:ext cx="1157068" cy="142602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6E44367-59FA-46B6-846C-43E7BD82B5B5}"/>
              </a:ext>
            </a:extLst>
          </p:cNvPr>
          <p:cNvSpPr txBox="1"/>
          <p:nvPr/>
        </p:nvSpPr>
        <p:spPr>
          <a:xfrm>
            <a:off x="2596896" y="5147062"/>
            <a:ext cx="4668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This is what we are interested in!</a:t>
            </a:r>
          </a:p>
        </p:txBody>
      </p:sp>
    </p:spTree>
    <p:extLst>
      <p:ext uri="{BB962C8B-B14F-4D97-AF65-F5344CB8AC3E}">
        <p14:creationId xmlns:p14="http://schemas.microsoft.com/office/powerpoint/2010/main" val="429561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9CB-3D35-41F3-BD7E-392BC779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Programs are just instruction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CF41-C2DD-4844-B805-06D5BF218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6626680" cy="479689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600"/>
              <a:t>Remember this program on the right from before?</a:t>
            </a:r>
          </a:p>
          <a:p>
            <a:pPr>
              <a:lnSpc>
                <a:spcPct val="110000"/>
              </a:lnSpc>
            </a:pPr>
            <a:r>
              <a:rPr lang="en-GB" sz="2600"/>
              <a:t>It’s a sequential list of instructions. </a:t>
            </a:r>
          </a:p>
          <a:p>
            <a:pPr>
              <a:lnSpc>
                <a:spcPct val="110000"/>
              </a:lnSpc>
            </a:pPr>
            <a:r>
              <a:rPr lang="en-GB" sz="2600"/>
              <a:t>It says:</a:t>
            </a:r>
          </a:p>
          <a:p>
            <a:pPr lvl="1">
              <a:lnSpc>
                <a:spcPct val="110000"/>
              </a:lnSpc>
            </a:pPr>
            <a:r>
              <a:rPr lang="en-GB" sz="2600"/>
              <a:t>Put the value ‘10’ in ‘x’</a:t>
            </a:r>
          </a:p>
          <a:p>
            <a:pPr lvl="1">
              <a:lnSpc>
                <a:spcPct val="110000"/>
              </a:lnSpc>
            </a:pPr>
            <a:r>
              <a:rPr lang="en-GB" sz="2600"/>
              <a:t>Put the value ‘20’ in ‘y’</a:t>
            </a:r>
          </a:p>
          <a:p>
            <a:pPr lvl="1">
              <a:lnSpc>
                <a:spcPct val="110000"/>
              </a:lnSpc>
            </a:pPr>
            <a:r>
              <a:rPr lang="en-GB" sz="2600"/>
              <a:t>Add ‘x’ to ‘y’ and put it in ‘z’</a:t>
            </a:r>
          </a:p>
          <a:p>
            <a:pPr lvl="1">
              <a:lnSpc>
                <a:spcPct val="110000"/>
              </a:lnSpc>
            </a:pPr>
            <a:r>
              <a:rPr lang="en-GB" sz="2600"/>
              <a:t>Give ‘z’ as program 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8CF22-0982-4559-866C-3FB745F30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0543" y="1380066"/>
            <a:ext cx="4462163" cy="4796895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lIns="457200" tIns="457200" rIns="457200" bIns="457200" anchor="ctr">
            <a:normAutofit/>
          </a:bodyPr>
          <a:lstStyle/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 = </a:t>
            </a:r>
            <a:r>
              <a:rPr lang="es-ES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s-ES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 = </a:t>
            </a:r>
            <a:r>
              <a:rPr lang="es-ES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endParaRPr lang="es-ES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 = x + y</a:t>
            </a:r>
          </a:p>
          <a:p>
            <a:pPr marL="0" indent="0">
              <a:buNone/>
            </a:pPr>
            <a:r>
              <a:rPr lang="es-ES" sz="32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s-ES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(z)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5DF7C5B-B919-45B8-ABE9-57FE999A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635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56-96D8-4DBD-9CAC-243398D4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Programs are just equations!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CD739-A02F-46FE-8DAB-48845DDA1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6821752" cy="479689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/>
              <a:t>Don’t get worried, this will become clear!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/>
              <a:t>All a program does is take </a:t>
            </a:r>
            <a:r>
              <a:rPr lang="en-US" b="1">
                <a:solidFill>
                  <a:schemeClr val="accent1"/>
                </a:solidFill>
              </a:rPr>
              <a:t>input</a:t>
            </a:r>
            <a:r>
              <a:rPr lang="en-US"/>
              <a:t> from the user, </a:t>
            </a:r>
            <a:r>
              <a:rPr lang="en-US" b="1">
                <a:solidFill>
                  <a:schemeClr val="accent1"/>
                </a:solidFill>
              </a:rPr>
              <a:t>change</a:t>
            </a:r>
            <a:r>
              <a:rPr lang="en-US"/>
              <a:t> (or, more technically, </a:t>
            </a:r>
            <a:r>
              <a:rPr lang="en-US" i="1"/>
              <a:t>transform</a:t>
            </a:r>
            <a:r>
              <a:rPr lang="en-US"/>
              <a:t>) the data and give it as </a:t>
            </a:r>
            <a:r>
              <a:rPr lang="en-US" b="1">
                <a:solidFill>
                  <a:schemeClr val="accent1"/>
                </a:solidFill>
              </a:rPr>
              <a:t>output</a:t>
            </a:r>
            <a:r>
              <a:rPr lang="en-US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/>
              <a:t>On the right, there’s a mathematical equation specifically a </a:t>
            </a:r>
            <a:r>
              <a:rPr lang="en-US" i="1"/>
              <a:t>function definition </a:t>
            </a:r>
            <a:r>
              <a:rPr lang="en-US"/>
              <a:t>(not a Python one, we’ll get to that later!)</a:t>
            </a:r>
            <a:r>
              <a:rPr lang="en-US" i="1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/>
              <a:t>See how it works? Depending on what we give as </a:t>
            </a:r>
            <a:r>
              <a:rPr lang="en-US" i="1"/>
              <a:t>x</a:t>
            </a:r>
            <a:r>
              <a:rPr lang="en-US"/>
              <a:t>, we get a different answer!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/>
              <a:t>Here, </a:t>
            </a:r>
            <a:r>
              <a:rPr lang="en-US" i="1"/>
              <a:t>x</a:t>
            </a:r>
            <a:r>
              <a:rPr lang="en-US"/>
              <a:t> is the input, </a:t>
            </a:r>
            <a:r>
              <a:rPr lang="en-US" i="1"/>
              <a:t>f</a:t>
            </a:r>
            <a:r>
              <a:rPr lang="en-US"/>
              <a:t> is the program, and the right-hand side is the output.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BDB76-9C8C-475E-B092-C6641BD1C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03007" y="2079097"/>
            <a:ext cx="4559699" cy="3398836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i="1">
                <a:latin typeface="Consolas" panose="020B0609020204030204" pitchFamily="49" charset="0"/>
                <a:cs typeface="Courier New" panose="02070309020205020404" pitchFamily="49" charset="0"/>
              </a:rPr>
              <a:t> f(x)  = x × 2</a:t>
            </a:r>
          </a:p>
          <a:p>
            <a:pPr marL="0" indent="0">
              <a:buNone/>
            </a:pPr>
            <a:r>
              <a:rPr lang="en-US" sz="3600" i="1">
                <a:latin typeface="Consolas" panose="020B0609020204030204" pitchFamily="49" charset="0"/>
                <a:cs typeface="Courier New" panose="02070309020205020404" pitchFamily="49" charset="0"/>
              </a:rPr>
              <a:t> f(2)  = 4</a:t>
            </a:r>
          </a:p>
          <a:p>
            <a:pPr marL="0" indent="0">
              <a:buNone/>
            </a:pPr>
            <a:r>
              <a:rPr lang="en-US" sz="3600" i="1">
                <a:latin typeface="Consolas" panose="020B0609020204030204" pitchFamily="49" charset="0"/>
                <a:cs typeface="Courier New" panose="02070309020205020404" pitchFamily="49" charset="0"/>
              </a:rPr>
              <a:t> f(10) = ?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D61D3F7-4208-44DF-8F38-0EA0E8C4B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74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9CB-3D35-41F3-BD7E-392BC779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Here’s the Python equivalent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61FAF-9004-4059-AD2E-322720CF8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Mathematical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CF41-C2DD-4844-B805-06D5BF218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i="1">
                <a:latin typeface="Consolas" panose="020B0609020204030204" pitchFamily="49" charset="0"/>
                <a:cs typeface="Courier New" panose="02070309020205020404" pitchFamily="49" charset="0"/>
              </a:rPr>
              <a:t> f</a:t>
            </a:r>
            <a:r>
              <a:rPr lang="en-US" sz="3600">
                <a:latin typeface="Consolas" panose="020B0609020204030204" pitchFamily="49" charset="0"/>
                <a:cs typeface="Courier New" panose="02070309020205020404" pitchFamily="49" charset="0"/>
              </a:rPr>
              <a:t>(x) = x × 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8A6033-EA36-4F90-8526-681A67884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Python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8CF22-0982-4559-866C-3FB745F30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lIns="457200" tIns="457200" rIns="457200" bIns="457200" anchor="ctr">
            <a:normAutofit/>
          </a:bodyPr>
          <a:lstStyle/>
          <a:p>
            <a:pPr marL="0" indent="0">
              <a:buNone/>
            </a:pPr>
            <a:r>
              <a:rPr lang="fr-FR" sz="3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 = </a:t>
            </a:r>
            <a:r>
              <a:rPr lang="fr-FR" sz="3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3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fr-FR" sz="3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ans = x * </a:t>
            </a:r>
            <a:r>
              <a:rPr lang="fr-FR" sz="3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fr-FR" sz="3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3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3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(ans)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DC48259-193D-49D8-933D-8C88EE6C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350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67FA39-DE92-40D7-AFA6-238B6533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Getting started with Python!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163E7B-2C9B-46D0-B09B-B1468FFC2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Python: Who, What, Where and Why?</a:t>
            </a:r>
          </a:p>
          <a:p>
            <a:endParaRPr lang="en-GB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F5CBC52-4720-4977-AF94-CB4C8BFC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05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1181-E99F-4F94-B90F-1FA687DA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Python: Origins (part 1.)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8B7F3-D188-4960-AB63-E1735A0F9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7760536" cy="479689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/>
              <a:t>Python is a programming language that was </a:t>
            </a:r>
            <a:r>
              <a:rPr lang="en-US" b="1"/>
              <a:t>invented by Dutch programmer Guido van Rossum in 1990</a:t>
            </a:r>
            <a:r>
              <a:rPr lang="en-US"/>
              <a:t>. It’s named after the Monty Python comedy group!</a:t>
            </a:r>
          </a:p>
          <a:p>
            <a:pPr>
              <a:lnSpc>
                <a:spcPct val="120000"/>
              </a:lnSpc>
            </a:pPr>
            <a:r>
              <a:rPr lang="en-US"/>
              <a:t>It’s </a:t>
            </a:r>
            <a:r>
              <a:rPr lang="en-US" b="1"/>
              <a:t>free, powerful, expressive, readable, approachable and cross-platform</a:t>
            </a:r>
            <a:r>
              <a:rPr lang="en-US"/>
              <a:t> (it’ll run on Mac, Linux, Windows, and even microcontrollers).</a:t>
            </a:r>
          </a:p>
          <a:p>
            <a:pPr>
              <a:lnSpc>
                <a:spcPct val="120000"/>
              </a:lnSpc>
            </a:pPr>
            <a:r>
              <a:rPr lang="en-US"/>
              <a:t>It has a </a:t>
            </a:r>
            <a:r>
              <a:rPr lang="en-US" u="sng"/>
              <a:t>massive</a:t>
            </a:r>
            <a:r>
              <a:rPr lang="en-US"/>
              <a:t> following, and mountains of support is available online and in person!</a:t>
            </a:r>
          </a:p>
          <a:p>
            <a:pPr>
              <a:lnSpc>
                <a:spcPct val="120000"/>
              </a:lnSpc>
            </a:pPr>
            <a:r>
              <a:rPr lang="en-US"/>
              <a:t>We’ll be learning </a:t>
            </a:r>
            <a:r>
              <a:rPr lang="en-US" u="sng"/>
              <a:t>Python 3</a:t>
            </a:r>
            <a:r>
              <a:rPr lang="en-US"/>
              <a:t> on this module, which is </a:t>
            </a:r>
            <a:r>
              <a:rPr lang="en-US" b="1"/>
              <a:t>a </a:t>
            </a:r>
            <a:r>
              <a:rPr lang="en-US" b="1">
                <a:solidFill>
                  <a:srgbClr val="C00000"/>
                </a:solidFill>
              </a:rPr>
              <a:t>different language</a:t>
            </a:r>
            <a:r>
              <a:rPr lang="en-US"/>
              <a:t> to Python 2.</a:t>
            </a:r>
          </a:p>
        </p:txBody>
      </p:sp>
      <p:pic>
        <p:nvPicPr>
          <p:cNvPr id="1026" name="Picture 2" descr="Image result for guido van rossum">
            <a:extLst>
              <a:ext uri="{FF2B5EF4-FFF2-40B4-BE49-F238E27FC236}">
                <a16:creationId xmlns:a16="http://schemas.microsoft.com/office/drawing/2014/main" id="{3D8B2464-3622-4163-A9B0-D53F48414DB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44256" y="1380067"/>
            <a:ext cx="3718451" cy="464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BA203D5-4954-4830-87A2-65A37A24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792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1181-E99F-4F94-B90F-1FA687DA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Python: Origins (part 2.)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8B7F3-D188-4960-AB63-E1735A0F9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7687130" cy="4796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/>
              <a:t>Python is </a:t>
            </a:r>
            <a:r>
              <a:rPr lang="en-US" sz="2600" i="1"/>
              <a:t>typically</a:t>
            </a:r>
            <a:r>
              <a:rPr lang="en-US" sz="2600"/>
              <a:t> an </a:t>
            </a:r>
            <a:r>
              <a:rPr lang="en-US" sz="2600" b="1" i="1">
                <a:solidFill>
                  <a:schemeClr val="accent1"/>
                </a:solidFill>
              </a:rPr>
              <a:t>interpreted language</a:t>
            </a:r>
            <a:r>
              <a:rPr lang="en-US" sz="2600" i="1"/>
              <a:t>. </a:t>
            </a:r>
          </a:p>
          <a:p>
            <a:r>
              <a:rPr lang="en-US" sz="2600"/>
              <a:t>This means that </a:t>
            </a:r>
            <a:r>
              <a:rPr lang="en-US" sz="2600" b="1">
                <a:solidFill>
                  <a:schemeClr val="accent1"/>
                </a:solidFill>
              </a:rPr>
              <a:t>additional software is required</a:t>
            </a:r>
            <a:r>
              <a:rPr lang="en-US" sz="2600" b="1"/>
              <a:t> </a:t>
            </a:r>
            <a:r>
              <a:rPr lang="en-US" sz="2600"/>
              <a:t>to run Python programs, which are written in </a:t>
            </a:r>
            <a:r>
              <a:rPr lang="en-US" sz="2600" b="1">
                <a:solidFill>
                  <a:schemeClr val="accent1"/>
                </a:solidFill>
              </a:rPr>
              <a:t>plain text</a:t>
            </a:r>
            <a:r>
              <a:rPr lang="en-US" sz="2600"/>
              <a:t>. </a:t>
            </a:r>
          </a:p>
          <a:p>
            <a:r>
              <a:rPr lang="en-US" sz="2600"/>
              <a:t>That’s right, all you need to </a:t>
            </a:r>
            <a:r>
              <a:rPr lang="en-US" sz="2600" b="1" u="sng">
                <a:solidFill>
                  <a:schemeClr val="accent1"/>
                </a:solidFill>
              </a:rPr>
              <a:t>write</a:t>
            </a:r>
            <a:r>
              <a:rPr lang="en-US" sz="2600"/>
              <a:t> Python code is </a:t>
            </a:r>
            <a:r>
              <a:rPr lang="en-US" sz="2600" b="1">
                <a:solidFill>
                  <a:schemeClr val="accent1"/>
                </a:solidFill>
              </a:rPr>
              <a:t>Notepad</a:t>
            </a:r>
            <a:r>
              <a:rPr lang="en-US" sz="2600"/>
              <a:t>! Or any IDE</a:t>
            </a:r>
          </a:p>
          <a:p>
            <a:r>
              <a:rPr lang="en-US" sz="2600"/>
              <a:t>To run Python programs however, you’ll need the Python interpreter, available here: 	</a:t>
            </a:r>
            <a:r>
              <a:rPr lang="en-US" sz="2600">
                <a:hlinkClick r:id="rId2"/>
              </a:rPr>
              <a:t>https://www.python.org/downloads/</a:t>
            </a:r>
            <a:r>
              <a:rPr lang="en-US" sz="2600"/>
              <a:t> </a:t>
            </a:r>
          </a:p>
        </p:txBody>
      </p:sp>
      <p:pic>
        <p:nvPicPr>
          <p:cNvPr id="2052" name="Picture 4" descr="Image result for python logo">
            <a:extLst>
              <a:ext uri="{FF2B5EF4-FFF2-40B4-BE49-F238E27FC236}">
                <a16:creationId xmlns:a16="http://schemas.microsoft.com/office/drawing/2014/main" id="{719A1A3E-9DD1-438A-A316-44664EA8D1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1887" y="1820861"/>
            <a:ext cx="4797425" cy="479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2D3CA82-4D36-4605-BBB4-16AC0ABB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227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CA6573-7CFE-4D7D-94FA-08E582EE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Python? (Part 1)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DAACC4-095F-42F4-92CE-1C44A645E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21" y="1088398"/>
            <a:ext cx="11478986" cy="5088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600"/>
              <a:t>It has a </a:t>
            </a:r>
            <a:r>
              <a:rPr lang="en-GB" sz="2600" i="1"/>
              <a:t>relatively</a:t>
            </a:r>
            <a:r>
              <a:rPr lang="en-GB" sz="2600"/>
              <a:t> simple language syntax that is easier to learn that some other languages.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600"/>
              <a:t>Is widely used in many areas of computing: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GB"/>
              <a:t>Data Analysis &amp; Data Science .</a:t>
            </a:r>
            <a:endParaRPr lang="en-GB">
              <a:ea typeface="Calibri"/>
              <a:cs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GB"/>
              <a:t>Networks, Cyber-security, Digital Forensics.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GB"/>
              <a:t>Task automation.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GB"/>
              <a:t>“Glue” language.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GB"/>
              <a:t>Scientific and Research computation.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GB"/>
              <a:t>Games &amp; 3D animation.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GB"/>
              <a:t>Web development.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600"/>
              <a:t>Has good job prospects.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6A9725E-20C1-4DB8-B939-C5583E0C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24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FE5373-DBED-4F67-B369-DBC2AAB65D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38261" y="1946285"/>
            <a:ext cx="4230678" cy="423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DA2F4E-CD42-42D1-9BCB-08B61FA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Python? (Part 2.)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41A4F1-4F33-40D6-9206-2A3900FC1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600"/>
              <a:t>Comes with “batteries included”.</a:t>
            </a:r>
          </a:p>
          <a:p>
            <a:pPr lvl="1">
              <a:spcBef>
                <a:spcPts val="1000"/>
              </a:spcBef>
            </a:pPr>
            <a:r>
              <a:rPr lang="en-GB" sz="2600"/>
              <a:t>A rich and versatile standard library which is immediately available, without making the user download separate packages. This gives the Python language a head start in many projects.</a:t>
            </a:r>
          </a:p>
          <a:p>
            <a:r>
              <a:rPr lang="en-GB" sz="2600"/>
              <a:t>Many additional packages available that are easy to install using PIP.</a:t>
            </a:r>
          </a:p>
          <a:p>
            <a:r>
              <a:rPr lang="en-GB" sz="2600"/>
              <a:t>Is an </a:t>
            </a:r>
            <a:r>
              <a:rPr lang="en-GB" sz="2600" b="1" i="1">
                <a:solidFill>
                  <a:srgbClr val="7030A0"/>
                </a:solidFill>
              </a:rPr>
              <a:t>expressive</a:t>
            </a:r>
            <a:r>
              <a:rPr lang="en-GB" sz="2600" i="1"/>
              <a:t> </a:t>
            </a:r>
            <a:r>
              <a:rPr lang="en-GB" sz="2600"/>
              <a:t>and</a:t>
            </a:r>
            <a:r>
              <a:rPr lang="en-GB" sz="2600" i="1"/>
              <a:t> </a:t>
            </a:r>
            <a:r>
              <a:rPr lang="en-GB" sz="2600" b="1" i="1">
                <a:solidFill>
                  <a:srgbClr val="7030A0"/>
                </a:solidFill>
              </a:rPr>
              <a:t>readable</a:t>
            </a:r>
            <a:r>
              <a:rPr lang="en-GB" sz="2600" i="1"/>
              <a:t> </a:t>
            </a:r>
            <a:r>
              <a:rPr lang="en-GB" sz="2600"/>
              <a:t>language (let’s take a look at another Java comparison).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1F11508-9E9D-4E81-93FD-04EE2AFD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568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0C2F-EFDE-47E1-A0F6-3810C219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Any drawbacks?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234B-724C-4F17-B724-CC38463211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Python can be </a:t>
            </a:r>
            <a:r>
              <a:rPr lang="en-US" i="1"/>
              <a:t>slower</a:t>
            </a:r>
            <a:r>
              <a:rPr lang="en-US"/>
              <a:t> than compiled languages (i.e. C++) that are converted to raw machine code before they are run.</a:t>
            </a:r>
          </a:p>
          <a:p>
            <a:r>
              <a:rPr lang="en-US"/>
              <a:t>Due to its </a:t>
            </a:r>
            <a:r>
              <a:rPr lang="en-US" b="1">
                <a:solidFill>
                  <a:schemeClr val="accent1"/>
                </a:solidFill>
              </a:rPr>
              <a:t>interpreted</a:t>
            </a:r>
            <a:r>
              <a:rPr lang="en-US"/>
              <a:t> nature, Python does not check variable types at </a:t>
            </a:r>
            <a:r>
              <a:rPr lang="en-US" b="1" i="1">
                <a:solidFill>
                  <a:schemeClr val="accent1"/>
                </a:solidFill>
              </a:rPr>
              <a:t>compile</a:t>
            </a:r>
            <a:r>
              <a:rPr lang="en-US"/>
              <a:t> time (more on this later).</a:t>
            </a:r>
          </a:p>
          <a:p>
            <a:r>
              <a:rPr lang="en-GB"/>
              <a:t>You can’t really </a:t>
            </a:r>
            <a:r>
              <a:rPr lang="en-GB" b="1" i="1">
                <a:solidFill>
                  <a:schemeClr val="accent1"/>
                </a:solidFill>
              </a:rPr>
              <a:t>compile</a:t>
            </a:r>
            <a:r>
              <a:rPr lang="en-GB"/>
              <a:t> Python programs (i.e. turn them into .exe files to run anywhere).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7F6A6EE-420D-48CB-B25A-890C9203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26</a:t>
            </a:fld>
            <a:endParaRPr lang="en-GB"/>
          </a:p>
        </p:txBody>
      </p:sp>
      <p:pic>
        <p:nvPicPr>
          <p:cNvPr id="7" name="Picture 2" descr="Woman, Question Mark, Person, Decision, Thoughtful">
            <a:extLst>
              <a:ext uri="{FF2B5EF4-FFF2-40B4-BE49-F238E27FC236}">
                <a16:creationId xmlns:a16="http://schemas.microsoft.com/office/drawing/2014/main" id="{521DDF33-C09D-42EE-AE6E-2DDDFB38B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925" y="1632743"/>
            <a:ext cx="4790017" cy="359251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477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1B1678-2DA4-4190-973E-5F2F7710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Hello World!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B76431-04B4-42BE-8F78-EB10CD521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first program most programmers implement when dealing with a new language.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F4100CA-B423-4116-8734-F1FC9C6B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395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B196-F307-4BE8-95C3-C155D70F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Vs. Python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88307-D573-4A96-8F26-6BF7BAE4B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719" y="1640435"/>
            <a:ext cx="5613856" cy="498475"/>
          </a:xfrm>
        </p:spPr>
        <p:txBody>
          <a:bodyPr>
            <a:normAutofit fontScale="92500"/>
          </a:bodyPr>
          <a:lstStyle/>
          <a:p>
            <a:r>
              <a:rPr lang="en-US"/>
              <a:t>Java: Traditional Object-Oriented Language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1428B-5AF3-490B-94FB-F6B5A1BC4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3720" y="2274503"/>
            <a:ext cx="5613856" cy="3148008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public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HelloWorld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public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static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main(</a:t>
            </a:r>
            <a:r>
              <a:rPr lang="en-US" sz="1800">
                <a:solidFill>
                  <a:srgbClr val="7030A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String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[] </a:t>
            </a:r>
            <a:r>
              <a:rPr lang="en-US" sz="1800" err="1">
                <a:latin typeface="Consolas" panose="020B0609020204030204" pitchFamily="49" charset="0"/>
                <a:cs typeface="Courier New" panose="02070309020205020404" pitchFamily="49" charset="0"/>
              </a:rPr>
              <a:t>args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800" err="1">
                <a:latin typeface="Consolas" panose="020B06090202040302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"Hello World"</a:t>
            </a: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98F7E-82CA-49C2-A324-051301B27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8" y="1640435"/>
            <a:ext cx="5690507" cy="498475"/>
          </a:xfrm>
        </p:spPr>
        <p:txBody>
          <a:bodyPr>
            <a:normAutofit/>
          </a:bodyPr>
          <a:lstStyle/>
          <a:p>
            <a:r>
              <a:rPr lang="en-US" sz="2000"/>
              <a:t>Python: Designed for Expressiveness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B81C9-8EF8-44C9-9AC1-3D398BED0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274503"/>
            <a:ext cx="5612400" cy="3148008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rgbClr val="795E26"/>
                </a:solidFill>
                <a:latin typeface="Consolas" panose="020B0609020204030204" pitchFamily="49" charset="0"/>
              </a:rPr>
              <a:t> print</a:t>
            </a:r>
            <a:r>
              <a:rPr lang="en-GB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>
                <a:solidFill>
                  <a:srgbClr val="A31515"/>
                </a:solidFill>
                <a:latin typeface="Consolas" panose="020B0609020204030204" pitchFamily="49" charset="0"/>
              </a:rPr>
              <a:t>"Hello World"</a:t>
            </a:r>
            <a:r>
              <a:rPr lang="en-GB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E46AC29-D13F-4693-A1BD-4DE56785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18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05B0-BF99-4665-89B6-13592663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19" y="327037"/>
            <a:ext cx="9505347" cy="803275"/>
          </a:xfrm>
        </p:spPr>
        <p:txBody>
          <a:bodyPr/>
          <a:lstStyle/>
          <a:p>
            <a:r>
              <a:rPr lang="en-US"/>
              <a:t>Java Vs. Python (part 2.)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DDF3C-21DA-4C7F-BA76-CB0335B58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719" y="1196542"/>
            <a:ext cx="7616913" cy="632529"/>
          </a:xfrm>
        </p:spPr>
        <p:txBody>
          <a:bodyPr>
            <a:normAutofit/>
          </a:bodyPr>
          <a:lstStyle/>
          <a:p>
            <a:r>
              <a:rPr lang="en-US" sz="2800" b="0"/>
              <a:t>Swap the values of two variables around…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81242-F19E-4FD6-98C6-34D1CB9B7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138" y="1909324"/>
            <a:ext cx="5200822" cy="2406644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en-US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Java</a:t>
            </a:r>
          </a:p>
          <a:p>
            <a:pPr marL="0" indent="0">
              <a:buNone/>
            </a:pPr>
            <a:r>
              <a:rPr lang="en-US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temp = var1;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var1 = var2;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var2 = temp;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DC336D-0B50-4BE8-8DF2-7A0AFE192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6575" y="1909324"/>
            <a:ext cx="5200296" cy="2406644"/>
          </a:xfr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en-US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Python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var2, var1 = var1, var2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A6346E87-197A-45E0-AF63-29118852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29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4A62AD-4395-48D6-AB22-D4A0ABB5CEC2}"/>
              </a:ext>
            </a:extLst>
          </p:cNvPr>
          <p:cNvGrpSpPr/>
          <p:nvPr/>
        </p:nvGrpSpPr>
        <p:grpSpPr>
          <a:xfrm>
            <a:off x="1851865" y="4446328"/>
            <a:ext cx="2567367" cy="1743339"/>
            <a:chOff x="1486423" y="4396220"/>
            <a:chExt cx="2567367" cy="174333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E65F809-87CC-4104-9317-614F966FE6D7}"/>
                </a:ext>
              </a:extLst>
            </p:cNvPr>
            <p:cNvSpPr/>
            <p:nvPr/>
          </p:nvSpPr>
          <p:spPr>
            <a:xfrm>
              <a:off x="2364113" y="4396220"/>
              <a:ext cx="811987" cy="811987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lIns="36000" rIns="36000" rtlCol="0" anchor="ctr"/>
            <a:lstStyle>
              <a:defPPr>
                <a:defRPr lang="en-US"/>
              </a:defPPr>
              <a:lvl1pPr marL="0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22580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45159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67739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9031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61289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13547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658057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180637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60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var1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92369CD-5AB4-45A1-B3F6-56A3D372F0EB}"/>
                </a:ext>
              </a:extLst>
            </p:cNvPr>
            <p:cNvSpPr/>
            <p:nvPr/>
          </p:nvSpPr>
          <p:spPr>
            <a:xfrm>
              <a:off x="3241803" y="5327572"/>
              <a:ext cx="811987" cy="811987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lIns="36000" rIns="36000" rtlCol="0" anchor="ctr"/>
            <a:lstStyle>
              <a:defPPr>
                <a:defRPr lang="en-US"/>
              </a:defPPr>
              <a:lvl1pPr marL="0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22580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45159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67739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9031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61289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13547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658057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180637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60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temp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AB59B86-4D3A-4EA1-A2A7-D025DD6E352C}"/>
                </a:ext>
              </a:extLst>
            </p:cNvPr>
            <p:cNvSpPr/>
            <p:nvPr/>
          </p:nvSpPr>
          <p:spPr>
            <a:xfrm>
              <a:off x="1486423" y="5327572"/>
              <a:ext cx="811987" cy="811987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lIns="36000" rIns="36000" rtlCol="0" anchor="ctr"/>
            <a:lstStyle>
              <a:defPPr>
                <a:defRPr lang="en-US"/>
              </a:defPPr>
              <a:lvl1pPr marL="0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22580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45159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67739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9031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61289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135478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658057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180637" algn="l" defTabSz="1045159" rtl="0" eaLnBrk="1" latinLnBrk="0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60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var2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9C1F0EA-B8F3-4E4A-85F6-8C43C4E85EB1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3057187" y="5089294"/>
              <a:ext cx="303529" cy="35719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CFBA8C7-05BA-4173-9C7F-425DE77AEFF3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flipH="1">
              <a:off x="2298410" y="5733566"/>
              <a:ext cx="94339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5212B3A-E7AE-4ED1-8A4E-CA6FDB225A66}"/>
                </a:ext>
              </a:extLst>
            </p:cNvPr>
            <p:cNvCxnSpPr>
              <a:cxnSpLocks/>
              <a:stCxn id="12" idx="7"/>
              <a:endCxn id="10" idx="3"/>
            </p:cNvCxnSpPr>
            <p:nvPr/>
          </p:nvCxnSpPr>
          <p:spPr>
            <a:xfrm flipV="1">
              <a:off x="2179497" y="5089294"/>
              <a:ext cx="303529" cy="35719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CF07B0F-82AB-4A69-A8F3-A33F27A9FAC4}"/>
                </a:ext>
              </a:extLst>
            </p:cNvPr>
            <p:cNvSpPr txBox="1"/>
            <p:nvPr/>
          </p:nvSpPr>
          <p:spPr>
            <a:xfrm>
              <a:off x="3209953" y="4888881"/>
              <a:ext cx="36188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580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5159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739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031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89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547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8057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80637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D6B8DF9-C644-4D71-AC33-A1579AD29307}"/>
                </a:ext>
              </a:extLst>
            </p:cNvPr>
            <p:cNvSpPr txBox="1"/>
            <p:nvPr/>
          </p:nvSpPr>
          <p:spPr>
            <a:xfrm>
              <a:off x="1992761" y="4888881"/>
              <a:ext cx="36188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580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5159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739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031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89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547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8057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80637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F15D111-87C0-4E63-87CB-E29B4FEE7428}"/>
                </a:ext>
              </a:extLst>
            </p:cNvPr>
            <p:cNvSpPr txBox="1"/>
            <p:nvPr/>
          </p:nvSpPr>
          <p:spPr>
            <a:xfrm>
              <a:off x="2609645" y="57166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580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5159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739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031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89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5478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8057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80637" algn="l" defTabSz="1045159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>
                  <a:solidFill>
                    <a:srgbClr val="002060"/>
                  </a:solidFill>
                </a:rPr>
                <a:t>3</a:t>
              </a:r>
            </a:p>
          </p:txBody>
        </p:sp>
      </p:grp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E517FF2F-5B0B-4375-B28F-B368A8891E13}"/>
              </a:ext>
            </a:extLst>
          </p:cNvPr>
          <p:cNvSpPr/>
          <p:nvPr/>
        </p:nvSpPr>
        <p:spPr>
          <a:xfrm rot="16200000" flipH="1">
            <a:off x="4031616" y="4046669"/>
            <a:ext cx="2087860" cy="811989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6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E2D7-0303-4482-A063-F332DB5E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 quick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5F9C5-8CC1-4795-BB56-528D8D7A4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We’re going to write our first program(s) together now.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042A23D-1649-471A-A396-8968C1AA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248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D7BF97-8CED-45A7-B0BD-32450494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Types: What are they? (part 1.)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8CFF55-C06C-4E1E-BEB1-24B208FF8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219200"/>
            <a:ext cx="5636080" cy="4957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>
                <a:solidFill>
                  <a:schemeClr val="accent1"/>
                </a:solidFill>
              </a:rPr>
              <a:t>Type</a:t>
            </a:r>
            <a:r>
              <a:rPr lang="en-US" sz="2600"/>
              <a:t> is a concept in programming that relates to the kind of data the computer has stored.</a:t>
            </a:r>
          </a:p>
          <a:p>
            <a:r>
              <a:rPr lang="en-US" sz="2600"/>
              <a:t>For example, adding </a:t>
            </a:r>
            <a:r>
              <a:rPr lang="en-US" sz="2600">
                <a:solidFill>
                  <a:srgbClr val="7030A0"/>
                </a:solidFill>
              </a:rPr>
              <a:t>1</a:t>
            </a:r>
            <a:r>
              <a:rPr lang="en-US" sz="2600"/>
              <a:t> and </a:t>
            </a:r>
            <a:r>
              <a:rPr lang="en-US" sz="2600">
                <a:solidFill>
                  <a:srgbClr val="7030A0"/>
                </a:solidFill>
              </a:rPr>
              <a:t>2</a:t>
            </a:r>
            <a:r>
              <a:rPr lang="en-US" sz="2600"/>
              <a:t> together we get </a:t>
            </a:r>
            <a:r>
              <a:rPr lang="en-US" sz="2600">
                <a:solidFill>
                  <a:srgbClr val="7030A0"/>
                </a:solidFill>
              </a:rPr>
              <a:t>3</a:t>
            </a:r>
            <a:r>
              <a:rPr lang="en-US" sz="2600"/>
              <a:t>, but what about trying to add the number </a:t>
            </a:r>
            <a:r>
              <a:rPr lang="en-US" sz="2600">
                <a:solidFill>
                  <a:srgbClr val="7030A0"/>
                </a:solidFill>
              </a:rPr>
              <a:t>1</a:t>
            </a:r>
            <a:r>
              <a:rPr lang="en-US" sz="2600"/>
              <a:t> to the word </a:t>
            </a:r>
            <a:r>
              <a:rPr lang="en-US" sz="2600">
                <a:solidFill>
                  <a:srgbClr val="7030A0"/>
                </a:solidFill>
              </a:rPr>
              <a:t>"bananas"</a:t>
            </a:r>
            <a:r>
              <a:rPr lang="en-US" sz="2600"/>
              <a:t>. </a:t>
            </a:r>
          </a:p>
          <a:p>
            <a:r>
              <a:rPr lang="en-US" sz="2600"/>
              <a:t>We can’t do it, of course! This is known as a </a:t>
            </a:r>
            <a:r>
              <a:rPr lang="en-US" sz="2600" b="1" i="1">
                <a:solidFill>
                  <a:srgbClr val="7030A0"/>
                </a:solidFill>
              </a:rPr>
              <a:t>type error</a:t>
            </a:r>
            <a:r>
              <a:rPr lang="en-US" sz="2600" i="1"/>
              <a:t> – </a:t>
            </a:r>
            <a:r>
              <a:rPr lang="en-US" sz="2600"/>
              <a:t>trying to make incompatible data types do something they can’t.</a:t>
            </a:r>
            <a:endParaRPr lang="en-GB" sz="260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2F57ABB-D4B5-425E-89E7-551225BC8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31</a:t>
            </a:fld>
            <a:endParaRPr lang="en-GB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6406D09B-98F6-4074-AA3F-919ECDDEDA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632743"/>
            <a:ext cx="5426927" cy="359251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0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D7BF97-8CED-45A7-B0BD-32450494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Types: What are they? (part 2.)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3A76B-A942-4138-B4CA-540D40974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199" y="1219200"/>
            <a:ext cx="5690508" cy="49577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Scalar</a:t>
            </a:r>
            <a:r>
              <a:rPr lang="en-US"/>
              <a:t> (single) types in Python include:</a:t>
            </a:r>
          </a:p>
          <a:p>
            <a:pPr lvl="1"/>
            <a:r>
              <a:rPr lang="en-US"/>
              <a:t>Integers (whole numbers)</a:t>
            </a:r>
          </a:p>
          <a:p>
            <a:pPr lvl="1"/>
            <a:r>
              <a:rPr lang="en-US"/>
              <a:t>Floating point numbers (decimals)</a:t>
            </a:r>
          </a:p>
          <a:p>
            <a:pPr lvl="1"/>
            <a:r>
              <a:rPr lang="en-US"/>
              <a:t>Boolean values (true/false, yes/no)</a:t>
            </a:r>
          </a:p>
          <a:p>
            <a:pPr lvl="1"/>
            <a:r>
              <a:rPr lang="en-GB"/>
              <a:t>None (represents nothing or </a:t>
            </a:r>
            <a:r>
              <a:rPr lang="en-GB" i="1"/>
              <a:t>null</a:t>
            </a:r>
            <a:r>
              <a:rPr lang="en-GB"/>
              <a:t>)</a:t>
            </a:r>
          </a:p>
          <a:p>
            <a:r>
              <a:rPr lang="en-GB"/>
              <a:t>Strings, sequences of letters like “hello” are </a:t>
            </a:r>
            <a:r>
              <a:rPr lang="en-GB" b="1">
                <a:solidFill>
                  <a:schemeClr val="accent1"/>
                </a:solidFill>
              </a:rPr>
              <a:t>non-scalar </a:t>
            </a:r>
            <a:r>
              <a:rPr lang="en-GB"/>
              <a:t>or </a:t>
            </a:r>
            <a:r>
              <a:rPr lang="en-GB" b="1">
                <a:solidFill>
                  <a:schemeClr val="accent1"/>
                </a:solidFill>
              </a:rPr>
              <a:t>composite</a:t>
            </a:r>
            <a:r>
              <a:rPr lang="en-GB"/>
              <a:t>.</a:t>
            </a:r>
            <a:br>
              <a:rPr lang="en-GB"/>
            </a:br>
            <a:br>
              <a:rPr lang="en-GB"/>
            </a:br>
            <a:r>
              <a:rPr lang="en-GB"/>
              <a:t>What does this mean?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9D8541F-0920-42B2-9638-19FB5F92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32</a:t>
            </a:fld>
            <a:endParaRPr lang="en-GB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B52809F-27F9-4483-AC1A-C0A8E8E3BC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75" y="1901824"/>
            <a:ext cx="5426927" cy="359251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2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9876-689B-4BAC-8559-549AFBA9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“variable”? (part 1.)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7BC49-3636-40B2-ABAC-DE0643EC1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6724216" cy="4796896"/>
          </a:xfrm>
        </p:spPr>
        <p:txBody>
          <a:bodyPr>
            <a:normAutofit/>
          </a:bodyPr>
          <a:lstStyle/>
          <a:p>
            <a:r>
              <a:rPr lang="en-US"/>
              <a:t>A </a:t>
            </a:r>
            <a:r>
              <a:rPr lang="en-US" b="1">
                <a:solidFill>
                  <a:schemeClr val="accent1"/>
                </a:solidFill>
              </a:rPr>
              <a:t>variable</a:t>
            </a:r>
            <a:r>
              <a:rPr lang="en-US"/>
              <a:t> is like a </a:t>
            </a:r>
            <a:r>
              <a:rPr lang="en-US" b="1">
                <a:solidFill>
                  <a:schemeClr val="accent1"/>
                </a:solidFill>
              </a:rPr>
              <a:t>box</a:t>
            </a:r>
            <a:r>
              <a:rPr lang="en-US"/>
              <a:t> that can be used to store a value of some </a:t>
            </a:r>
            <a:r>
              <a:rPr lang="en-US" b="1" i="1">
                <a:solidFill>
                  <a:schemeClr val="accent1"/>
                </a:solidFill>
              </a:rPr>
              <a:t>type</a:t>
            </a:r>
            <a:r>
              <a:rPr lang="en-US"/>
              <a:t>.</a:t>
            </a:r>
          </a:p>
          <a:p>
            <a:r>
              <a:rPr lang="en-US"/>
              <a:t>We give variables </a:t>
            </a:r>
            <a:r>
              <a:rPr lang="en-US" b="1">
                <a:solidFill>
                  <a:schemeClr val="accent1"/>
                </a:solidFill>
              </a:rPr>
              <a:t>names</a:t>
            </a:r>
            <a:r>
              <a:rPr lang="en-US"/>
              <a:t>, called </a:t>
            </a:r>
            <a:r>
              <a:rPr lang="en-US" b="1" i="1">
                <a:solidFill>
                  <a:schemeClr val="accent1"/>
                </a:solidFill>
              </a:rPr>
              <a:t>identifiers</a:t>
            </a:r>
            <a:r>
              <a:rPr lang="en-US"/>
              <a:t> in order to work with them easily.</a:t>
            </a:r>
          </a:p>
          <a:p>
            <a:r>
              <a:rPr lang="en-US"/>
              <a:t>In Python, these </a:t>
            </a:r>
            <a:r>
              <a:rPr lang="en-US" b="1">
                <a:solidFill>
                  <a:schemeClr val="accent1"/>
                </a:solidFill>
              </a:rPr>
              <a:t>names</a:t>
            </a:r>
            <a:r>
              <a:rPr lang="en-US"/>
              <a:t> can only contain letters, numbers and underscores (_), and </a:t>
            </a:r>
            <a:r>
              <a:rPr lang="en-US" b="1">
                <a:solidFill>
                  <a:schemeClr val="accent1"/>
                </a:solidFill>
              </a:rPr>
              <a:t>cannot start with a number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96CD3-579E-4979-9B8B-721FBCF78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9584" y="1380067"/>
            <a:ext cx="4523122" cy="4796896"/>
          </a:xfr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anchor="ctr">
            <a:normAutofit/>
          </a:bodyPr>
          <a:lstStyle/>
          <a:p>
            <a:pPr marL="50800" indent="0">
              <a:buNone/>
            </a:pPr>
            <a:r>
              <a:rPr lang="en-GB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 = </a:t>
            </a:r>
            <a:r>
              <a:rPr lang="en-GB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GB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0800" indent="0">
              <a:buNone/>
            </a:pPr>
            <a:r>
              <a:rPr lang="en-GB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x123 = </a:t>
            </a:r>
            <a:r>
              <a:rPr lang="en-GB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endParaRPr lang="en-GB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0800" indent="0">
              <a:buNone/>
            </a:pPr>
            <a:r>
              <a:rPr lang="en-GB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x123! = </a:t>
            </a:r>
            <a:r>
              <a:rPr lang="en-GB" sz="3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GB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0800" indent="0">
              <a:buNone/>
            </a:pPr>
            <a:r>
              <a:rPr lang="en-GB" sz="3200" b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123x</a:t>
            </a:r>
            <a:r>
              <a:rPr lang="en-GB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= </a:t>
            </a:r>
            <a:r>
              <a:rPr lang="en-GB" sz="3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"Hello!"</a:t>
            </a:r>
            <a:endParaRPr lang="en-GB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0800" indent="0">
              <a:buNone/>
            </a:pPr>
            <a:r>
              <a:rPr lang="en-GB" sz="3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X_123 = </a:t>
            </a:r>
            <a:r>
              <a:rPr lang="en-GB" sz="3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23.53</a:t>
            </a:r>
            <a:endParaRPr lang="en-GB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55070E8-4F4A-45E5-A76C-7B7EC2CD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71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E17A-4FFB-422F-A8A0-4FE5BA4B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“variable”? (part 2.)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4E490-B900-4E05-A6BE-6C802D4444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600"/>
              <a:t>Some words have </a:t>
            </a:r>
            <a:r>
              <a:rPr lang="en-US" sz="2600" b="1">
                <a:solidFill>
                  <a:schemeClr val="accent1"/>
                </a:solidFill>
              </a:rPr>
              <a:t>special meaning</a:t>
            </a:r>
            <a:r>
              <a:rPr lang="en-US" sz="2600" b="1"/>
              <a:t> </a:t>
            </a:r>
            <a:r>
              <a:rPr lang="en-US" sz="2600"/>
              <a:t>in Python which means we can’t use them as variables. </a:t>
            </a:r>
          </a:p>
          <a:p>
            <a:pPr marL="0" indent="0">
              <a:buNone/>
            </a:pPr>
            <a:endParaRPr lang="en-US" sz="2600"/>
          </a:p>
          <a:p>
            <a:r>
              <a:rPr lang="en-US" sz="2600"/>
              <a:t>Some of them on the right. A complete list can be found here: </a:t>
            </a:r>
            <a:r>
              <a:rPr lang="en-GB" sz="2600">
                <a:hlinkClick r:id="rId2"/>
              </a:rPr>
              <a:t>https://www.programiz.com/python-programming/keyword-list</a:t>
            </a:r>
            <a:endParaRPr lang="en-GB" sz="26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D2942-40FE-4966-89F7-FE547FE74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/>
              <a:t>Some so-called </a:t>
            </a:r>
            <a:r>
              <a:rPr lang="en-US" sz="2600" b="1" i="1">
                <a:solidFill>
                  <a:srgbClr val="7030A0"/>
                </a:solidFill>
              </a:rPr>
              <a:t>reserved words</a:t>
            </a:r>
            <a:r>
              <a:rPr lang="en-US" sz="2600"/>
              <a:t> in Python include:</a:t>
            </a:r>
          </a:p>
          <a:p>
            <a:pPr lvl="1"/>
            <a:r>
              <a:rPr lang="en-US" sz="2600">
                <a:solidFill>
                  <a:srgbClr val="7030A0"/>
                </a:solidFill>
                <a:latin typeface="Consolas"/>
                <a:cs typeface="Courier New"/>
              </a:rPr>
              <a:t>import</a:t>
            </a:r>
          </a:p>
          <a:p>
            <a:pPr lvl="1"/>
            <a:r>
              <a:rPr lang="en-GB" sz="2600">
                <a:solidFill>
                  <a:srgbClr val="7030A0"/>
                </a:solidFill>
                <a:latin typeface="Consolas"/>
                <a:cs typeface="Courier New"/>
              </a:rPr>
              <a:t>class</a:t>
            </a:r>
          </a:p>
          <a:p>
            <a:pPr lvl="1"/>
            <a:r>
              <a:rPr lang="en-GB" sz="2600">
                <a:solidFill>
                  <a:srgbClr val="7030A0"/>
                </a:solidFill>
                <a:latin typeface="Consolas"/>
                <a:cs typeface="Courier New"/>
              </a:rPr>
              <a:t>def</a:t>
            </a:r>
          </a:p>
          <a:p>
            <a:pPr lvl="1"/>
            <a:r>
              <a:rPr lang="en-GB" sz="2600">
                <a:solidFill>
                  <a:srgbClr val="7030A0"/>
                </a:solidFill>
                <a:latin typeface="Consolas"/>
                <a:cs typeface="Courier New"/>
              </a:rPr>
              <a:t>True</a:t>
            </a:r>
          </a:p>
          <a:p>
            <a:pPr lvl="1"/>
            <a:r>
              <a:rPr lang="en-GB" sz="2600">
                <a:solidFill>
                  <a:srgbClr val="7030A0"/>
                </a:solidFill>
                <a:latin typeface="Consolas"/>
                <a:cs typeface="Courier New"/>
              </a:rPr>
              <a:t>False</a:t>
            </a:r>
          </a:p>
          <a:p>
            <a:pPr lvl="1"/>
            <a:r>
              <a:rPr lang="en-GB" sz="2600">
                <a:solidFill>
                  <a:srgbClr val="7030A0"/>
                </a:solidFill>
                <a:latin typeface="Consolas"/>
                <a:cs typeface="Courier New"/>
              </a:rPr>
              <a:t>if</a:t>
            </a:r>
          </a:p>
          <a:p>
            <a:pPr lvl="1"/>
            <a:r>
              <a:rPr lang="en-GB" sz="2600">
                <a:solidFill>
                  <a:srgbClr val="7030A0"/>
                </a:solidFill>
                <a:latin typeface="Consolas"/>
                <a:cs typeface="Courier New"/>
              </a:rPr>
              <a:t>continue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A83120A-84B3-456A-9568-81EECF6D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7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E9F-65C4-41BF-91E7-56D0D8A6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GB" sz="4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/>
              <a:t> function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06FEF-5736-4EBD-A1B3-3544C08D8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6516952" cy="479689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/>
              <a:t>The </a:t>
            </a:r>
            <a:r>
              <a:rPr lang="en-GB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GB"/>
              <a:t> function will write some text to the screen.</a:t>
            </a:r>
          </a:p>
          <a:p>
            <a:pPr>
              <a:lnSpc>
                <a:spcPct val="110000"/>
              </a:lnSpc>
            </a:pPr>
            <a:r>
              <a:rPr lang="en-GB"/>
              <a:t>The </a:t>
            </a:r>
            <a:r>
              <a:rPr lang="en-GB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GB"/>
              <a:t> function can take multiple </a:t>
            </a:r>
            <a:r>
              <a:rPr lang="en-GB" i="1"/>
              <a:t>arguments</a:t>
            </a:r>
            <a:r>
              <a:rPr lang="en-GB"/>
              <a:t> (small pieces of data we provide) separated by a comma.</a:t>
            </a:r>
          </a:p>
          <a:p>
            <a:pPr>
              <a:lnSpc>
                <a:spcPct val="110000"/>
              </a:lnSpc>
            </a:pPr>
            <a:r>
              <a:rPr lang="en-GB"/>
              <a:t>The comma introduces a space in the output separating the printed content of adjacent arguments.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49973F-1BC5-4989-8A75-A4CEA8C9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0673" y="1380067"/>
            <a:ext cx="4962034" cy="4796896"/>
          </a:xfr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Set some variables</a:t>
            </a:r>
            <a:endParaRPr lang="en-GB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 = </a:t>
            </a:r>
            <a:r>
              <a:rPr lang="en-GB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en-GB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 = </a:t>
            </a:r>
            <a:r>
              <a:rPr lang="en-GB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endParaRPr lang="en-GB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 = </a:t>
            </a:r>
            <a:r>
              <a:rPr lang="en-GB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endParaRPr lang="en-GB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Use print to output to screen</a:t>
            </a:r>
            <a:endParaRPr lang="en-GB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GB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"Result is: "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result)</a:t>
            </a:r>
          </a:p>
          <a:p>
            <a:pPr marL="0" indent="0">
              <a:buNone/>
            </a:pPr>
            <a:r>
              <a:rPr lang="en-GB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 </a:t>
            </a:r>
            <a:r>
              <a:rPr lang="en-GB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y, </a:t>
            </a:r>
            <a:r>
              <a:rPr lang="en-GB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(x * y))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5969C52-A232-416E-9000-5E693B01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95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E9F-65C4-41BF-91E7-56D0D8A6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GB" sz="4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GB">
                <a:cs typeface="Courier New" panose="02070309020205020404" pitchFamily="49" charset="0"/>
              </a:rPr>
              <a:t> f</a:t>
            </a:r>
            <a:r>
              <a:rPr lang="en-US"/>
              <a:t>unction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06FEF-5736-4EBD-A1B3-3544C08D8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6577912" cy="47968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/>
              <a:t>The </a:t>
            </a:r>
            <a:r>
              <a:rPr lang="en-GB">
                <a:solidFill>
                  <a:srgbClr val="795E26"/>
                </a:solidFill>
                <a:latin typeface="Consolas" panose="020B0609020204030204" pitchFamily="49" charset="0"/>
              </a:rPr>
              <a:t>input</a:t>
            </a: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GB"/>
              <a:t> function will get a value from the user.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/>
              <a:t>The </a:t>
            </a:r>
            <a:r>
              <a:rPr lang="en-GB">
                <a:solidFill>
                  <a:srgbClr val="795E26"/>
                </a:solidFill>
                <a:latin typeface="Consolas" panose="020B0609020204030204" pitchFamily="49" charset="0"/>
              </a:rPr>
              <a:t>input</a:t>
            </a: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GB"/>
              <a:t> function should normally be given with a prompt to observe good user interface practice (single argument only)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/>
              <a:t>The prompt can be a literal (as indicated) or a string variable.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/>
              <a:t>The </a:t>
            </a:r>
            <a:r>
              <a:rPr lang="en-GB">
                <a:solidFill>
                  <a:srgbClr val="795E26"/>
                </a:solidFill>
                <a:latin typeface="Consolas" panose="020B0609020204030204" pitchFamily="49" charset="0"/>
              </a:rPr>
              <a:t>input</a:t>
            </a: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GB"/>
              <a:t> function would normally include a variable name assignment to record whatever was entered in response.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49973F-1BC5-4989-8A75-A4CEA8C9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6704" y="1378801"/>
            <a:ext cx="4706003" cy="3398836"/>
          </a:xfr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GB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"Please enter something: "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 = </a:t>
            </a:r>
            <a:r>
              <a:rPr lang="en-GB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"And your name is?"</a:t>
            </a:r>
            <a:r>
              <a:rPr lang="en-GB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3DBE23-E102-4A2A-8C54-F6DBA813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36</a:t>
            </a:fld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E5B9170-B887-4C8F-A58F-5E3939C4FA58}"/>
              </a:ext>
            </a:extLst>
          </p:cNvPr>
          <p:cNvSpPr txBox="1">
            <a:spLocks/>
          </p:cNvSpPr>
          <p:nvPr/>
        </p:nvSpPr>
        <p:spPr>
          <a:xfrm>
            <a:off x="7156704" y="4870188"/>
            <a:ext cx="4706003" cy="9838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GB" sz="2600" b="1"/>
              <a:t>The input statement returns a character string type!</a:t>
            </a:r>
          </a:p>
        </p:txBody>
      </p:sp>
    </p:spTree>
    <p:extLst>
      <p:ext uri="{BB962C8B-B14F-4D97-AF65-F5344CB8AC3E}">
        <p14:creationId xmlns:p14="http://schemas.microsoft.com/office/powerpoint/2010/main" val="232259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E9F-65C4-41BF-91E7-56D0D8A6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Casting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06FEF-5736-4EBD-A1B3-3544C08D83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b="1">
                <a:solidFill>
                  <a:schemeClr val="accent1"/>
                </a:solidFill>
              </a:rPr>
              <a:t>Casting</a:t>
            </a:r>
            <a:r>
              <a:rPr lang="en-GB" sz="2400"/>
              <a:t> is the process of converting a value of </a:t>
            </a:r>
            <a:r>
              <a:rPr lang="en-GB" sz="2400" b="1">
                <a:solidFill>
                  <a:schemeClr val="accent1"/>
                </a:solidFill>
              </a:rPr>
              <a:t>one</a:t>
            </a:r>
            <a:r>
              <a:rPr lang="en-GB" sz="2400">
                <a:solidFill>
                  <a:schemeClr val="accent1"/>
                </a:solidFill>
              </a:rPr>
              <a:t> </a:t>
            </a:r>
            <a:r>
              <a:rPr lang="en-GB" sz="2400" b="1">
                <a:solidFill>
                  <a:schemeClr val="accent1"/>
                </a:solidFill>
              </a:rPr>
              <a:t>type to another</a:t>
            </a:r>
            <a:r>
              <a:rPr lang="en-GB" sz="2400"/>
              <a:t>.</a:t>
            </a:r>
          </a:p>
          <a:p>
            <a:r>
              <a:rPr lang="en-GB" sz="2400"/>
              <a:t>For example, if we read two numbers from the user as </a:t>
            </a:r>
            <a:r>
              <a:rPr lang="en-GB" sz="2400" b="1">
                <a:solidFill>
                  <a:schemeClr val="accent1"/>
                </a:solidFill>
              </a:rPr>
              <a:t>strings</a:t>
            </a:r>
            <a:r>
              <a:rPr lang="en-GB" sz="2400"/>
              <a:t>, we cannot add them together until we </a:t>
            </a:r>
            <a:r>
              <a:rPr lang="en-GB" sz="2400" b="1">
                <a:solidFill>
                  <a:schemeClr val="accent1"/>
                </a:solidFill>
              </a:rPr>
              <a:t>turn them into integers</a:t>
            </a:r>
            <a:r>
              <a:rPr lang="en-GB" sz="2400"/>
              <a:t>! To cast to values of a different type, we use functions including:</a:t>
            </a:r>
          </a:p>
          <a:p>
            <a:pPr lvl="1"/>
            <a:r>
              <a:rPr lang="en-GB">
                <a:solidFill>
                  <a:srgbClr val="267F99"/>
                </a:solidFill>
                <a:latin typeface="Consolas" panose="020B0609020204030204" pitchFamily="49" charset="0"/>
              </a:rPr>
              <a:t>float</a:t>
            </a:r>
            <a:r>
              <a:rPr lang="en-GB" sz="2200">
                <a:latin typeface="Consolas" panose="020B0609020204030204" pitchFamily="49" charset="0"/>
                <a:cs typeface="Courier New" panose="02070309020205020404" pitchFamily="49" charset="0"/>
              </a:rPr>
              <a:t>(x)</a:t>
            </a:r>
            <a:r>
              <a:rPr lang="en-GB" sz="2200">
                <a:cs typeface="Courier New" panose="02070309020205020404" pitchFamily="49" charset="0"/>
              </a:rPr>
              <a:t> - </a:t>
            </a:r>
            <a:r>
              <a:rPr lang="en-GB" sz="2200"/>
              <a:t>converts x to a float</a:t>
            </a:r>
          </a:p>
          <a:p>
            <a:pPr lvl="1"/>
            <a:r>
              <a:rPr lang="en-GB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GB" sz="2200">
                <a:latin typeface="Consolas" panose="020B0609020204030204" pitchFamily="49" charset="0"/>
                <a:cs typeface="Courier New" panose="02070309020205020404" pitchFamily="49" charset="0"/>
              </a:rPr>
              <a:t>(x)</a:t>
            </a:r>
            <a:r>
              <a:rPr lang="en-GB" sz="2200">
                <a:cs typeface="Courier New" panose="02070309020205020404" pitchFamily="49" charset="0"/>
              </a:rPr>
              <a:t> - </a:t>
            </a:r>
            <a:r>
              <a:rPr lang="en-GB" sz="2200"/>
              <a:t>converts x to an integer</a:t>
            </a:r>
          </a:p>
          <a:p>
            <a:pPr lvl="1"/>
            <a:r>
              <a:rPr lang="en-GB">
                <a:solidFill>
                  <a:srgbClr val="267F99"/>
                </a:solidFill>
                <a:latin typeface="Consolas" panose="020B0609020204030204" pitchFamily="49" charset="0"/>
              </a:rPr>
              <a:t>str</a:t>
            </a:r>
            <a:r>
              <a:rPr lang="en-GB" sz="2200">
                <a:latin typeface="Consolas" panose="020B0609020204030204" pitchFamily="49" charset="0"/>
                <a:cs typeface="Courier New" panose="02070309020205020404" pitchFamily="49" charset="0"/>
              </a:rPr>
              <a:t>(x)</a:t>
            </a:r>
            <a:r>
              <a:rPr lang="en-GB" sz="2200">
                <a:cs typeface="Courier New" panose="02070309020205020404" pitchFamily="49" charset="0"/>
              </a:rPr>
              <a:t> - </a:t>
            </a:r>
            <a:r>
              <a:rPr lang="en-GB" sz="2200"/>
              <a:t>converts x to a string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49973F-1BC5-4989-8A75-A4CEA8C9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380067"/>
            <a:ext cx="5690508" cy="4796896"/>
          </a:xfr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anchor="ctr">
            <a:normAutofit/>
          </a:bodyPr>
          <a:lstStyle/>
          <a:p>
            <a:pPr marL="50800" indent="0">
              <a:buNone/>
            </a:pP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 = </a:t>
            </a:r>
            <a:r>
              <a:rPr lang="en-GB" sz="2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 x: "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50800" indent="0">
              <a:buNone/>
            </a:pP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 = </a:t>
            </a:r>
            <a:r>
              <a:rPr lang="en-GB" sz="2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 y: "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50800" indent="0">
              <a:buNone/>
            </a:pPr>
            <a:b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2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 * y) </a:t>
            </a:r>
            <a:r>
              <a:rPr lang="en-GB" sz="2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This won't work!</a:t>
            </a:r>
            <a:endParaRPr lang="en-GB" sz="2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0800" indent="0">
              <a:buNone/>
            </a:pPr>
            <a:b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2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 * </a:t>
            </a:r>
            <a:r>
              <a:rPr lang="en-GB" sz="2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(y)) </a:t>
            </a:r>
            <a:r>
              <a:rPr lang="en-GB" sz="2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This will</a:t>
            </a:r>
            <a:endParaRPr lang="en-GB" sz="2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0800" indent="0">
              <a:buNone/>
            </a:pPr>
            <a:r>
              <a:rPr lang="en-GB" sz="2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Notice the use of casting here</a:t>
            </a:r>
            <a:endParaRPr lang="en-GB" sz="2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87190F3-FF94-44DA-A00F-8C951040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25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1E94-FB95-4E9B-8AD9-030D2F20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Operators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EA38C-724B-40AA-9C28-C9C7123DC0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/>
              <a:t>Operators are functions that work on </a:t>
            </a:r>
            <a:r>
              <a:rPr lang="en-US" i="1"/>
              <a:t>operands</a:t>
            </a:r>
            <a:r>
              <a:rPr lang="en-US"/>
              <a:t>. </a:t>
            </a:r>
          </a:p>
          <a:p>
            <a:pPr>
              <a:lnSpc>
                <a:spcPct val="120000"/>
              </a:lnSpc>
            </a:pPr>
            <a:r>
              <a:rPr lang="en-US"/>
              <a:t>Examples, with operands </a:t>
            </a:r>
            <a:r>
              <a:rPr lang="en-US" b="1"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/>
              <a:t> as </a:t>
            </a:r>
            <a:r>
              <a:rPr lang="en-US" b="1">
                <a:solidFill>
                  <a:schemeClr val="accent1"/>
                </a:solidFill>
              </a:rPr>
              <a:t>8</a:t>
            </a:r>
            <a:r>
              <a:rPr lang="en-US"/>
              <a:t> and </a:t>
            </a:r>
            <a:r>
              <a:rPr lang="en-US" b="1"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/>
              <a:t> as </a:t>
            </a:r>
            <a:r>
              <a:rPr lang="en-US" b="1">
                <a:solidFill>
                  <a:schemeClr val="accent1"/>
                </a:solidFill>
              </a:rPr>
              <a:t>3</a:t>
            </a:r>
            <a:r>
              <a:rPr lang="en-US"/>
              <a:t> are shown on the right.</a:t>
            </a:r>
          </a:p>
          <a:p>
            <a:pPr>
              <a:lnSpc>
                <a:spcPct val="120000"/>
              </a:lnSpc>
            </a:pPr>
            <a:r>
              <a:rPr lang="en-US"/>
              <a:t>These are called </a:t>
            </a:r>
            <a:r>
              <a:rPr lang="en-US" i="1"/>
              <a:t>binary</a:t>
            </a:r>
            <a:r>
              <a:rPr lang="en-US"/>
              <a:t> operators. </a:t>
            </a:r>
            <a:r>
              <a:rPr lang="en-US" i="1"/>
              <a:t>Binary</a:t>
            </a:r>
            <a:r>
              <a:rPr lang="en-US"/>
              <a:t> just means ‘2’, and because these operators take 2 operands, they get their name.</a:t>
            </a:r>
          </a:p>
          <a:p>
            <a:pPr>
              <a:lnSpc>
                <a:spcPct val="120000"/>
              </a:lnSpc>
            </a:pPr>
            <a:r>
              <a:rPr lang="en-US"/>
              <a:t>This has nothing to do with the concept of binary numbers (i.e. 1s and 0s)!</a:t>
            </a:r>
            <a:endParaRPr lang="en-GB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48F436-1D61-48A2-B59A-CF149B2CD78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02906" y="1381929"/>
          <a:ext cx="5659801" cy="4094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600">
                  <a:extLst>
                    <a:ext uri="{9D8B030D-6E8A-4147-A177-3AD203B41FA5}">
                      <a16:colId xmlns:a16="http://schemas.microsoft.com/office/drawing/2014/main" val="54861714"/>
                    </a:ext>
                  </a:extLst>
                </a:gridCol>
                <a:gridCol w="1550120">
                  <a:extLst>
                    <a:ext uri="{9D8B030D-6E8A-4147-A177-3AD203B41FA5}">
                      <a16:colId xmlns:a16="http://schemas.microsoft.com/office/drawing/2014/main" val="2142465422"/>
                    </a:ext>
                  </a:extLst>
                </a:gridCol>
                <a:gridCol w="2223081">
                  <a:extLst>
                    <a:ext uri="{9D8B030D-6E8A-4147-A177-3AD203B41FA5}">
                      <a16:colId xmlns:a16="http://schemas.microsoft.com/office/drawing/2014/main" val="1879971357"/>
                    </a:ext>
                  </a:extLst>
                </a:gridCol>
              </a:tblGrid>
              <a:tr h="500624">
                <a:tc>
                  <a:txBody>
                    <a:bodyPr/>
                    <a:lstStyle/>
                    <a:p>
                      <a:r>
                        <a:rPr lang="en-US" sz="2000"/>
                        <a:t>Operation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Python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Example</a:t>
                      </a:r>
                      <a:endParaRPr lang="en-GB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605990"/>
                  </a:ext>
                </a:extLst>
              </a:tr>
              <a:tr h="864090">
                <a:tc>
                  <a:txBody>
                    <a:bodyPr/>
                    <a:lstStyle/>
                    <a:p>
                      <a:r>
                        <a:rPr lang="en-US" sz="2000"/>
                        <a:t>Addition,</a:t>
                      </a:r>
                    </a:p>
                    <a:p>
                      <a:r>
                        <a:rPr lang="en-US" sz="2000"/>
                        <a:t>subtraction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sz="2000">
                          <a:latin typeface="+mn-lt"/>
                        </a:rPr>
                        <a:t>or</a:t>
                      </a:r>
                      <a:r>
                        <a:rPr lang="en-US" sz="2000">
                          <a:latin typeface="Consolas" panose="020B0609020204030204" pitchFamily="49" charset="0"/>
                        </a:rPr>
                        <a:t> -</a:t>
                      </a:r>
                      <a:endParaRPr lang="en-GB" sz="20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x + y = 11</a:t>
                      </a:r>
                      <a:endParaRPr lang="en-GB" sz="200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315653"/>
                  </a:ext>
                </a:extLst>
              </a:tr>
              <a:tr h="500624">
                <a:tc>
                  <a:txBody>
                    <a:bodyPr/>
                    <a:lstStyle/>
                    <a:p>
                      <a:r>
                        <a:rPr lang="en-US" sz="2000"/>
                        <a:t>Multiplication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</a:rPr>
                        <a:t>*</a:t>
                      </a:r>
                      <a:endParaRPr lang="en-GB" sz="20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x * y = 24</a:t>
                      </a:r>
                      <a:endParaRPr lang="en-GB" sz="200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023741"/>
                  </a:ext>
                </a:extLst>
              </a:tr>
              <a:tr h="500624">
                <a:tc>
                  <a:txBody>
                    <a:bodyPr/>
                    <a:lstStyle/>
                    <a:p>
                      <a:r>
                        <a:rPr lang="en-US" sz="2000"/>
                        <a:t>Division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</a:rPr>
                        <a:t>/</a:t>
                      </a:r>
                      <a:endParaRPr lang="en-GB" sz="20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x / y = 2.67</a:t>
                      </a:r>
                      <a:endParaRPr lang="en-GB" sz="200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286988"/>
                  </a:ext>
                </a:extLst>
              </a:tr>
              <a:tr h="864090">
                <a:tc>
                  <a:txBody>
                    <a:bodyPr/>
                    <a:lstStyle/>
                    <a:p>
                      <a:r>
                        <a:rPr lang="en-US" sz="2000"/>
                        <a:t>Exponentiation (Power)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</a:rPr>
                        <a:t>**</a:t>
                      </a:r>
                      <a:endParaRPr lang="en-GB" sz="20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x ** y = 256</a:t>
                      </a:r>
                      <a:endParaRPr lang="en-GB" sz="200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497593"/>
                  </a:ext>
                </a:extLst>
              </a:tr>
              <a:tr h="864090">
                <a:tc>
                  <a:txBody>
                    <a:bodyPr/>
                    <a:lstStyle/>
                    <a:p>
                      <a:r>
                        <a:rPr lang="en-US" sz="2000"/>
                        <a:t>Integer division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</a:rPr>
                        <a:t>//</a:t>
                      </a:r>
                      <a:endParaRPr lang="en-GB" sz="20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x // y = 2</a:t>
                      </a:r>
                      <a:endParaRPr lang="en-GB" sz="200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2584"/>
                  </a:ext>
                </a:extLst>
              </a:tr>
            </a:tbl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3143687-46C4-4F33-AA3E-D54184A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016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44CF84-CDE7-413E-8580-51AB7C80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Live demo: Bar bill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6A2BDD-EE33-45E0-814B-941C99A1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Write a program that will provide a total when ordering items from the SU bar.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AF92D93-5097-4D97-ABDD-ED127214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1192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10966A-64D7-5AB7-74CA-73A396CA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High-level steps – pseudocode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D2C6E5-06CF-4498-7461-19F806C9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Define the costs of the available bar</a:t>
            </a:r>
          </a:p>
          <a:p>
            <a:r>
              <a:rPr lang="en-GB"/>
              <a:t>Initialise the total bar bill to 0</a:t>
            </a:r>
          </a:p>
          <a:p>
            <a:r>
              <a:rPr lang="en-GB"/>
              <a:t>Ask the user for how many beverages they want</a:t>
            </a:r>
          </a:p>
          <a:p>
            <a:r>
              <a:rPr lang="en-GB"/>
              <a:t>Ask the user for how many food items they want</a:t>
            </a:r>
          </a:p>
          <a:p>
            <a:r>
              <a:rPr lang="en-GB"/>
              <a:t>Update the total bar bill, </a:t>
            </a:r>
            <a:r>
              <a:rPr lang="en-GB" err="1"/>
              <a:t>ie</a:t>
            </a:r>
            <a:r>
              <a:rPr lang="en-GB"/>
              <a:t>:</a:t>
            </a:r>
            <a:br>
              <a:rPr lang="en-GB"/>
            </a:br>
            <a:r>
              <a:rPr lang="en-GB"/>
              <a:t>number of drinks x cost + number of food item * cost</a:t>
            </a:r>
          </a:p>
          <a:p>
            <a:r>
              <a:rPr lang="en-GB"/>
              <a:t>Display the final cost to the user</a:t>
            </a:r>
          </a:p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D5BF5-0E22-F510-1542-0F08FC6B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30E93-5E8F-21D2-1502-09F0640B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485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FADA-B84A-42B7-8917-076F09B2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Finally, Conform to the Style Guide!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FEC8-ED6B-4630-A53A-C5804CFCE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Code must be written in a way that makes it </a:t>
            </a:r>
            <a:r>
              <a:rPr lang="en-US" sz="3600" b="1">
                <a:solidFill>
                  <a:schemeClr val="accent1"/>
                </a:solidFill>
              </a:rPr>
              <a:t>easy</a:t>
            </a:r>
            <a:r>
              <a:rPr lang="en-US" sz="3200" b="1"/>
              <a:t> </a:t>
            </a:r>
            <a:r>
              <a:rPr lang="en-US" sz="3600" b="1">
                <a:solidFill>
                  <a:schemeClr val="accent1"/>
                </a:solidFill>
              </a:rPr>
              <a:t>to read!</a:t>
            </a:r>
          </a:p>
          <a:p>
            <a:r>
              <a:rPr lang="en-US" sz="3200"/>
              <a:t>To help us with this, programmers often employ </a:t>
            </a:r>
            <a:r>
              <a:rPr lang="en-US" sz="3200" i="1"/>
              <a:t>style guides</a:t>
            </a:r>
            <a:r>
              <a:rPr lang="en-US" sz="3200"/>
              <a:t> to make sure that our code conforms to certain standards.</a:t>
            </a:r>
          </a:p>
          <a:p>
            <a:r>
              <a:rPr lang="en-US" sz="3200"/>
              <a:t>Python’s most popular style guide is called PEP 8 and you can look at it here: </a:t>
            </a:r>
            <a:r>
              <a:rPr lang="en-US" sz="3200">
                <a:hlinkClick r:id="rId2"/>
              </a:rPr>
              <a:t>https://www.python.org/dev/peps/pep-0008/</a:t>
            </a:r>
            <a:r>
              <a:rPr lang="en-GB" sz="3200"/>
              <a:t> </a:t>
            </a:r>
          </a:p>
          <a:p>
            <a:r>
              <a:rPr lang="en-GB" sz="3200"/>
              <a:t>When we write code on this course, we want to conform to this as closely as we can.</a:t>
            </a:r>
          </a:p>
          <a:p>
            <a:r>
              <a:rPr lang="en-GB" sz="3200"/>
              <a:t>Why is it important to write readable code?</a:t>
            </a:r>
            <a:endParaRPr lang="en-US" sz="320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BBF769B-570F-4EDD-8749-724DF401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6596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8910BEA-D6B8-328F-F1B4-25D46DDC093B}"/>
              </a:ext>
            </a:extLst>
          </p:cNvPr>
          <p:cNvSpPr txBox="1"/>
          <p:nvPr/>
        </p:nvSpPr>
        <p:spPr>
          <a:xfrm>
            <a:off x="133684" y="2847473"/>
            <a:ext cx="1191844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>
                <a:cs typeface="Calibri"/>
              </a:rPr>
              <a:t>Questions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249174789"/>
      </p:ext>
    </p:extLst>
  </p:cSld>
  <p:clrMapOvr>
    <a:masterClrMapping/>
  </p:clrMapOvr>
</p:sld>
</file>

<file path=ppt/theme/theme1.xml><?xml version="1.0" encoding="utf-8"?>
<a:theme xmlns:a="http://schemas.openxmlformats.org/drawingml/2006/main" name="Intro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 Template">
  <a:themeElements>
    <a:clrScheme name="SCM Colours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6C2787"/>
      </a:hlink>
      <a:folHlink>
        <a:srgbClr val="F7964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 Template.pptx" id="{AB973374-495E-4CE9-AF59-28B5C8448FFC}" vid="{B1A2120D-8249-4458-B67C-2078D3018BE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52af4ff-75cf-48be-9503-79741c0f580d}" enabled="1" method="Standard" siteId="{43d2115b-a55e-46b6-9df7-b03388ecfc6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42</Slides>
  <Notes>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Intro slide</vt:lpstr>
      <vt:lpstr>Slide Template</vt:lpstr>
      <vt:lpstr>Software for Digital Innovation (CIS4044-N)</vt:lpstr>
      <vt:lpstr>Today’s agenda</vt:lpstr>
      <vt:lpstr>Module introduction</vt:lpstr>
      <vt:lpstr>Module aims</vt:lpstr>
      <vt:lpstr>Learning outcomes</vt:lpstr>
      <vt:lpstr>Indicative content</vt:lpstr>
      <vt:lpstr>Two component assessment</vt:lpstr>
      <vt:lpstr>Two component assessment</vt:lpstr>
      <vt:lpstr>Scheduled time</vt:lpstr>
      <vt:lpstr>Recommended reading</vt:lpstr>
      <vt:lpstr>Beginning programming</vt:lpstr>
      <vt:lpstr>So, what’s a program? (part 1.)</vt:lpstr>
      <vt:lpstr>So, what’s a program? (part 2.)</vt:lpstr>
      <vt:lpstr>So, what’s a program? (part 3.)</vt:lpstr>
      <vt:lpstr>So, what’s a program? (part 4.)</vt:lpstr>
      <vt:lpstr>A generic program (part 1.)</vt:lpstr>
      <vt:lpstr>A generic program (part 2.)</vt:lpstr>
      <vt:lpstr>Programs are just instruction lists</vt:lpstr>
      <vt:lpstr>Programs are just equations!</vt:lpstr>
      <vt:lpstr>Here’s the Python equivalent</vt:lpstr>
      <vt:lpstr>Getting started with Python!</vt:lpstr>
      <vt:lpstr>Python: Origins (part 1.)</vt:lpstr>
      <vt:lpstr>Python: Origins (part 2.)</vt:lpstr>
      <vt:lpstr>Why Python? (Part 1)</vt:lpstr>
      <vt:lpstr>Why Python? (Part 2.)</vt:lpstr>
      <vt:lpstr>Any drawbacks?</vt:lpstr>
      <vt:lpstr>Hello World!</vt:lpstr>
      <vt:lpstr>Java Vs. Python (Part 1)</vt:lpstr>
      <vt:lpstr>Java Vs. Python (part 2.)</vt:lpstr>
      <vt:lpstr>A quick demo</vt:lpstr>
      <vt:lpstr>Types: What are they? (part 1.)</vt:lpstr>
      <vt:lpstr>Types: What are they? (part 2.)</vt:lpstr>
      <vt:lpstr>What’s a “variable”? (part 1.)</vt:lpstr>
      <vt:lpstr>What’s a “variable”? (part 2.)</vt:lpstr>
      <vt:lpstr>The print() function</vt:lpstr>
      <vt:lpstr>The input() function</vt:lpstr>
      <vt:lpstr>Casting</vt:lpstr>
      <vt:lpstr>Operators</vt:lpstr>
      <vt:lpstr>Live demo: Bar bill</vt:lpstr>
      <vt:lpstr>High-level steps – pseudocode</vt:lpstr>
      <vt:lpstr>Finally, Conform to the Style Guide!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for Digital Innovation (CIS4044-N)</dc:title>
  <dc:creator/>
  <cp:revision>34</cp:revision>
  <dcterms:created xsi:type="dcterms:W3CDTF">2020-09-17T20:38:56Z</dcterms:created>
  <dcterms:modified xsi:type="dcterms:W3CDTF">2025-09-23T07:23:13Z</dcterms:modified>
</cp:coreProperties>
</file>